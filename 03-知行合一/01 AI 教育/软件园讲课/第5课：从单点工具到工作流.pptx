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  <p:sldMasterId id="2147483680" r:id="rId13"/>
    <p:sldMasterId id="2147483682" r:id="rId14"/>
    <p:sldMasterId id="2147483684" r:id="rId15"/>
    <p:sldMasterId id="2147483686" r:id="rId16"/>
    <p:sldMasterId id="2147483688" r:id="rId17"/>
    <p:sldMasterId id="2147483690" r:id="rId18"/>
    <p:sldMasterId id="2147483692" r:id="rId19"/>
    <p:sldMasterId id="2147483694" r:id="rId20"/>
  </p:sldMasterIdLst>
  <p:notesMasterIdLst>
    <p:notesMasterId r:id="rId22"/>
  </p:notesMasterIdLst>
  <p:sldIdLst>
    <p:sldId id="256" r:id="rId21"/>
    <p:sldId id="257" r:id="rId23"/>
    <p:sldId id="258" r:id="rId24"/>
    <p:sldId id="259" r:id="rId25"/>
    <p:sldId id="260" r:id="rId26"/>
    <p:sldId id="263" r:id="rId27"/>
    <p:sldId id="266" r:id="rId28"/>
    <p:sldId id="267" r:id="rId29"/>
    <p:sldId id="268" r:id="rId30"/>
    <p:sldId id="269" r:id="rId31"/>
    <p:sldId id="270" r:id="rId32"/>
    <p:sldId id="271" r:id="rId33"/>
    <p:sldId id="273" r:id="rId34"/>
    <p:sldId id="274" r:id="rId35"/>
    <p:sldId id="276" r:id="rId36"/>
    <p:sldId id="275" r:id="rId37"/>
    <p:sldId id="277" r:id="rId38"/>
    <p:sldId id="278" r:id="rId39"/>
    <p:sldId id="279" r:id="rId40"/>
    <p:sldId id="280" r:id="rId41"/>
    <p:sldId id="281" r:id="rId42"/>
    <p:sldId id="282" r:id="rId43"/>
    <p:sldId id="283" r:id="rId44"/>
  </p:sldIdLst>
  <p:sldSz cx="12192000" cy="6858000"/>
  <p:notesSz cx="6858000" cy="9144000"/>
  <p:custDataLst>
    <p:tags r:id="rId4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4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8" Type="http://schemas.openxmlformats.org/officeDocument/2006/relationships/tags" Target="tags/tag46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23.xml"/><Relationship Id="rId43" Type="http://schemas.openxmlformats.org/officeDocument/2006/relationships/slide" Target="slides/slide22.xml"/><Relationship Id="rId42" Type="http://schemas.openxmlformats.org/officeDocument/2006/relationships/slide" Target="slides/slide21.xml"/><Relationship Id="rId41" Type="http://schemas.openxmlformats.org/officeDocument/2006/relationships/slide" Target="slides/slide20.xml"/><Relationship Id="rId40" Type="http://schemas.openxmlformats.org/officeDocument/2006/relationships/slide" Target="slides/slide19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8.xml"/><Relationship Id="rId38" Type="http://schemas.openxmlformats.org/officeDocument/2006/relationships/slide" Target="slides/slide17.xml"/><Relationship Id="rId37" Type="http://schemas.openxmlformats.org/officeDocument/2006/relationships/slide" Target="slides/slide16.xml"/><Relationship Id="rId36" Type="http://schemas.openxmlformats.org/officeDocument/2006/relationships/slide" Target="slides/slide15.xml"/><Relationship Id="rId35" Type="http://schemas.openxmlformats.org/officeDocument/2006/relationships/slide" Target="slides/slide14.xml"/><Relationship Id="rId34" Type="http://schemas.openxmlformats.org/officeDocument/2006/relationships/slide" Target="slides/slide13.xml"/><Relationship Id="rId33" Type="http://schemas.openxmlformats.org/officeDocument/2006/relationships/slide" Target="slides/slide12.xml"/><Relationship Id="rId32" Type="http://schemas.openxmlformats.org/officeDocument/2006/relationships/slide" Target="slides/slide11.xml"/><Relationship Id="rId31" Type="http://schemas.openxmlformats.org/officeDocument/2006/relationships/slide" Target="slides/slide10.xml"/><Relationship Id="rId30" Type="http://schemas.openxmlformats.org/officeDocument/2006/relationships/slide" Target="slides/slide9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8.xml"/><Relationship Id="rId28" Type="http://schemas.openxmlformats.org/officeDocument/2006/relationships/slide" Target="slides/slide7.xml"/><Relationship Id="rId27" Type="http://schemas.openxmlformats.org/officeDocument/2006/relationships/slide" Target="slides/slide6.xml"/><Relationship Id="rId26" Type="http://schemas.openxmlformats.org/officeDocument/2006/relationships/slide" Target="slides/slide5.xml"/><Relationship Id="rId25" Type="http://schemas.openxmlformats.org/officeDocument/2006/relationships/slide" Target="slides/slide4.xml"/><Relationship Id="rId24" Type="http://schemas.openxmlformats.org/officeDocument/2006/relationships/slide" Target="slides/slide3.xml"/><Relationship Id="rId23" Type="http://schemas.openxmlformats.org/officeDocument/2006/relationships/slide" Target="slides/slide2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第五课。在前几节课中，我们体验了AI各种有趣的单点应用，比如生成图片、视频，或者进行角色扮演。今天，我们将学习一个更强大的概念——工作流，看看AI如何像一个自动化的团队一样，帮我们完成一整套复杂的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今天的课程中，我们有三个目标。首先，希望大家能理解“工作流”这个新概念。其次，要让大家明白，AI可以做的事情比我们想象的更多，它能自动完成一整套任务。最后，为我们接下来动手搭建工作流做好准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到底什么是工作流呢？简单来说，工作流就是把一个复杂的任务，拆分成多个简单的步骤，然后让AI自动地一步一步去完成。就像一个自动化的流水线，你把材料放进去，它就会自动加工，最后给你一个成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之前使用的AI，大多是聊天式的，一问一答。而工作流式AI则完全不同。它更像一个自动化的团队，你只需要给它一个总目标，它就能自己规划步骤，一步步完成任务，不需要你在中间不断指挥。这就是两者最核心的区别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第一个案例：老照片复活。大家看中间这组对比图，左边是原始的模糊泛黄老照片，通过我们的自动化工作流，AI可以自动完成四个步骤：首先是素材输入，接着AI自动进行清晰度和破损的修复，然后为黑白照片智能上色，最终输出右边这张清晰逼真的彩色高清照片。整个过程完全自动化，不需要我们手动干预，极大地提高了老照片修复的效率和质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了这么多案例，现在轮到大家来思考了！这里有一张精美的知识卡片，大家分组讨论一下，你觉得制作这张卡片的工作流，可能包含哪些步骤呢？比如，是不是先写文案，再配图，然后设计版式？一会儿请小组代表来分享你们的想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了这么多案例，现在轮到大家来思考了！这里有一张精美的知识卡片，大家分组讨论一下，你觉得制作这张卡片的工作流，可能包含哪些步骤呢？比如，是不是先写文案，再配图，然后设计版式？一会儿请小组代表来分享你们的想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第五课。在前几节课中，我们体验了AI各种有趣的单点应用，比如生成图片、视频，或者进行角色扮演。今天，我们将学习一个更强大的概念——工作流，看看AI如何像一个自动化的团队一样，帮我们完成一整套复杂的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到底什么是工作流呢？简单来说，工作流就是把一个复杂的任务，拆分成多个简单的步骤，然后让AI自动地一步一步去完成。就像一个自动化的流水线，你把材料放进去，它就会自动加工，最后给你一个成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第五课。在前几节课中，我们体验了AI各种有趣的单点应用，比如生成图片、视频，或者进行角色扮演。今天，我们将学习一个更强大的概念——工作流，看看AI如何像一个自动化的团队一样，帮我们完成一整套复杂的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第五课。在前几节课中，我们体验了AI各种有趣的单点应用，比如生成图片、视频，或者进行角色扮演。今天，我们将学习一个更强大的概念——工作流，看看AI如何像一个自动化的团队一样，帮我们完成一整套复杂的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第五课。在前几节课中，我们体验了AI各种有趣的单点应用，比如生成图片、视频，或者进行角色扮演。今天，我们将学习一个更强大的概念——工作流，看看AI如何像一个自动化的团队一样，帮我们完成一整套复杂的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第五课。在前几节课中，我们体验了AI各种有趣的单点应用，比如生成图片、视频，或者进行角色扮演。今天，我们将学习一个更强大的概念——工作流，看看AI如何像一个自动化的团队一样，帮我们完成一整套复杂的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第五课。在前几节课中，我们体验了AI各种有趣的单点应用，比如生成图片、视频，或者进行角色扮演。今天，我们将学习一个更强大的概念——工作流，看看AI如何像一个自动化的团队一样，帮我们完成一整套复杂的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第五课。在前几节课中，我们体验了AI各种有趣的单点应用，比如生成图片、视频，或者进行角色扮演。今天，我们将学习一个更强大的概念——工作流，看看AI如何像一个自动化的团队一样，帮我们完成一整套复杂的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第五课。在前几节课中，我们体验了AI各种有趣的单点应用，比如生成图片、视频，或者进行角色扮演。今天，我们将学习一个更强大的概念——工作流，看看AI如何像一个自动化的团队一样，帮我们完成一整套复杂的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第五课。在前几节课中，我们体验了AI各种有趣的单点应用，比如生成图片、视频，或者进行角色扮演。今天，我们将学习一个更强大的概念——工作流，看看AI如何像一个自动化的团队一样，帮我们完成一整套复杂的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第五课。在前几节课中，我们体验了AI各种有趣的单点应用，比如生成图片、视频，或者进行角色扮演。今天，我们将学习一个更强大的概念——工作流，看看AI如何像一个自动化的团队一样，帮我们完成一整套复杂的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第五课。在前几节课中，我们体验了AI各种有趣的单点应用，比如生成图片、视频，或者进行角色扮演。今天，我们将学习一个更强大的概念——工作流，看看AI如何像一个自动化的团队一样，帮我们完成一整套复杂的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第五课。在前几节课中，我们体验了AI各种有趣的单点应用，比如生成图片、视频，或者进行角色扮演。今天，我们将学习一个更强大的概念——工作流，看看AI如何像一个自动化的团队一样，帮我们完成一整套复杂的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第五课。在前几节课中，我们体验了AI各种有趣的单点应用，比如生成图片、视频，或者进行角色扮演。今天，我们将学习一个更强大的概念——工作流，看看AI如何像一个自动化的团队一样，帮我们完成一整套复杂的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第五课。在前几节课中，我们体验了AI各种有趣的单点应用，比如生成图片、视频，或者进行角色扮演。今天，我们将学习一个更强大的概念——工作流，看看AI如何像一个自动化的团队一样，帮我们完成一整套复杂的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第五课。在前几节课中，我们体验了AI各种有趣的单点应用，比如生成图片、视频，或者进行角色扮演。今天，我们将学习一个更强大的概念——工作流，看看AI如何像一个自动化的团队一样，帮我们完成一整套复杂的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2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2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2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svg"/><Relationship Id="rId8" Type="http://schemas.openxmlformats.org/officeDocument/2006/relationships/image" Target="../media/image18.png"/><Relationship Id="rId7" Type="http://schemas.openxmlformats.org/officeDocument/2006/relationships/image" Target="../media/image17.svg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23.svg"/><Relationship Id="rId12" Type="http://schemas.openxmlformats.org/officeDocument/2006/relationships/image" Target="../media/image22.png"/><Relationship Id="rId11" Type="http://schemas.openxmlformats.org/officeDocument/2006/relationships/image" Target="../media/image21.svg"/><Relationship Id="rId10" Type="http://schemas.openxmlformats.org/officeDocument/2006/relationships/image" Target="../media/image20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svg"/><Relationship Id="rId7" Type="http://schemas.openxmlformats.org/officeDocument/2006/relationships/image" Target="../media/image29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2.sv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tags" Target="../tags/tag1.xml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34.png"/><Relationship Id="rId4" Type="http://schemas.openxmlformats.org/officeDocument/2006/relationships/tags" Target="../tags/tag2.xml"/><Relationship Id="rId3" Type="http://schemas.microsoft.com/office/2007/relationships/media" Target="../media/media2.mp4"/><Relationship Id="rId2" Type="http://schemas.openxmlformats.org/officeDocument/2006/relationships/video" Target="../media/media2.mp4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3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35.png"/><Relationship Id="rId2" Type="http://schemas.openxmlformats.org/officeDocument/2006/relationships/tags" Target="../tags/tag4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6.xml"/><Relationship Id="rId5" Type="http://schemas.openxmlformats.org/officeDocument/2006/relationships/image" Target="../media/image36.png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7.xml"/><Relationship Id="rId5" Type="http://schemas.openxmlformats.org/officeDocument/2006/relationships/image" Target="../media/image37.png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38.png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20.xml"/><Relationship Id="rId5" Type="http://schemas.openxmlformats.org/officeDocument/2006/relationships/image" Target="../media/image39.png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22.xml"/><Relationship Id="rId5" Type="http://schemas.openxmlformats.org/officeDocument/2006/relationships/image" Target="../media/image40.png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21.xml"/><Relationship Id="rId5" Type="http://schemas.openxmlformats.org/officeDocument/2006/relationships/image" Target="../media/image41.png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23.xml"/><Relationship Id="rId5" Type="http://schemas.openxmlformats.org/officeDocument/2006/relationships/image" Target="../media/image42.png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24.xml"/><Relationship Id="rId5" Type="http://schemas.openxmlformats.org/officeDocument/2006/relationships/image" Target="../media/image43.png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25.xml"/><Relationship Id="rId5" Type="http://schemas.openxmlformats.org/officeDocument/2006/relationships/image" Target="../media/image44.png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26.xml"/><Relationship Id="rId5" Type="http://schemas.openxmlformats.org/officeDocument/2006/relationships/image" Target="../media/image45.png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27.xml"/><Relationship Id="rId5" Type="http://schemas.openxmlformats.org/officeDocument/2006/relationships/image" Target="../media/image46.png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28.xml"/><Relationship Id="rId5" Type="http://schemas.openxmlformats.org/officeDocument/2006/relationships/image" Target="../media/image47.png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29.xml"/><Relationship Id="rId5" Type="http://schemas.openxmlformats.org/officeDocument/2006/relationships/image" Target="../media/image48.png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62C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从单点工具到工作流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3175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cap="flat" cmpd="sng">
            <a:solidFill>
              <a:srgbClr val="006F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342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0" i="0" u="none" strike="noStrike" spc="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解锁AI的自动化协作能力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350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201168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课程目标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007BFF">
              <a:alpha val="15000"/>
            </a:srgbClr>
          </a:solidFill>
          <a:ln w="12700" cap="flat" cmpd="sng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540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3175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理解概念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683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深入理解“工作流”的定义，辨析其与传统单点工具在协作模式上的本质区别。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286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007BFF">
              <a:alpha val="15000"/>
            </a:srgbClr>
          </a:solidFill>
          <a:ln w="12700" cap="flat" cmpd="sng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540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699000" y="3175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拓展认知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3683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突破AI仅能回答问题的认知局限，建立AI可作为自动化流水线完成连贯任务的新视角。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286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007BFF">
              <a:alpha val="15000"/>
            </a:srgbClr>
          </a:solidFill>
          <a:ln w="12700" cap="flat" cmpd="sng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540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382000" y="3175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铺垫基础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3683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通过典型案例分析，为后续深入学习和动手搭建具体工作流做好充分的认知准备。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什么是工作流？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03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159000"/>
            <a:ext cx="939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工作流（Workflow）是将复杂任务分解为多个简单、有序的步骤，让 AI 自动依次执行这些步骤，最终完成整个任务的过程。</a:t>
            </a:r>
            <a:endParaRPr lang="en-US" sz="18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937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5085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778000" y="4064000"/>
            <a:ext cx="939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通俗比喻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就像一条高度自动化的“AI流水线”。你只需放入最初的“原材料”（输入），流水线便会自动进行一系列加工，最终产出你想要的“成品”（输出）。</a:t>
            </a:r>
            <a:endParaRPr lang="en-US" sz="18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762000"/>
            <a:ext cx="75438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普通聊天式AI vs 工作流式AI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457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普通聊天式AI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13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3622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模式：一问一答，交互性强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921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28702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特点：每次只能完成一个简单的任务，需要用户不断发出新指令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683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6322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比喻：像一个需要你不断指挥的助手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604000" y="1841500"/>
            <a:ext cx="457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工作流式AI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2413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23622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模式：一次输入，自动执行一系列预设步骤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2921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28702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特点：能够完成复杂的、多步骤的任务，自动化程度高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3683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36322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比喻：像一个接到指令后就能独立完成整个项目的团队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588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654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工作流案例：老照片复活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通过自动化工作流，将模糊泛黄的老照片转化为清晰逼真的高清彩色照片，全程无需人工干预。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r="36717"/>
          <a:stretch>
            <a:fillRect/>
          </a:stretch>
        </p:blipFill>
        <p:spPr>
          <a:xfrm>
            <a:off x="1651000" y="1905000"/>
            <a:ext cx="2286000" cy="2032000"/>
          </a:xfrm>
          <a:prstGeom prst="roundRect">
            <a:avLst>
              <a:gd name="adj" fmla="val 6250"/>
            </a:avLst>
          </a:prstGeom>
          <a:noFill/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27000" dist="63500" dir="2700000" algn="tl" rotWithShape="0">
              <a:srgbClr val="000000">
                <a:alpha val="50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1651000" y="406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输入：模糊老照片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 l="36717"/>
          <a:stretch>
            <a:fillRect/>
          </a:stretch>
        </p:blipFill>
        <p:spPr>
          <a:xfrm>
            <a:off x="5461000" y="1905000"/>
            <a:ext cx="2286000" cy="2032000"/>
          </a:xfrm>
          <a:prstGeom prst="roundRect">
            <a:avLst>
              <a:gd name="adj" fmla="val 6250"/>
            </a:avLst>
          </a:prstGeom>
          <a:noFill/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27000" dist="63500" dir="2700000" algn="tl" rotWithShape="0">
              <a:srgbClr val="000000">
                <a:alpha val="50000"/>
              </a:srgbClr>
            </a:outerShdw>
          </a:effectLst>
        </p:spPr>
      </p:pic>
      <p:sp>
        <p:nvSpPr>
          <p:cNvPr id="9" name="AutoShape 9"/>
          <p:cNvSpPr/>
          <p:nvPr/>
        </p:nvSpPr>
        <p:spPr>
          <a:xfrm>
            <a:off x="5461000" y="406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输出：高清彩色照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482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70000" y="47625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 素材输入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上传模糊/破损照片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6000" y="4826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064000" y="47625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 AI智能修复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自动还原清晰度与细节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00" y="4826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858000" y="47625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 色彩填充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黑白照片自动上色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0" y="4826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652000" y="47625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4. 结果导出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生成高清无损图片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8" name="Connector 18"/>
          <p:cNvCxnSpPr/>
          <p:nvPr/>
        </p:nvCxnSpPr>
        <p:spPr>
          <a:xfrm rot="-4092">
            <a:off x="762004" y="5708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604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老照片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复活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1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414520" y="0"/>
            <a:ext cx="4005580" cy="6677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604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漫画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2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166870" y="0"/>
            <a:ext cx="385762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62C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5530" y="28194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00"/>
              <a:t>如何</a:t>
            </a:r>
            <a:endParaRPr lang="zh-CN" alt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350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4"/>
          <p:cNvSpPr/>
          <p:nvPr>
            <p:custDataLst>
              <p:tags r:id="rId2"/>
            </p:custDataLst>
          </p:nvPr>
        </p:nvSpPr>
        <p:spPr>
          <a:xfrm>
            <a:off x="1016000" y="228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ctr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如何完成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呢？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86741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COZE-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扣子（https://www.coze.cn/）</a:t>
            </a:r>
            <a:endParaRPr lang="en-US" altLang="zh-CN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95960" y="2059305"/>
            <a:ext cx="10668000" cy="3877945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2000" y="1750060"/>
            <a:ext cx="10129520" cy="4845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62C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5530" y="28194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00"/>
              <a:t>如何</a:t>
            </a:r>
            <a:endParaRPr lang="zh-CN" alt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350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3"/>
            </p:custDataLst>
          </p:nvPr>
        </p:nvSpPr>
        <p:spPr>
          <a:xfrm>
            <a:off x="762000" y="834390"/>
            <a:ext cx="604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贪吃蛇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小游戏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993515" y="228600"/>
            <a:ext cx="6045835" cy="6146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62C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5530" y="28194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00"/>
              <a:t>如何</a:t>
            </a:r>
            <a:endParaRPr lang="zh-CN" alt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350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3"/>
            </p:custDataLst>
          </p:nvPr>
        </p:nvSpPr>
        <p:spPr>
          <a:xfrm>
            <a:off x="762000" y="834390"/>
            <a:ext cx="604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概览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2000" y="2326005"/>
            <a:ext cx="10955020" cy="24860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62C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5530" y="28194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00"/>
              <a:t>如何</a:t>
            </a:r>
            <a:endParaRPr lang="zh-CN" alt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350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3"/>
            </p:custDataLst>
          </p:nvPr>
        </p:nvSpPr>
        <p:spPr>
          <a:xfrm>
            <a:off x="762000" y="603250"/>
            <a:ext cx="604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目标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676775" y="0"/>
            <a:ext cx="6796405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48310" y="1518920"/>
            <a:ext cx="377698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</a:rPr>
              <a:t>1.</a:t>
            </a:r>
            <a:r>
              <a:rPr lang="zh-CN" altLang="en-US" sz="2800" b="1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</a:rPr>
              <a:t>随机输入一本书名</a:t>
            </a:r>
            <a:endParaRPr lang="zh-CN" altLang="en-US" sz="2800" b="1">
              <a:solidFill>
                <a:schemeClr val="bg1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endParaRPr lang="zh-CN" altLang="en-US" sz="2800" b="1">
              <a:solidFill>
                <a:schemeClr val="bg1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altLang="zh-CN" sz="2800" b="1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</a:rPr>
              <a:t>2.</a:t>
            </a:r>
            <a:r>
              <a:rPr lang="zh-CN" altLang="en-US" sz="2800" b="1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</a:rPr>
              <a:t>根据书名查找这本书</a:t>
            </a:r>
            <a:endParaRPr lang="zh-CN" altLang="en-US" sz="2800" b="1">
              <a:solidFill>
                <a:schemeClr val="bg1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endParaRPr lang="zh-CN" altLang="en-US" sz="2800" b="1">
              <a:solidFill>
                <a:schemeClr val="bg1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altLang="zh-CN" sz="2800" b="1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</a:rPr>
              <a:t>3.</a:t>
            </a:r>
            <a:r>
              <a:rPr lang="zh-CN" altLang="en-US" sz="2800" b="1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</a:rPr>
              <a:t>总结书中的金句</a:t>
            </a:r>
            <a:endParaRPr lang="zh-CN" altLang="en-US" sz="2800" b="1">
              <a:solidFill>
                <a:schemeClr val="bg1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endParaRPr lang="zh-CN" altLang="en-US" sz="2800" b="1">
              <a:solidFill>
                <a:schemeClr val="bg1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altLang="zh-CN" sz="2800" b="1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</a:rPr>
              <a:t>4.</a:t>
            </a:r>
            <a:r>
              <a:rPr lang="zh-CN" altLang="en-US" sz="2800" b="1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</a:rPr>
              <a:t>整合书名和作者形成一张图片</a:t>
            </a:r>
            <a:endParaRPr lang="zh-CN" altLang="en-US" sz="2800" b="1">
              <a:solidFill>
                <a:schemeClr val="bg1"/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62C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5530" y="28194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00"/>
              <a:t>如何</a:t>
            </a:r>
            <a:endParaRPr lang="zh-CN" alt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350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3"/>
            </p:custDataLst>
          </p:nvPr>
        </p:nvSpPr>
        <p:spPr>
          <a:xfrm>
            <a:off x="614045" y="603250"/>
            <a:ext cx="604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步骤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8310" y="1518920"/>
            <a:ext cx="9353550" cy="4599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800" b="1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</a:rPr>
              <a:t>1.开始输入书名</a:t>
            </a:r>
            <a:endParaRPr sz="2800" b="1">
              <a:solidFill>
                <a:schemeClr val="bg1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r>
              <a:rPr sz="2800" b="1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</a:rPr>
              <a:t>2.使用在线搜书插件，查找书籍相关的内容</a:t>
            </a:r>
            <a:endParaRPr sz="2800" b="1">
              <a:solidFill>
                <a:schemeClr val="bg1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r>
              <a:rPr sz="2800" b="1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</a:rPr>
              <a:t>3.如果书籍信息为空就走异常提示节点，不为空就走大模型节点</a:t>
            </a:r>
            <a:endParaRPr sz="2800" b="1">
              <a:solidFill>
                <a:schemeClr val="bg1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r>
              <a:rPr sz="2800" b="1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</a:rPr>
              <a:t>4.大模型对书籍内容进行处理，提取金句</a:t>
            </a:r>
            <a:endParaRPr sz="2800" b="1">
              <a:solidFill>
                <a:schemeClr val="bg1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r>
              <a:rPr sz="2800" b="1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</a:rPr>
              <a:t>5.对提取的金句进行句子拆分</a:t>
            </a:r>
            <a:endParaRPr sz="2800" b="1">
              <a:solidFill>
                <a:schemeClr val="bg1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r>
              <a:rPr sz="2800" b="1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</a:rPr>
              <a:t>6.在画板上，添加背景图，然后把提取到的书名，作者，金句等映射到画板上</a:t>
            </a:r>
            <a:endParaRPr sz="2800" b="1">
              <a:solidFill>
                <a:schemeClr val="bg1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r>
              <a:rPr sz="2800" b="1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</a:rPr>
              <a:t>7.结束节点输出画板节点的Image</a:t>
            </a:r>
            <a:endParaRPr sz="2800" b="1">
              <a:solidFill>
                <a:schemeClr val="bg1"/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62C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5530" y="28194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00"/>
              <a:t>如何</a:t>
            </a:r>
            <a:endParaRPr lang="zh-CN" alt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350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3"/>
            </p:custDataLst>
          </p:nvPr>
        </p:nvSpPr>
        <p:spPr>
          <a:xfrm>
            <a:off x="614045" y="603250"/>
            <a:ext cx="604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完整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61645" y="2199640"/>
            <a:ext cx="11268710" cy="26777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62C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5530" y="28194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00"/>
              <a:t>如何</a:t>
            </a:r>
            <a:endParaRPr lang="zh-CN" alt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350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3"/>
            </p:custDataLst>
          </p:nvPr>
        </p:nvSpPr>
        <p:spPr>
          <a:xfrm>
            <a:off x="614045" y="603250"/>
            <a:ext cx="604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altLang="zh-CN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开始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节点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711065" y="323850"/>
            <a:ext cx="5803900" cy="6210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62C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5530" y="28194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00"/>
              <a:t>如何</a:t>
            </a:r>
            <a:endParaRPr lang="zh-CN" alt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350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3"/>
            </p:custDataLst>
          </p:nvPr>
        </p:nvSpPr>
        <p:spPr>
          <a:xfrm>
            <a:off x="614045" y="603250"/>
            <a:ext cx="604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altLang="zh-CN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开始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节点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051175" y="937895"/>
            <a:ext cx="8448675" cy="56724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62C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5530" y="28194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00"/>
              <a:t>如何</a:t>
            </a:r>
            <a:endParaRPr lang="zh-CN" alt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350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3"/>
            </p:custDataLst>
          </p:nvPr>
        </p:nvSpPr>
        <p:spPr>
          <a:xfrm>
            <a:off x="614045" y="603250"/>
            <a:ext cx="604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altLang="zh-CN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在线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搜书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233420" y="733425"/>
            <a:ext cx="8543290" cy="5506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62C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5530" y="28194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00"/>
              <a:t>如何</a:t>
            </a:r>
            <a:endParaRPr lang="zh-CN" alt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350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3"/>
            </p:custDataLst>
          </p:nvPr>
        </p:nvSpPr>
        <p:spPr>
          <a:xfrm>
            <a:off x="614045" y="603250"/>
            <a:ext cx="604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altLang="zh-CN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3.IF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选择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器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483995" y="1539875"/>
            <a:ext cx="10419080" cy="47015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62C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5530" y="28194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00"/>
              <a:t>如何</a:t>
            </a:r>
            <a:endParaRPr lang="zh-CN" alt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350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3"/>
            </p:custDataLst>
          </p:nvPr>
        </p:nvSpPr>
        <p:spPr>
          <a:xfrm>
            <a:off x="614045" y="603250"/>
            <a:ext cx="604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altLang="zh-CN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4.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异常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提示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19150" y="1577340"/>
            <a:ext cx="10653395" cy="42805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62C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5530" y="28194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00"/>
              <a:t>如何</a:t>
            </a:r>
            <a:endParaRPr lang="zh-CN" alt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350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3"/>
            </p:custDataLst>
          </p:nvPr>
        </p:nvSpPr>
        <p:spPr>
          <a:xfrm>
            <a:off x="614045" y="603250"/>
            <a:ext cx="604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altLang="zh-CN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5.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处理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910330" y="374015"/>
            <a:ext cx="7786370" cy="63353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62C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5530" y="28194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00"/>
              <a:t>如何</a:t>
            </a:r>
            <a:endParaRPr lang="zh-CN" alt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350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3"/>
            </p:custDataLst>
          </p:nvPr>
        </p:nvSpPr>
        <p:spPr>
          <a:xfrm>
            <a:off x="614045" y="603250"/>
            <a:ext cx="604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altLang="zh-CN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6.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提取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金句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86000" y="1467485"/>
            <a:ext cx="9538970" cy="50984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62C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5530" y="28194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00"/>
              <a:t>如何</a:t>
            </a:r>
            <a:endParaRPr lang="zh-CN" alt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350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3"/>
            </p:custDataLst>
          </p:nvPr>
        </p:nvSpPr>
        <p:spPr>
          <a:xfrm>
            <a:off x="614045" y="603250"/>
            <a:ext cx="604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altLang="zh-CN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7.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图像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生成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226435" y="287655"/>
            <a:ext cx="8353425" cy="60623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62C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5530" y="28194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00"/>
              <a:t>如何</a:t>
            </a:r>
            <a:endParaRPr lang="zh-CN" alt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350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3"/>
            </p:custDataLst>
          </p:nvPr>
        </p:nvSpPr>
        <p:spPr>
          <a:xfrm>
            <a:off x="614045" y="603250"/>
            <a:ext cx="604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altLang="zh-CN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8.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结束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节点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35400" y="444500"/>
            <a:ext cx="7061200" cy="5969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2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commondata" val="eyJoZGlkIjoiN2QzODcyNGFhZmEzNjVhZTY5ZjNiMTM1MDZiMzE4OW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915</Words>
  <Application>WPS 演示</Application>
  <PresentationFormat/>
  <Paragraphs>146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19</vt:i4>
      </vt:variant>
      <vt:variant>
        <vt:lpstr>幻灯片标题</vt:lpstr>
      </vt:variant>
      <vt:variant>
        <vt:i4>23</vt:i4>
      </vt:variant>
    </vt:vector>
  </HeadingPairs>
  <TitlesOfParts>
    <vt:vector size="54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汉仪旗黑</vt:lpstr>
      <vt:lpstr>Arial Unicode MS</vt:lpstr>
      <vt:lpstr>Arial Bold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5_默认主题</vt:lpstr>
      <vt:lpstr>6_默认主题</vt:lpstr>
      <vt:lpstr>7_默认主题</vt:lpstr>
      <vt:lpstr>8_默认主题</vt:lpstr>
      <vt:lpstr>9_默认主题</vt:lpstr>
      <vt:lpstr>10_默认主题</vt:lpstr>
      <vt:lpstr>11_默认主题</vt:lpstr>
      <vt:lpstr>12_默认主题</vt:lpstr>
      <vt:lpstr>13_默认主题</vt:lpstr>
      <vt:lpstr>14_默认主题</vt:lpstr>
      <vt:lpstr>15_默认主题</vt:lpstr>
      <vt:lpstr>16_默认主题</vt:lpstr>
      <vt:lpstr>17_默认主题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周磊</cp:lastModifiedBy>
  <cp:revision>19</cp:revision>
  <dcterms:created xsi:type="dcterms:W3CDTF">2026-03-30T12:40:36Z</dcterms:created>
  <dcterms:modified xsi:type="dcterms:W3CDTF">2026-03-30T12:40:36Z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BAA48A90B80C585DEE5DCA69477B581E_42</vt:lpwstr>
  </property>
  <property fmtid="{D5CDD505-2E9C-101B-9397-08002B2CF9AE}" pid="3" name="KSOProductBuildVer">
    <vt:lpwstr>2052-6.9.0.8865</vt:lpwstr>
  </property>
</Properties>
</file>