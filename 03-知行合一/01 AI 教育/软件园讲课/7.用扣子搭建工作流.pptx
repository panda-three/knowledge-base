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0.svg" ContentType="image/svg+xml"/>
  <Override PartName="/ppt/media/image43.svg" ContentType="image/svg+xml"/>
  <Override PartName="/ppt/media/image45.svg" ContentType="image/svg+xml"/>
  <Override PartName="/ppt/media/image47.svg" ContentType="image/svg+xml"/>
  <Override PartName="/ppt/media/image49.svg" ContentType="image/svg+xml"/>
  <Override PartName="/ppt/media/image5.svg" ContentType="image/svg+xml"/>
  <Override PartName="/ppt/media/image51.svg" ContentType="image/svg+xml"/>
  <Override PartName="/ppt/media/image53.svg" ContentType="image/svg+xml"/>
  <Override PartName="/ppt/media/image55.svg" ContentType="image/svg+xml"/>
  <Override PartName="/ppt/media/image57.svg" ContentType="image/svg+xml"/>
  <Override PartName="/ppt/media/image61.svg" ContentType="image/svg+xml"/>
  <Override PartName="/ppt/media/image63.svg" ContentType="image/svg+xml"/>
  <Override PartName="/ppt/media/image65.svg" ContentType="image/svg+xml"/>
  <Override PartName="/ppt/media/image68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62" r:id="rId4"/>
    <p:sldMasterId id="2147483664" r:id="rId5"/>
    <p:sldMasterId id="2147483666" r:id="rId6"/>
    <p:sldMasterId id="2147483668" r:id="rId7"/>
  </p:sldMasterIdLst>
  <p:notesMasterIdLst>
    <p:notesMasterId r:id="rId9"/>
  </p:notesMasterIdLst>
  <p:sldIdLst>
    <p:sldId id="256" r:id="rId8"/>
    <p:sldId id="257" r:id="rId10"/>
    <p:sldId id="266" r:id="rId11"/>
    <p:sldId id="26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9" r:id="rId20"/>
    <p:sldId id="270" r:id="rId21"/>
    <p:sldId id="265" r:id="rId22"/>
  </p:sldIdLst>
  <p:sldSz cx="12192000" cy="6858000"/>
  <p:notesSz cx="6858000" cy="9144000"/>
  <p:custDataLst>
    <p:tags r:id="rId26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164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4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6" Type="http://schemas.openxmlformats.org/officeDocument/2006/relationships/tags" Target="tags/tag6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0" Type="http://schemas.openxmlformats.org/officeDocument/2006/relationships/slide" Target="slides/slide12.xml"/><Relationship Id="rId2" Type="http://schemas.openxmlformats.org/officeDocument/2006/relationships/theme" Target="theme/theme1.xml"/><Relationship Id="rId19" Type="http://schemas.openxmlformats.org/officeDocument/2006/relationships/slide" Target="slides/slide11.xml"/><Relationship Id="rId18" Type="http://schemas.openxmlformats.org/officeDocument/2006/relationships/slide" Target="slides/slide10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大家好！今天我们将学习一个更高级的技能——用扣子搭建工作流，让AI像流水线一样，一步一步地帮我们完成复杂的任务。今天的目标是制作一个“作文灵感生成器”，让AI自动帮我们写作文开头！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那么，什么是工作流呢？其实很简单，就像我们做番茄炒蛋一样，把一件复杂的事情拆分成几个简单的步骤，然后让AI按照我们设计的顺序一步一步地去执行。核心就是：我们来设计步骤，AI来干活！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课程的最后，我们来总结一下。工作流的核心就是“一步一步来”，我们今天只用了三个LLM节点，就完成了作文开头的自动生成。整个过程我们没有写一行代码，只需要写好提示词。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课后，大家可以尝试完成这些挑战：从简单的修改关键词数量，到增加节点丰富内容，最后尝试构建一个实用的数学解题工具。进一步探索工作流的强大功能吧！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课程的最后，我们来总结一下。工作流的核心就是“一步一步来”，我们今天只用了三个LLM节点，就完成了作文开头的自动生成。整个过程我们没有写一行代码，只需要写好提示词。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课后，大家可以尝试完成这些挑战：从简单的修改关键词数量，到增加节点丰富内容，最后尝试构建一个实用的数学解题工具。进一步探索工作流的强大功能吧！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今天我们要搭建的工作流叫做“作文灵感生成器”。你只需要输入一个作文题目，比如“我的梦想”，这个工作流就会自动帮你完成三件事：首先生成几个关键词，然后为每个关键词写一句素材，最后把这些素材整合成一段完整的作文开头。是不是很神奇？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要搭建工作流，我们需要用到扣子的工作流界面。大家不用紧张，我们今天只需要关注三个地方：左边的节点库，我们会从这里拖出需要的工具；中间的画布，我们在这里把工具连接起来；还有右上角的“试运行”按钮，用来测试我们的工作流。今天我们主要用到的是“LLM节点”，也就是大模型节点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第一步，我们从节点库中拖入一个“开始”节点。这个节点是工作流的起点，我们需要在这里设置一个输入变量，比如叫“topic”，用来接收我们输入的作文题目，例如“我的梦想”。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第二步，我们拖入第一个LLM节点，并把它和“开始”节点连接起来。然后在这个节点里写入提示词，告诉AI要根据我们输入的作文题目生成3个关键词。这样，这个节点就会输出类似“医生, 帮助别人, 努力学习”这样的结果。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第三步，我们拖入第二个LLM节点，连接到第一个节点后面。这次的提示词是让AI根据上一步生成的关键词，为每个关键词写一句简短的素材句子。这样，我们就能得到几句可以用在作文里的素材了。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最后一步，我们拖入第三个LLM节点，连接到第二个节点后面。这个节点的任务是把前面生成的所有素材句子，整合成一段通顺、完整的作文开头。这样，我们的工作流就搭建完成了！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，激动人心的时刻到了！我们点击右上角的“试运行”按钮，输入作文题目“我的梦想”，看看AI能不能为我们生成一段精彩的开头。我们还可以换一个题目，比如“一次难忘的旅行”，测试一下工作流的通用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课程的最后，我们来总结一下。工作流的核心就是“一步一步来”，我们今天只用了三个LLM节点，就完成了作文开头的自动生成。整个过程我们没有写一行代码，只需要写好提示词。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课后，大家可以尝试完成这些挑战：从简单的修改关键词数量，到增加节点丰富内容，最后尝试构建一个实用的数学解题工具。进一步探索工作流的强大功能吧！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课程的最后，我们来总结一下。工作流的核心就是“一步一步来”，我们今天只用了三个LLM节点，就完成了作文开头的自动生成。整个过程我们没有写一行代码，只需要写好提示词。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课后，大家可以尝试完成这些挑战：从简单的修改关键词数量，到增加节点丰富内容，最后尝试构建一个实用的数学解题工具。进一步探索工作流的强大功能吧！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课程的最后，我们来总结一下。工作流的核心就是“一步一步来”，我们今天只用了三个LLM节点，就完成了作文开头的自动生成。整个过程我们没有写一行代码，只需要写好提示词。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课后，大家可以尝试完成这些挑战：从简单的修改关键词数量，到增加节点丰富内容，最后尝试构建一个实用的数学解题工具。进一步探索工作流的强大功能吧！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9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9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9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9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9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svg"/><Relationship Id="rId8" Type="http://schemas.openxmlformats.org/officeDocument/2006/relationships/image" Target="../media/image13.png"/><Relationship Id="rId7" Type="http://schemas.openxmlformats.org/officeDocument/2006/relationships/image" Target="../media/image12.svg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2" Type="http://schemas.openxmlformats.org/officeDocument/2006/relationships/notesSlide" Target="../notesSlides/notesSlide2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15.jpeg"/><Relationship Id="rId1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13.xml"/><Relationship Id="rId5" Type="http://schemas.openxmlformats.org/officeDocument/2006/relationships/image" Target="../media/image16.png"/><Relationship Id="rId4" Type="http://schemas.openxmlformats.org/officeDocument/2006/relationships/tags" Target="../tags/tag1.xml"/><Relationship Id="rId3" Type="http://schemas.microsoft.com/office/2007/relationships/media" Target="../media/media1.mp4"/><Relationship Id="rId2" Type="http://schemas.openxmlformats.org/officeDocument/2006/relationships/video" Target="../media/media1.mp4"/><Relationship Id="rId1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14.xml"/><Relationship Id="rId5" Type="http://schemas.openxmlformats.org/officeDocument/2006/relationships/image" Target="../media/image17.png"/><Relationship Id="rId4" Type="http://schemas.openxmlformats.org/officeDocument/2006/relationships/tags" Target="../tags/tag2.xml"/><Relationship Id="rId3" Type="http://schemas.microsoft.com/office/2007/relationships/media" Target="../media/media2.mp4"/><Relationship Id="rId2" Type="http://schemas.openxmlformats.org/officeDocument/2006/relationships/video" Target="../media/media2.mp4"/><Relationship Id="rId1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20.jpeg"/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8.png"/><Relationship Id="rId8" Type="http://schemas.openxmlformats.org/officeDocument/2006/relationships/image" Target="../media/image27.svg"/><Relationship Id="rId7" Type="http://schemas.openxmlformats.org/officeDocument/2006/relationships/image" Target="../media/image26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Relationship Id="rId3" Type="http://schemas.openxmlformats.org/officeDocument/2006/relationships/image" Target="../media/image22.png"/><Relationship Id="rId2" Type="http://schemas.openxmlformats.org/officeDocument/2006/relationships/image" Target="../media/image21.jpeg"/><Relationship Id="rId12" Type="http://schemas.openxmlformats.org/officeDocument/2006/relationships/notesSlide" Target="../notesSlides/notesSlide6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29.svg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36.svg"/><Relationship Id="rId7" Type="http://schemas.openxmlformats.org/officeDocument/2006/relationships/image" Target="../media/image35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Relationship Id="rId3" Type="http://schemas.openxmlformats.org/officeDocument/2006/relationships/image" Target="../media/image31.png"/><Relationship Id="rId2" Type="http://schemas.openxmlformats.org/officeDocument/2006/relationships/image" Target="../media/image30.jpeg"/><Relationship Id="rId10" Type="http://schemas.openxmlformats.org/officeDocument/2006/relationships/notesSlide" Target="../notesSlides/notesSlide7.xml"/><Relationship Id="rId1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43.svg"/><Relationship Id="rId7" Type="http://schemas.openxmlformats.org/officeDocument/2006/relationships/image" Target="../media/image42.png"/><Relationship Id="rId6" Type="http://schemas.openxmlformats.org/officeDocument/2006/relationships/image" Target="../media/image41.jpeg"/><Relationship Id="rId5" Type="http://schemas.openxmlformats.org/officeDocument/2006/relationships/image" Target="../media/image40.svg"/><Relationship Id="rId4" Type="http://schemas.openxmlformats.org/officeDocument/2006/relationships/image" Target="../media/image39.png"/><Relationship Id="rId3" Type="http://schemas.openxmlformats.org/officeDocument/2006/relationships/image" Target="../media/image38.svg"/><Relationship Id="rId2" Type="http://schemas.openxmlformats.org/officeDocument/2006/relationships/image" Target="../media/image37.png"/><Relationship Id="rId10" Type="http://schemas.openxmlformats.org/officeDocument/2006/relationships/notesSlide" Target="../notesSlides/notesSlide8.xml"/><Relationship Id="rId1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45.svg"/><Relationship Id="rId3" Type="http://schemas.openxmlformats.org/officeDocument/2006/relationships/image" Target="../media/image44.png"/><Relationship Id="rId2" Type="http://schemas.openxmlformats.org/officeDocument/2006/relationships/image" Target="../media/image41.jpeg"/><Relationship Id="rId1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51.svg"/><Relationship Id="rId7" Type="http://schemas.openxmlformats.org/officeDocument/2006/relationships/image" Target="../media/image50.png"/><Relationship Id="rId6" Type="http://schemas.openxmlformats.org/officeDocument/2006/relationships/image" Target="../media/image49.svg"/><Relationship Id="rId5" Type="http://schemas.openxmlformats.org/officeDocument/2006/relationships/image" Target="../media/image48.png"/><Relationship Id="rId4" Type="http://schemas.openxmlformats.org/officeDocument/2006/relationships/image" Target="../media/image47.svg"/><Relationship Id="rId3" Type="http://schemas.openxmlformats.org/officeDocument/2006/relationships/image" Target="../media/image46.png"/><Relationship Id="rId2" Type="http://schemas.openxmlformats.org/officeDocument/2006/relationships/image" Target="../media/image41.jpeg"/><Relationship Id="rId10" Type="http://schemas.openxmlformats.org/officeDocument/2006/relationships/notesSlide" Target="../notesSlides/notesSlide10.xml"/><Relationship Id="rId1" Type="http://schemas.openxmlformats.org/officeDocument/2006/relationships/image" Target="../media/image6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57.svg"/><Relationship Id="rId8" Type="http://schemas.openxmlformats.org/officeDocument/2006/relationships/image" Target="../media/image56.png"/><Relationship Id="rId7" Type="http://schemas.openxmlformats.org/officeDocument/2006/relationships/image" Target="../media/image36.svg"/><Relationship Id="rId6" Type="http://schemas.openxmlformats.org/officeDocument/2006/relationships/image" Target="../media/image35.png"/><Relationship Id="rId5" Type="http://schemas.openxmlformats.org/officeDocument/2006/relationships/image" Target="../media/image55.svg"/><Relationship Id="rId4" Type="http://schemas.openxmlformats.org/officeDocument/2006/relationships/image" Target="../media/image54.png"/><Relationship Id="rId3" Type="http://schemas.openxmlformats.org/officeDocument/2006/relationships/image" Target="../media/image53.svg"/><Relationship Id="rId2" Type="http://schemas.openxmlformats.org/officeDocument/2006/relationships/image" Target="../media/image52.png"/><Relationship Id="rId11" Type="http://schemas.openxmlformats.org/officeDocument/2006/relationships/notesSlide" Target="../notesSlides/notesSlide11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6.jpe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15.xml"/><Relationship Id="rId4" Type="http://schemas.openxmlformats.org/officeDocument/2006/relationships/tags" Target="../tags/tag4.xml"/><Relationship Id="rId3" Type="http://schemas.openxmlformats.org/officeDocument/2006/relationships/image" Target="../media/image58.png"/><Relationship Id="rId2" Type="http://schemas.openxmlformats.org/officeDocument/2006/relationships/tags" Target="../tags/tag3.xml"/><Relationship Id="rId1" Type="http://schemas.openxmlformats.org/officeDocument/2006/relationships/image" Target="../media/image6.jpe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6.xml"/><Relationship Id="rId3" Type="http://schemas.openxmlformats.org/officeDocument/2006/relationships/image" Target="../media/image59.png"/><Relationship Id="rId2" Type="http://schemas.openxmlformats.org/officeDocument/2006/relationships/tags" Target="../tags/tag5.xml"/><Relationship Id="rId1" Type="http://schemas.openxmlformats.org/officeDocument/2006/relationships/image" Target="../media/image6.jpe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67.png"/><Relationship Id="rId8" Type="http://schemas.openxmlformats.org/officeDocument/2006/relationships/image" Target="../media/image66.jpeg"/><Relationship Id="rId7" Type="http://schemas.openxmlformats.org/officeDocument/2006/relationships/image" Target="../media/image65.svg"/><Relationship Id="rId6" Type="http://schemas.openxmlformats.org/officeDocument/2006/relationships/image" Target="../media/image64.png"/><Relationship Id="rId5" Type="http://schemas.openxmlformats.org/officeDocument/2006/relationships/image" Target="../media/image63.svg"/><Relationship Id="rId4" Type="http://schemas.openxmlformats.org/officeDocument/2006/relationships/image" Target="../media/image62.png"/><Relationship Id="rId3" Type="http://schemas.openxmlformats.org/officeDocument/2006/relationships/image" Target="../media/image61.svg"/><Relationship Id="rId2" Type="http://schemas.openxmlformats.org/officeDocument/2006/relationships/image" Target="../media/image60.png"/><Relationship Id="rId12" Type="http://schemas.openxmlformats.org/officeDocument/2006/relationships/notesSlide" Target="../notesSlides/notesSlide14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68.svg"/><Relationship Id="rId1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91200" y="1270000"/>
            <a:ext cx="609600" cy="6096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3937000" y="2032000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用扣子搭建工作流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715000" y="2921000"/>
            <a:ext cx="762000" cy="50800"/>
          </a:xfrm>
          <a:prstGeom prst="roundRect">
            <a:avLst>
              <a:gd name="adj" fmla="val 0"/>
            </a:avLst>
          </a:prstGeom>
          <a:solidFill>
            <a:srgbClr val="4A90E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016000" y="3175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0" i="0" u="none" strike="noStrike">
                <a:solidFill>
                  <a:srgbClr val="F5A623"/>
                </a:solidFill>
                <a:latin typeface="Noto Sans SC"/>
                <a:ea typeface="Noto Sans SC"/>
                <a:cs typeface="Noto Sans SC"/>
                <a:sym typeface="Noto Sans SC"/>
              </a:rPr>
              <a:t>让 AI 一步一步帮你写作文开头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191000" y="4572000"/>
            <a:ext cx="3810000" cy="508000"/>
          </a:xfrm>
          <a:prstGeom prst="roundRect">
            <a:avLst>
              <a:gd name="adj" fmla="val 50000"/>
            </a:avLst>
          </a:prstGeom>
          <a:solidFill>
            <a:srgbClr val="7ED321">
              <a:alpha val="15000"/>
            </a:srgbClr>
          </a:solidFill>
          <a:ln w="12700" cap="flat" cmpd="sng">
            <a:solidFill>
              <a:srgbClr val="7ED32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4191000" y="46355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中</a:t>
            </a:r>
            <a:r>
              <a:rPr lang="zh-CN" altLang="en-US" sz="1600" b="1" i="0" u="none" strike="noStrike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学</a:t>
            </a:r>
            <a:r>
              <a:rPr lang="en-US" sz="1600" b="1" i="0" u="none" strike="noStrike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生信息技术 / 社团课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43600" y="5461000"/>
            <a:ext cx="304800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62000" y="508000"/>
            <a:ext cx="469392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什么是工作流？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5334000" cy="1016000"/>
          </a:xfrm>
          <a:prstGeom prst="roundRect">
            <a:avLst>
              <a:gd name="adj" fmla="val 12500"/>
            </a:avLst>
          </a:prstGeom>
          <a:solidFill>
            <a:srgbClr val="4A90E2">
              <a:alpha val="10000"/>
            </a:srgbClr>
          </a:solidFill>
          <a:ln w="25400" cap="flat" cmpd="sng">
            <a:solidFill>
              <a:srgbClr val="4A90E2">
                <a:alpha val="100000"/>
              </a:srgbClr>
            </a:solidFill>
            <a:prstDash val="solid"/>
            <a:round/>
          </a:ln>
        </p:spPr>
        <p:txBody>
          <a:bodyPr vert="horz" wrap="square" lIns="190500" tIns="0" rIns="19050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工作流 = 把一件事拆成几个步骤，让 AI 按顺序做。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667000"/>
            <a:ext cx="533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5A623"/>
                </a:solidFill>
                <a:latin typeface="Noto Sans SC"/>
                <a:ea typeface="Noto Sans SC"/>
                <a:cs typeface="Noto Sans SC"/>
                <a:sym typeface="Noto Sans SC"/>
              </a:rPr>
              <a:t>举个栗子：做一道番茄炒蛋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000" y="31750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143000" y="31242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步骤 1：切番茄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2000" y="36830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143000" y="36322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步骤 2：打鸡蛋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2000" y="41910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143000" y="41402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步骤 3：下锅炒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62000" y="46990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143000" y="46482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步骤 4：装盘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5334000"/>
            <a:ext cx="5334000" cy="762000"/>
          </a:xfrm>
          <a:prstGeom prst="roundRect">
            <a:avLst>
              <a:gd name="adj" fmla="val 16666"/>
            </a:avLst>
          </a:prstGeom>
          <a:solidFill>
            <a:srgbClr val="7ED321">
              <a:alpha val="15000"/>
            </a:srgbClr>
          </a:solidFill>
          <a:ln w="25400" cap="flat" cmpd="sng">
            <a:solidFill>
              <a:srgbClr val="7ED321">
                <a:alpha val="100000"/>
              </a:srgbClr>
            </a:solidFill>
            <a:prstDash val="solid"/>
            <a:round/>
          </a:ln>
        </p:spPr>
        <p:txBody>
          <a:bodyPr vert="horz" wrap="square" lIns="190500" tIns="0" rIns="19050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核心：你设计步骤，AI 自动执行</a:t>
            </a:r>
            <a:endParaRPr lang="en-US" sz="1100"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7620000" y="1778000"/>
            <a:ext cx="3048000" cy="3048000"/>
          </a:xfrm>
          <a:prstGeom prst="roundRect">
            <a:avLst>
              <a:gd name="adj" fmla="val 8333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127000" dist="63500" dir="2700000" algn="tl" rotWithShape="0">
              <a:srgbClr val="000000">
                <a:alpha val="15000"/>
              </a:srgbClr>
            </a:outerShdw>
          </a:effectLst>
        </p:spPr>
      </p:pic>
      <p:sp>
        <p:nvSpPr>
          <p:cNvPr id="16" name="AutoShape 16"/>
          <p:cNvSpPr/>
          <p:nvPr/>
        </p:nvSpPr>
        <p:spPr>
          <a:xfrm>
            <a:off x="7620000" y="4953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969696"/>
                </a:solidFill>
                <a:latin typeface="Noto Sans SC"/>
                <a:ea typeface="Noto Sans SC"/>
                <a:cs typeface="Noto Sans SC"/>
                <a:sym typeface="Noto Sans SC"/>
              </a:rPr>
              <a:t>可视化步骤拆解示例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62000" y="508000"/>
            <a:ext cx="33528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48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老照片</a:t>
            </a:r>
            <a:r>
              <a:rPr lang="zh-CN" altLang="en-US" sz="48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生成</a:t>
            </a:r>
            <a:endParaRPr lang="zh-CN" altLang="en-US" sz="4800" b="1" i="0" u="none" strike="noStrike">
              <a:solidFill>
                <a:srgbClr val="4A90E2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0" y="6781800"/>
            <a:ext cx="12192000" cy="762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4A90E2">
                  <a:alpha val="100000"/>
                </a:srgbClr>
              </a:gs>
              <a:gs pos="100000">
                <a:srgbClr val="7ED321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1">
            <a:hlinkClick r:id="" action="ppaction://media"/>
          </p:cNvPr>
          <p:cNvPicPr/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414520" y="0"/>
            <a:ext cx="4005580" cy="66770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22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62000" y="508000"/>
            <a:ext cx="33528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48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漫画</a:t>
            </a:r>
            <a:endParaRPr lang="zh-CN" altLang="en-US" sz="4800" b="1" i="0" u="none" strike="noStrike">
              <a:solidFill>
                <a:srgbClr val="4A90E2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0" y="6781800"/>
            <a:ext cx="12192000" cy="762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4A90E2">
                  <a:alpha val="100000"/>
                </a:srgbClr>
              </a:gs>
              <a:gs pos="100000">
                <a:srgbClr val="7ED321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2">
            <a:hlinkClick r:id="" action="ppaction://media"/>
          </p:cNvPr>
          <p:cNvPicPr/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315460" y="0"/>
            <a:ext cx="385762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今天要搭的工作流——作文灵感生成器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10668000" cy="635000"/>
          </a:xfrm>
          <a:prstGeom prst="roundRect">
            <a:avLst>
              <a:gd name="adj" fmla="val 20000"/>
            </a:avLst>
          </a:prstGeom>
          <a:solidFill>
            <a:srgbClr val="EBF5FF">
              <a:alpha val="100000"/>
            </a:srgbClr>
          </a:solidFill>
          <a:ln w="12700" cap="flat" cmpd="sng">
            <a:solidFill>
              <a:srgbClr val="4A90E2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输入：作文题目（例如“我的梦想”）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413000"/>
            <a:ext cx="3048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101600" dir="5400000" algn="tl" rotWithShape="0">
              <a:srgbClr val="4A90E2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778000" y="2603500"/>
            <a:ext cx="1016000" cy="1016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/>
          <p:nvPr/>
        </p:nvSpPr>
        <p:spPr>
          <a:xfrm>
            <a:off x="889000" y="3683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1. 生成关键词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89000" y="41275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自动生成3个核心关键词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572000" y="2413000"/>
            <a:ext cx="3048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101600" dir="5400000" algn="tl" rotWithShape="0">
              <a:srgbClr val="F5A623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588000" y="2603500"/>
            <a:ext cx="1016000" cy="1016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2" name="AutoShape 12"/>
          <p:cNvSpPr/>
          <p:nvPr/>
        </p:nvSpPr>
        <p:spPr>
          <a:xfrm>
            <a:off x="4699000" y="3683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5A623"/>
                </a:solidFill>
                <a:latin typeface="Noto Sans SC"/>
                <a:ea typeface="Noto Sans SC"/>
                <a:cs typeface="Noto Sans SC"/>
                <a:sym typeface="Noto Sans SC"/>
              </a:rPr>
              <a:t>2. 撰写素材句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699000" y="41275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为每个关键词写一句素材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382000" y="2413000"/>
            <a:ext cx="3048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101600" dir="5400000" algn="tl" rotWithShape="0">
              <a:srgbClr val="7ED321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398000" y="2603500"/>
            <a:ext cx="1016000" cy="1016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6" name="AutoShape 16"/>
          <p:cNvSpPr/>
          <p:nvPr/>
        </p:nvSpPr>
        <p:spPr>
          <a:xfrm>
            <a:off x="8509000" y="3683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3. 合成开头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509000" y="41275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智能整合素材生成完整段落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62000" y="5080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7ED321">
              <a:alpha val="10000"/>
            </a:srgbClr>
          </a:solidFill>
          <a:ln w="25400" cap="flat" cmpd="sng">
            <a:solidFill>
              <a:srgbClr val="7ED321">
                <a:alpha val="100000"/>
              </a:srgbClr>
            </a:solidFill>
            <a:prstDash val="dash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输出结果：一段逻辑通顺、可以直接使用的作文开头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扣子工作流界面（只看 3 个地方）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16000" y="1651000"/>
            <a:ext cx="3302000" cy="3302000"/>
          </a:xfrm>
          <a:prstGeom prst="roundRect">
            <a:avLst>
              <a:gd name="adj" fmla="val 5769"/>
            </a:avLst>
          </a:prstGeom>
          <a:noFill/>
          <a:ln w="12700" cap="flat" cmpd="sng">
            <a:solidFill>
              <a:srgbClr val="DCE0E6">
                <a:alpha val="100000"/>
              </a:srgbClr>
            </a:solidFill>
            <a:prstDash val="solid"/>
            <a:round/>
          </a:ln>
          <a:effectLst>
            <a:outerShdw blurRad="254000" dist="127000" dir="2700000" algn="tl" rotWithShape="0">
              <a:srgbClr val="4A90E2">
                <a:alpha val="20000"/>
              </a:srgbClr>
            </a:outerShdw>
          </a:effectLst>
        </p:spPr>
      </p:pic>
      <p:sp>
        <p:nvSpPr>
          <p:cNvPr id="6" name="AutoShape 6"/>
          <p:cNvSpPr/>
          <p:nvPr/>
        </p:nvSpPr>
        <p:spPr>
          <a:xfrm>
            <a:off x="4826000" y="1651000"/>
            <a:ext cx="5842000" cy="889000"/>
          </a:xfrm>
          <a:prstGeom prst="roundRect">
            <a:avLst>
              <a:gd name="adj" fmla="val 14285"/>
            </a:avLst>
          </a:prstGeom>
          <a:solidFill>
            <a:srgbClr val="4A90E2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80000" y="18923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5588000" y="1778000"/>
            <a:ext cx="495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① 左侧节点库：</a:t>
            </a:r>
            <a:r>
              <a:rPr lang="en-US" sz="24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拖出“LLM”节点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826000" y="2667000"/>
            <a:ext cx="5842000" cy="889000"/>
          </a:xfrm>
          <a:prstGeom prst="roundRect">
            <a:avLst>
              <a:gd name="adj" fmla="val 14285"/>
            </a:avLst>
          </a:prstGeom>
          <a:solidFill>
            <a:srgbClr val="7ED321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80000" y="29083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588000" y="2794000"/>
            <a:ext cx="495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② 中间画布：</a:t>
            </a:r>
            <a:r>
              <a:rPr lang="en-US" sz="24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把节点连起来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826000" y="3683000"/>
            <a:ext cx="5842000" cy="889000"/>
          </a:xfrm>
          <a:prstGeom prst="roundRect">
            <a:avLst>
              <a:gd name="adj" fmla="val 14285"/>
            </a:avLst>
          </a:prstGeom>
          <a:solidFill>
            <a:srgbClr val="F5A623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080000" y="39243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5588000" y="3810000"/>
            <a:ext cx="495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③ 右上角“试运行”：</a:t>
            </a:r>
            <a:r>
              <a:rPr lang="en-US" sz="24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测试工作流效果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016000" y="5334000"/>
            <a:ext cx="10160000" cy="762000"/>
          </a:xfrm>
          <a:prstGeom prst="roundRect">
            <a:avLst>
              <a:gd name="adj" fmla="val 33333"/>
            </a:avLst>
          </a:prstGeom>
          <a:solidFill>
            <a:srgbClr val="4A90E2">
              <a:alpha val="10000"/>
            </a:srgbClr>
          </a:solidFill>
          <a:ln w="25400" cap="flat" cmpd="sng">
            <a:solidFill>
              <a:srgbClr val="4A90E2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70000" y="55118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778000" y="5461000"/>
            <a:ext cx="914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提醒：</a:t>
            </a:r>
            <a:r>
              <a:rPr lang="en-US" sz="2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今天只用一种节点——</a:t>
            </a:r>
            <a:r>
              <a:rPr lang="en-US" sz="24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LLM 节点（大模型节点）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73787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搭建第 1 步——接收题目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2032000"/>
            <a:ext cx="2794000" cy="2794000"/>
          </a:xfrm>
          <a:prstGeom prst="ellipse">
            <a:avLst/>
          </a:prstGeom>
          <a:solidFill>
            <a:srgbClr val="4A90E2">
              <a:alpha val="10000"/>
            </a:srgbClr>
          </a:solidFill>
          <a:ln cap="flat" cmpd="sng">
            <a:solidFill>
              <a:srgbClr val="2E75C9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270000" y="2286000"/>
            <a:ext cx="2286000" cy="2286000"/>
          </a:xfrm>
          <a:prstGeom prst="roundRect">
            <a:avLst>
              <a:gd name="adj" fmla="val 11111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254000" dist="127000" dir="5400000" algn="tl" rotWithShape="0">
              <a:srgbClr val="4A90E2">
                <a:alpha val="30000"/>
              </a:srgbClr>
            </a:outerShdw>
          </a:effectLst>
        </p:spPr>
      </p:pic>
      <p:sp>
        <p:nvSpPr>
          <p:cNvPr id="7" name="AutoShape 7"/>
          <p:cNvSpPr/>
          <p:nvPr/>
        </p:nvSpPr>
        <p:spPr>
          <a:xfrm>
            <a:off x="1016000" y="4826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工作流起点节点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572000" y="1778000"/>
            <a:ext cx="6096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4A90E2">
                <a:alpha val="2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26000" y="2159000"/>
            <a:ext cx="508000" cy="508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461000" y="1905000"/>
            <a:ext cx="495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拖入“开始”节点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从左侧节点库中，拖拽“开始”图标到画布中央</a:t>
            </a:r>
            <a:endParaRPr lang="en-US" sz="1600" b="0" i="0" u="none" strike="noStrike">
              <a:solidFill>
                <a:srgbClr val="80808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4572000" y="3302000"/>
            <a:ext cx="6096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5A623">
                <a:alpha val="2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26000" y="3683000"/>
            <a:ext cx="508000" cy="508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461000" y="3429000"/>
            <a:ext cx="495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设置输入变量：topic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用于接收外部输入的作文题目信息</a:t>
            </a:r>
            <a:endParaRPr lang="en-US" sz="1600" b="0" i="0" u="none" strike="noStrike">
              <a:solidFill>
                <a:srgbClr val="80808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4572000" y="4826000"/>
            <a:ext cx="6096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7ED321">
                <a:alpha val="2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26000" y="5207000"/>
            <a:ext cx="508000" cy="508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5461000" y="4953000"/>
            <a:ext cx="495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示例：topic = “我的梦想”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变量赋值示例，后续流程将基于此内容生成</a:t>
            </a:r>
            <a:endParaRPr lang="en-US" sz="1600" b="0" i="0" u="none" strike="noStrike">
              <a:solidFill>
                <a:srgbClr val="80808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80518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搭建第 2 步——生成关键词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5080000" cy="3556000"/>
          </a:xfrm>
          <a:prstGeom prst="roundRect">
            <a:avLst>
              <a:gd name="adj" fmla="val 3571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E1E6EB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4A90E2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9050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1879600"/>
            <a:ext cx="4191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拖入并连接节点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524000" y="23495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拖入第 1 个 LLM 节点，连接“开始”节点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9549">
            <a:off x="1016009" y="2851150"/>
            <a:ext cx="4572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BEEF5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1115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524000" y="3086100"/>
            <a:ext cx="4191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编写提示词 Prompt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524000" y="3556000"/>
            <a:ext cx="419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指令：根据作文题目“{{topic}}”，生成 3 个相关的关键词，用逗号隔开。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350000" y="1651000"/>
            <a:ext cx="4826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90000"/>
            </a:srgbClr>
          </a:solidFill>
          <a:ln w="25400" cap="flat" cmpd="sng">
            <a:solidFill>
              <a:srgbClr val="4A90E2">
                <a:alpha val="100000"/>
              </a:srgbClr>
            </a:solidFill>
            <a:prstDash val="solid"/>
            <a:round/>
          </a:ln>
          <a:effectLst>
            <a:outerShdw blurRad="152400" dist="76200" dir="5400000" algn="tl" rotWithShape="0">
              <a:srgbClr val="4A90E2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6604000" y="2032000"/>
            <a:ext cx="1016000" cy="1016000"/>
          </a:xfrm>
          <a:prstGeom prst="roundRect">
            <a:avLst>
              <a:gd name="adj" fmla="val 2500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5" name="AutoShape 15"/>
          <p:cNvSpPr/>
          <p:nvPr/>
        </p:nvSpPr>
        <p:spPr>
          <a:xfrm>
            <a:off x="7874000" y="1905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LLM 节点 (大语言模型)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874000" y="24130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核心功能：理解指令并生成文本内容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350000" y="3683000"/>
            <a:ext cx="4826000" cy="1524000"/>
          </a:xfrm>
          <a:prstGeom prst="roundRect">
            <a:avLst>
              <a:gd name="adj" fmla="val 8333"/>
            </a:avLst>
          </a:prstGeom>
          <a:solidFill>
            <a:srgbClr val="7ED321">
              <a:alpha val="10000"/>
            </a:srgbClr>
          </a:solidFill>
          <a:ln w="12700" cap="flat" cmpd="sng">
            <a:solidFill>
              <a:srgbClr val="7ED32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04000" y="3937000"/>
            <a:ext cx="355600" cy="3556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7112000" y="39116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预期输出结果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604000" y="44450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医生, 帮助别人, 努力学习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0" y="6705600"/>
            <a:ext cx="12192000" cy="152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4A90E2">
                  <a:alpha val="100000"/>
                </a:srgbClr>
              </a:gs>
              <a:gs pos="100000">
                <a:srgbClr val="7ED321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80518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搭建第 3 步——生成素材句子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操作指引：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159000"/>
            <a:ext cx="457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20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拖入第 2 个</a:t>
            </a:r>
            <a:r>
              <a:rPr lang="en-US" sz="20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LLM 节点</a:t>
            </a:r>
            <a:r>
              <a:rPr lang="en-US" sz="20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，并连接上一个节点的输出端。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62000" y="3429000"/>
            <a:ext cx="1524000" cy="1524000"/>
          </a:xfrm>
          <a:prstGeom prst="roundRect">
            <a:avLst>
              <a:gd name="adj" fmla="val 16666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127000" dist="63500" dir="2700000" algn="tl" rotWithShape="0">
              <a:srgbClr val="4A90E2">
                <a:alpha val="30000"/>
              </a:srgbClr>
            </a:outerShdw>
          </a:effectLst>
        </p:spPr>
      </p:pic>
      <p:sp>
        <p:nvSpPr>
          <p:cNvPr id="8" name="AutoShape 8"/>
          <p:cNvSpPr/>
          <p:nvPr/>
        </p:nvSpPr>
        <p:spPr>
          <a:xfrm>
            <a:off x="762000" y="5080000"/>
            <a:ext cx="152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LLM 节点示例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096000" y="1651000"/>
            <a:ext cx="5080000" cy="1397000"/>
          </a:xfrm>
          <a:prstGeom prst="roundRect">
            <a:avLst>
              <a:gd name="adj" fmla="val 9090"/>
            </a:avLst>
          </a:prstGeom>
          <a:solidFill>
            <a:srgbClr val="F5A623">
              <a:alpha val="10000"/>
            </a:srgbClr>
          </a:solidFill>
          <a:ln w="25400" cap="flat" cmpd="sng">
            <a:solidFill>
              <a:srgbClr val="F5A62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86500" y="18415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6731000" y="18034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5A623"/>
                </a:solidFill>
                <a:latin typeface="Noto Sans SC"/>
                <a:ea typeface="Noto Sans SC"/>
                <a:cs typeface="Noto Sans SC"/>
                <a:sym typeface="Noto Sans SC"/>
              </a:rPr>
              <a:t>关键提示词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286500" y="22225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“根据关键词‘{{上一步的输出}}’，为每个关键词写一句简短的素材句子。”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096000" y="3302000"/>
            <a:ext cx="5080000" cy="1905000"/>
          </a:xfrm>
          <a:prstGeom prst="roundRect">
            <a:avLst>
              <a:gd name="adj" fmla="val 6666"/>
            </a:avLst>
          </a:prstGeom>
          <a:solidFill>
            <a:srgbClr val="7ED321">
              <a:alpha val="10000"/>
            </a:srgbClr>
          </a:solidFill>
          <a:ln w="25400" cap="flat" cmpd="sng">
            <a:solidFill>
              <a:srgbClr val="7ED32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86500" y="34925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6731000" y="34544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AI 输出示例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86500" y="3873500"/>
            <a:ext cx="469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医生：我爷爷就是医生，他治好了很多病人。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8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帮助别人：帮助别人让我感到快乐。</a:t>
            </a:r>
            <a:endParaRPr lang="en-US" sz="1800" b="0" i="0" u="none" strike="noStrike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8000"/>
              </a:lnSpc>
            </a:pPr>
            <a:r>
              <a:rPr lang="en-US" sz="18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努力学习：要实现梦想，必须每天坚持学习。</a:t>
            </a:r>
            <a:endParaRPr lang="en-US" sz="1800" b="0" i="0" u="none" strike="noStrike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762000" y="5715000"/>
            <a:ext cx="10668000" cy="508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4A90E2">
                  <a:alpha val="100000"/>
                </a:srgbClr>
              </a:gs>
              <a:gs pos="100000">
                <a:srgbClr val="7ED321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762000" y="59055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999999"/>
                </a:solidFill>
                <a:latin typeface="Noto Sans SC"/>
                <a:ea typeface="Noto Sans SC"/>
                <a:cs typeface="Noto Sans SC"/>
                <a:sym typeface="Noto Sans SC"/>
              </a:rPr>
              <a:t>AI 辅助写作流程 · 素材生成阶段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62000" y="508000"/>
            <a:ext cx="736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搭建第 4 步——合成开头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270000" y="1905000"/>
            <a:ext cx="762000" cy="76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1016000" y="2730500"/>
            <a:ext cx="127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节点1：素材生成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86000" y="2082800"/>
            <a:ext cx="406400" cy="406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921000" y="1905000"/>
            <a:ext cx="762000" cy="76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/>
          <p:nvPr/>
        </p:nvSpPr>
        <p:spPr>
          <a:xfrm>
            <a:off x="2667000" y="2730500"/>
            <a:ext cx="127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节点2：素材扩展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37000" y="2082800"/>
            <a:ext cx="406400" cy="406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572000" y="1841500"/>
            <a:ext cx="889000" cy="889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F5A623">
                <a:alpha val="50000"/>
              </a:srgbClr>
            </a:outerShdw>
          </a:effectLst>
        </p:spPr>
      </p:pic>
      <p:sp>
        <p:nvSpPr>
          <p:cNvPr id="11" name="AutoShape 11"/>
          <p:cNvSpPr/>
          <p:nvPr/>
        </p:nvSpPr>
        <p:spPr>
          <a:xfrm>
            <a:off x="4254500" y="2794000"/>
            <a:ext cx="152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5A623"/>
                </a:solidFill>
                <a:latin typeface="Noto Sans SC"/>
                <a:ea typeface="Noto Sans SC"/>
                <a:cs typeface="Noto Sans SC"/>
                <a:sym typeface="Noto Sans SC"/>
              </a:rPr>
              <a:t>节点3：合成开头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3429000"/>
            <a:ext cx="10668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90000"/>
            </a:srgbClr>
          </a:solidFill>
          <a:ln w="25400" cap="flat" cmpd="sng">
            <a:solidFill>
              <a:srgbClr val="4A90E2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37973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524000" y="3556000"/>
            <a:ext cx="965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提示词设置：</a:t>
            </a:r>
            <a:r>
              <a:rPr lang="en-US" sz="20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“把下面的素材句子连成一段通顺的作文开头，100 字以内：{{上一步的输出}}”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4826000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90000"/>
            </a:srgbClr>
          </a:solidFill>
          <a:ln w="25400" cap="flat" cmpd="sng">
            <a:solidFill>
              <a:srgbClr val="7ED32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52578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524000" y="4953000"/>
            <a:ext cx="965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输出示例：</a:t>
            </a:r>
            <a:r>
              <a:rPr lang="en-US" sz="20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“我的梦想是当一名医生。我爷爷就是医生，他治好了很多病人。帮助别人让我感到快乐。要实现梦想，必须每天坚持学习。”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测试你的工作流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2476500" cy="2794000"/>
          </a:xfrm>
          <a:prstGeom prst="roundRect">
            <a:avLst>
              <a:gd name="adj" fmla="val 5128"/>
            </a:avLst>
          </a:prstGeom>
          <a:solidFill>
            <a:srgbClr val="FFFFFF">
              <a:alpha val="100000"/>
            </a:srgbClr>
          </a:solidFill>
          <a:ln cap="flat" cmpd="sng">
            <a:solidFill>
              <a:srgbClr val="E6CFCF">
                <a:alpha val="100000"/>
              </a:srgbClr>
            </a:solidFill>
            <a:prstDash val="solid"/>
            <a:round/>
          </a:ln>
          <a:effectLst>
            <a:outerShdw blurRad="190500" dist="101600" dir="5400000" algn="tl" rotWithShape="0">
              <a:srgbClr val="4A90E2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89100" y="2032000"/>
            <a:ext cx="609600" cy="609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889000" y="2794000"/>
            <a:ext cx="222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1. 启动试运行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89000" y="3238500"/>
            <a:ext cx="2222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点击界面右上角</a:t>
            </a:r>
            <a:br>
              <a:rPr lang="en-US" sz="16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6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“试运行”按钮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492500" y="1778000"/>
            <a:ext cx="2476500" cy="2794000"/>
          </a:xfrm>
          <a:prstGeom prst="roundRect">
            <a:avLst>
              <a:gd name="adj" fmla="val 5128"/>
            </a:avLst>
          </a:prstGeom>
          <a:solidFill>
            <a:srgbClr val="FFFFFF">
              <a:alpha val="100000"/>
            </a:srgbClr>
          </a:solidFill>
          <a:ln cap="flat" cmpd="sng">
            <a:solidFill>
              <a:srgbClr val="E6CFCF">
                <a:alpha val="100000"/>
              </a:srgbClr>
            </a:solidFill>
            <a:prstDash val="solid"/>
            <a:round/>
          </a:ln>
          <a:effectLst>
            <a:outerShdw blurRad="190500" dist="101600" dir="5400000" algn="tl" rotWithShape="0">
              <a:srgbClr val="4A90E2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19600" y="2032000"/>
            <a:ext cx="609600" cy="609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3619500" y="2794000"/>
            <a:ext cx="222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2. 输入测试题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619500" y="3238500"/>
            <a:ext cx="2222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在输入框中填入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6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题目：</a:t>
            </a:r>
            <a:r>
              <a:rPr lang="en-US" sz="16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我的梦想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223000" y="1778000"/>
            <a:ext cx="2476500" cy="2794000"/>
          </a:xfrm>
          <a:prstGeom prst="roundRect">
            <a:avLst>
              <a:gd name="adj" fmla="val 5128"/>
            </a:avLst>
          </a:prstGeom>
          <a:solidFill>
            <a:srgbClr val="FFFFFF">
              <a:alpha val="100000"/>
            </a:srgbClr>
          </a:solidFill>
          <a:ln cap="flat" cmpd="sng">
            <a:solidFill>
              <a:srgbClr val="E6CFCF">
                <a:alpha val="100000"/>
              </a:srgbClr>
            </a:solidFill>
            <a:prstDash val="solid"/>
            <a:round/>
          </a:ln>
          <a:effectLst>
            <a:outerShdw blurRad="190500" dist="101600" dir="5400000" algn="tl" rotWithShape="0">
              <a:srgbClr val="4A90E2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50100" y="2032000"/>
            <a:ext cx="609600" cy="609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6350000" y="2794000"/>
            <a:ext cx="222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3. 查看生成结果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350000" y="3238500"/>
            <a:ext cx="2222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等待AI处理</a:t>
            </a:r>
            <a:br>
              <a:rPr lang="en-US" sz="16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6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预览输出的开头段落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953500" y="1778000"/>
            <a:ext cx="2476500" cy="2794000"/>
          </a:xfrm>
          <a:prstGeom prst="roundRect">
            <a:avLst>
              <a:gd name="adj" fmla="val 5128"/>
            </a:avLst>
          </a:prstGeom>
          <a:solidFill>
            <a:srgbClr val="FFFFFF">
              <a:alpha val="100000"/>
            </a:srgbClr>
          </a:solidFill>
          <a:ln cap="flat" cmpd="sng">
            <a:solidFill>
              <a:srgbClr val="E6CFCF">
                <a:alpha val="100000"/>
              </a:srgbClr>
            </a:solidFill>
            <a:prstDash val="solid"/>
            <a:round/>
          </a:ln>
          <a:effectLst>
            <a:outerShdw blurRad="190500" dist="101600" dir="5400000" algn="tl" rotWithShape="0">
              <a:srgbClr val="4A90E2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880600" y="2032000"/>
            <a:ext cx="609600" cy="6096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9080500" y="2794000"/>
            <a:ext cx="222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4. 验证通用性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9080500" y="3238500"/>
            <a:ext cx="2222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更换题目测试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6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如：</a:t>
            </a:r>
            <a:r>
              <a:rPr lang="en-US" sz="16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一次难忘的旅行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62000" y="5080000"/>
            <a:ext cx="10668000" cy="508000"/>
          </a:xfrm>
          <a:prstGeom prst="roundRect">
            <a:avLst>
              <a:gd name="adj" fmla="val 50000"/>
            </a:avLst>
          </a:prstGeom>
          <a:solidFill>
            <a:srgbClr val="4A90E2">
              <a:alpha val="10000"/>
            </a:srgbClr>
          </a:solidFill>
          <a:ln w="12700" cap="flat" cmpd="sng">
            <a:solidFill>
              <a:srgbClr val="4A90E2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889000" y="5143500"/>
            <a:ext cx="1041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💡 提示：测试过程中请留意生成内容的逻辑连贯性与格式规范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62000" y="508000"/>
            <a:ext cx="33528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48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     </a:t>
            </a:r>
            <a:r>
              <a:rPr lang="zh-CN" altLang="en-US" sz="48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金句图文</a:t>
            </a:r>
            <a:endParaRPr lang="zh-CN" altLang="en-US" sz="4800" b="1" i="0" u="none" strike="noStrike">
              <a:solidFill>
                <a:srgbClr val="4A90E2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zh-CN" altLang="en-US" sz="48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工作流</a:t>
            </a:r>
            <a:endParaRPr lang="zh-CN" altLang="en-US" sz="4800" b="1" i="0" u="none" strike="noStrike">
              <a:solidFill>
                <a:srgbClr val="4A90E2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0" y="6781800"/>
            <a:ext cx="12192000" cy="762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4A90E2">
                  <a:alpha val="100000"/>
                </a:srgbClr>
              </a:gs>
              <a:gs pos="100000">
                <a:srgbClr val="7ED321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676775" y="0"/>
            <a:ext cx="6796405" cy="6858000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448310" y="1981200"/>
            <a:ext cx="3776980" cy="35382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>
                <a:solidFill>
                  <a:schemeClr val="bg1"/>
                </a:solidFill>
                <a:highlight>
                  <a:srgbClr val="000080"/>
                </a:highlight>
                <a:latin typeface="Arial Bold" panose="020B0604020202090204" charset="0"/>
                <a:cs typeface="Arial Bold" panose="020B0604020202090204" charset="0"/>
              </a:rPr>
              <a:t>1.</a:t>
            </a:r>
            <a:r>
              <a:rPr lang="zh-CN" altLang="en-US" sz="2800" b="1">
                <a:solidFill>
                  <a:schemeClr val="bg1"/>
                </a:solidFill>
                <a:highlight>
                  <a:srgbClr val="000080"/>
                </a:highlight>
                <a:latin typeface="Arial Bold" panose="020B0604020202090204" charset="0"/>
                <a:cs typeface="Arial Bold" panose="020B0604020202090204" charset="0"/>
              </a:rPr>
              <a:t>随机输入一本书名</a:t>
            </a:r>
            <a:endParaRPr lang="zh-CN" altLang="en-US" sz="2800" b="1">
              <a:solidFill>
                <a:schemeClr val="bg1"/>
              </a:solidFill>
              <a:highlight>
                <a:srgbClr val="000080"/>
              </a:highlight>
              <a:latin typeface="Arial Bold" panose="020B0604020202090204" charset="0"/>
              <a:cs typeface="Arial Bold" panose="020B0604020202090204" charset="0"/>
            </a:endParaRPr>
          </a:p>
          <a:p>
            <a:endParaRPr lang="zh-CN" altLang="en-US" sz="2800" b="1">
              <a:solidFill>
                <a:schemeClr val="bg1"/>
              </a:solidFill>
              <a:highlight>
                <a:srgbClr val="000080"/>
              </a:highlight>
              <a:latin typeface="Arial Bold" panose="020B0604020202090204" charset="0"/>
              <a:cs typeface="Arial Bold" panose="020B0604020202090204" charset="0"/>
            </a:endParaRPr>
          </a:p>
          <a:p>
            <a:r>
              <a:rPr lang="en-US" altLang="zh-CN" sz="2800" b="1">
                <a:solidFill>
                  <a:schemeClr val="bg1"/>
                </a:solidFill>
                <a:highlight>
                  <a:srgbClr val="000080"/>
                </a:highlight>
                <a:latin typeface="Arial Bold" panose="020B0604020202090204" charset="0"/>
                <a:cs typeface="Arial Bold" panose="020B0604020202090204" charset="0"/>
              </a:rPr>
              <a:t>2.</a:t>
            </a:r>
            <a:r>
              <a:rPr lang="zh-CN" altLang="en-US" sz="2800" b="1">
                <a:solidFill>
                  <a:schemeClr val="bg1"/>
                </a:solidFill>
                <a:highlight>
                  <a:srgbClr val="000080"/>
                </a:highlight>
                <a:latin typeface="Arial Bold" panose="020B0604020202090204" charset="0"/>
                <a:cs typeface="Arial Bold" panose="020B0604020202090204" charset="0"/>
              </a:rPr>
              <a:t>根据书名查找这本书</a:t>
            </a:r>
            <a:endParaRPr lang="zh-CN" altLang="en-US" sz="2800" b="1">
              <a:solidFill>
                <a:schemeClr val="bg1"/>
              </a:solidFill>
              <a:highlight>
                <a:srgbClr val="000080"/>
              </a:highlight>
              <a:latin typeface="Arial Bold" panose="020B0604020202090204" charset="0"/>
              <a:cs typeface="Arial Bold" panose="020B0604020202090204" charset="0"/>
            </a:endParaRPr>
          </a:p>
          <a:p>
            <a:endParaRPr lang="zh-CN" altLang="en-US" sz="2800" b="1">
              <a:solidFill>
                <a:schemeClr val="bg1"/>
              </a:solidFill>
              <a:highlight>
                <a:srgbClr val="000080"/>
              </a:highlight>
              <a:latin typeface="Arial Bold" panose="020B0604020202090204" charset="0"/>
              <a:cs typeface="Arial Bold" panose="020B0604020202090204" charset="0"/>
            </a:endParaRPr>
          </a:p>
          <a:p>
            <a:r>
              <a:rPr lang="en-US" altLang="zh-CN" sz="2800" b="1">
                <a:solidFill>
                  <a:schemeClr val="bg1"/>
                </a:solidFill>
                <a:highlight>
                  <a:srgbClr val="000080"/>
                </a:highlight>
                <a:latin typeface="Arial Bold" panose="020B0604020202090204" charset="0"/>
                <a:cs typeface="Arial Bold" panose="020B0604020202090204" charset="0"/>
              </a:rPr>
              <a:t>3.</a:t>
            </a:r>
            <a:r>
              <a:rPr lang="zh-CN" altLang="en-US" sz="2800" b="1">
                <a:solidFill>
                  <a:schemeClr val="bg1"/>
                </a:solidFill>
                <a:highlight>
                  <a:srgbClr val="000080"/>
                </a:highlight>
                <a:latin typeface="Arial Bold" panose="020B0604020202090204" charset="0"/>
                <a:cs typeface="Arial Bold" panose="020B0604020202090204" charset="0"/>
              </a:rPr>
              <a:t>总结书中的金句</a:t>
            </a:r>
            <a:endParaRPr lang="zh-CN" altLang="en-US" sz="2800" b="1">
              <a:solidFill>
                <a:schemeClr val="bg1"/>
              </a:solidFill>
              <a:highlight>
                <a:srgbClr val="000080"/>
              </a:highlight>
              <a:latin typeface="Arial Bold" panose="020B0604020202090204" charset="0"/>
              <a:cs typeface="Arial Bold" panose="020B0604020202090204" charset="0"/>
            </a:endParaRPr>
          </a:p>
          <a:p>
            <a:endParaRPr lang="zh-CN" altLang="en-US" sz="2800" b="1">
              <a:solidFill>
                <a:schemeClr val="bg1"/>
              </a:solidFill>
              <a:highlight>
                <a:srgbClr val="000080"/>
              </a:highlight>
              <a:latin typeface="Arial Bold" panose="020B0604020202090204" charset="0"/>
              <a:cs typeface="Arial Bold" panose="020B0604020202090204" charset="0"/>
            </a:endParaRPr>
          </a:p>
          <a:p>
            <a:r>
              <a:rPr lang="en-US" altLang="zh-CN" sz="2800" b="1">
                <a:solidFill>
                  <a:schemeClr val="bg1"/>
                </a:solidFill>
                <a:highlight>
                  <a:srgbClr val="000080"/>
                </a:highlight>
                <a:latin typeface="Arial Bold" panose="020B0604020202090204" charset="0"/>
                <a:cs typeface="Arial Bold" panose="020B0604020202090204" charset="0"/>
              </a:rPr>
              <a:t>4.</a:t>
            </a:r>
            <a:r>
              <a:rPr lang="zh-CN" altLang="en-US" sz="2800" b="1">
                <a:solidFill>
                  <a:schemeClr val="bg1"/>
                </a:solidFill>
                <a:highlight>
                  <a:srgbClr val="000080"/>
                </a:highlight>
                <a:latin typeface="Arial Bold" panose="020B0604020202090204" charset="0"/>
                <a:cs typeface="Arial Bold" panose="020B0604020202090204" charset="0"/>
              </a:rPr>
              <a:t>整合书名和作者形成一张图片</a:t>
            </a:r>
            <a:endParaRPr lang="zh-CN" altLang="en-US" sz="2800" b="1">
              <a:solidFill>
                <a:schemeClr val="bg1"/>
              </a:solidFill>
              <a:highlight>
                <a:srgbClr val="000080"/>
              </a:highlight>
              <a:latin typeface="Arial Bold" panose="020B0604020202090204" charset="0"/>
              <a:cs typeface="Arial Bold" panose="020B060402020209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62000" y="508000"/>
            <a:ext cx="33528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48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工作流</a:t>
            </a:r>
            <a:endParaRPr lang="zh-CN" altLang="en-US" sz="4800" b="1" i="0" u="none" strike="noStrike">
              <a:solidFill>
                <a:srgbClr val="4A90E2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0" y="6781800"/>
            <a:ext cx="12192000" cy="762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4A90E2">
                  <a:alpha val="100000"/>
                </a:srgbClr>
              </a:gs>
              <a:gs pos="100000">
                <a:srgbClr val="7ED321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61645" y="2199640"/>
            <a:ext cx="11268710" cy="26777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62000" y="508000"/>
            <a:ext cx="33528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总结与挑战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080000" cy="3556000"/>
          </a:xfrm>
          <a:prstGeom prst="roundRect">
            <a:avLst>
              <a:gd name="adj" fmla="val 3571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4A90E2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8415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📝 课程总结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4765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97000" y="2413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工作流核心 = 一步一步来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0480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397000" y="29845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三个 LLM 节点串联复杂任务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36195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397000" y="3556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零代码门槛，仅需编写提示词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350000" y="1651000"/>
            <a:ext cx="5080000" cy="3556000"/>
          </a:xfrm>
          <a:prstGeom prst="roundRect">
            <a:avLst>
              <a:gd name="adj" fmla="val 3571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F5A623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604000" y="1841500"/>
            <a:ext cx="355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F5A623"/>
                </a:solidFill>
                <a:latin typeface="Noto Sans SC"/>
                <a:ea typeface="Noto Sans SC"/>
                <a:cs typeface="Noto Sans SC"/>
                <a:sym typeface="Noto Sans SC"/>
              </a:rPr>
              <a:t>🔥 课后挑战</a:t>
            </a:r>
            <a:endParaRPr lang="en-US" sz="1100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10414000" y="1714500"/>
            <a:ext cx="762000" cy="762000"/>
          </a:xfrm>
          <a:prstGeom prst="roundRect">
            <a:avLst>
              <a:gd name="adj" fmla="val 33333"/>
            </a:avLst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04000" y="24765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6985000" y="24130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初级：</a:t>
            </a:r>
            <a:r>
              <a:rPr lang="en-US" sz="20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第三步改为“生成 2 个关键词”</a:t>
            </a:r>
            <a:endParaRPr lang="en-US" sz="1100"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04000" y="30480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985000" y="29845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中级：</a:t>
            </a:r>
            <a:r>
              <a:rPr lang="en-US" sz="20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增加节点，给开头加一个标题</a:t>
            </a:r>
            <a:endParaRPr lang="en-US" sz="1100"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04000" y="36195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6985000" y="35560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高级：</a:t>
            </a:r>
            <a:r>
              <a:rPr lang="en-US" sz="20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制作“数学解题步骤器”工作流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0" y="6781800"/>
            <a:ext cx="12192000" cy="762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4A90E2">
                  <a:alpha val="100000"/>
                </a:srgbClr>
              </a:gs>
              <a:gs pos="100000">
                <a:srgbClr val="7ED321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MEDIACOVER_FLAG" val="1"/>
  <p:tag name="KSO_WM_UNIT_MEDIACOVER_BTN_STATE" val="1"/>
  <p:tag name="KSO_WM_UNIT_MEDIACOVER_BTNRECT" val="0*0*0*0"/>
  <p:tag name="KSO_WM_BEAUTIFY_FLAG" val=""/>
</p:tagLst>
</file>

<file path=ppt/tags/tag2.xml><?xml version="1.0" encoding="utf-8"?>
<p:tagLst xmlns:p="http://schemas.openxmlformats.org/presentationml/2006/main">
  <p:tag name="KSO_WM_MEDIACOVER_FLAG" val="1"/>
  <p:tag name="KSO_WM_UNIT_MEDIACOVER_BTN_STATE" val="1"/>
  <p:tag name="KSO_WM_UNIT_MEDIACOVER_BTNRECT" val="0*0*0*0"/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commondata" val="eyJoZGlkIjoiN2QzODcyNGFhZmEzNjVhZTY5ZjNiMTM1MDZiMzE4OWM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4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1234</Words>
  <Application>WPS 演示</Application>
  <PresentationFormat/>
  <Paragraphs>170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14</vt:i4>
      </vt:variant>
    </vt:vector>
  </HeadingPairs>
  <TitlesOfParts>
    <vt:vector size="33" baseType="lpstr">
      <vt:lpstr>Arial</vt:lpstr>
      <vt:lpstr>宋体</vt:lpstr>
      <vt:lpstr>Wingdings</vt:lpstr>
      <vt:lpstr>Arial</vt:lpstr>
      <vt:lpstr>Noto Sans SC</vt:lpstr>
      <vt:lpstr>Thonburi</vt:lpstr>
      <vt:lpstr>宋体</vt:lpstr>
      <vt:lpstr>汉仪书宋二KW</vt:lpstr>
      <vt:lpstr>微软雅黑</vt:lpstr>
      <vt:lpstr>汉仪旗黑</vt:lpstr>
      <vt:lpstr>Arial Unicode MS</vt:lpstr>
      <vt:lpstr>Apple Color Emoji</vt:lpstr>
      <vt:lpstr>Arial Bold</vt:lpstr>
      <vt:lpstr>Office 主题​​</vt:lpstr>
      <vt:lpstr>默认主题</vt:lpstr>
      <vt:lpstr>1_默认主题</vt:lpstr>
      <vt:lpstr>2_默认主题</vt:lpstr>
      <vt:lpstr>3_默认主题</vt:lpstr>
      <vt:lpstr>4_默认主题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周磊</cp:lastModifiedBy>
  <cp:revision>7</cp:revision>
  <dcterms:created xsi:type="dcterms:W3CDTF">2026-03-31T02:44:51Z</dcterms:created>
  <dcterms:modified xsi:type="dcterms:W3CDTF">2026-03-31T02:44:51Z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E4815108B11CFEFFDF2DCB6978EEBD15_42</vt:lpwstr>
  </property>
  <property fmtid="{D5CDD505-2E9C-101B-9397-08002B2CF9AE}" pid="3" name="KSOProductBuildVer">
    <vt:lpwstr>2052-6.9.0.8865</vt:lpwstr>
  </property>
</Properties>
</file>