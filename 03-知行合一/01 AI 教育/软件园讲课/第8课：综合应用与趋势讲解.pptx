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notesSlides/notesSlide1.xml" Type="http://schemas.openxmlformats.org/officeDocument/2006/relationships/notesSlide"/><Relationship Id="rId2" Target="viewProps.xml" Type="http://schemas.openxmlformats.org/officeDocument/2006/relationships/viewProps"/><Relationship Id="rId20" Target="notesSlides/notesSlide2.xml" Type="http://schemas.openxmlformats.org/officeDocument/2006/relationships/notesSlide"/><Relationship Id="rId21" Target="notesSlides/notesSlide3.xml" Type="http://schemas.openxmlformats.org/officeDocument/2006/relationships/notesSlide"/><Relationship Id="rId22" Target="notesSlides/notesSlide4.xml" Type="http://schemas.openxmlformats.org/officeDocument/2006/relationships/notesSlide"/><Relationship Id="rId23" Target="notesSlides/notesSlide5.xml" Type="http://schemas.openxmlformats.org/officeDocument/2006/relationships/notesSlide"/><Relationship Id="rId24" Target="notesSlides/notesSlide6.xml" Type="http://schemas.openxmlformats.org/officeDocument/2006/relationships/notesSlide"/><Relationship Id="rId25" Target="notesSlides/notesSlide7.xml" Type="http://schemas.openxmlformats.org/officeDocument/2006/relationships/notesSlide"/><Relationship Id="rId26" Target="notesSlides/notesSlide8.xml" Type="http://schemas.openxmlformats.org/officeDocument/2006/relationships/notesSlide"/><Relationship Id="rId27" Target="notesSlides/notesSlide9.xml" Type="http://schemas.openxmlformats.org/officeDocument/2006/relationships/notesSlide"/><Relationship Id="rId28" Target="notesSlides/notesSlide10.xml" Type="http://schemas.openxmlformats.org/officeDocument/2006/relationships/notesSlide"/><Relationship Id="rId3" Target="presProps.xml" Type="http://schemas.openxmlformats.org/officeDocument/2006/relationships/presProps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大家好，欢迎来到最后一课！今天，我们将一起回顾整个课程的内容，并探讨AI的未来发展趋势。希望通过今天的课程，能帮助大家对AI形成一个更全面、更深刻的认识。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今天的课程有四个目标：首先，我们会一起回顾今天学过的所有内容；其次，希望大家能建立起使用AI的基本意识；再次，我们会探讨AI和我们每个人的关系；最后，我们会一起展望AI的未来，看看它还能给我们带来哪些惊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让我们一起回顾一下今天的学习路径。我们先是体验了AI各种有趣的应用，然后学习了如何通过提示词更好地与AI沟通，最后，我们还亲手搭建了两个实用的工作流。大家从一开始的好奇，到后来的理解，再到最后的实践，已经完成了一次完整的AI探索之旅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通过今天的学习，我们发现AI的应用场景非常广泛。在学习上，它可以是我们的智能助手；在表达和创作上，它可以是我们的得力伙伴；在生活娱乐中，它还可以是我们的有趣玩伴。AI已经渗透到我们生活的方方面面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这里，我想给大家一个重要的提醒：AI是我们的工具，它的作用是辅助我们，而不是替代我们。我们要学会使用AI来帮助自己，但更重要的是，要保持自己的独立思考和创造力。我们是AI的主人，而不是它的奴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接下来，我们看看AI的未来。第一个趋势是更自然的对话。未来的AI会越来越聪明，能听懂我们更复杂的话，甚至能理解我们的情绪，和我们进行更贴心的交流。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第二个趋势是更强的多模态生成。未来的AI不仅能生成图片或文字，还能把文字、图片、声音、视频完美地融合在一起。比如，你写一个故事，AI就能直接把它变成一部动画电影。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个趋势是智能助手化和与编程的融合。未来，AI会像我们的私人助理一样，融入生活的方方面面。同时，AI也会让编程变得更简单，未来可能不需要写复杂的代码，用自然语言就能创造出各种有趣的数字内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现在，我们来做最后的互动。首先，今天的课程里，你学到的哪个AI用法是你最想马上用起来的？其次，我们今天看了很多有趣的案例，哪个是你最想再看一遍的？最后，大家觉得，未来AI最可能先改变我们的学习、游戏、创作，还是编程呢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课程的最后，我们来总结一下。AI是一个强大的工具，我们要学会善用它，让它成为我们的助手。AI的未来充满了无限可能，希望今天的课程能激发大家对AI的兴趣和探索欲。感谢大家的参与，祝愿大家未来都能在AI的帮助下，创造属于自己的精彩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1.svg" Type="http://schemas.openxmlformats.org/officeDocument/2006/relationships/image"/><Relationship Id="rId11" Target="../notesSlides/notesSlide2.xml" Type="http://schemas.openxmlformats.org/officeDocument/2006/relationships/notesSlide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16.jpeg" Type="http://schemas.openxmlformats.org/officeDocument/2006/relationships/image"/><Relationship Id="rId8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Relationship Id="rId7" Target="../media/image21.png" Type="http://schemas.openxmlformats.org/officeDocument/2006/relationships/image"/><Relationship Id="rId8" Target="../media/image22.svg" Type="http://schemas.openxmlformats.org/officeDocument/2006/relationships/image"/><Relationship Id="rId9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5.xml" Type="http://schemas.openxmlformats.org/officeDocument/2006/relationships/notesSlide"/><Relationship Id="rId2" Target="../media/image1.jpeg" Type="http://schemas.openxmlformats.org/officeDocument/2006/relationships/image"/><Relationship Id="rId3" Target="../media/image23.png" Type="http://schemas.openxmlformats.org/officeDocument/2006/relationships/image"/><Relationship Id="rId4" Target="../media/image24.svg" Type="http://schemas.openxmlformats.org/officeDocument/2006/relationships/image"/><Relationship Id="rId5" Target="../media/image25.png" Type="http://schemas.openxmlformats.org/officeDocument/2006/relationships/image"/><Relationship Id="rId6" Target="../media/image26.svg" Type="http://schemas.openxmlformats.org/officeDocument/2006/relationships/image"/><Relationship Id="rId7" Target="../media/image27.png" Type="http://schemas.openxmlformats.org/officeDocument/2006/relationships/image"/><Relationship Id="rId8" Target="../media/image28.svg" Type="http://schemas.openxmlformats.org/officeDocument/2006/relationships/image"/><Relationship Id="rId9" Target="../media/image29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6.xml" Type="http://schemas.openxmlformats.org/officeDocument/2006/relationships/notesSlide"/><Relationship Id="rId2" Target="../media/image1.jpeg" Type="http://schemas.openxmlformats.org/officeDocument/2006/relationships/image"/><Relationship Id="rId3" Target="../media/image30.png" Type="http://schemas.openxmlformats.org/officeDocument/2006/relationships/image"/><Relationship Id="rId4" Target="../media/image31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23.png" Type="http://schemas.openxmlformats.org/officeDocument/2006/relationships/image"/><Relationship Id="rId8" Target="../media/image24.svg" Type="http://schemas.openxmlformats.org/officeDocument/2006/relationships/image"/><Relationship Id="rId9" Target="../media/image3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7.xml" Type="http://schemas.openxmlformats.org/officeDocument/2006/relationships/notesSlide"/><Relationship Id="rId2" Target="../media/image1.jpeg" Type="http://schemas.openxmlformats.org/officeDocument/2006/relationships/image"/><Relationship Id="rId3" Target="../media/image33.png" Type="http://schemas.openxmlformats.org/officeDocument/2006/relationships/image"/><Relationship Id="rId4" Target="../media/image34.svg" Type="http://schemas.openxmlformats.org/officeDocument/2006/relationships/image"/><Relationship Id="rId5" Target="../media/image23.png" Type="http://schemas.openxmlformats.org/officeDocument/2006/relationships/image"/><Relationship Id="rId6" Target="../media/image24.svg" Type="http://schemas.openxmlformats.org/officeDocument/2006/relationships/image"/><Relationship Id="rId7" Target="../media/image35.png" Type="http://schemas.openxmlformats.org/officeDocument/2006/relationships/image"/><Relationship Id="rId8" Target="../media/image36.svg" Type="http://schemas.openxmlformats.org/officeDocument/2006/relationships/image"/><Relationship Id="rId9" Target="../media/image3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23.png" Type="http://schemas.openxmlformats.org/officeDocument/2006/relationships/image"/><Relationship Id="rId4" Target="../media/image24.svg" Type="http://schemas.openxmlformats.org/officeDocument/2006/relationships/image"/><Relationship Id="rId5" Target="../media/image38.png" Type="http://schemas.openxmlformats.org/officeDocument/2006/relationships/image"/><Relationship Id="rId6" Target="../media/image39.svg" Type="http://schemas.openxmlformats.org/officeDocument/2006/relationships/image"/><Relationship Id="rId7" Target="../media/image40.jpeg" Type="http://schemas.openxmlformats.org/officeDocument/2006/relationships/image"/><Relationship Id="rId8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23.png" Type="http://schemas.openxmlformats.org/officeDocument/2006/relationships/image"/><Relationship Id="rId4" Target="../media/image24.svg" Type="http://schemas.openxmlformats.org/officeDocument/2006/relationships/image"/><Relationship Id="rId5" Target="../media/image41.png" Type="http://schemas.openxmlformats.org/officeDocument/2006/relationships/image"/><Relationship Id="rId6" Target="../media/image42.svg" Type="http://schemas.openxmlformats.org/officeDocument/2006/relationships/image"/><Relationship Id="rId7" Target="../media/image43.png" Type="http://schemas.openxmlformats.org/officeDocument/2006/relationships/image"/><Relationship Id="rId8" Target="../media/image44.svg" Type="http://schemas.openxmlformats.org/officeDocument/2006/relationships/image"/><Relationship Id="rId9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50.svg" Type="http://schemas.openxmlformats.org/officeDocument/2006/relationships/image"/><Relationship Id="rId11" Target="../notesSlides/notesSlide10.xml" Type="http://schemas.openxmlformats.org/officeDocument/2006/relationships/notesSlide"/><Relationship Id="rId12" Target="../media/image51.png" Type="http://schemas.openxmlformats.org/officeDocument/2006/relationships/image"/><Relationship Id="rId2" Target="../media/image1.jpeg" Type="http://schemas.openxmlformats.org/officeDocument/2006/relationships/image"/><Relationship Id="rId3" Target="../media/image23.png" Type="http://schemas.openxmlformats.org/officeDocument/2006/relationships/image"/><Relationship Id="rId4" Target="../media/image24.svg" Type="http://schemas.openxmlformats.org/officeDocument/2006/relationships/image"/><Relationship Id="rId5" Target="../media/image45.png" Type="http://schemas.openxmlformats.org/officeDocument/2006/relationships/image"/><Relationship Id="rId6" Target="../media/image46.svg" Type="http://schemas.openxmlformats.org/officeDocument/2006/relationships/image"/><Relationship Id="rId7" Target="../media/image47.png" Type="http://schemas.openxmlformats.org/officeDocument/2006/relationships/image"/><Relationship Id="rId8" Target="../media/image48.svg" Type="http://schemas.openxmlformats.org/officeDocument/2006/relationships/image"/><Relationship Id="rId9" Target="../media/image4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35000" y="2286000"/>
            <a:ext cx="1092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第8课：综合应用与趋势讲解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715000" y="3175000"/>
            <a:ext cx="762000" cy="508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35000" y="3429000"/>
            <a:ext cx="1092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回顾与展望：AI与我们的未来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5892800" y="4445000"/>
            <a:ext cx="4064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B1930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201168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课程目标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5080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05000"/>
            <a:ext cx="609600" cy="609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778000" y="1841500"/>
            <a:ext cx="393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内容串联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778000" y="2286000"/>
            <a:ext cx="381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帮助同学们把今天所学的各个知识点串联起来，形成完整的知识体系。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350000" y="1651000"/>
            <a:ext cx="5080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604000" y="1905000"/>
            <a:ext cx="609600" cy="6096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7366000" y="1841500"/>
            <a:ext cx="393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建立意识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366000" y="2286000"/>
            <a:ext cx="381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让大家形成对AI的基本使用意识，知道如何在学习和生活中利用AI。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3556000"/>
            <a:ext cx="5080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3810000"/>
            <a:ext cx="609600" cy="6096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778000" y="3746500"/>
            <a:ext cx="393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回应关系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778000" y="4191000"/>
            <a:ext cx="381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解答“AI和我有什么关系”这个核心问题，让学生明白AI与自己的未来息息相关。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350000" y="3556000"/>
            <a:ext cx="5080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604000" y="3810000"/>
            <a:ext cx="609600" cy="6096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7366000" y="3746500"/>
            <a:ext cx="393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打开想象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366000" y="4191000"/>
            <a:ext cx="381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适度展示AI未来发展的可能性，激发学生的想象力和探索欲。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016000"/>
            <a:ext cx="30226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课程内容回顾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905000"/>
            <a:ext cx="5334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095500"/>
            <a:ext cx="304800" cy="3048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460500" y="20574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学习路径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2476500"/>
            <a:ext cx="4826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从AI基础应用（生图/视频/数字人）起步，深入提示词原理，掌握与AI高效沟通的技巧；最终通过实战，亲手搭建职业照与金句图文生成工作流。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3937000"/>
            <a:ext cx="5334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41275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460500" y="40894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核心能力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16000" y="4508500"/>
            <a:ext cx="482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围绕“理解AI”与“使用AI”展开，帮助大家完成从“看热闹”到“懂门道”的认知跨越。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604000" y="1905000"/>
            <a:ext cx="4572000" cy="2921000"/>
          </a:xfrm>
          <a:prstGeom prst="roundRect">
            <a:avLst>
              <a:gd name="adj" fmla="val 4347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101600" blurRad="190500" algn="tl" rotWithShape="false">
              <a:srgbClr val="007BFF">
                <a:alpha val="4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/>
          <a:srcRect l="0" r="0" t="65" b="65"/>
          <a:stretch>
            <a:fillRect/>
          </a:stretch>
        </p:blipFill>
        <p:spPr>
          <a:xfrm rot="0" flipH="false" flipV="false">
            <a:off x="6731000" y="2032000"/>
            <a:ext cx="4318000" cy="2425700"/>
          </a:xfrm>
          <a:prstGeom prst="roundRect">
            <a:avLst>
              <a:gd name="adj" fmla="val 2617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5" id="15"/>
          <p:cNvSpPr/>
          <p:nvPr/>
        </p:nvSpPr>
        <p:spPr>
          <a:xfrm rot="0" flipH="false" flipV="false">
            <a:off x="6731000" y="45085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课程内容知识图谱概览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5842000"/>
            <a:ext cx="10668000" cy="254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007BFF">
                  <a:alpha val="0"/>
                </a:srgbClr>
              </a:gs>
              <a:gs pos="50000">
                <a:srgbClr val="007BFF">
                  <a:alpha val="100000"/>
                </a:srgbClr>
              </a:gs>
              <a:gs pos="100000">
                <a:srgbClr val="007BFF">
                  <a:alpha val="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016000"/>
            <a:ext cx="45339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AI的应用场景总结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032000"/>
            <a:ext cx="33020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2860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524000" y="22606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学习辅助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2794000"/>
            <a:ext cx="2794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AI可以帮助我们写作、解答问题、总结知识、制作学习卡片，成为我们的学习助手。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45000" y="2032000"/>
            <a:ext cx="33020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99000" y="22860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5207000" y="22606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表达创作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699000" y="2794000"/>
            <a:ext cx="2794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AI可以帮助我们生成文案、制作视频、设计图片、搭建工作流，提升表达创作效率。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128000" y="2032000"/>
            <a:ext cx="33020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82000" y="22860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8890000" y="22606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生活娱乐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382000" y="2794000"/>
            <a:ext cx="2794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AI可以陪我们聊天、玩游戏、生成有趣的内容，为我们的生活增添乐趣。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AI的使用原则：辅助而非替代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5842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8415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524000" y="18034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核心原则：强大的效率工具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524000" y="2184400"/>
            <a:ext cx="482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AI能够显著提高工作效率，帮助我们拓展思路边界，并在创意生成阶段提供关键灵感。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3111500"/>
            <a:ext cx="5842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3020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524000" y="32639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重要提醒：不可替代的思考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524000" y="3644900"/>
            <a:ext cx="482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AI无法替代人类的独立思考、价值判断与创造力。我们应驾驭AI作为助手，而非过度依赖。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4572000"/>
            <a:ext cx="5842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7625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524000" y="47244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最终目的：实现自我价值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524000" y="5105400"/>
            <a:ext cx="482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利用AI的强大能力，赋能自身，更好地达成个人目标，创造独特的社会价值。</a:t>
            </a:r>
            <a:endParaRPr lang="en-US" sz="1100"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9"/>
          <a:srcRect l="0" r="0" t="0" b="0"/>
          <a:stretch>
            <a:fillRect/>
          </a:stretch>
        </p:blipFill>
        <p:spPr>
          <a:xfrm rot="0" flipH="false" flipV="false">
            <a:off x="7366000" y="1905000"/>
            <a:ext cx="3556000" cy="2000250"/>
          </a:xfrm>
          <a:prstGeom prst="roundRect">
            <a:avLst>
              <a:gd name="adj" fmla="val 9523"/>
            </a:avLst>
          </a:prstGeom>
          <a:noFill/>
          <a:ln w="25400" cmpd="sng" cap="flat">
            <a:solidFill>
              <a:srgbClr val="FFFFFF">
                <a:alpha val="20000"/>
              </a:srgbClr>
            </a:solidFill>
            <a:prstDash val="solid"/>
            <a:round/>
          </a:ln>
          <a:effectLst>
            <a:outerShdw dir="5400000" dist="127000" blurRad="254000" algn="tl" rotWithShape="false">
              <a:srgbClr val="000000">
                <a:alpha val="50000"/>
              </a:srgbClr>
            </a:outerShdw>
          </a:effectLst>
        </p:spPr>
      </p:pic>
      <p:sp>
        <p:nvSpPr>
          <p:cNvPr name="AutoShape 18" id="18"/>
          <p:cNvSpPr/>
          <p:nvPr/>
        </p:nvSpPr>
        <p:spPr>
          <a:xfrm rot="0" flipH="false" flipV="false">
            <a:off x="7366000" y="40640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人机协作：从需求到落地的闭环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6096000"/>
            <a:ext cx="10668000" cy="254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007BFF">
                  <a:alpha val="0"/>
                </a:srgbClr>
              </a:gs>
              <a:gs pos="50000">
                <a:srgbClr val="007BFF">
                  <a:alpha val="100000"/>
                </a:srgbClr>
              </a:gs>
              <a:gs pos="100000">
                <a:srgbClr val="007BFF">
                  <a:alpha val="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016000"/>
            <a:ext cx="90551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AI未来发展趋势（一）：更自然的对话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032000"/>
            <a:ext cx="5842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2225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524000" y="2159000"/>
            <a:ext cx="495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趋势描述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524000" y="2565400"/>
            <a:ext cx="495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未来的AI将能够理解更复杂、更模糊的语言，进行更流畅、更具逻辑性的对话。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3302000"/>
            <a:ext cx="5842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4925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524000" y="3429000"/>
            <a:ext cx="495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能力展望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524000" y="3835400"/>
            <a:ext cx="495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AI可能会具备更强的情感理解能力，能够感知人类的情绪，并做出更贴心的回应。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4572000"/>
            <a:ext cx="5842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7625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524000" y="4699000"/>
            <a:ext cx="495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应用场景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524000" y="5105400"/>
            <a:ext cx="495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更自然的人机对话将让智能助手、客服机器人等应用更加普及和实用。</a:t>
            </a:r>
            <a:endParaRPr lang="en-US" sz="1100"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9"/>
          <a:srcRect l="0" r="0" t="158" b="158"/>
          <a:stretch>
            <a:fillRect/>
          </a:stretch>
        </p:blipFill>
        <p:spPr>
          <a:xfrm rot="0" flipH="false" flipV="false">
            <a:off x="7366000" y="2413000"/>
            <a:ext cx="3556000" cy="1993900"/>
          </a:xfrm>
          <a:prstGeom prst="roundRect">
            <a:avLst>
              <a:gd name="adj" fmla="val 6369"/>
            </a:avLst>
          </a:prstGeom>
          <a:noFill/>
          <a:ln w="25400" cmpd="sng" cap="flat">
            <a:solidFill>
              <a:srgbClr val="FFFFFF">
                <a:alpha val="20000"/>
              </a:srgbClr>
            </a:solidFill>
            <a:prstDash val="solid"/>
            <a:round/>
          </a:ln>
          <a:effectLst>
            <a:outerShdw dir="5400000" dist="127000" blurRad="254000" algn="tl" rotWithShape="false">
              <a:srgbClr val="000000">
                <a:alpha val="40000"/>
              </a:srgbClr>
            </a:outerShdw>
          </a:effectLst>
        </p:spPr>
      </p:pic>
      <p:sp>
        <p:nvSpPr>
          <p:cNvPr name="AutoShape 18" id="18"/>
          <p:cNvSpPr/>
          <p:nvPr/>
        </p:nvSpPr>
        <p:spPr>
          <a:xfrm rot="0" flipH="false" flipV="false">
            <a:off x="7366000" y="45720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人机自然对话交互示意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016000"/>
            <a:ext cx="100584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AI未来发展趋势（二）：更强的多模态生成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032000"/>
            <a:ext cx="5842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2225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524000" y="2159000"/>
            <a:ext cx="4953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趋势描述：多模态无缝融合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524000" y="2540000"/>
            <a:ext cx="495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EBEBEB"/>
                </a:solidFill>
                <a:latin typeface="Noto Sans SC"/>
                <a:ea typeface="Noto Sans SC"/>
                <a:cs typeface="Noto Sans SC"/>
                <a:sym typeface="Noto Sans SC"/>
              </a:rPr>
              <a:t>未来AI将深度融合文本、图像、音频、视频等多种信息，生成更复杂逼真的内容。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3302000"/>
            <a:ext cx="5842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4925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524000" y="3429000"/>
            <a:ext cx="4953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能力展望：全感官内容生成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524000" y="3810000"/>
            <a:ext cx="495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EBEBEB"/>
                </a:solidFill>
                <a:latin typeface="Noto Sans SC"/>
                <a:ea typeface="Noto Sans SC"/>
                <a:cs typeface="Noto Sans SC"/>
                <a:sym typeface="Noto Sans SC"/>
              </a:rPr>
              <a:t>输入文字即可生成包含画面、声音和情节的动画短片，实现“文字即内容”。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4572000"/>
            <a:ext cx="5842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7625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524000" y="4699000"/>
            <a:ext cx="4953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应用场景：重塑创作生态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524000" y="5080000"/>
            <a:ext cx="495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EBEBEB"/>
                </a:solidFill>
                <a:latin typeface="Noto Sans SC"/>
                <a:ea typeface="Noto Sans SC"/>
                <a:cs typeface="Noto Sans SC"/>
                <a:sym typeface="Noto Sans SC"/>
              </a:rPr>
              <a:t>极大改变内容创作、娱乐、教育等领域的生产方式，降低创作门槛。</a:t>
            </a:r>
            <a:endParaRPr lang="en-US" sz="1100"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9"/>
          <a:srcRect l="0" r="0" t="0" b="0"/>
          <a:stretch>
            <a:fillRect/>
          </a:stretch>
        </p:blipFill>
        <p:spPr>
          <a:xfrm rot="0" flipH="false" flipV="false">
            <a:off x="7112000" y="2286000"/>
            <a:ext cx="4064000" cy="2286000"/>
          </a:xfrm>
          <a:prstGeom prst="roundRect">
            <a:avLst>
              <a:gd name="adj" fmla="val 8333"/>
            </a:avLst>
          </a:prstGeom>
          <a:noFill/>
          <a:ln w="25400" cmpd="sng" cap="flat">
            <a:solidFill>
              <a:srgbClr val="007BFF">
                <a:alpha val="50000"/>
              </a:srgbClr>
            </a:solidFill>
            <a:prstDash val="solid"/>
            <a:round/>
          </a:ln>
          <a:effectLst>
            <a:outerShdw dir="5400000" dist="127000" blurRad="254000" algn="tl" rotWithShape="false">
              <a:srgbClr val="000000">
                <a:alpha val="50000"/>
              </a:srgbClr>
            </a:outerShdw>
          </a:effectLst>
        </p:spPr>
      </p:pic>
      <p:sp>
        <p:nvSpPr>
          <p:cNvPr name="AutoShape 18" id="18"/>
          <p:cNvSpPr/>
          <p:nvPr/>
        </p:nvSpPr>
        <p:spPr>
          <a:xfrm rot="0" flipH="false" flipV="false">
            <a:off x="7112000" y="46990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多模态内容融合逻辑示意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AI未来发展趋势（三）：智能助手化与编程融合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032000"/>
            <a:ext cx="5080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2225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524000" y="21844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智能助手化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524000" y="2603500"/>
            <a:ext cx="406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AI将更普遍地融入生活和工作，成为无处不在的智能助手，帮助管理日程、处理信息与控制设备。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3810000"/>
            <a:ext cx="5080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40005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524000" y="39624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与编程融合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524000" y="4381500"/>
            <a:ext cx="406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打破编程壁垒，通过自然语言即可创建复杂软件与数字内容，真正实现“人人都是创作者”。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/>
          <a:srcRect l="5223" r="5223" t="10392" b="0"/>
          <a:stretch>
            <a:fillRect/>
          </a:stretch>
        </p:blipFill>
        <p:spPr>
          <a:xfrm rot="0" flipH="false" flipV="false">
            <a:off x="6604000" y="2286000"/>
            <a:ext cx="3810000" cy="2146300"/>
          </a:xfrm>
          <a:prstGeom prst="roundRect">
            <a:avLst>
              <a:gd name="adj" fmla="val 5917"/>
            </a:avLst>
          </a:prstGeom>
          <a:noFill/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  <a:effectLst>
            <a:outerShdw dir="5400000" dist="127000" blurRad="254000" algn="tl" rotWithShape="false">
              <a:srgbClr val="000000">
                <a:alpha val="50000"/>
              </a:srgbClr>
            </a:outerShdw>
          </a:effectLst>
        </p:spPr>
      </p:pic>
      <p:sp>
        <p:nvSpPr>
          <p:cNvPr name="AutoShape 14" id="14"/>
          <p:cNvSpPr/>
          <p:nvPr/>
        </p:nvSpPr>
        <p:spPr>
          <a:xfrm rot="0" flipH="false" flipV="false">
            <a:off x="6604000" y="45720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AI辅助编程与智能交互示意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016000"/>
            <a:ext cx="45212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互动环节：总结与展望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0320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2159000" y="2286000"/>
            <a:ext cx="508000" cy="5080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889000" y="2921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最想带走的AI用法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89000" y="3429000"/>
            <a:ext cx="304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8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今天的课程中，你最想带走的一个AI用法是什么？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45000" y="20320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5842000" y="2286000"/>
            <a:ext cx="508000" cy="5080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4572000" y="2921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最想回顾的案例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572000" y="3429000"/>
            <a:ext cx="304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8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我们今天看了很多案例，你最想再看一次的是哪一个？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128000" y="20320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525000" y="2286000"/>
            <a:ext cx="508000" cy="5080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8255000" y="2921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未来AI的变革领域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255000" y="3429000"/>
            <a:ext cx="304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8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你觉得未来AI最可能先改变我们的学习、游戏、创作，还是编程？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5334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007B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请积极举手或分组讨论，分享你的想法与观点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4191000" y="381000"/>
            <a:ext cx="381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课程总结与致谢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715000" y="952500"/>
            <a:ext cx="762000" cy="508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cmpd="sng" cap="flat">
            <a:solidFill>
              <a:srgbClr val="006FE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397000"/>
            <a:ext cx="3302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2209800" y="1587500"/>
            <a:ext cx="406400" cy="406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889000" y="20955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AI是强大的工具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89000" y="2540000"/>
            <a:ext cx="304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拥有广泛应用场景，能为学习和生活带来巨大帮助与效率提升。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445000" y="1397000"/>
            <a:ext cx="3302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5892800" y="1587500"/>
            <a:ext cx="406400" cy="406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4572000" y="20955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善用AI，成为主人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572000" y="2540000"/>
            <a:ext cx="304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学会驾驭AI，让它成为得力助手，而非被技术取代，保持人类的创造力。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128000" y="1397000"/>
            <a:ext cx="3302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575800" y="1587500"/>
            <a:ext cx="406400" cy="4064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8255000" y="20955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未来充满可能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255000" y="2540000"/>
            <a:ext cx="304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AI发展日新月异，期待大家成为未来的创造者与引领者，探索无限可能。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62000" y="3810000"/>
            <a:ext cx="10668000" cy="1524000"/>
          </a:xfrm>
          <a:prstGeom prst="roundRect">
            <a:avLst>
              <a:gd name="adj" fmla="val 8333"/>
            </a:avLst>
          </a:prstGeom>
          <a:gradFill rotWithShape="true">
            <a:gsLst>
              <a:gs pos="0">
                <a:srgbClr val="007BFF">
                  <a:alpha val="15000"/>
                </a:srgbClr>
              </a:gs>
              <a:gs pos="100000">
                <a:srgbClr val="007BFF">
                  <a:alpha val="5000"/>
                </a:srgbClr>
              </a:gs>
            </a:gsLst>
            <a:lin ang="0"/>
          </a:gradFill>
          <a:ln w="12700" cmpd="sng" cap="flat">
            <a:solidFill>
              <a:srgbClr val="007BFF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143000" y="4064000"/>
            <a:ext cx="304800" cy="3048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1524000" y="4025900"/>
            <a:ext cx="889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致谢与寄语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1143000" y="4445000"/>
            <a:ext cx="990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5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感谢大家的参与和学习！希望这次课程能为大家打开一扇通往AI世界的大门。祝愿大家在未来的学习和生活中，都能善用AI，创造属于自己的精彩！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0" y="6781800"/>
            <a:ext cx="12192000" cy="762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007BFF">
                  <a:alpha val="100000"/>
                </a:srgbClr>
              </a:gs>
              <a:gs pos="100000">
                <a:srgbClr val="00C8FF">
                  <a:alpha val="10000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