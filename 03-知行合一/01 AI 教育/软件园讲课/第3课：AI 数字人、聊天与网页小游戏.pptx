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来到我们的第三课。今天，我们将一起探索AI更有趣的一面，看看它如何成为能说话的数字人、善解人意的聊天伙伴，甚至是能创造出可玩小游戏的“程序员”。让我们一起进入AI的互动与创作世界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今天的课程中，我们有三个主要目标。首先，希望能进一步拓展大家的认知，让大家看到AI不仅能创作内容，还能进行互动和开发应用。其次，通过一系列有趣的展示，让大家亲身体验AI的交互能力。最后，希望大家能建立起AI与我们日常表达、对话和娱乐之间的联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来看AI数字人。大家看屏幕，这就是一个由AI生成的数字人主播，正在进行新闻播报。我们使用的工具叫“禅境”，非常简单，你只需要上传一张照片，它就能帮你生成一个专属的数字人，还能让它开口说话，制作成视频。这让内容创作变得更加便捷和有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接下来，我们看看AI的聊天和角色扮演能力。这里有一个有趣的案例，当用户问“我今天心情不好，能安慰我一下吗？”，AI分别扮演了心理咨询师、好朋友和老师三种角色。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大家可以看到，它的回答完全符合每个角色的身份和口吻：咨询师理性共情，朋友热情直接，老师鼓励引导。这就是AI角色扮演的魅力，不仅智能，而且非常贴心。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更令人惊讶的是，AI还能生成可玩的小游戏！大家看，这就是一个由AI生成的贪吃蛇游戏。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我只需要告诉AI我想要一个什么样的游戏，比如“我想要一个网页版的贪吃蛇游戏，包含分数显示和方向键控制”，它就能自动写出代码，生成一个完整的、可以直接玩的网页游戏。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这意味着，AI正在从一个内容创作者，向一个初级程序员迈进，具备了基础的编程和应用开发能力。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看完了这么多精彩的展示，现在是互动时间！我想邀请一位同学，你来指定一个角色，比如你喜欢的动画人物、历史名人，或者任何你想让AI扮演的角色。然后我来提问，看看AI会如何回应，大家觉得怎么样？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来挑战一下这个AI生成的小游戏。我会现场运行它，大家仔细观察。谁能告诉我，这个游戏该怎么玩？你觉得它设计得怎么样，有没有什么问题？通过这个小游戏，我们可以更直观地感受AI生成内容的能力和局限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我们今天的课程即将结束。让我们来简单总结一下：首先，我们看到AI拥有了强大的互动能力，可以成为数字人主播，也可以扮演各种角色与我们对话。其次，AI的创作能力也令人惊叹，它甚至能生成可玩的小游戏。这一切都表明，AI正在快速发展，未来将在更多领域为我们带来惊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课程的最后，我想留给大家几个问题，希望能激发大家的思考。你觉得未来的AI数字人会变成什么样？AI还能帮我们创造哪些有趣的东西？如果AI能扮演任何人，这又会给我们的生活带来什么？大家可以在课后继续讨论这些话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非常感谢大家的积极参与和热情互动！今天的AI互动与创作之旅就到这里。希望大家能感受到AI技术带来的乐趣和无限可能。我们下次课程再见！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3.xml" Type="http://schemas.openxmlformats.org/officeDocument/2006/relationships/notesSlide"/><Relationship Id="rId2" Target="../media/image1.jpeg" Type="http://schemas.openxmlformats.org/officeDocument/2006/relationships/image"/><Relationship Id="rId3" Target="../media/image10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notesSlides/notesSlide4.xml" Type="http://schemas.openxmlformats.org/officeDocument/2006/relationships/notesSlide"/><Relationship Id="rId2" Target="../media/image1.jpeg" Type="http://schemas.openxmlformats.org/officeDocument/2006/relationships/image"/><Relationship Id="rId3" Target="../media/image15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1.jpeg" Type="http://schemas.openxmlformats.org/officeDocument/2006/relationships/image"/><Relationship Id="rId3" Target="../media/image26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7.xml" Type="http://schemas.openxmlformats.org/officeDocument/2006/relationships/notesSlide"/><Relationship Id="rId2" Target="../media/image1.jpeg" Type="http://schemas.openxmlformats.org/officeDocument/2006/relationships/image"/><Relationship Id="rId3" Target="../media/image26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notesSlides/notesSlide10.xml" Type="http://schemas.openxmlformats.org/officeDocument/2006/relationships/notesSlide"/><Relationship Id="rId6" Target="../media/image4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A1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791200" y="1524000"/>
            <a:ext cx="609600" cy="609600"/>
          </a:xfrm>
          <a:prstGeom prst="rect">
            <a:avLst/>
          </a:prstGeom>
          <a:effectLst>
            <a:outerShdw dir="2700000" dist="0" blurRad="127000" algn="tl" rotWithShape="false">
              <a:srgbClr val="007BFF">
                <a:alpha val="6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1816100" y="2286000"/>
            <a:ext cx="8559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50000"/>
              </a:srgbClr>
            </a:outerShdw>
          </a:effectLst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第3课：AI 数字人、聊天与网页小游戏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3111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0" blurRad="63500" algn="tl" rotWithShape="false">
              <a:srgbClr val="007BFF">
                <a:alpha val="8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365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 spc="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探索AI的互动与创作新边界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334000" y="43180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2026 课程系列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课程目标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16000" y="2794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拓展认知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2385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突破生成图像视频的边界，探索AI在互动与应用开发领域的无限可能。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286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699000" y="2794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体验互动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32385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直观感受AI的拟人交互能力，亲手体验AI生成可玩内容的趣味性。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286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382000" y="2794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建立联系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82000" y="32385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理解AI与表达、对话及游戏的深层关联，激发对AI应用场景的想象力。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7048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AI数字人：让虚拟形象开口说话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2032000"/>
            <a:ext cx="4064000" cy="2286000"/>
          </a:xfrm>
          <a:prstGeom prst="roundRect">
            <a:avLst>
              <a:gd name="adj" fmla="val 5555"/>
            </a:avLst>
          </a:prstGeom>
          <a:noFill/>
          <a:ln w="25400" cmpd="sng" cap="flat">
            <a:solidFill>
              <a:srgbClr val="007BFF">
                <a:alpha val="50000"/>
              </a:srgbClr>
            </a:solidFill>
            <a:prstDash val="solid"/>
            <a:round/>
          </a:ln>
          <a:effectLst>
            <a:outerShdw dir="5400000" dist="127000" blurRad="254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5334000" y="2032000"/>
            <a:ext cx="558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524500" y="22733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6032500" y="2095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工具介绍：禅境AI</a:t>
            </a:r>
            <a:r>
              <a:rPr lang="en-US" b="false" i="false" strike="noStrike" u="none" sz="18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免费创建专属数字人，操作简单便捷。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334000" y="3111500"/>
            <a:ext cx="558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524500" y="33528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032500" y="3175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核心功能：照片驱动</a:t>
            </a:r>
            <a:r>
              <a:rPr lang="en-US" b="false" i="false" strike="noStrike" u="none" sz="18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上传一张照片，即可生成能说会道的3D形象。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334000" y="4191000"/>
            <a:ext cx="558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524500" y="44323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032500" y="4254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应用场景：多元创作</a:t>
            </a:r>
            <a:r>
              <a:rPr lang="en-US" b="false" i="false" strike="noStrike" u="none" sz="18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适用于新闻播报、知识讲解、视频口播等场景。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461000"/>
            <a:ext cx="10668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651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让静态照片“活”起来，开启内容创作新范式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6032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AI聊天：角色扮演的魅力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1778000"/>
            <a:ext cx="4064000" cy="2286000"/>
          </a:xfrm>
          <a:prstGeom prst="roundRect">
            <a:avLst>
              <a:gd name="adj" fmla="val 5555"/>
            </a:avLst>
          </a:prstGeom>
          <a:noFill/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  <a:effectLst>
            <a:outerShdw dir="5400000" dist="101600" blurRad="190500" algn="tl" rotWithShape="false">
              <a:srgbClr val="000000">
                <a:alpha val="30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4191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 角色扮演对话场景示例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334000" y="1778000"/>
            <a:ext cx="6096000" cy="558800"/>
          </a:xfrm>
          <a:prstGeom prst="roundRect">
            <a:avLst>
              <a:gd name="adj" fmla="val 22727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486400" y="1905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892800" y="1879600"/>
            <a:ext cx="533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用户提问：</a:t>
            </a: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“我今天心情不好，能安慰我一下吗？”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334000" y="2463800"/>
            <a:ext cx="6096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486400" y="26416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892800" y="2514600"/>
            <a:ext cx="5334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心理咨询师：</a:t>
            </a:r>
            <a:r>
              <a:rPr lang="en-US" b="false" i="false" strike="noStrike" u="none" sz="15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“我能感受到你的情绪...可以和我说说发生什么事了吗？”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334000" y="3276600"/>
            <a:ext cx="6096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486400" y="34544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892800" y="3327400"/>
            <a:ext cx="5334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好朋友：</a:t>
            </a:r>
            <a:r>
              <a:rPr lang="en-US" b="false" i="false" strike="noStrike" u="none" sz="15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“抱抱你！不开心的事就别想啦，走，带你去吃好吃的！”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334000" y="4089400"/>
            <a:ext cx="6096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5486400" y="42672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5892800" y="4140200"/>
            <a:ext cx="5334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7A2B8"/>
                </a:solidFill>
                <a:latin typeface="Noto Sans SC"/>
                <a:ea typeface="Noto Sans SC"/>
                <a:cs typeface="Noto Sans SC"/>
                <a:sym typeface="Noto Sans SC"/>
              </a:rPr>
              <a:t>老师：</a:t>
            </a:r>
            <a:r>
              <a:rPr lang="en-US" b="false" i="false" strike="noStrike" u="none" sz="15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“遇到困难了吗？没关系，我们一起分析问题，找到解决办法。”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080000"/>
            <a:ext cx="10668000" cy="762000"/>
          </a:xfrm>
          <a:prstGeom prst="roundRect">
            <a:avLst>
              <a:gd name="adj" fmla="val 16666"/>
            </a:avLst>
          </a:prstGeom>
          <a:gradFill rotWithShape="true">
            <a:gsLst>
              <a:gs pos="0">
                <a:srgbClr val="007BFF">
                  <a:alpha val="20000"/>
                </a:srgbClr>
              </a:gs>
              <a:gs pos="100000">
                <a:srgbClr val="007BFF">
                  <a:alpha val="5000"/>
                </a:srgbClr>
              </a:gs>
            </a:gsLst>
            <a:lin ang="0"/>
          </a:gra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965200" y="53086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397000" y="5207000"/>
            <a:ext cx="990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分析总结：</a:t>
            </a: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面对同一问题，AI根据不同角色设定，给出了风格迥异但贴切的回答，展现了强大的角色扮演与共情能力。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7048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AI生成：一键创建可玩小游戏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2032000"/>
            <a:ext cx="4064000" cy="2286000"/>
          </a:xfrm>
          <a:prstGeom prst="roundRect">
            <a:avLst>
              <a:gd name="adj" fmla="val 5555"/>
            </a:avLst>
          </a:prstGeom>
          <a:noFill/>
          <a:ln w="25400" cmpd="sng" cap="flat">
            <a:solidFill>
              <a:srgbClr val="007BFF">
                <a:alpha val="50000"/>
              </a:srgbClr>
            </a:solidFill>
            <a:prstDash val="solid"/>
            <a:round/>
          </a:ln>
          <a:effectLst>
            <a:outerShdw dir="5400000" dist="127000" blurRad="254000" algn="tl" rotWithShape="false">
              <a:srgbClr val="007BFF">
                <a:alpha val="30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4445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AI自动生成的贪吃蛇游戏界面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334000" y="2032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5842000" y="1981200"/>
            <a:ext cx="571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成品展示：完整可玩的小游戏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42000" y="2413000"/>
            <a:ext cx="571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这是一个由AI根据文字描述生成的完整贪吃蛇小游戏，包含完整的游戏逻辑与视觉界面。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334000" y="3302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842000" y="3251200"/>
            <a:ext cx="571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极简流程：自然语言转代码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842000" y="3683000"/>
            <a:ext cx="571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仅需描述需求（如“网页版贪吃蛇，带分数和方向键”），AI即可自动生成所有前端代码。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334000" y="4572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842000" y="4521200"/>
            <a:ext cx="571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能力跃迁：从创作到开发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842000" y="4953000"/>
            <a:ext cx="571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这标志着AI不仅能生成文本内容，更具备了基础的编程思维和应用开发落地能力。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969000"/>
            <a:ext cx="10668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6540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互动环节：你指定，我扮演！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286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5908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74800" y="2565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互动邀请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66800" y="3111500"/>
            <a:ext cx="4470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现在，轮到大家来体验了！请哪位同学现场指定一个角色身份，比如孙悟空、奥特曼、科学家、或者你的好朋友等等。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2286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54800" y="25908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162800" y="2565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互动流程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54800" y="3111500"/>
            <a:ext cx="4470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学生指定角色后，老师将向AI提问，看看AI会如何模仿这个角色的语气和风格来回答问题。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080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期待你的奇思妙想，让我们一起见证AI的创造力！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6540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互动环节：小游戏大挑战！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1778000"/>
            <a:ext cx="4064000" cy="2286000"/>
          </a:xfrm>
          <a:prstGeom prst="roundRect">
            <a:avLst>
              <a:gd name="adj" fmla="val 5555"/>
            </a:avLst>
          </a:prstGeom>
          <a:noFill/>
          <a:ln w="25400" cmpd="sng" cap="flat">
            <a:solidFill>
              <a:srgbClr val="007BFF">
                <a:alpha val="100000"/>
              </a:srgbClr>
            </a:solidFill>
            <a:prstDash val="solid"/>
            <a:round/>
          </a:ln>
          <a:effectLst>
            <a:outerShdw dir="5400000" dist="101600" blurRad="190500" algn="tl" rotWithShape="false">
              <a:srgbClr val="007BFF">
                <a:alpha val="40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4318000"/>
            <a:ext cx="4064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4508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33500" y="4470400"/>
            <a:ext cx="330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游戏体验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4889500"/>
            <a:ext cx="3683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现场运行AI生成的贪吃蛇小游戏，直观感受AI的创作成果。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334000" y="1778000"/>
            <a:ext cx="5842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524500" y="1968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905500" y="19304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互动思考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524500" y="2349500"/>
            <a:ext cx="546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08333"/>
              </a:lnSpc>
              <a:buClr>
                <a:srgbClr val="FFFFFF"/>
              </a:buClr>
              <a:buChar char="•"/>
              <a:defRPr/>
            </a:pPr>
            <a:r>
              <a:rPr lang="en-US" b="tru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玩法规则：</a:t>
            </a: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如何控制蛇移动？得分机制是怎样的？</a:t>
            </a: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08333"/>
              </a:lnSpc>
              <a:buClr>
                <a:srgbClr val="FFFFFF"/>
              </a:buClr>
              <a:buChar char="•"/>
            </a:pPr>
            <a:r>
              <a:rPr lang="en-US" b="tru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完善度：</a:t>
            </a: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游戏逻辑完整吗？是否发现Bug或可优化点？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334000" y="3683000"/>
            <a:ext cx="584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524500" y="3873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905500" y="38354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核心目的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524500" y="4254500"/>
            <a:ext cx="546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通过分析和体验AI生成的游戏，加深对AI生成内容能力边界与潜力的理解。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1730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201168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课程总结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16000" y="2794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互动能力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2385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AI具备强大的“像人”互动能力，支持数字人播报和多样化角色扮演，交互更自然智能。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286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699000" y="2794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创作能力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32385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不仅能生成静态和动态内容，还能生成可运行的网页小游戏，展现应用开发潜力。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286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382000" y="2794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未来趋势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82000" y="32385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正从单一内容生产向复杂互动体验和应用开发延伸，未来充满无限可能。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334000"/>
            <a:ext cx="10668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思考与展望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14500"/>
            <a:ext cx="10668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447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87500" y="18796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数字人意识：</a:t>
            </a: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你认为未来的AI数字人会发展到什么程度？它们会拥有自己的意识吗？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921000"/>
            <a:ext cx="10668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2512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87500" y="30861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创意生成：</a:t>
            </a: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AI还能生成哪些类型的游戏或应用？你希望AI能帮你制作什么？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127500"/>
            <a:ext cx="10668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4577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587500" y="42926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角色扮演：</a:t>
            </a: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如果AI可以完美扮演任何角色，这会带来哪些机遇和挑战？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4610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007BF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89000" y="5588000"/>
            <a:ext cx="1041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💡 目的：鼓励发挥想象力，思考AI技术的未来发展及其对社会和生活的影响。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905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2794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048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期待下次课程与你继续探索 AI 的无限可能！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191000"/>
            <a:ext cx="406400" cy="406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