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.svg" ContentType="image/svg+xml"/>
  <Override PartName="/ppt/media/image50.svg" ContentType="image/svg+xml"/>
  <Override PartName="/ppt/media/image52.svg" ContentType="image/svg+xml"/>
  <Override PartName="/ppt/media/image56.svg" ContentType="image/svg+xml"/>
  <Override PartName="/ppt/media/image59.svg" ContentType="image/svg+xml"/>
  <Override PartName="/ppt/media/image61.svg" ContentType="image/svg+xml"/>
  <Override PartName="/ppt/media/image63.svg" ContentType="image/svg+xml"/>
  <Override PartName="/ppt/media/image65.svg" ContentType="image/svg+xml"/>
  <Override PartName="/ppt/media/image67.svg" ContentType="image/svg+xml"/>
  <Override PartName="/ppt/media/image69.svg" ContentType="image/svg+xml"/>
  <Override PartName="/ppt/media/image71.svg" ContentType="image/svg+xml"/>
  <Override PartName="/ppt/media/image73.svg" ContentType="image/svg+xml"/>
  <Override PartName="/ppt/media/image75.svg" ContentType="image/svg+xml"/>
  <Override PartName="/ppt/media/image78.svg" ContentType="image/svg+xml"/>
  <Override PartName="/ppt/media/image80.svg" ContentType="image/svg+xml"/>
  <Override PartName="/ppt/media/image82.svg" ContentType="image/svg+xml"/>
  <Override PartName="/ppt/media/image8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x="12192000" cy="6858000"/>
  <p:notesSz cx="6858000" cy="9144000"/>
  <p:custDataLst>
    <p:tags r:id="rId22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2" Type="http://schemas.openxmlformats.org/officeDocument/2006/relationships/tags" Target="tags/tag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大家好！今天我们将学习一项更高级的技能——用扣子开发移动应用！我们的目标是用对话的方式，做出一个可以安装在手机上的待办清单App。这将是我们AI学习之旅的又一次飞跃！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首先，我们来回顾一下什么是移动应用。简单来说，移动应用就是我们安装在手机上的各种App，比如微信、番茄钟、贪吃蛇游戏等等。它们的核心特点是安装到手机后，可以随时打开使用，非常方便。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那么，扣子是如何开发移动应用的呢？我们需要进入扣子编程的移动应用模块。核心方法叫做“Vibe Coding”，简单说就是用自然语言和AI对话，告诉它你想要什么，AI就会自动帮你生成代码。整个开发流程分为需求澄清、AI编程、调试和部署四个步骤，全程不需要我们写一行代码！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扣子支持开发多种类型的移动应用，包括工具类、互动类、内容类和电商类。今天，我们就从最简单的工具类App开始，制作一个实用的待办清单App。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开发的第一步是需求澄清。我们打开扣子编程，进入移动应用模块，然后输入我们的需求。这里我给大家展示一个完整的提示词示例，大家可以参考这个格式来描述你想要的待办清单App。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输入需求后，AI就会开始工作。它会自动分析你的需求，生成前后端代码，并配置好数据库。这个过程大约需要1到3分钟，耐心等待后，你就能在预览窗口看到App的界面了。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生成预览界面后，我们可以在上面测试各项功能。如果对界面或功能不满意，我们可以继续和AI对话，提出修改意见，比如“把主题色改成蓝色”，AI就会自动帮我们调整。这个过程叫做调试与迭代，直到我们满意为止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当我们对App的设计和功能都满意后，可以用手机扫描屏幕上的二维码，在手机上进行预览和测试。无论是安卓还是苹果手机都支持，你会发现它就像一个真正的App一样，可以在手机上流畅运行。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最后一步是部署。点击右上角的“部署”按钮，系统会为我们生成一个APK安装包。这个安装包可以安装到安卓手机上，你可以自己使用，也可以分享给同学，甚至可以尝试上架到应用商店。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除了分享安装包，我们还可以分享项目本身。点击“分享”按钮，你会得到一个链接，把这个链接发给同学，他们就可以查看你项目的全部源码，还可以复制你的项目进行修改和协作，非常方便。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简单说一下费用问题。在开发过程中，我们和AI的对话会消耗一些积分，但平台提供的免费额度完全足够我们完成今天的案例，所以大家在初学阶段不用担心费用问题。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课程的最后，我们来总结一下。我们学习了移动应用的概念，以及如何使用扣子编程，通过对话的方式开发移动应用。整个流程分为需求澄清、AI编程、调试和部署四个步骤。今天我们成功制作了一个待办清单App，课后大家可以尝试制作更多有趣的App，比如健康打卡、单词卡等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课后，大家可以尝试完成这些挑战。初级挑战是修改待办清单的主题色，中级挑战是增加截止日期功能，高级挑战是制作一个健康打卡App，更高级的挑战是将你的App部署成APK安装包并安装到自己的手机上。希望大家都能积极尝试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课程到此结束，感谢大家的参与！现在，轮到你们了，发挥你们的想象力，你的第一个移动应用会是什么呢？期待看到你们的创意！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9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9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9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9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9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9.jpeg"/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.svg"/><Relationship Id="rId8" Type="http://schemas.openxmlformats.org/officeDocument/2006/relationships/image" Target="../media/image16.png"/><Relationship Id="rId7" Type="http://schemas.openxmlformats.org/officeDocument/2006/relationships/image" Target="../media/image15.svg"/><Relationship Id="rId6" Type="http://schemas.openxmlformats.org/officeDocument/2006/relationships/image" Target="../media/image14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1" Type="http://schemas.openxmlformats.org/officeDocument/2006/relationships/notesSlide" Target="../notesSlides/notesSlide3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5.svg"/><Relationship Id="rId8" Type="http://schemas.openxmlformats.org/officeDocument/2006/relationships/image" Target="../media/image24.png"/><Relationship Id="rId7" Type="http://schemas.openxmlformats.org/officeDocument/2006/relationships/image" Target="../media/image23.svg"/><Relationship Id="rId6" Type="http://schemas.openxmlformats.org/officeDocument/2006/relationships/image" Target="../media/image22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1" Type="http://schemas.openxmlformats.org/officeDocument/2006/relationships/notesSlide" Target="../notesSlides/notesSlide4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30.jpeg"/><Relationship Id="rId5" Type="http://schemas.openxmlformats.org/officeDocument/2006/relationships/image" Target="../media/image29.svg"/><Relationship Id="rId4" Type="http://schemas.openxmlformats.org/officeDocument/2006/relationships/image" Target="../media/image28.png"/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38.svg"/><Relationship Id="rId8" Type="http://schemas.openxmlformats.org/officeDocument/2006/relationships/image" Target="../media/image37.png"/><Relationship Id="rId7" Type="http://schemas.openxmlformats.org/officeDocument/2006/relationships/image" Target="../media/image36.svg"/><Relationship Id="rId6" Type="http://schemas.openxmlformats.org/officeDocument/2006/relationships/image" Target="../media/image35.png"/><Relationship Id="rId5" Type="http://schemas.openxmlformats.org/officeDocument/2006/relationships/image" Target="../media/image34.svg"/><Relationship Id="rId4" Type="http://schemas.openxmlformats.org/officeDocument/2006/relationships/image" Target="../media/image33.png"/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2" Type="http://schemas.openxmlformats.org/officeDocument/2006/relationships/notesSlide" Target="../notesSlides/notesSlide6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39.jpeg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46.svg"/><Relationship Id="rId7" Type="http://schemas.openxmlformats.org/officeDocument/2006/relationships/image" Target="../media/image45.png"/><Relationship Id="rId6" Type="http://schemas.openxmlformats.org/officeDocument/2006/relationships/image" Target="../media/image44.svg"/><Relationship Id="rId5" Type="http://schemas.openxmlformats.org/officeDocument/2006/relationships/image" Target="../media/image43.png"/><Relationship Id="rId4" Type="http://schemas.openxmlformats.org/officeDocument/2006/relationships/image" Target="../media/image42.svg"/><Relationship Id="rId3" Type="http://schemas.openxmlformats.org/officeDocument/2006/relationships/image" Target="../media/image41.png"/><Relationship Id="rId2" Type="http://schemas.openxmlformats.org/officeDocument/2006/relationships/image" Target="../media/image40.jpeg"/><Relationship Id="rId10" Type="http://schemas.openxmlformats.org/officeDocument/2006/relationships/notesSlide" Target="../notesSlides/notesSlide7.xml"/><Relationship Id="rId1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54.jpeg"/><Relationship Id="rId8" Type="http://schemas.openxmlformats.org/officeDocument/2006/relationships/image" Target="../media/image53.jpeg"/><Relationship Id="rId7" Type="http://schemas.openxmlformats.org/officeDocument/2006/relationships/image" Target="../media/image52.svg"/><Relationship Id="rId6" Type="http://schemas.openxmlformats.org/officeDocument/2006/relationships/image" Target="../media/image51.png"/><Relationship Id="rId5" Type="http://schemas.openxmlformats.org/officeDocument/2006/relationships/image" Target="../media/image50.svg"/><Relationship Id="rId4" Type="http://schemas.openxmlformats.org/officeDocument/2006/relationships/image" Target="../media/image49.png"/><Relationship Id="rId3" Type="http://schemas.openxmlformats.org/officeDocument/2006/relationships/image" Target="../media/image48.svg"/><Relationship Id="rId2" Type="http://schemas.openxmlformats.org/officeDocument/2006/relationships/image" Target="../media/image47.png"/><Relationship Id="rId11" Type="http://schemas.openxmlformats.org/officeDocument/2006/relationships/notesSlide" Target="../notesSlides/notesSlide8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57.jpeg"/><Relationship Id="rId5" Type="http://schemas.openxmlformats.org/officeDocument/2006/relationships/image" Target="../media/image50.svg"/><Relationship Id="rId4" Type="http://schemas.openxmlformats.org/officeDocument/2006/relationships/image" Target="../media/image49.png"/><Relationship Id="rId3" Type="http://schemas.openxmlformats.org/officeDocument/2006/relationships/image" Target="../media/image56.svg"/><Relationship Id="rId2" Type="http://schemas.openxmlformats.org/officeDocument/2006/relationships/image" Target="../media/image55.png"/><Relationship Id="rId1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0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63.svg"/><Relationship Id="rId6" Type="http://schemas.openxmlformats.org/officeDocument/2006/relationships/image" Target="../media/image62.png"/><Relationship Id="rId5" Type="http://schemas.openxmlformats.org/officeDocument/2006/relationships/image" Target="../media/image61.svg"/><Relationship Id="rId4" Type="http://schemas.openxmlformats.org/officeDocument/2006/relationships/image" Target="../media/image60.png"/><Relationship Id="rId3" Type="http://schemas.openxmlformats.org/officeDocument/2006/relationships/image" Target="../media/image59.svg"/><Relationship Id="rId2" Type="http://schemas.openxmlformats.org/officeDocument/2006/relationships/image" Target="../media/image58.png"/><Relationship Id="rId1" Type="http://schemas.openxmlformats.org/officeDocument/2006/relationships/image" Target="../media/image6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1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69.svg"/><Relationship Id="rId6" Type="http://schemas.openxmlformats.org/officeDocument/2006/relationships/image" Target="../media/image68.png"/><Relationship Id="rId5" Type="http://schemas.openxmlformats.org/officeDocument/2006/relationships/image" Target="../media/image67.svg"/><Relationship Id="rId4" Type="http://schemas.openxmlformats.org/officeDocument/2006/relationships/image" Target="../media/image66.png"/><Relationship Id="rId3" Type="http://schemas.openxmlformats.org/officeDocument/2006/relationships/image" Target="../media/image65.svg"/><Relationship Id="rId2" Type="http://schemas.openxmlformats.org/officeDocument/2006/relationships/image" Target="../media/image64.png"/><Relationship Id="rId1" Type="http://schemas.openxmlformats.org/officeDocument/2006/relationships/image" Target="../media/image6.jpe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73.svg"/><Relationship Id="rId8" Type="http://schemas.openxmlformats.org/officeDocument/2006/relationships/image" Target="../media/image72.png"/><Relationship Id="rId7" Type="http://schemas.openxmlformats.org/officeDocument/2006/relationships/image" Target="../media/image15.svg"/><Relationship Id="rId6" Type="http://schemas.openxmlformats.org/officeDocument/2006/relationships/image" Target="../media/image14.png"/><Relationship Id="rId5" Type="http://schemas.openxmlformats.org/officeDocument/2006/relationships/image" Target="../media/image71.svg"/><Relationship Id="rId4" Type="http://schemas.openxmlformats.org/officeDocument/2006/relationships/image" Target="../media/image70.png"/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3" Type="http://schemas.openxmlformats.org/officeDocument/2006/relationships/notesSlide" Target="../notesSlides/notesSlide12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75.svg"/><Relationship Id="rId10" Type="http://schemas.openxmlformats.org/officeDocument/2006/relationships/image" Target="../media/image74.png"/><Relationship Id="rId1" Type="http://schemas.openxmlformats.org/officeDocument/2006/relationships/image" Target="../media/image6.jpe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83.png"/><Relationship Id="rId8" Type="http://schemas.openxmlformats.org/officeDocument/2006/relationships/image" Target="../media/image82.svg"/><Relationship Id="rId7" Type="http://schemas.openxmlformats.org/officeDocument/2006/relationships/image" Target="../media/image81.png"/><Relationship Id="rId6" Type="http://schemas.openxmlformats.org/officeDocument/2006/relationships/image" Target="../media/image80.svg"/><Relationship Id="rId5" Type="http://schemas.openxmlformats.org/officeDocument/2006/relationships/image" Target="../media/image79.png"/><Relationship Id="rId4" Type="http://schemas.openxmlformats.org/officeDocument/2006/relationships/image" Target="../media/image78.svg"/><Relationship Id="rId3" Type="http://schemas.openxmlformats.org/officeDocument/2006/relationships/image" Target="../media/image77.png"/><Relationship Id="rId2" Type="http://schemas.openxmlformats.org/officeDocument/2006/relationships/image" Target="../media/image76.jpeg"/><Relationship Id="rId12" Type="http://schemas.openxmlformats.org/officeDocument/2006/relationships/notesSlide" Target="../notesSlides/notesSlide13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84.svg"/><Relationship Id="rId1" Type="http://schemas.openxmlformats.org/officeDocument/2006/relationships/image" Target="../media/image6.jpe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50.svg"/><Relationship Id="rId3" Type="http://schemas.openxmlformats.org/officeDocument/2006/relationships/image" Target="../media/image49.png"/><Relationship Id="rId2" Type="http://schemas.openxmlformats.org/officeDocument/2006/relationships/image" Target="../media/image85.jpeg"/><Relationship Id="rId1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2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91200" y="1016000"/>
            <a:ext cx="609600" cy="609600"/>
          </a:xfrm>
          <a:prstGeom prst="rect">
            <a:avLst/>
          </a:prstGeom>
          <a:effectLst>
            <a:outerShdw blurRad="127000" dir="2700000" algn="tl" rotWithShape="0">
              <a:srgbClr val="4A90E2">
                <a:alpha val="60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635000" y="1778000"/>
            <a:ext cx="1092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000000">
                <a:alpha val="50000"/>
              </a:srgbClr>
            </a:outerShdw>
          </a:effectLst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用扣子开发移动应用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334000" y="2667000"/>
            <a:ext cx="1524000" cy="508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4A90E2">
                  <a:alpha val="100000"/>
                </a:srgbClr>
              </a:gs>
              <a:gs pos="100000">
                <a:srgbClr val="7ED321">
                  <a:alpha val="100000"/>
                </a:srgbClr>
              </a:gs>
            </a:gsLst>
            <a:lin ang="0"/>
          </a:gradFill>
          <a:ln cap="flat" cmpd="sng">
            <a:gradFill rotWithShape="1">
              <a:gsLst>
                <a:gs pos="0">
                  <a:srgbClr val="2E75C9">
                    <a:alpha val="100000"/>
                  </a:srgbClr>
                </a:gs>
                <a:gs pos="100000">
                  <a:srgbClr val="66B90A">
                    <a:alpha val="100000"/>
                  </a:srgbClr>
                </a:gs>
              </a:gsLst>
              <a:lin ang="0"/>
            </a:gra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635000" y="2921000"/>
            <a:ext cx="1092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F5A623"/>
                </a:solidFill>
                <a:latin typeface="Noto Sans SC"/>
                <a:ea typeface="Noto Sans SC"/>
                <a:cs typeface="Noto Sans SC"/>
                <a:sym typeface="Noto Sans SC"/>
              </a:rPr>
              <a:t>用对话做一个待办清单App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191000" y="3810000"/>
            <a:ext cx="3810000" cy="635000"/>
          </a:xfrm>
          <a:prstGeom prst="roundRect">
            <a:avLst>
              <a:gd name="adj" fmla="val 20000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7ED32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45000" y="39751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4826000" y="3937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中</a:t>
            </a:r>
            <a:r>
              <a:rPr lang="zh-CN" altLang="en-US" sz="16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学</a:t>
            </a:r>
            <a:r>
              <a:rPr lang="en-US" sz="16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生信息技术 / 社团课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0" y="6781800"/>
            <a:ext cx="12192000" cy="762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4A90E2">
                  <a:alpha val="100000"/>
                </a:srgbClr>
              </a:gs>
              <a:gs pos="50000">
                <a:srgbClr val="F5A623">
                  <a:alpha val="100000"/>
                </a:srgbClr>
              </a:gs>
              <a:gs pos="100000">
                <a:srgbClr val="7ED321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53594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什么是移动应用？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5080000" cy="1016000"/>
          </a:xfrm>
          <a:prstGeom prst="roundRect">
            <a:avLst>
              <a:gd name="adj" fmla="val 12500"/>
            </a:avLst>
          </a:prstGeom>
          <a:solidFill>
            <a:srgbClr val="4A90E2">
              <a:alpha val="10000"/>
            </a:srgbClr>
          </a:solidFill>
          <a:ln w="25400" cap="flat" cmpd="sng">
            <a:solidFill>
              <a:srgbClr val="4A90E2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889000" y="1651000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一句话定义：移动应用 =</a:t>
            </a:r>
            <a:r>
              <a:rPr lang="en-US" sz="24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安装在手机上的 App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2794000"/>
            <a:ext cx="5080000" cy="1016000"/>
          </a:xfrm>
          <a:prstGeom prst="roundRect">
            <a:avLst>
              <a:gd name="adj" fmla="val 12500"/>
            </a:avLst>
          </a:prstGeom>
          <a:solidFill>
            <a:srgbClr val="7ED321">
              <a:alpha val="10000"/>
            </a:srgbClr>
          </a:solidFill>
          <a:ln w="25400" cap="flat" cmpd="sng">
            <a:solidFill>
              <a:srgbClr val="7ED32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889000" y="2921000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核心特点：</a:t>
            </a:r>
            <a:r>
              <a:rPr lang="en-US" sz="2400" b="1" i="0" u="none" strike="noStrike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安装到手机，随时打开使用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4191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F5A623"/>
                </a:solidFill>
                <a:latin typeface="Noto Sans SC"/>
                <a:ea typeface="Noto Sans SC"/>
                <a:cs typeface="Noto Sans SC"/>
                <a:sym typeface="Noto Sans SC"/>
              </a:rPr>
              <a:t>生活中的 App 例子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4699000"/>
            <a:ext cx="5080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304800" indent="-304800" algn="l">
              <a:lnSpc>
                <a:spcPct val="125000"/>
              </a:lnSpc>
              <a:buClr>
                <a:srgbClr val="505050"/>
              </a:buClr>
              <a:buChar char="•"/>
              <a:defRPr/>
            </a:pPr>
            <a:r>
              <a:rPr lang="en-US" sz="2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微信：社交沟通必备工具</a:t>
            </a:r>
            <a:endParaRPr lang="en-US" sz="1100"/>
          </a:p>
          <a:p>
            <a:pPr marL="304800" indent="-304800" algn="l">
              <a:lnSpc>
                <a:spcPct val="125000"/>
              </a:lnSpc>
              <a:buClr>
                <a:srgbClr val="505050"/>
              </a:buClr>
              <a:buChar char="•"/>
            </a:pPr>
            <a:r>
              <a:rPr lang="en-US" sz="2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番茄钟：提升效率的时间管理工具</a:t>
            </a:r>
            <a:endParaRPr lang="en-US" sz="2400" b="0" i="0" u="none" strike="noStrike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304800" indent="-304800" algn="l">
              <a:lnSpc>
                <a:spcPct val="125000"/>
              </a:lnSpc>
              <a:buClr>
                <a:srgbClr val="505050"/>
              </a:buClr>
              <a:buChar char="•"/>
            </a:pPr>
            <a:r>
              <a:rPr lang="en-US" sz="2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贪吃蛇：经典的休闲娱乐游戏</a:t>
            </a:r>
            <a:endParaRPr lang="en-US" sz="2400" b="0" i="0" u="none" strike="noStrike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620000" y="1651000"/>
            <a:ext cx="1270000" cy="1270000"/>
          </a:xfrm>
          <a:prstGeom prst="roundRect">
            <a:avLst>
              <a:gd name="adj" fmla="val 2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747000" y="1778000"/>
            <a:ext cx="1016000" cy="1016000"/>
          </a:xfrm>
          <a:prstGeom prst="ellipse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3" name="AutoShape 13"/>
          <p:cNvSpPr/>
          <p:nvPr/>
        </p:nvSpPr>
        <p:spPr>
          <a:xfrm>
            <a:off x="9017000" y="2095500"/>
            <a:ext cx="152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微信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0" y="3175000"/>
            <a:ext cx="1270000" cy="1270000"/>
          </a:xfrm>
          <a:prstGeom prst="roundRect">
            <a:avLst>
              <a:gd name="adj" fmla="val 2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747000" y="3302000"/>
            <a:ext cx="1016000" cy="1016000"/>
          </a:xfrm>
          <a:prstGeom prst="ellipse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6" name="AutoShape 16"/>
          <p:cNvSpPr/>
          <p:nvPr/>
        </p:nvSpPr>
        <p:spPr>
          <a:xfrm>
            <a:off x="9017000" y="3619500"/>
            <a:ext cx="152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番茄钟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20000" y="4699000"/>
            <a:ext cx="1270000" cy="1270000"/>
          </a:xfrm>
          <a:prstGeom prst="roundRect">
            <a:avLst>
              <a:gd name="adj" fmla="val 2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747000" y="4826000"/>
            <a:ext cx="1016000" cy="1016000"/>
          </a:xfrm>
          <a:prstGeom prst="ellipse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9" name="AutoShape 19"/>
          <p:cNvSpPr/>
          <p:nvPr/>
        </p:nvSpPr>
        <p:spPr>
          <a:xfrm>
            <a:off x="9017000" y="5143500"/>
            <a:ext cx="152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贪吃蛇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736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扣子怎么做移动应用？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51435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4A90E2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9500" y="1905000"/>
            <a:ext cx="609600" cy="609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841500" y="18415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入口指引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841500" y="2222500"/>
            <a:ext cx="381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官网：coze.cn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路径：扣子编程 → 移动应用</a:t>
            </a:r>
            <a:endParaRPr lang="en-US" sz="1600" b="0" i="0" u="none" strike="noStrike">
              <a:solidFill>
                <a:srgbClr val="66666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286500" y="1651000"/>
            <a:ext cx="51435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F5A623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04000" y="1905000"/>
            <a:ext cx="609600" cy="609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366000" y="18415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核心方法：Vibe Coding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366000" y="2222500"/>
            <a:ext cx="381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用自然语言描述需求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AI 自动生成代码</a:t>
            </a:r>
            <a:endParaRPr lang="en-US" sz="1600" b="0" i="0" u="none" strike="noStrike">
              <a:solidFill>
                <a:srgbClr val="66666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62000" y="3683000"/>
            <a:ext cx="51435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7ED32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9500" y="3937000"/>
            <a:ext cx="609600" cy="609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841500" y="38735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开发流程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841500" y="4254500"/>
            <a:ext cx="381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需求澄清 → AI 编程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调试 → 部署上线</a:t>
            </a:r>
            <a:endParaRPr lang="en-US" sz="1600" b="0" i="0" u="none" strike="noStrike">
              <a:solidFill>
                <a:srgbClr val="66666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286500" y="3683000"/>
            <a:ext cx="51435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4A90E2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04000" y="3937000"/>
            <a:ext cx="609600" cy="6096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7366000" y="38735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显著特点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366000" y="4254500"/>
            <a:ext cx="381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全程不用写代码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用对话就能开发应用</a:t>
            </a:r>
            <a:endParaRPr lang="en-US" sz="1600" b="0" i="0" u="none" strike="noStrike">
              <a:solidFill>
                <a:srgbClr val="66666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62000" y="508000"/>
            <a:ext cx="939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扣子支持什么类型的App？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2476500" cy="3048000"/>
          </a:xfrm>
          <a:prstGeom prst="roundRect">
            <a:avLst>
              <a:gd name="adj" fmla="val 5128"/>
            </a:avLst>
          </a:prstGeom>
          <a:solidFill>
            <a:srgbClr val="FFFFFF">
              <a:alpha val="95000"/>
            </a:srgbClr>
          </a:solidFill>
          <a:ln w="38100" cap="flat" cmpd="sng">
            <a:solidFill>
              <a:srgbClr val="4A90E2">
                <a:alpha val="100000"/>
              </a:srgbClr>
            </a:solidFill>
            <a:prstDash val="solid"/>
            <a:round/>
          </a:ln>
          <a:effectLst>
            <a:outerShdw blurRad="190500" dist="101600" dir="5400000" algn="tl" rotWithShape="0">
              <a:srgbClr val="4A90E2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89100" y="2032000"/>
            <a:ext cx="609600" cy="609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889000" y="2730500"/>
            <a:ext cx="2222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工具类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89000" y="3238500"/>
            <a:ext cx="2222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待办清单、健康打卡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89000" y="4127500"/>
            <a:ext cx="2222500" cy="457200"/>
          </a:xfrm>
          <a:prstGeom prst="roundRect">
            <a:avLst>
              <a:gd name="adj" fmla="val 50000"/>
            </a:avLst>
          </a:prstGeom>
          <a:solidFill>
            <a:srgbClr val="F5A623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889000" y="4165600"/>
            <a:ext cx="222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5A623"/>
                </a:solidFill>
                <a:latin typeface="Noto Sans SC"/>
                <a:ea typeface="Noto Sans SC"/>
                <a:cs typeface="Noto Sans SC"/>
                <a:sym typeface="Noto Sans SC"/>
              </a:rPr>
              <a:t>★ 今天做：待办清单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492500" y="1778000"/>
            <a:ext cx="2476500" cy="3048000"/>
          </a:xfrm>
          <a:prstGeom prst="roundRect">
            <a:avLst>
              <a:gd name="adj" fmla="val 5128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</a:ln>
          <a:effectLst>
            <a:outerShdw blurRad="127000" dist="762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19600" y="2032000"/>
            <a:ext cx="609600" cy="609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3619500" y="2730500"/>
            <a:ext cx="2222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互动类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619500" y="3238500"/>
            <a:ext cx="2222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小游戏、社交聊天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223000" y="1778000"/>
            <a:ext cx="2476500" cy="3048000"/>
          </a:xfrm>
          <a:prstGeom prst="roundRect">
            <a:avLst>
              <a:gd name="adj" fmla="val 5128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</a:ln>
          <a:effectLst>
            <a:outerShdw blurRad="127000" dist="762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50100" y="2032000"/>
            <a:ext cx="609600" cy="609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6350000" y="2730500"/>
            <a:ext cx="2222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内容类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350000" y="3238500"/>
            <a:ext cx="2222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资讯阅读、短视频社区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953500" y="1778000"/>
            <a:ext cx="2476500" cy="3048000"/>
          </a:xfrm>
          <a:prstGeom prst="roundRect">
            <a:avLst>
              <a:gd name="adj" fmla="val 5128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</a:ln>
          <a:effectLst>
            <a:outerShdw blurRad="127000" dist="762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880600" y="2032000"/>
            <a:ext cx="609600" cy="6096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9080500" y="2730500"/>
            <a:ext cx="2222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电商类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9080500" y="3238500"/>
            <a:ext cx="2222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商品展示、订单管理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5334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E6E6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762000" y="55245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999999"/>
                </a:solidFill>
                <a:latin typeface="Noto Sans SC"/>
                <a:ea typeface="Noto Sans SC"/>
                <a:cs typeface="Noto Sans SC"/>
                <a:sym typeface="Noto Sans SC"/>
              </a:rPr>
              <a:t>扣子开发平台提供丰富的组件与API，助力开发者快速构建各类移动应用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62000" y="508000"/>
            <a:ext cx="100584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开发流程——需求澄清（第1步）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000" y="16510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270000" y="1600200"/>
            <a:ext cx="533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打开扣子编程 → 单击“移动应用”选项卡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2000" y="22860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270000" y="2235200"/>
            <a:ext cx="533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输入提示词（描述想要什么App）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3048000"/>
            <a:ext cx="5588000" cy="2286000"/>
          </a:xfrm>
          <a:prstGeom prst="roundRect">
            <a:avLst>
              <a:gd name="adj" fmla="val 5555"/>
            </a:avLst>
          </a:prstGeom>
          <a:solidFill>
            <a:srgbClr val="F0F8FF">
              <a:alpha val="90000"/>
            </a:srgbClr>
          </a:solidFill>
          <a:ln w="25400" cap="flat" cmpd="sng">
            <a:solidFill>
              <a:srgbClr val="4A90E2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016000" y="3175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本课提示词示例（待办清单App）：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3619500"/>
            <a:ext cx="5080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228600" indent="-228600" algn="l">
              <a:lnSpc>
                <a:spcPct val="125000"/>
              </a:lnSpc>
              <a:buClr>
                <a:srgbClr val="505050"/>
              </a:buClr>
              <a:buChar char="•"/>
              <a:defRPr/>
            </a:pPr>
            <a:r>
              <a:rPr lang="en-US" sz="18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可以添加任务</a:t>
            </a:r>
            <a:endParaRPr lang="en-US" sz="1100"/>
          </a:p>
          <a:p>
            <a:pPr marL="228600" indent="-228600" algn="l">
              <a:lnSpc>
                <a:spcPct val="125000"/>
              </a:lnSpc>
              <a:buClr>
                <a:srgbClr val="505050"/>
              </a:buClr>
              <a:buChar char="•"/>
            </a:pPr>
            <a:r>
              <a:rPr lang="en-US" sz="18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可以标记任务为已完成</a:t>
            </a:r>
            <a:endParaRPr lang="en-US" sz="1800" b="0" i="0" u="none" strike="noStrike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228600" indent="-228600" algn="l">
              <a:lnSpc>
                <a:spcPct val="125000"/>
              </a:lnSpc>
              <a:buClr>
                <a:srgbClr val="505050"/>
              </a:buClr>
              <a:buChar char="•"/>
            </a:pPr>
            <a:r>
              <a:rPr lang="en-US" sz="18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可以删除任务</a:t>
            </a:r>
            <a:endParaRPr lang="en-US" sz="1800" b="0" i="0" u="none" strike="noStrike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228600" indent="-228600" algn="l">
              <a:lnSpc>
                <a:spcPct val="125000"/>
              </a:lnSpc>
              <a:buClr>
                <a:srgbClr val="505050"/>
              </a:buClr>
              <a:buChar char="•"/>
            </a:pPr>
            <a:r>
              <a:rPr lang="en-US" sz="18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界面简洁，适合初中生用</a:t>
            </a:r>
            <a:endParaRPr lang="en-US" sz="1800" b="0" i="0" u="none" strike="noStrike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7620000" y="1778000"/>
            <a:ext cx="3302000" cy="3302000"/>
          </a:xfrm>
          <a:prstGeom prst="roundRect">
            <a:avLst>
              <a:gd name="adj" fmla="val 5769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127000" dist="63500" dir="2700000" algn="tl" rotWithShape="0">
              <a:srgbClr val="000000">
                <a:alpha val="15000"/>
              </a:srgbClr>
            </a:outerShdw>
          </a:effectLst>
        </p:spPr>
      </p:pic>
      <p:sp>
        <p:nvSpPr>
          <p:cNvPr id="12" name="AutoShape 12"/>
          <p:cNvSpPr/>
          <p:nvPr/>
        </p:nvSpPr>
        <p:spPr>
          <a:xfrm>
            <a:off x="7620000" y="52070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扣子编程移动应用界面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开发流程——AI 编程（第2步）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5588000" cy="889000"/>
          </a:xfrm>
          <a:prstGeom prst="roundRect">
            <a:avLst>
              <a:gd name="adj" fmla="val 14285"/>
            </a:avLst>
          </a:prstGeom>
          <a:solidFill>
            <a:srgbClr val="4A90E2">
              <a:alpha val="10000"/>
            </a:srgbClr>
          </a:solidFill>
          <a:ln cap="flat" cmpd="sng">
            <a:solidFill>
              <a:srgbClr val="2E75C9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8923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87500" y="18415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扣子 AI 自动分析需求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2667000"/>
            <a:ext cx="5588000" cy="889000"/>
          </a:xfrm>
          <a:prstGeom prst="roundRect">
            <a:avLst>
              <a:gd name="adj" fmla="val 14285"/>
            </a:avLst>
          </a:prstGeom>
          <a:solidFill>
            <a:srgbClr val="4A90E2">
              <a:alpha val="10000"/>
            </a:srgbClr>
          </a:solidFill>
          <a:ln cap="flat" cmpd="sng">
            <a:solidFill>
              <a:srgbClr val="2E75C9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9083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587500" y="28575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生成前后端代码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3683000"/>
            <a:ext cx="5588000" cy="889000"/>
          </a:xfrm>
          <a:prstGeom prst="roundRect">
            <a:avLst>
              <a:gd name="adj" fmla="val 14285"/>
            </a:avLst>
          </a:prstGeom>
          <a:solidFill>
            <a:srgbClr val="4A90E2">
              <a:alpha val="10000"/>
            </a:srgbClr>
          </a:solidFill>
          <a:ln cap="flat" cmpd="sng">
            <a:solidFill>
              <a:srgbClr val="2E75C9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39243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587500" y="38735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自动配置数据库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4699000"/>
            <a:ext cx="5588000" cy="889000"/>
          </a:xfrm>
          <a:prstGeom prst="roundRect">
            <a:avLst>
              <a:gd name="adj" fmla="val 14285"/>
            </a:avLst>
          </a:prstGeom>
          <a:solidFill>
            <a:srgbClr val="F5A623">
              <a:alpha val="10000"/>
            </a:srgbClr>
          </a:solidFill>
          <a:ln cap="flat" cmpd="sng">
            <a:solidFill>
              <a:srgbClr val="DC8C09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000" y="49403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587500" y="48895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等待 1–3 分钟，预览界面出现</a:t>
            </a:r>
            <a:endParaRPr lang="en-US" sz="1100"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7874000" y="2032000"/>
            <a:ext cx="2794000" cy="2794000"/>
          </a:xfrm>
          <a:prstGeom prst="roundRect">
            <a:avLst>
              <a:gd name="adj" fmla="val 9090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254000" dist="127000" dir="2700000" algn="tl" rotWithShape="0">
              <a:srgbClr val="000000">
                <a:alpha val="15000"/>
              </a:srgbClr>
            </a:outerShdw>
          </a:effectLst>
        </p:spPr>
      </p:pic>
      <p:sp>
        <p:nvSpPr>
          <p:cNvPr id="18" name="AutoShape 18"/>
          <p:cNvSpPr/>
          <p:nvPr/>
        </p:nvSpPr>
        <p:spPr>
          <a:xfrm>
            <a:off x="7874000" y="4953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AI 正在为您生成应用...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62000" y="508000"/>
            <a:ext cx="10731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开发流程——调试与迭代（第3步）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62000" y="1905000"/>
            <a:ext cx="2794000" cy="2794000"/>
          </a:xfrm>
          <a:prstGeom prst="roundRect">
            <a:avLst>
              <a:gd name="adj" fmla="val 9090"/>
            </a:avLst>
          </a:prstGeom>
          <a:noFill/>
          <a:ln w="50800" cap="flat" cmpd="sng">
            <a:solidFill>
              <a:srgbClr val="FFFFFF">
                <a:alpha val="100000"/>
              </a:srgbClr>
            </a:solidFill>
            <a:prstDash val="solid"/>
            <a:round/>
          </a:ln>
          <a:effectLst>
            <a:outerShdw blurRad="254000" dist="127000" dir="2700000" algn="tl" rotWithShape="0">
              <a:srgbClr val="4A90E2">
                <a:alpha val="30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762000" y="4826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待办清单App预览界面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191000" y="1778000"/>
            <a:ext cx="6858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80000"/>
            </a:srgbClr>
          </a:solidFill>
          <a:ln w="12700" cap="flat" cmpd="sng">
            <a:solidFill>
              <a:srgbClr val="4A90E2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45000" y="2032000"/>
            <a:ext cx="508000" cy="508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5080000" y="1905000"/>
            <a:ext cx="584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在预览窗口测试功能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787878"/>
                </a:solidFill>
                <a:latin typeface="Noto Sans SC"/>
                <a:ea typeface="Noto Sans SC"/>
                <a:cs typeface="Noto Sans SC"/>
                <a:sym typeface="Noto Sans SC"/>
              </a:rPr>
              <a:t>生成界面后，逐项验证交互逻辑与视觉呈现是否符合预期</a:t>
            </a:r>
            <a:endParaRPr lang="en-US" sz="1600" b="0" i="0" u="none" strike="noStrike">
              <a:solidFill>
                <a:srgbClr val="787878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4191000" y="2984500"/>
            <a:ext cx="6858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80000"/>
            </a:srgbClr>
          </a:solidFill>
          <a:ln w="12700" cap="flat" cmpd="sng">
            <a:solidFill>
              <a:srgbClr val="F5A623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45000" y="3238500"/>
            <a:ext cx="508000" cy="508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080000" y="3111500"/>
            <a:ext cx="584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不满意？继续用对话修改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787878"/>
                </a:solidFill>
                <a:latin typeface="Noto Sans SC"/>
                <a:ea typeface="Noto Sans SC"/>
                <a:cs typeface="Noto Sans SC"/>
                <a:sym typeface="Noto Sans SC"/>
              </a:rPr>
              <a:t>通过自然语言指令，向AI提出具体的调整需求</a:t>
            </a:r>
            <a:endParaRPr lang="en-US" sz="1600" b="0" i="0" u="none" strike="noStrike">
              <a:solidFill>
                <a:srgbClr val="787878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4191000" y="4191000"/>
            <a:ext cx="6858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80000"/>
            </a:srgbClr>
          </a:solidFill>
          <a:ln w="12700" cap="flat" cmpd="sng">
            <a:solidFill>
              <a:srgbClr val="7ED32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45000" y="4445000"/>
            <a:ext cx="508000" cy="508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5080000" y="4318000"/>
            <a:ext cx="584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示例指令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800" b="0" i="1" u="none" strike="noStrike">
                <a:solidFill>
                  <a:srgbClr val="787878"/>
                </a:solidFill>
                <a:latin typeface="Noto Sans SC"/>
                <a:ea typeface="Noto Sans SC"/>
                <a:cs typeface="Noto Sans SC"/>
                <a:sym typeface="Noto Sans SC"/>
              </a:rPr>
              <a:t>“把主题色改成蓝色” → AI自动调整界面配色</a:t>
            </a:r>
            <a:endParaRPr lang="en-US" sz="1800" b="0" i="1" u="none" strike="noStrike">
              <a:solidFill>
                <a:srgbClr val="787878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0" y="6781800"/>
            <a:ext cx="12192000" cy="762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4A90E2">
                  <a:alpha val="100000"/>
                </a:srgbClr>
              </a:gs>
              <a:gs pos="100000">
                <a:srgbClr val="7ED321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33528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预览与测试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000" y="19050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270000" y="18542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开发完成后，用手机扫码预览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2000" y="26670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270000" y="26162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Android 和 iOS 设备都支持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2000" y="34290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270000" y="33782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就像打开一个真正的 App 一样体验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8594">
            <a:off x="762008" y="4184650"/>
            <a:ext cx="508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4A90E2">
                <a:alpha val="30000"/>
              </a:srgbClr>
            </a:solidFill>
            <a:prstDash val="dash"/>
            <a:round/>
            <a:headEnd type="none" w="lg" len="lg"/>
            <a:tailEnd type="none" w="lg" len="lg"/>
          </a:ln>
        </p:spPr>
      </p:cxnSp>
      <p:sp>
        <p:nvSpPr>
          <p:cNvPr id="12" name="AutoShape 12"/>
          <p:cNvSpPr/>
          <p:nvPr/>
        </p:nvSpPr>
        <p:spPr>
          <a:xfrm>
            <a:off x="762000" y="4445000"/>
            <a:ext cx="508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无需复杂的打包流程，即刻生成，即刻体验。</a:t>
            </a:r>
            <a:endParaRPr lang="en-US" sz="110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6604000" y="1651000"/>
            <a:ext cx="2286000" cy="2286000"/>
          </a:xfrm>
          <a:prstGeom prst="roundRect">
            <a:avLst>
              <a:gd name="adj" fmla="val 5555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127000" dist="63500" dir="2700000" algn="tl" rotWithShape="0">
              <a:srgbClr val="000000">
                <a:alpha val="15000"/>
              </a:srgbClr>
            </a:outerShdw>
          </a:effectLst>
        </p:spPr>
      </p:pic>
      <p:sp>
        <p:nvSpPr>
          <p:cNvPr id="14" name="AutoShape 14"/>
          <p:cNvSpPr/>
          <p:nvPr/>
        </p:nvSpPr>
        <p:spPr>
          <a:xfrm>
            <a:off x="6604000" y="4064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扫码生成预览</a:t>
            </a:r>
            <a:endParaRPr lang="en-US" sz="1100"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9144000" y="1651000"/>
            <a:ext cx="2286000" cy="2286000"/>
          </a:xfrm>
          <a:prstGeom prst="roundRect">
            <a:avLst>
              <a:gd name="adj" fmla="val 5555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127000" dist="63500" dir="2700000" algn="tl" rotWithShape="0">
              <a:srgbClr val="000000">
                <a:alpha val="15000"/>
              </a:srgbClr>
            </a:outerShdw>
          </a:effectLst>
        </p:spPr>
      </p:pic>
      <p:sp>
        <p:nvSpPr>
          <p:cNvPr id="16" name="AutoShape 16"/>
          <p:cNvSpPr/>
          <p:nvPr/>
        </p:nvSpPr>
        <p:spPr>
          <a:xfrm>
            <a:off x="9144000" y="4064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App 真实体验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部署——打包成安装包（第4步）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4826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90000"/>
            </a:srgbClr>
          </a:solidFill>
          <a:ln w="25400" cap="flat" cmpd="sng">
            <a:solidFill>
              <a:srgbClr val="4A90E2">
                <a:alpha val="100000"/>
              </a:srgbClr>
            </a:solidFill>
            <a:prstDash val="solid"/>
            <a:round/>
          </a:ln>
          <a:effectLst>
            <a:outerShdw blurRad="127000" dist="101600" dir="5400000" algn="tl" rotWithShape="0">
              <a:srgbClr val="4A90E2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0320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2006600"/>
            <a:ext cx="381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操作步骤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540000"/>
            <a:ext cx="4318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20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1. 点击右上角的“部署”按钮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20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2. 系统自动生成</a:t>
            </a:r>
            <a:r>
              <a:rPr lang="en-US" sz="2000" b="1" i="0" u="none" strike="noStrike">
                <a:solidFill>
                  <a:srgbClr val="F5A623"/>
                </a:solidFill>
                <a:latin typeface="Noto Sans SC"/>
                <a:ea typeface="Noto Sans SC"/>
                <a:cs typeface="Noto Sans SC"/>
                <a:sym typeface="Noto Sans SC"/>
              </a:rPr>
              <a:t>APK 安装包</a:t>
            </a:r>
            <a:endParaRPr lang="en-US" sz="2000" b="1" i="0" u="none" strike="noStrike">
              <a:solidFill>
                <a:srgbClr val="F5A62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8000"/>
              </a:lnSpc>
            </a:pPr>
            <a:r>
              <a:rPr lang="en-US" sz="16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（目前仅支持 Android 系统）</a:t>
            </a:r>
            <a:endParaRPr lang="en-US" sz="1600" b="0" i="0" u="none" strike="noStrike">
              <a:solidFill>
                <a:srgbClr val="66666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604000" y="1778000"/>
            <a:ext cx="4826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90000"/>
            </a:srgbClr>
          </a:solidFill>
          <a:ln w="25400" cap="flat" cmpd="sng">
            <a:solidFill>
              <a:srgbClr val="7ED321">
                <a:alpha val="100000"/>
              </a:srgbClr>
            </a:solidFill>
            <a:prstDash val="solid"/>
            <a:round/>
          </a:ln>
          <a:effectLst>
            <a:outerShdw blurRad="127000" dist="101600" dir="5400000" algn="tl" rotWithShape="0">
              <a:srgbClr val="7ED321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58000" y="20320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366000" y="2006600"/>
            <a:ext cx="381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下载后用途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858000" y="2540000"/>
            <a:ext cx="4318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254000" indent="-254000" algn="l">
              <a:lnSpc>
                <a:spcPct val="108000"/>
              </a:lnSpc>
              <a:buClr>
                <a:srgbClr val="333333"/>
              </a:buClr>
              <a:buChar char="•"/>
              <a:defRPr/>
            </a:pPr>
            <a:r>
              <a:rPr lang="en-US" sz="20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安装到自己的安卓手机体验</a:t>
            </a:r>
            <a:endParaRPr lang="en-US" sz="1100"/>
          </a:p>
          <a:p>
            <a:pPr marL="254000" indent="-254000" algn="l">
              <a:lnSpc>
                <a:spcPct val="108000"/>
              </a:lnSpc>
              <a:buClr>
                <a:srgbClr val="333333"/>
              </a:buClr>
              <a:buChar char="•"/>
            </a:pPr>
            <a:r>
              <a:rPr lang="en-US" sz="20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分享给同学或朋友安装使用</a:t>
            </a:r>
            <a:endParaRPr lang="en-US" sz="2000" b="0" i="0" u="none" strike="noStrike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254000" indent="-254000" algn="l">
              <a:lnSpc>
                <a:spcPct val="108000"/>
              </a:lnSpc>
              <a:buClr>
                <a:srgbClr val="333333"/>
              </a:buClr>
              <a:buChar char="•"/>
            </a:pPr>
            <a:r>
              <a:rPr lang="en-US" sz="20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提交审核，上架到应用商店</a:t>
            </a:r>
            <a:endParaRPr lang="en-US" sz="2000" b="0" i="0" u="none" strike="noStrike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5461000" y="5080000"/>
            <a:ext cx="1270000" cy="1270000"/>
          </a:xfrm>
          <a:prstGeom prst="roundRect">
            <a:avLst>
              <a:gd name="adj" fmla="val 20000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00000">
                <a:alpha val="15000"/>
              </a:srgbClr>
            </a:outerShdw>
          </a:effectLst>
        </p:spPr>
      </p:pic>
      <p:sp>
        <p:nvSpPr>
          <p:cNvPr id="13" name="AutoShape 13"/>
          <p:cNvSpPr/>
          <p:nvPr/>
        </p:nvSpPr>
        <p:spPr>
          <a:xfrm>
            <a:off x="4826000" y="64135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APK 安装包文件示例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62000" y="508000"/>
            <a:ext cx="26924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分享项目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3302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4A90E2">
                <a:alpha val="3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4A90E2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08200" y="2286000"/>
            <a:ext cx="609600" cy="609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889000" y="3048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点击“分享”按钮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89000" y="3556000"/>
            <a:ext cx="304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在项目详情页找到分享入口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445000" y="2032000"/>
            <a:ext cx="3302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F5A623">
                <a:alpha val="3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F5A623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91200" y="2286000"/>
            <a:ext cx="609600" cy="609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4572000" y="3048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获得链接发给同学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572000" y="3556000"/>
            <a:ext cx="304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一键复制自动生成的项目链接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128000" y="2032000"/>
            <a:ext cx="3302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7ED321">
                <a:alpha val="3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7ED32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74200" y="2286000"/>
            <a:ext cx="609600" cy="609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8255000" y="3048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查看源码与协作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255000" y="3556000"/>
            <a:ext cx="304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支持复制项目进行修改和团队协作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0" y="6756400"/>
            <a:ext cx="12192000" cy="1016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4A90E2">
                  <a:alpha val="100000"/>
                </a:srgbClr>
              </a:gs>
              <a:gs pos="100000">
                <a:srgbClr val="7ED321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62000" y="508000"/>
            <a:ext cx="6705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费用说明（简单带过）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10668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85000"/>
            </a:srgbClr>
          </a:solidFill>
          <a:ln w="12700" cap="flat" cmpd="sng">
            <a:solidFill>
              <a:srgbClr val="4A90E2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8923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87500" y="1841500"/>
            <a:ext cx="889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开发过程中，与 AI 的对话会消耗积分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2667000"/>
            <a:ext cx="10668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85000"/>
            </a:srgbClr>
          </a:solidFill>
          <a:ln w="12700" cap="flat" cmpd="sng">
            <a:solidFill>
              <a:srgbClr val="F5A623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9083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587500" y="2857500"/>
            <a:ext cx="889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免费额度足够完成本课案例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3683000"/>
            <a:ext cx="10668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85000"/>
            </a:srgbClr>
          </a:solidFill>
          <a:ln w="12700" cap="flat" cmpd="sng">
            <a:solidFill>
              <a:srgbClr val="7ED32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39243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587500" y="3873500"/>
            <a:ext cx="889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初学阶段不用担心费用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62000" y="508000"/>
            <a:ext cx="1346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总结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080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4A90E2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841500"/>
            <a:ext cx="508000" cy="508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651000" y="1651000"/>
            <a:ext cx="393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移动应用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8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装在手机上的 App，便捷高效</a:t>
            </a:r>
            <a:endParaRPr lang="en-US" sz="1800" b="0" i="0" u="none" strike="noStrike">
              <a:solidFill>
                <a:srgbClr val="66666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762000" y="2857500"/>
            <a:ext cx="5080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F5A623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175000"/>
            <a:ext cx="508000" cy="508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651000" y="2984500"/>
            <a:ext cx="393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扣子编程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8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用对话开发，无需编写代码</a:t>
            </a:r>
            <a:endParaRPr lang="en-US" sz="1800" b="0" i="0" u="none" strike="noStrike">
              <a:solidFill>
                <a:srgbClr val="66666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62000" y="4191000"/>
            <a:ext cx="5080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7ED321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4508500"/>
            <a:ext cx="508000" cy="508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651000" y="4318000"/>
            <a:ext cx="393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开发流程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8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需求 → AI编程 → 调试 → 部署</a:t>
            </a:r>
            <a:endParaRPr lang="en-US" sz="1800" b="0" i="0" u="none" strike="noStrike">
              <a:solidFill>
                <a:srgbClr val="66666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62000" y="5524500"/>
            <a:ext cx="5080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4A90E2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000" y="5842000"/>
            <a:ext cx="508000" cy="508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651000" y="5651500"/>
            <a:ext cx="393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今日成果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8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成功制作待办清单 App</a:t>
            </a:r>
            <a:endParaRPr lang="en-US" sz="1800" b="0" i="0" u="none" strike="noStrike">
              <a:solidFill>
                <a:srgbClr val="66666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6350000" y="2857500"/>
            <a:ext cx="5080000" cy="2603500"/>
          </a:xfrm>
          <a:prstGeom prst="roundRect">
            <a:avLst>
              <a:gd name="adj" fmla="val 4878"/>
            </a:avLst>
          </a:prstGeom>
          <a:solidFill>
            <a:srgbClr val="FFFFFF">
              <a:alpha val="95000"/>
            </a:srgbClr>
          </a:solidFill>
          <a:ln w="25400" cap="flat" cmpd="sng">
            <a:solidFill>
              <a:srgbClr val="F5A623">
                <a:alpha val="100000"/>
              </a:srgbClr>
            </a:solidFill>
            <a:prstDash val="solid"/>
            <a:round/>
          </a:ln>
          <a:effectLst>
            <a:outerShdw blurRad="190500" dist="50800" dir="5400000" algn="tl" rotWithShape="0">
              <a:srgbClr val="F5A623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585200" y="3048000"/>
            <a:ext cx="609600" cy="609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604000" y="36830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F5A623"/>
                </a:solidFill>
                <a:latin typeface="Noto Sans SC"/>
                <a:ea typeface="Noto Sans SC"/>
                <a:cs typeface="Noto Sans SC"/>
                <a:sym typeface="Noto Sans SC"/>
              </a:rPr>
              <a:t>课后挑战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604000" y="4191000"/>
            <a:ext cx="457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22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尝试制作更多有趣的 App：</a:t>
            </a:r>
            <a:endParaRPr lang="en-US" sz="1100"/>
          </a:p>
          <a:p>
            <a:pPr indent="0" algn="ctr">
              <a:lnSpc>
                <a:spcPct val="108000"/>
              </a:lnSpc>
            </a:pPr>
            <a:r>
              <a:rPr lang="en-US" sz="2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健康打卡 App / 单词卡 App</a:t>
            </a:r>
            <a:endParaRPr lang="en-US" sz="2200" b="0" i="0" u="none" strike="noStrike">
              <a:solidFill>
                <a:srgbClr val="66666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26924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课后挑战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414000" y="381000"/>
            <a:ext cx="1016000" cy="1016000"/>
          </a:xfrm>
          <a:prstGeom prst="ellipse">
            <a:avLst/>
          </a:prstGeom>
          <a:noFill/>
          <a:ln w="254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000000">
                <a:alpha val="10000"/>
              </a:srgbClr>
            </a:outerShdw>
          </a:effectLst>
        </p:spPr>
      </p:pic>
      <p:sp>
        <p:nvSpPr>
          <p:cNvPr id="6" name="AutoShape 6"/>
          <p:cNvSpPr/>
          <p:nvPr/>
        </p:nvSpPr>
        <p:spPr>
          <a:xfrm>
            <a:off x="762000" y="1778000"/>
            <a:ext cx="5080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63500" dir="5400000" algn="tl" rotWithShape="0">
              <a:srgbClr val="4A90E2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762000" y="1778000"/>
            <a:ext cx="101600" cy="1270000"/>
          </a:xfrm>
          <a:prstGeom prst="roundRect">
            <a:avLst>
              <a:gd name="adj" fmla="val 125000"/>
            </a:avLst>
          </a:prstGeom>
          <a:solidFill>
            <a:srgbClr val="7ED32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7600" y="2159000"/>
            <a:ext cx="508000" cy="508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778000" y="19685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初级挑战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778000" y="2349500"/>
            <a:ext cx="381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修改待办清单的主题色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350000" y="1778000"/>
            <a:ext cx="5080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63500" dir="5400000" algn="tl" rotWithShape="0">
              <a:srgbClr val="4A90E2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350000" y="1778000"/>
            <a:ext cx="101600" cy="1270000"/>
          </a:xfrm>
          <a:prstGeom prst="roundRect">
            <a:avLst>
              <a:gd name="adj" fmla="val 125000"/>
            </a:avLst>
          </a:prstGeom>
          <a:solidFill>
            <a:srgbClr val="4A90E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05600" y="2159000"/>
            <a:ext cx="508000" cy="508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7366000" y="19685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中级挑战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366000" y="2349500"/>
            <a:ext cx="381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给待办清单加“截止日期”功能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3429000"/>
            <a:ext cx="5080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63500" dir="5400000" algn="tl" rotWithShape="0">
              <a:srgbClr val="4A90E2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762000" y="3429000"/>
            <a:ext cx="101600" cy="1270000"/>
          </a:xfrm>
          <a:prstGeom prst="roundRect">
            <a:avLst>
              <a:gd name="adj" fmla="val 125000"/>
            </a:avLst>
          </a:prstGeom>
          <a:solidFill>
            <a:srgbClr val="F5A62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17600" y="3810000"/>
            <a:ext cx="508000" cy="5080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778000" y="36195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5A623"/>
                </a:solidFill>
                <a:latin typeface="Noto Sans SC"/>
                <a:ea typeface="Noto Sans SC"/>
                <a:cs typeface="Noto Sans SC"/>
                <a:sym typeface="Noto Sans SC"/>
              </a:rPr>
              <a:t>高级挑战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1778000" y="4000500"/>
            <a:ext cx="381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做一个“每日健康打卡”App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350000" y="3429000"/>
            <a:ext cx="5080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63500" dir="5400000" algn="tl" rotWithShape="0">
              <a:srgbClr val="4A90E2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6350000" y="3429000"/>
            <a:ext cx="101600" cy="1270000"/>
          </a:xfrm>
          <a:prstGeom prst="roundRect">
            <a:avLst>
              <a:gd name="adj" fmla="val 125000"/>
            </a:avLst>
          </a:prstGeom>
          <a:solidFill>
            <a:srgbClr val="722ED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705600" y="3810000"/>
            <a:ext cx="508000" cy="5080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7366000" y="36195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722ED1"/>
                </a:solidFill>
                <a:latin typeface="Noto Sans SC"/>
                <a:ea typeface="Noto Sans SC"/>
                <a:cs typeface="Noto Sans SC"/>
                <a:sym typeface="Noto Sans SC"/>
              </a:rPr>
              <a:t>更高级挑战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7366000" y="4000500"/>
            <a:ext cx="381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部署生成 APK，装到自己手机上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762000" y="5334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1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“实践是检验真理的唯一标准，动手尝试，你会收获更多！”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62000" y="508000"/>
            <a:ext cx="8712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你的第一个移动应用是什么？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16000" cy="76200"/>
          </a:xfrm>
          <a:prstGeom prst="roundRect">
            <a:avLst>
              <a:gd name="adj" fmla="val 0"/>
            </a:avLst>
          </a:prstGeom>
          <a:solidFill>
            <a:srgbClr val="F5A623">
              <a:alpha val="100000"/>
            </a:srgbClr>
          </a:solidFill>
          <a:ln cap="flat" cmpd="sng">
            <a:solidFill>
              <a:srgbClr val="DC8C09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635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课程结束，感谢参与！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874000" y="1778000"/>
            <a:ext cx="2794000" cy="2794000"/>
          </a:xfrm>
          <a:prstGeom prst="roundRect">
            <a:avLst>
              <a:gd name="adj" fmla="val 9090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254000" dist="127000" dir="2700000" algn="tl" rotWithShape="0">
              <a:srgbClr val="4A90E2">
                <a:alpha val="20000"/>
              </a:srgbClr>
            </a:outerShdw>
          </a:effectLst>
        </p:spPr>
      </p:pic>
      <p:sp>
        <p:nvSpPr>
          <p:cNvPr id="7" name="AutoShape 7"/>
          <p:cNvSpPr/>
          <p:nvPr/>
        </p:nvSpPr>
        <p:spPr>
          <a:xfrm>
            <a:off x="762000" y="4826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发挥你的想象力，现在就动手创造吧！期待看到你的创意落地。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2000" y="54610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270000" y="5486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Start Building</a:t>
            </a:r>
            <a:endParaRPr lang="en-US" sz="11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2QzODcyNGFhZmEzNjVhZTY5ZjNiMTM1MDZiMzE4OWM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1271</Words>
  <Application>WPS 演示</Application>
  <PresentationFormat/>
  <Paragraphs>207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27" baseType="lpstr">
      <vt:lpstr>Arial</vt:lpstr>
      <vt:lpstr>宋体</vt:lpstr>
      <vt:lpstr>Wingdings</vt:lpstr>
      <vt:lpstr>Arial</vt:lpstr>
      <vt:lpstr>Noto Sans SC</vt:lpstr>
      <vt:lpstr>Thonburi</vt:lpstr>
      <vt:lpstr>宋体</vt:lpstr>
      <vt:lpstr>汉仪书宋二KW</vt:lpstr>
      <vt:lpstr>微软雅黑</vt:lpstr>
      <vt:lpstr>汉仪旗黑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周磊</cp:lastModifiedBy>
  <cp:revision>1</cp:revision>
  <dcterms:created xsi:type="dcterms:W3CDTF">2026-03-31T02:14:09Z</dcterms:created>
  <dcterms:modified xsi:type="dcterms:W3CDTF">2026-03-31T02:14:09Z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3DAC8FF2994FF9D6F12DCB691154C41E_42</vt:lpwstr>
  </property>
  <property fmtid="{D5CDD505-2E9C-101B-9397-08002B2CF9AE}" pid="3" name="KSOProductBuildVer">
    <vt:lpwstr>2052-6.9.0.8865</vt:lpwstr>
  </property>
</Properties>
</file>