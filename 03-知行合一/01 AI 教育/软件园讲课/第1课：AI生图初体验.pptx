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notesSlides/notesSlide1.xml" Type="http://schemas.openxmlformats.org/officeDocument/2006/relationships/notesSlide"/><Relationship Id="rId18" Target="notesSlides/notesSlide2.xml" Type="http://schemas.openxmlformats.org/officeDocument/2006/relationships/notesSlide"/><Relationship Id="rId19" Target="notesSlides/notesSlide3.xml" Type="http://schemas.openxmlformats.org/officeDocument/2006/relationships/notesSlide"/><Relationship Id="rId2" Target="viewProps.xml" Type="http://schemas.openxmlformats.org/officeDocument/2006/relationships/viewProps"/><Relationship Id="rId20" Target="notesSlides/notesSlide4.xml" Type="http://schemas.openxmlformats.org/officeDocument/2006/relationships/notesSlide"/><Relationship Id="rId21" Target="notesSlides/notesSlide5.xml" Type="http://schemas.openxmlformats.org/officeDocument/2006/relationships/notesSlide"/><Relationship Id="rId22" Target="notesSlides/notesSlide6.xml" Type="http://schemas.openxmlformats.org/officeDocument/2006/relationships/notesSlide"/><Relationship Id="rId23" Target="notesSlides/notesSlide7.xml" Type="http://schemas.openxmlformats.org/officeDocument/2006/relationships/notesSlide"/><Relationship Id="rId24" Target="notesSlides/notesSlide8.xml" Type="http://schemas.openxmlformats.org/officeDocument/2006/relationships/notesSlide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欢迎来到AI创意设计的第一课！今天，我们将一起体验一个非常神奇的功能——AI生图。大家有没有想过，我们说的话，写的文字，也能直接变成一幅幅精美的图画呢？这节课，就让我们一起来揭开这个奥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在今天的课程中，我们有三个小目标：首先，希望大家能快速上手，体验AI生图的乐趣；其次，让大家亲眼看到文字是如何变成图像的；最后，希望能让大家对AI的能力有一个初步的、深刻的印象。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那么，到底什么是AI生图呢？简单来说，就是我们用文字描述一个画面，AI就能根据我们的描述，自动生成一张全新的图片。就像我们告诉一位画家我们想要什么样的画，他就能画出来一样，AI就是我们的智能画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现在，我们来做个实验。我输入一个非常简单的描述：“一只猫”。大家看，AI生成了这样一张图片。这只猫看起来不错，但似乎缺少了一些具体的细节，对吧？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现在，我把描述变得更具体一些：“一只戴着红色围巾的白色英短猫，坐在窗边，阳光洒在它身上，温暖治愈，高清细节，插画风格。”大家再看生成的图片，是不是和刚才的完全不一样了？这只猫不仅品种、颜色、动作都符合我们的描述，连整体的氛围和风格都非常到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一定很好奇，为什么同样是画猫，结果会差这么多呢？其实道理很简单：我们给AI的描述越具体，AI就越明白我们的想法，画出的图片自然就越精准。这就像我们跟别人描述一件东西，说得越详细，对方就越容易理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现在，最有趣的环节来了！轮到大家来当创意总监了！请大家开动脑筋，说出你心中最想画的画面，可以是任何天马行空的想法，比如“会飞的鲸鱼”、“巧克力做的房子”等等。我会把大家的想法组合起来，让AI现场为我们创作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好了，今天的课程就到这里。我们一起体验了AI生图的神奇，明白了提示词的重要性，也看到了AI作为创意工具的强大潜力。希望大家都玩得开心！感谢大家的参与，我们下节课再见！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4.jpeg" Type="http://schemas.openxmlformats.org/officeDocument/2006/relationships/image"/><Relationship Id="rId8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17.jpeg" Type="http://schemas.openxmlformats.org/officeDocument/2006/relationships/image"/><Relationship Id="rId6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18.jpe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Relationship Id="rId7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25.png" Type="http://schemas.openxmlformats.org/officeDocument/2006/relationships/image"/><Relationship Id="rId4" Target="../media/image26.svg" Type="http://schemas.openxmlformats.org/officeDocument/2006/relationships/image"/><Relationship Id="rId5" Target="../media/image27.png" Type="http://schemas.openxmlformats.org/officeDocument/2006/relationships/image"/><Relationship Id="rId6" Target="../media/image28.svg" Type="http://schemas.openxmlformats.org/officeDocument/2006/relationships/image"/><Relationship Id="rId7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3.png" Type="http://schemas.openxmlformats.org/officeDocument/2006/relationships/image"/><Relationship Id="rId2" Target="../media/image1.jpeg" Type="http://schemas.openxmlformats.org/officeDocument/2006/relationships/image"/><Relationship Id="rId3" Target="../media/image29.png" Type="http://schemas.openxmlformats.org/officeDocument/2006/relationships/image"/><Relationship Id="rId4" Target="../media/image30.svg" Type="http://schemas.openxmlformats.org/officeDocument/2006/relationships/image"/><Relationship Id="rId5" Target="../media/image31.png" Type="http://schemas.openxmlformats.org/officeDocument/2006/relationships/image"/><Relationship Id="rId6" Target="../media/image32.svg" Type="http://schemas.openxmlformats.org/officeDocument/2006/relationships/image"/><Relationship Id="rId7" Target="../media/image25.png" Type="http://schemas.openxmlformats.org/officeDocument/2006/relationships/image"/><Relationship Id="rId8" Target="../media/image26.svg" Type="http://schemas.openxmlformats.org/officeDocument/2006/relationships/image"/><Relationship Id="rId9" Target="../notesSlides/notesSlide8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461000" y="1651000"/>
            <a:ext cx="1270000" cy="355600"/>
          </a:xfrm>
          <a:prstGeom prst="roundRect">
            <a:avLst>
              <a:gd name="adj" fmla="val 50000"/>
            </a:avLst>
          </a:prstGeom>
          <a:solidFill>
            <a:srgbClr val="007BFF">
              <a:alpha val="20000"/>
            </a:srgbClr>
          </a:solidFill>
          <a:ln w="12700" cmpd="sng" cap="flat">
            <a:solidFill>
              <a:srgbClr val="007BFF">
                <a:alpha val="8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 创意设计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2286000"/>
            <a:ext cx="11176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400" spc="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第1课：AI生图初体验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715000" y="3302000"/>
            <a:ext cx="762000" cy="508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007BFF">
                  <a:alpha val="0"/>
                </a:srgbClr>
              </a:gs>
              <a:gs pos="50000">
                <a:srgbClr val="007BFF">
                  <a:alpha val="100000"/>
                </a:srgbClr>
              </a:gs>
              <a:gs pos="100000">
                <a:srgbClr val="007BFF">
                  <a:alpha val="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08000" y="3683000"/>
            <a:ext cx="1117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200" spc="1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语言如何直接变成图像？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5943600" y="4826000"/>
            <a:ext cx="3048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42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016000"/>
            <a:ext cx="203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课程目标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286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66800" y="2590800"/>
            <a:ext cx="508000" cy="5080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066800" y="3225800"/>
            <a:ext cx="26924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快速入门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66800" y="3683000"/>
            <a:ext cx="2692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让大家最快地进入状态，亲身体验AI生图的神奇魅力。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45000" y="2286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749800" y="2590800"/>
            <a:ext cx="508000" cy="5080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4749800" y="3225800"/>
            <a:ext cx="26924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直观感受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749800" y="3683000"/>
            <a:ext cx="2692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亲眼看到“语言可以直接变成图像”的过程，建立直观认知。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0" y="2286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432800" y="2590800"/>
            <a:ext cx="508000" cy="5080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8432800" y="3225800"/>
            <a:ext cx="26924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建立印象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432800" y="3683000"/>
            <a:ext cx="2692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通过今天的体验，建立对AI强大生成能力的第一印象。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40259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什么是AI生图？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5080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8415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24000" y="18034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核心定义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2222500"/>
            <a:ext cx="457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EBEBEB"/>
                </a:solidFill>
                <a:latin typeface="Noto Sans SC"/>
                <a:ea typeface="Noto Sans SC"/>
                <a:cs typeface="Noto Sans SC"/>
                <a:sym typeface="Noto Sans SC"/>
              </a:rPr>
              <a:t>AI生图是让人工智能根据输入的文字描述，自动生成一张全新的、独一无二的图片。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556000"/>
            <a:ext cx="5080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7465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524000" y="37084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形象比喻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4127500"/>
            <a:ext cx="457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EBEBEB"/>
                </a:solidFill>
                <a:latin typeface="Noto Sans SC"/>
                <a:ea typeface="Noto Sans SC"/>
                <a:cs typeface="Noto Sans SC"/>
                <a:sym typeface="Noto Sans SC"/>
              </a:rPr>
              <a:t>AI就像一位超级画家，你只需用文字告诉他想要画什么，他就能立刻为你创作出来。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rcRect l="0" r="0" t="0" b="0"/>
          <a:stretch>
            <a:fillRect/>
          </a:stretch>
        </p:blipFill>
        <p:spPr>
          <a:xfrm rot="0" flipH="false" flipV="false">
            <a:off x="6350000" y="1778000"/>
            <a:ext cx="4572000" cy="2571750"/>
          </a:xfrm>
          <a:prstGeom prst="roundRect">
            <a:avLst>
              <a:gd name="adj" fmla="val 7407"/>
            </a:avLst>
          </a:prstGeom>
          <a:noFill/>
          <a:ln w="25400" cmpd="sng" cap="flat">
            <a:solidFill>
              <a:srgbClr val="FFFFFF">
                <a:alpha val="20000"/>
              </a:srgbClr>
            </a:solidFill>
            <a:prstDash val="solid"/>
            <a:round/>
          </a:ln>
          <a:effectLst>
            <a:outerShdw dir="5400000" dist="127000" blurRad="254000" algn="tl" rotWithShape="false">
              <a:srgbClr val="000000">
                <a:alpha val="50000"/>
              </a:srgbClr>
            </a:outerShdw>
          </a:effectLst>
        </p:spPr>
      </p:pic>
      <p:sp>
        <p:nvSpPr>
          <p:cNvPr name="AutoShape 14" id="14"/>
          <p:cNvSpPr/>
          <p:nvPr/>
        </p:nvSpPr>
        <p:spPr>
          <a:xfrm rot="0" flipH="false" flipV="false">
            <a:off x="6350000" y="45085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AI生成的风景示例图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5588000"/>
            <a:ext cx="10668000" cy="254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007BFF">
                  <a:alpha val="100000"/>
                </a:srgbClr>
              </a:gs>
              <a:gs pos="100000">
                <a:srgbClr val="007BFF">
                  <a:alpha val="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016000"/>
            <a:ext cx="40259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模糊描述的结果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78000"/>
            <a:ext cx="10668000" cy="635000"/>
          </a:xfrm>
          <a:prstGeom prst="roundRect">
            <a:avLst>
              <a:gd name="adj" fmla="val 20000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43100"/>
            <a:ext cx="304800" cy="304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460500" y="1905000"/>
            <a:ext cx="889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输入提示词：</a:t>
            </a: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“一只猫”</a:t>
            </a:r>
            <a:r>
              <a:rPr lang="en-US" b="false" i="false" strike="noStrike" u="none" sz="18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—— 描述过于简单，缺乏具体细节约束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0" flipH="false" flipV="false">
            <a:off x="4064000" y="2667000"/>
            <a:ext cx="4064000" cy="2286000"/>
          </a:xfrm>
          <a:prstGeom prst="roundRect">
            <a:avLst>
              <a:gd name="adj" fmla="val 5555"/>
            </a:avLst>
          </a:prstGeom>
          <a:noFill/>
          <a:ln w="25400" cmpd="sng" cap="flat">
            <a:solidFill>
              <a:srgbClr val="FFFFFF">
                <a:alpha val="20000"/>
              </a:srgbClr>
            </a:solidFill>
            <a:prstDash val="solid"/>
            <a:round/>
          </a:ln>
          <a:effectLst>
            <a:outerShdw dir="5400000" dist="127000" blurRad="254000" algn="tl" rotWithShape="false">
              <a:srgbClr val="000000">
                <a:alpha val="50000"/>
              </a:srgbClr>
            </a:outerShdw>
          </a:effectLst>
        </p:spPr>
      </p:pic>
      <p:sp>
        <p:nvSpPr>
          <p:cNvPr name="AutoShape 9" id="9"/>
          <p:cNvSpPr/>
          <p:nvPr/>
        </p:nvSpPr>
        <p:spPr>
          <a:xfrm rot="0" flipH="false" flipV="false">
            <a:off x="762000" y="5207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生成结果：画面内容随机，风格不固定，虽然主体正确，但缺少预期的细节与艺术风格指向。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016000"/>
            <a:ext cx="355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具体描述的结果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0320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提示词 Prompt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540000"/>
            <a:ext cx="5080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2730500"/>
            <a:ext cx="4699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一只戴着红色围巾的白色英短猫，坐在窗边，阳光洒在它身上，温暖治愈，高清细节，插画风格。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4572000"/>
            <a:ext cx="508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通过增加具体的细节描述（品种、配饰、光影、风格），生成结果在视觉还原度和艺术氛围上均有显著提升。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/>
          <a:srcRect l="0" r="0" t="65" b="65"/>
          <a:stretch>
            <a:fillRect/>
          </a:stretch>
        </p:blipFill>
        <p:spPr>
          <a:xfrm rot="0" flipH="false" flipV="false">
            <a:off x="6604000" y="2032000"/>
            <a:ext cx="4318000" cy="2425700"/>
          </a:xfrm>
          <a:prstGeom prst="roundRect">
            <a:avLst>
              <a:gd name="adj" fmla="val 5235"/>
            </a:avLst>
          </a:prstGeom>
          <a:noFill/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  <a:effectLst>
            <a:outerShdw dir="5400000" dist="127000" blurRad="254000" algn="tl" rotWithShape="false">
              <a:srgbClr val="000000">
                <a:alpha val="50000"/>
              </a:srgbClr>
            </a:outerShdw>
          </a:effectLst>
        </p:spPr>
      </p:pic>
      <p:sp>
        <p:nvSpPr>
          <p:cNvPr name="AutoShape 10" id="10"/>
          <p:cNvSpPr/>
          <p:nvPr/>
        </p:nvSpPr>
        <p:spPr>
          <a:xfrm rot="0" flipH="false" flipV="false">
            <a:off x="6604000" y="45720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AI 生成结果展示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019800" y="3225800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016000"/>
            <a:ext cx="355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为什么结果会不同？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032000"/>
            <a:ext cx="10668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489200"/>
            <a:ext cx="609600" cy="609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778000" y="2159000"/>
            <a:ext cx="8890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核心原因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800"/>
              </a:spcBef>
            </a:pPr>
            <a:r>
              <a:rPr lang="en-US" b="false" i="false" strike="noStrike" u="none" sz="1800">
                <a:solidFill>
                  <a:srgbClr val="EBEBEB"/>
                </a:solidFill>
                <a:latin typeface="Noto Sans SC"/>
                <a:ea typeface="Noto Sans SC"/>
                <a:cs typeface="Noto Sans SC"/>
                <a:sym typeface="Noto Sans SC"/>
              </a:rPr>
              <a:t>描述越具体，AI就越清楚你想要什么，生成的图片就越符合你的预期。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3810000"/>
            <a:ext cx="10668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4267200"/>
            <a:ext cx="609600" cy="609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778000" y="3937000"/>
            <a:ext cx="8890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通俗解释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800"/>
              </a:spcBef>
            </a:pPr>
            <a:r>
              <a:rPr lang="en-US" b="false" i="false" strike="noStrike" u="none" sz="1800">
                <a:solidFill>
                  <a:srgbClr val="EBEBEB"/>
                </a:solidFill>
                <a:latin typeface="Noto Sans SC"/>
                <a:ea typeface="Noto Sans SC"/>
                <a:cs typeface="Noto Sans SC"/>
                <a:sym typeface="Noto Sans SC"/>
              </a:rPr>
              <a:t>这就像我们向朋友描述一个东西，说得越详细，朋友就越容易理解我们的想法。同样，给AI的提示词越具体，AI就越能画出我们心中所想的画面。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互动环节：你来描述，我来生成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78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cmpd="sng" cap="flat">
            <a:solidFill>
              <a:srgbClr val="006FE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286000"/>
            <a:ext cx="10668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143000" y="2603500"/>
            <a:ext cx="609600" cy="6096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905000" y="2667000"/>
            <a:ext cx="889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互动任务：化身“创意导演”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143000" y="3302000"/>
            <a:ext cx="9906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8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现在轮到大家来当“导演”了！请同学们口头给出一些关键词或者简单的描述，比如“一只在太空遨游的兔子”、“一座漂浮在云端的城堡”等等。我会把大家的想法组合起来，让 AI 现场为我们生成图片！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5207000"/>
            <a:ext cx="10668000" cy="508000"/>
          </a:xfrm>
          <a:prstGeom prst="roundRect">
            <a:avLst>
              <a:gd name="adj" fmla="val 50000"/>
            </a:avLst>
          </a:prstGeom>
          <a:solidFill>
            <a:srgbClr val="007BFF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5334000"/>
            <a:ext cx="254000" cy="2540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397000" y="5308600"/>
            <a:ext cx="889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 生成引擎已就绪，等待你的创意指令...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508000"/>
            <a:ext cx="1219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课程总结与致谢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524000"/>
            <a:ext cx="3302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2159000" y="1714500"/>
            <a:ext cx="508000" cy="5080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889000" y="2286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AI生图很神奇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89000" y="2730500"/>
            <a:ext cx="304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文字描述直接转化为图像，所见即所得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45000" y="1524000"/>
            <a:ext cx="3302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5842000" y="1714500"/>
            <a:ext cx="508000" cy="5080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4572000" y="2286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提示词很重要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572000" y="2730500"/>
            <a:ext cx="304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描述越具体，生成结果越精准符合预期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0" y="1524000"/>
            <a:ext cx="3302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525000" y="1714500"/>
            <a:ext cx="508000" cy="5080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8255000" y="2286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AI是创意工具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255000" y="2730500"/>
            <a:ext cx="304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激发灵感、辅助创作的强大助手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4064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007BFF">
              <a:alpha val="10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016000" y="41910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感谢大家的参与和创意！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希望今天的课程能让大家感受到AI的魅力，下节课我们将探索更多有趣的AI应用！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5715000" y="5842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