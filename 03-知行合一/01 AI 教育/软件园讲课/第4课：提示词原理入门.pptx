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我们的第四课。在前几节课中，我们体验了AI生成图像、视频和互动的乐趣。今天，我们将深入了解一个核心问题：为什么同样的AI工具，有时候能生成惊艳的作品，有时候却不尽人意？答案就在于我们如何与AI沟通，也就是我们今天要学习的——提示词原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今天的课程中，我们有三个主要目标。首先，希望能为大家下午的动手实践打下理论基础。其次，最重要的是让大家明白，AI的表现好坏，很大程度上取决于我们怎么“问”它。最后，我们会用非常通俗的方式，把提示词的原理讲清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那么，到底什么是提示词呢？其实很简单，提示词就是我们和AI沟通的语言。无论是让它画画、写文章，还是做其他事情，我们输入的那段文字，就是提示词。你可以把它理解为给AI的一封“任务信”。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什么同样的AI，问法不同，结果会天差地别呢？我们来看一个例子。如果我只说“你帮我写一下”，AI肯定会一脸茫然，不知道该写什么。但如果我说“请帮我写一段给同学的鼓励话，语气真诚，100字左右”，AI就能立刻明白我的需求，并给出高质量的回答。这就是清晰提示词的重要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那么，如何写出好的提示词呢？我们可以把它分解为三个基础动作。第一个动作，就是“说清任务”。也就是说，你要明确告诉AI，你想让它做什么。比如，是写文案、画画，还是讲故事？先把大方向定下来。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光说清任务还不够，我们还需要第二个动作：“补充条件”。这就像是给任务加上各种限定。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比如，当我们让AI写一段文案时，只说“写一段文案”是不够的。我们需要进一步明确：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对象：是写给同学的，还是写给客户的？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类型：是鼓励的话，还是产品介绍？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风格：是真诚的，还是幽默的？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长度：是100字，还是500字？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这些条件越具体，AI生成的结果就越符合你的预期。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最后一个动作，是“明确结果”。这一步是告诉AI，你希望它以什么样的形式给你答案。是一篇文章、一张图片，还是一段代码？明确结果，可以避免AI生成不符合你预期格式的内容。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学习完了，现在我们来实践一下！这里有一个模糊的指令：“帮我画一只动物”。请大家分组讨论，如何把它改写成一个更清晰的提示词？可以用上我们刚才学到的三个基础动作。一会儿请小组代表来分享你们的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接下来，我们来玩一个更有趣的游戏——共创完整提示词。主题是“生成一张关于未来城市的图片”。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首先，我们已经说了任务是“生成一张图片”。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现在，大家来补充条件，你希望这个未来城市是什么样子的？有什么元素？什么风格？比如我们可以加上“赛博朋克风格”、“飞行汽车”、“蓝紫色调”、“俯瞰视角”等细节。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最后，我们将这些条件整合，形成一个完整的提示词，就能得到我们想要的高清数字艺术作品了。我们一起来把这个提示词变得完整和具体。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我们今天上午的课程就到这里。总结一下，我们学习了提示词的基本原理，明白了清晰沟通的重要性，并掌握了三个基础动作。希望这些知识能帮助大家在下午的实践中，更好地与AI合作，创作出令人惊喜的作品。感谢大家的参与，下午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notesSlides/notesSlide5.xml" Type="http://schemas.openxmlformats.org/officeDocument/2006/relationships/notesSlid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17" Target="../notesSlides/notesSlide6.xml" Type="http://schemas.openxmlformats.org/officeDocument/2006/relationships/notesSlide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7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notesSlides/notesSlide7.xml" Type="http://schemas.openxmlformats.org/officeDocument/2006/relationships/notesSlide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3.sv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1.jpeg" Type="http://schemas.openxmlformats.org/officeDocument/2006/relationships/imag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8.png" Type="http://schemas.openxmlformats.org/officeDocument/2006/relationships/image"/><Relationship Id="rId2" Target="../media/image1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2286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第4课：提示词原理入门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317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cmpd="sng" cap="flat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3429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掌握与AI沟通的艺术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943600" y="5334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F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2540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317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方法基础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为下午的AI应用实践部分建立坚实的理论和方法基础。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42000" y="2540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317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核心认知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深刻理解“AI的输出质量，与我们的输入方式（即提示词）密切相关”。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0" y="2540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255000" y="317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通俗理解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用简单易懂的方式，讲清楚提示词的基本构成和工作原理。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3517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什么是提示词？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5527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2286000"/>
            <a:ext cx="914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提示词（Prompt）是我们向 AI 下达的指令、提出的问题，或是给出的具体创作要求，是人机交互的核心桥梁。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810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2037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3937000"/>
            <a:ext cx="914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通俗比喻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它就像一封写给 AI 的“任务信”。这封信写得越清楚、越具体、越有逻辑，AI 就越能精准理解你的意图，交付你满意的结果。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461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“清晰的指令，是获得优质 AI 产出的第一步”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805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为什么问法不同，结果差异很大？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1930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模糊的输入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413000"/>
            <a:ext cx="4572000" cy="508000"/>
          </a:xfrm>
          <a:prstGeom prst="roundRect">
            <a:avLst>
              <a:gd name="adj" fmla="val 1250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2700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“你帮我写一下”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048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6B6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AI可能的回应：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3655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写什么呢？是写文章、写代码，还是写购物清单？AI无法理解你的具体需求，可能会生成一些无关或模糊的内容。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1778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007BFF">
              <a:alpha val="15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968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85000" y="1930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清晰的输入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2413000"/>
            <a:ext cx="4572000" cy="508000"/>
          </a:xfrm>
          <a:prstGeom prst="roundRect">
            <a:avLst>
              <a:gd name="adj" fmla="val 1250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2700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“请帮我写一段给同学的鼓励话，语气真诚，100字左右”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3048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C864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AI的回应：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33655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“嘿，最近看到你为了目标一直在努力，真的很棒！虽然过程可能有点辛苦，但请相信你的付出一定会有回报。继续加油，我相信你一定可以做到！”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953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20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1816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397000" y="5080000"/>
            <a:ext cx="977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结论：清晰、具体的提示词，才能引导AI生成高质量的结果。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762000"/>
            <a:ext cx="10566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提示词的三个基础动作（一）：说清任务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2800" y="1651000"/>
            <a:ext cx="10566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55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74800" y="1778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核心动作：</a:t>
            </a: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明确告诉AI你想要它完成什么任务，清晰界定“工作内容”。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2921000"/>
            <a:ext cx="1056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常见任务示例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3429000"/>
            <a:ext cx="2489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803400" y="3683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812800" y="4318000"/>
            <a:ext cx="2489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写一段文案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05200" y="3429000"/>
            <a:ext cx="2489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495800" y="3683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505200" y="4318000"/>
            <a:ext cx="2489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画一幅画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97600" y="3429000"/>
            <a:ext cx="2489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188200" y="36830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197600" y="4318000"/>
            <a:ext cx="2489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生成一个故事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0" y="3429000"/>
            <a:ext cx="2489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880600" y="3683000"/>
            <a:ext cx="508000" cy="508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890000" y="4318000"/>
            <a:ext cx="2489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总结文章要点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" y="5334000"/>
            <a:ext cx="10566400" cy="762000"/>
          </a:xfrm>
          <a:prstGeom prst="roundRect">
            <a:avLst>
              <a:gd name="adj" fmla="val 16666"/>
            </a:avLst>
          </a:prstGeom>
          <a:gradFill rotWithShape="true">
            <a:gsLst>
              <a:gs pos="0">
                <a:srgbClr val="007BFF">
                  <a:alpha val="20000"/>
                </a:srgbClr>
              </a:gs>
              <a:gs pos="100000">
                <a:srgbClr val="007BFF">
                  <a:alpha val="5000"/>
                </a:srgbClr>
              </a:gs>
            </a:gsLst>
            <a:lin ang="0"/>
          </a:gra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66800" y="55626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574800" y="5461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关键原则：</a:t>
            </a: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不要让AI猜测你的意图，用具体的动词界定任务边界。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1074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提示词的三个基础动作（二）：补充条件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034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核心动作：限定边界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286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为任务添加具体的限制、要求和细节，避免AI生成的结果过于宽泛或偏离预期。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4544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关键作用：明确预期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937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让AI准确理解任务的具体要求、目标受众和输出形式，从而生成更精准的内容。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1651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841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示例：基于“写一段文案”的补充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50000" y="2413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94500" y="23876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对象：</a:t>
            </a:r>
            <a:r>
              <a:rPr lang="en-US" b="false" i="false" strike="noStrike" u="none" sz="18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写给同学的（而非老师或家长）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0" y="2921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794500" y="28956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类型：</a:t>
            </a:r>
            <a:r>
              <a:rPr lang="en-US" b="false" i="false" strike="noStrike" u="none" sz="18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鼓励话（而非通知或批评）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3429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794500" y="34036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风格：</a:t>
            </a:r>
            <a:r>
              <a:rPr lang="en-US" b="false" i="false" strike="noStrike" u="none" sz="18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语气真诚、温暖（而非正式或幽默）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3937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94500" y="39116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长度：</a:t>
            </a:r>
            <a:r>
              <a:rPr lang="en-US" b="false" i="false" strike="noStrike" u="none" sz="18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100字左右（控制篇幅）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080000"/>
            <a:ext cx="10160000" cy="762000"/>
          </a:xfrm>
          <a:prstGeom prst="roundRect">
            <a:avLst>
              <a:gd name="adj" fmla="val 16666"/>
            </a:avLst>
          </a:prstGeom>
          <a:gradFill rotWithShape="true">
            <a:gsLst>
              <a:gs pos="0">
                <a:srgbClr val="007BFF">
                  <a:alpha val="20000"/>
                </a:srgbClr>
              </a:gs>
              <a:gs pos="100000">
                <a:srgbClr val="007BFF">
                  <a:alpha val="5000"/>
                </a:srgbClr>
              </a:gs>
            </a:gsLst>
            <a:lin ang="0"/>
          </a:gra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52832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524000" y="52578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补充条件就像给AI下达“任务说明书”，条件越具体，执行越到位。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2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914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提示词的三个基础动作（三）：明确结果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463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74800" y="21463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核心动作：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告诉 AI 你希望得到什么样的输出形式或格式，避免生成不符合预期的内容。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048000"/>
            <a:ext cx="2476500" cy="1397000"/>
          </a:xfrm>
          <a:prstGeom prst="roundRect">
            <a:avLst>
              <a:gd name="adj" fmla="val 9090"/>
            </a:avLst>
          </a:prstGeom>
          <a:solidFill>
            <a:srgbClr val="007BFF">
              <a:alpha val="15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746250" y="32385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62000" y="3873500"/>
            <a:ext cx="247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生成一篇文章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92500" y="3048000"/>
            <a:ext cx="2476500" cy="1397000"/>
          </a:xfrm>
          <a:prstGeom prst="roundRect">
            <a:avLst>
              <a:gd name="adj" fmla="val 9090"/>
            </a:avLst>
          </a:prstGeom>
          <a:solidFill>
            <a:srgbClr val="007BFF">
              <a:alpha val="15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476750" y="3238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492500" y="3873500"/>
            <a:ext cx="247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生成一张图片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3048000"/>
            <a:ext cx="2476500" cy="1397000"/>
          </a:xfrm>
          <a:prstGeom prst="roundRect">
            <a:avLst>
              <a:gd name="adj" fmla="val 9090"/>
            </a:avLst>
          </a:prstGeom>
          <a:solidFill>
            <a:srgbClr val="007BFF">
              <a:alpha val="15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207250" y="32385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223000" y="3873500"/>
            <a:ext cx="247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生成一段代码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953500" y="3048000"/>
            <a:ext cx="2476500" cy="1397000"/>
          </a:xfrm>
          <a:prstGeom prst="roundRect">
            <a:avLst>
              <a:gd name="adj" fmla="val 9090"/>
            </a:avLst>
          </a:prstGeom>
          <a:solidFill>
            <a:srgbClr val="007BFF">
              <a:alpha val="15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937750" y="32385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953500" y="3873500"/>
            <a:ext cx="247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以列表形式总结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826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25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16000" y="50292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524000" y="5003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关键原则：</a:t>
            </a: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 AI 清晰地知道最终的交付成果是什么样子，是提高效率的关键。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42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5029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互动环节：改写模糊指令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2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09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032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当前挑战（模糊指令）：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“帮我画一只动物”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04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798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31750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小组互动任务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请分组讨论，结合“三个基础动作”，将上述模糊指令改写为更清晰、具体的提示词。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445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76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5720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成果展示与点评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邀请小组代表分享改写结果，共同分析优化点，掌握提示词优化的核心逻辑。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4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603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互动环节：共创完整提示词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15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82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095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核心任务：生成一张关于“未来城市”的高清数字艺术图片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921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111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31115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说清任务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5560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明确基础指令：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“生成一张图片”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2921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699000" y="3111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43500" y="31115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补充条件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35560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风格：赛博朋克 / 色调：蓝紫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元素：飞行汽车 / 视角：俯瞰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2921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82000" y="31115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826500" y="31115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明确结果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35560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输出高质量的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数字艺术作品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gradFill rotWithShape="true">
            <a:gsLst>
              <a:gs pos="0">
                <a:srgbClr val="007BFF">
                  <a:alpha val="30000"/>
                </a:srgbClr>
              </a:gs>
              <a:gs pos="100000">
                <a:srgbClr val="007BFF">
                  <a:alpha val="10000"/>
                </a:srgbClr>
              </a:gs>
            </a:gsLst>
            <a:lin ang="0"/>
          </a:gradFill>
          <a:ln w="12700" cmpd="sng" cap="flat">
            <a:solidFill>
              <a:srgbClr val="007BFF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4953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✨ 最终完整提示词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334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“生成一张赛博朋克风格的未来城市高清数字艺术图片，画面包含飞行汽车，整体色调为蓝紫色，采用俯瞰视角。”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305300" y="381000"/>
            <a:ext cx="3581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课程总结与致谢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209800" y="1460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196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核心认知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413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提示词是我们与AI沟通的桥梁，其质量直接决定了AI的输出效果。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270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92800" y="1460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196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关键方法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2413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掌握“说清任务、补充条件、明确结果”这三个基础动作，是写出好提示词的关键。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270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75800" y="1460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255000" y="196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实践原则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0" y="2413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提示词越清晰、越具体，AI的理解就越准确，结果就越理想。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937000"/>
            <a:ext cx="10668000" cy="1270000"/>
          </a:xfrm>
          <a:prstGeom prst="roundRect">
            <a:avLst>
              <a:gd name="adj" fmla="val 10000"/>
            </a:avLst>
          </a:prstGeom>
          <a:gradFill rotWithShape="true">
            <a:gsLst>
              <a:gs pos="0">
                <a:srgbClr val="007BFF">
                  <a:alpha val="10000"/>
                </a:srgbClr>
              </a:gs>
              <a:gs pos="50000">
                <a:srgbClr val="007BFF">
                  <a:alpha val="20000"/>
                </a:srgbClr>
              </a:gs>
              <a:gs pos="100000">
                <a:srgbClr val="007BFF">
                  <a:alpha val="10000"/>
                </a:srgbClr>
              </a:gs>
            </a:gsLst>
            <a:lin ang="0"/>
          </a:gra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19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感谢观看！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699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期待下午与大家一起实践，创造更多精彩！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100000"/>
                </a:srgbClr>
              </a:gs>
              <a:gs pos="100000">
                <a:srgbClr val="00C8FF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