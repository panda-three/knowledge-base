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jpg" ContentType="image/jpg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2540000"/>
          </a:xfrm>
          <a:custGeom>
            <a:avLst/>
            <a:gdLst/>
            <a:ahLst/>
            <a:cxnLst/>
            <a:rect l="l" t="t" r="r" b="b"/>
            <a:pathLst>
              <a:path w="18288000" h="2540000">
                <a:moveTo>
                  <a:pt x="18288000" y="2539961"/>
                </a:moveTo>
                <a:lnTo>
                  <a:pt x="0" y="2539961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2539961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18288000" cy="2554605"/>
          </a:xfrm>
          <a:custGeom>
            <a:avLst/>
            <a:gdLst/>
            <a:ahLst/>
            <a:cxnLst/>
            <a:rect l="l" t="t" r="r" b="b"/>
            <a:pathLst>
              <a:path w="18288000" h="2554605">
                <a:moveTo>
                  <a:pt x="0" y="14287"/>
                </a:moveTo>
                <a:lnTo>
                  <a:pt x="0" y="0"/>
                </a:lnTo>
                <a:lnTo>
                  <a:pt x="14287" y="0"/>
                </a:lnTo>
                <a:lnTo>
                  <a:pt x="0" y="14287"/>
                </a:lnTo>
                <a:close/>
              </a:path>
              <a:path w="18288000" h="2554605">
                <a:moveTo>
                  <a:pt x="14287" y="2539961"/>
                </a:moveTo>
                <a:lnTo>
                  <a:pt x="0" y="2525674"/>
                </a:lnTo>
                <a:lnTo>
                  <a:pt x="0" y="14287"/>
                </a:lnTo>
                <a:lnTo>
                  <a:pt x="14287" y="0"/>
                </a:lnTo>
                <a:lnTo>
                  <a:pt x="14287" y="2539961"/>
                </a:lnTo>
                <a:close/>
              </a:path>
              <a:path w="18288000" h="2554605">
                <a:moveTo>
                  <a:pt x="18273712" y="14287"/>
                </a:moveTo>
                <a:lnTo>
                  <a:pt x="14287" y="14287"/>
                </a:lnTo>
                <a:lnTo>
                  <a:pt x="14287" y="0"/>
                </a:lnTo>
                <a:lnTo>
                  <a:pt x="18273712" y="0"/>
                </a:lnTo>
                <a:lnTo>
                  <a:pt x="18273712" y="14287"/>
                </a:lnTo>
                <a:close/>
              </a:path>
              <a:path w="18288000" h="2554605">
                <a:moveTo>
                  <a:pt x="18273712" y="2539961"/>
                </a:moveTo>
                <a:lnTo>
                  <a:pt x="18273712" y="0"/>
                </a:lnTo>
                <a:lnTo>
                  <a:pt x="18288000" y="14287"/>
                </a:lnTo>
                <a:lnTo>
                  <a:pt x="18288000" y="2525674"/>
                </a:lnTo>
                <a:lnTo>
                  <a:pt x="18273712" y="2539961"/>
                </a:lnTo>
                <a:close/>
              </a:path>
              <a:path w="18288000" h="2554605">
                <a:moveTo>
                  <a:pt x="18288000" y="14287"/>
                </a:moveTo>
                <a:lnTo>
                  <a:pt x="18273712" y="0"/>
                </a:lnTo>
                <a:lnTo>
                  <a:pt x="18288000" y="0"/>
                </a:lnTo>
                <a:lnTo>
                  <a:pt x="18288000" y="14287"/>
                </a:lnTo>
                <a:close/>
              </a:path>
              <a:path w="18288000" h="2554605">
                <a:moveTo>
                  <a:pt x="18288000" y="2554249"/>
                </a:moveTo>
                <a:lnTo>
                  <a:pt x="0" y="2554249"/>
                </a:lnTo>
                <a:lnTo>
                  <a:pt x="0" y="2525674"/>
                </a:lnTo>
                <a:lnTo>
                  <a:pt x="14287" y="2539961"/>
                </a:lnTo>
                <a:lnTo>
                  <a:pt x="18288000" y="2539961"/>
                </a:lnTo>
                <a:lnTo>
                  <a:pt x="18288000" y="2554249"/>
                </a:lnTo>
                <a:close/>
              </a:path>
              <a:path w="18288000" h="2554605">
                <a:moveTo>
                  <a:pt x="18273712" y="2539961"/>
                </a:moveTo>
                <a:lnTo>
                  <a:pt x="14287" y="2539961"/>
                </a:lnTo>
                <a:lnTo>
                  <a:pt x="14287" y="2525674"/>
                </a:lnTo>
                <a:lnTo>
                  <a:pt x="18273712" y="2525674"/>
                </a:lnTo>
                <a:lnTo>
                  <a:pt x="18273712" y="2539961"/>
                </a:lnTo>
                <a:close/>
              </a:path>
              <a:path w="18288000" h="2554605">
                <a:moveTo>
                  <a:pt x="18288000" y="2539961"/>
                </a:moveTo>
                <a:lnTo>
                  <a:pt x="18273712" y="2539961"/>
                </a:lnTo>
                <a:lnTo>
                  <a:pt x="18288000" y="2525674"/>
                </a:lnTo>
                <a:lnTo>
                  <a:pt x="18288000" y="2539961"/>
                </a:lnTo>
                <a:close/>
              </a:path>
            </a:pathLst>
          </a:custGeom>
          <a:solidFill>
            <a:srgbClr val="34343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64645" y="1306791"/>
            <a:ext cx="423354" cy="898020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18456" y="258381"/>
            <a:ext cx="320548" cy="320548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6692219" y="282904"/>
            <a:ext cx="798195" cy="262255"/>
          </a:xfrm>
          <a:custGeom>
            <a:avLst/>
            <a:gdLst/>
            <a:ahLst/>
            <a:cxnLst/>
            <a:rect l="l" t="t" r="r" b="b"/>
            <a:pathLst>
              <a:path w="798194" h="262255">
                <a:moveTo>
                  <a:pt x="233934" y="116700"/>
                </a:moveTo>
                <a:lnTo>
                  <a:pt x="0" y="116700"/>
                </a:lnTo>
                <a:lnTo>
                  <a:pt x="0" y="154800"/>
                </a:lnTo>
                <a:lnTo>
                  <a:pt x="233934" y="154800"/>
                </a:lnTo>
                <a:lnTo>
                  <a:pt x="233934" y="116700"/>
                </a:lnTo>
                <a:close/>
              </a:path>
              <a:path w="798194" h="262255">
                <a:moveTo>
                  <a:pt x="797636" y="0"/>
                </a:moveTo>
                <a:lnTo>
                  <a:pt x="778586" y="0"/>
                </a:lnTo>
                <a:lnTo>
                  <a:pt x="778586" y="19050"/>
                </a:lnTo>
                <a:lnTo>
                  <a:pt x="778586" y="210121"/>
                </a:lnTo>
                <a:lnTo>
                  <a:pt x="728611" y="210121"/>
                </a:lnTo>
                <a:lnTo>
                  <a:pt x="728611" y="51854"/>
                </a:lnTo>
                <a:lnTo>
                  <a:pt x="587527" y="51854"/>
                </a:lnTo>
                <a:lnTo>
                  <a:pt x="587527" y="19050"/>
                </a:lnTo>
                <a:lnTo>
                  <a:pt x="778586" y="19050"/>
                </a:lnTo>
                <a:lnTo>
                  <a:pt x="778586" y="0"/>
                </a:lnTo>
                <a:lnTo>
                  <a:pt x="568477" y="0"/>
                </a:lnTo>
                <a:lnTo>
                  <a:pt x="568477" y="51854"/>
                </a:lnTo>
                <a:lnTo>
                  <a:pt x="518490" y="51854"/>
                </a:lnTo>
                <a:lnTo>
                  <a:pt x="518490" y="261962"/>
                </a:lnTo>
                <a:lnTo>
                  <a:pt x="728611" y="261962"/>
                </a:lnTo>
                <a:lnTo>
                  <a:pt x="728611" y="229171"/>
                </a:lnTo>
                <a:lnTo>
                  <a:pt x="797636" y="229171"/>
                </a:lnTo>
                <a:lnTo>
                  <a:pt x="797636" y="219646"/>
                </a:lnTo>
                <a:lnTo>
                  <a:pt x="797636" y="210121"/>
                </a:lnTo>
                <a:lnTo>
                  <a:pt x="797636" y="19050"/>
                </a:lnTo>
                <a:lnTo>
                  <a:pt x="797636" y="9525"/>
                </a:lnTo>
                <a:lnTo>
                  <a:pt x="797636" y="0"/>
                </a:lnTo>
                <a:close/>
              </a:path>
            </a:pathLst>
          </a:custGeom>
          <a:solidFill>
            <a:srgbClr val="B6B1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057147" y="2022970"/>
            <a:ext cx="11096625" cy="7066280"/>
          </a:xfrm>
          <a:custGeom>
            <a:avLst/>
            <a:gdLst/>
            <a:ahLst/>
            <a:cxnLst/>
            <a:rect l="l" t="t" r="r" b="b"/>
            <a:pathLst>
              <a:path w="11096625" h="7066280">
                <a:moveTo>
                  <a:pt x="11096002" y="7065822"/>
                </a:moveTo>
                <a:lnTo>
                  <a:pt x="0" y="7065822"/>
                </a:lnTo>
                <a:lnTo>
                  <a:pt x="0" y="0"/>
                </a:lnTo>
                <a:lnTo>
                  <a:pt x="11096002" y="0"/>
                </a:lnTo>
                <a:lnTo>
                  <a:pt x="11096002" y="7065822"/>
                </a:lnTo>
                <a:close/>
              </a:path>
            </a:pathLst>
          </a:custGeom>
          <a:solidFill>
            <a:srgbClr val="3434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893889" y="1859711"/>
            <a:ext cx="11096625" cy="7066280"/>
          </a:xfrm>
          <a:custGeom>
            <a:avLst/>
            <a:gdLst/>
            <a:ahLst/>
            <a:cxnLst/>
            <a:rect l="l" t="t" r="r" b="b"/>
            <a:pathLst>
              <a:path w="11096625" h="7066280">
                <a:moveTo>
                  <a:pt x="11096002" y="7065822"/>
                </a:moveTo>
                <a:lnTo>
                  <a:pt x="0" y="7065822"/>
                </a:lnTo>
                <a:lnTo>
                  <a:pt x="0" y="0"/>
                </a:lnTo>
                <a:lnTo>
                  <a:pt x="11096002" y="0"/>
                </a:lnTo>
                <a:lnTo>
                  <a:pt x="11096002" y="7065822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884364" y="1850186"/>
            <a:ext cx="11115675" cy="7085330"/>
          </a:xfrm>
          <a:custGeom>
            <a:avLst/>
            <a:gdLst/>
            <a:ahLst/>
            <a:cxnLst/>
            <a:rect l="l" t="t" r="r" b="b"/>
            <a:pathLst>
              <a:path w="11115675" h="7085330">
                <a:moveTo>
                  <a:pt x="11115052" y="7084872"/>
                </a:moveTo>
                <a:lnTo>
                  <a:pt x="0" y="7084872"/>
                </a:lnTo>
                <a:lnTo>
                  <a:pt x="0" y="0"/>
                </a:lnTo>
                <a:lnTo>
                  <a:pt x="11115052" y="0"/>
                </a:lnTo>
                <a:lnTo>
                  <a:pt x="11115052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7065822"/>
                </a:lnTo>
                <a:lnTo>
                  <a:pt x="9525" y="7065822"/>
                </a:lnTo>
                <a:lnTo>
                  <a:pt x="19050" y="7075347"/>
                </a:lnTo>
                <a:lnTo>
                  <a:pt x="11115052" y="7075347"/>
                </a:lnTo>
                <a:lnTo>
                  <a:pt x="11115052" y="7084872"/>
                </a:lnTo>
                <a:close/>
              </a:path>
              <a:path w="11115675" h="7085330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1115675" h="7085330">
                <a:moveTo>
                  <a:pt x="11096002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1096002" y="9525"/>
                </a:lnTo>
                <a:lnTo>
                  <a:pt x="11096002" y="19050"/>
                </a:lnTo>
                <a:close/>
              </a:path>
              <a:path w="11115675" h="7085330">
                <a:moveTo>
                  <a:pt x="11096002" y="7075347"/>
                </a:moveTo>
                <a:lnTo>
                  <a:pt x="11096002" y="9525"/>
                </a:lnTo>
                <a:lnTo>
                  <a:pt x="11105527" y="19050"/>
                </a:lnTo>
                <a:lnTo>
                  <a:pt x="11115052" y="19050"/>
                </a:lnTo>
                <a:lnTo>
                  <a:pt x="11115052" y="7065822"/>
                </a:lnTo>
                <a:lnTo>
                  <a:pt x="11105527" y="7065822"/>
                </a:lnTo>
                <a:lnTo>
                  <a:pt x="11096002" y="7075347"/>
                </a:lnTo>
                <a:close/>
              </a:path>
              <a:path w="11115675" h="7085330">
                <a:moveTo>
                  <a:pt x="11115052" y="19050"/>
                </a:moveTo>
                <a:lnTo>
                  <a:pt x="11105527" y="19050"/>
                </a:lnTo>
                <a:lnTo>
                  <a:pt x="11096002" y="9525"/>
                </a:lnTo>
                <a:lnTo>
                  <a:pt x="11115052" y="9525"/>
                </a:lnTo>
                <a:lnTo>
                  <a:pt x="11115052" y="19050"/>
                </a:lnTo>
                <a:close/>
              </a:path>
              <a:path w="11115675" h="7085330">
                <a:moveTo>
                  <a:pt x="19050" y="7075347"/>
                </a:moveTo>
                <a:lnTo>
                  <a:pt x="9525" y="7065822"/>
                </a:lnTo>
                <a:lnTo>
                  <a:pt x="19050" y="7065822"/>
                </a:lnTo>
                <a:lnTo>
                  <a:pt x="19050" y="7075347"/>
                </a:lnTo>
                <a:close/>
              </a:path>
              <a:path w="11115675" h="7085330">
                <a:moveTo>
                  <a:pt x="11096002" y="7075347"/>
                </a:moveTo>
                <a:lnTo>
                  <a:pt x="19050" y="7075347"/>
                </a:lnTo>
                <a:lnTo>
                  <a:pt x="19050" y="7065822"/>
                </a:lnTo>
                <a:lnTo>
                  <a:pt x="11096002" y="7065822"/>
                </a:lnTo>
                <a:lnTo>
                  <a:pt x="11096002" y="7075347"/>
                </a:lnTo>
                <a:close/>
              </a:path>
              <a:path w="11115675" h="7085330">
                <a:moveTo>
                  <a:pt x="11115052" y="7075347"/>
                </a:moveTo>
                <a:lnTo>
                  <a:pt x="11096002" y="7075347"/>
                </a:lnTo>
                <a:lnTo>
                  <a:pt x="11105527" y="7065822"/>
                </a:lnTo>
                <a:lnTo>
                  <a:pt x="11115052" y="7065822"/>
                </a:lnTo>
                <a:lnTo>
                  <a:pt x="11115052" y="7075347"/>
                </a:lnTo>
                <a:close/>
              </a:path>
            </a:pathLst>
          </a:custGeom>
          <a:solidFill>
            <a:srgbClr val="34343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bg 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72445" y="7664462"/>
            <a:ext cx="1231239" cy="15938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37208" y="2857207"/>
            <a:ext cx="8590915" cy="1739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rgbClr val="343434"/>
                </a:solidFill>
                <a:latin typeface="SimSun"/>
                <a:cs typeface="SimSu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43434"/>
                </a:solidFill>
                <a:latin typeface="SimSun"/>
                <a:cs typeface="SimSu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rgbClr val="343434"/>
                </a:solidFill>
                <a:latin typeface="SimSun"/>
                <a:cs typeface="SimSu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43434"/>
                </a:solidFill>
                <a:latin typeface="SimSun"/>
                <a:cs typeface="SimSu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rgbClr val="343434"/>
                </a:solidFill>
                <a:latin typeface="SimSun"/>
                <a:cs typeface="SimSu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rgbClr val="343434"/>
                </a:solidFill>
                <a:latin typeface="SimSun"/>
                <a:cs typeface="SimSu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029825"/>
          </a:xfrm>
          <a:custGeom>
            <a:avLst/>
            <a:gdLst/>
            <a:ahLst/>
            <a:cxnLst/>
            <a:rect l="l" t="t" r="r" b="b"/>
            <a:pathLst>
              <a:path w="18288000" h="10029825">
                <a:moveTo>
                  <a:pt x="0" y="10029825"/>
                </a:moveTo>
                <a:lnTo>
                  <a:pt x="18288000" y="10029825"/>
                </a:lnTo>
                <a:lnTo>
                  <a:pt x="18288000" y="0"/>
                </a:lnTo>
                <a:lnTo>
                  <a:pt x="0" y="0"/>
                </a:lnTo>
                <a:lnTo>
                  <a:pt x="0" y="10029825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341537" y="1503464"/>
            <a:ext cx="14051280" cy="7449184"/>
          </a:xfrm>
          <a:custGeom>
            <a:avLst/>
            <a:gdLst/>
            <a:ahLst/>
            <a:cxnLst/>
            <a:rect l="l" t="t" r="r" b="b"/>
            <a:pathLst>
              <a:path w="14051280" h="7449184">
                <a:moveTo>
                  <a:pt x="14050810" y="7448689"/>
                </a:moveTo>
                <a:lnTo>
                  <a:pt x="0" y="7448689"/>
                </a:lnTo>
                <a:lnTo>
                  <a:pt x="0" y="0"/>
                </a:lnTo>
                <a:lnTo>
                  <a:pt x="14050810" y="0"/>
                </a:lnTo>
                <a:lnTo>
                  <a:pt x="14050810" y="7448689"/>
                </a:lnTo>
                <a:close/>
              </a:path>
            </a:pathLst>
          </a:custGeom>
          <a:solidFill>
            <a:srgbClr val="3434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895652" y="1807946"/>
            <a:ext cx="14310360" cy="7021195"/>
          </a:xfrm>
          <a:custGeom>
            <a:avLst/>
            <a:gdLst/>
            <a:ahLst/>
            <a:cxnLst/>
            <a:rect l="l" t="t" r="r" b="b"/>
            <a:pathLst>
              <a:path w="14310360" h="7021195">
                <a:moveTo>
                  <a:pt x="14310271" y="7020814"/>
                </a:moveTo>
                <a:lnTo>
                  <a:pt x="0" y="7020814"/>
                </a:lnTo>
                <a:lnTo>
                  <a:pt x="0" y="0"/>
                </a:lnTo>
                <a:lnTo>
                  <a:pt x="14310271" y="0"/>
                </a:lnTo>
                <a:lnTo>
                  <a:pt x="14310271" y="70208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871840" y="1784134"/>
            <a:ext cx="14357985" cy="7068820"/>
          </a:xfrm>
          <a:custGeom>
            <a:avLst/>
            <a:gdLst/>
            <a:ahLst/>
            <a:cxnLst/>
            <a:rect l="l" t="t" r="r" b="b"/>
            <a:pathLst>
              <a:path w="14357985" h="7068820">
                <a:moveTo>
                  <a:pt x="14357908" y="7068438"/>
                </a:moveTo>
                <a:lnTo>
                  <a:pt x="0" y="7068439"/>
                </a:lnTo>
                <a:lnTo>
                  <a:pt x="0" y="0"/>
                </a:lnTo>
                <a:lnTo>
                  <a:pt x="14357908" y="0"/>
                </a:lnTo>
                <a:lnTo>
                  <a:pt x="14357908" y="23812"/>
                </a:lnTo>
                <a:lnTo>
                  <a:pt x="47625" y="23812"/>
                </a:lnTo>
                <a:lnTo>
                  <a:pt x="23812" y="47625"/>
                </a:lnTo>
                <a:lnTo>
                  <a:pt x="47625" y="47625"/>
                </a:lnTo>
                <a:lnTo>
                  <a:pt x="47625" y="7020813"/>
                </a:lnTo>
                <a:lnTo>
                  <a:pt x="23812" y="7020813"/>
                </a:lnTo>
                <a:lnTo>
                  <a:pt x="47625" y="7044626"/>
                </a:lnTo>
                <a:lnTo>
                  <a:pt x="14357908" y="7044626"/>
                </a:lnTo>
                <a:lnTo>
                  <a:pt x="14357908" y="7068438"/>
                </a:lnTo>
                <a:close/>
              </a:path>
              <a:path w="14357985" h="7068820">
                <a:moveTo>
                  <a:pt x="47625" y="47625"/>
                </a:moveTo>
                <a:lnTo>
                  <a:pt x="23812" y="47625"/>
                </a:lnTo>
                <a:lnTo>
                  <a:pt x="47625" y="23812"/>
                </a:lnTo>
                <a:lnTo>
                  <a:pt x="47625" y="47625"/>
                </a:lnTo>
                <a:close/>
              </a:path>
              <a:path w="14357985" h="7068820">
                <a:moveTo>
                  <a:pt x="14310283" y="47625"/>
                </a:moveTo>
                <a:lnTo>
                  <a:pt x="47625" y="47625"/>
                </a:lnTo>
                <a:lnTo>
                  <a:pt x="47625" y="23812"/>
                </a:lnTo>
                <a:lnTo>
                  <a:pt x="14310283" y="23812"/>
                </a:lnTo>
                <a:lnTo>
                  <a:pt x="14310283" y="47625"/>
                </a:lnTo>
                <a:close/>
              </a:path>
              <a:path w="14357985" h="7068820">
                <a:moveTo>
                  <a:pt x="14310283" y="7044626"/>
                </a:moveTo>
                <a:lnTo>
                  <a:pt x="14310283" y="23812"/>
                </a:lnTo>
                <a:lnTo>
                  <a:pt x="14334096" y="47625"/>
                </a:lnTo>
                <a:lnTo>
                  <a:pt x="14357908" y="47625"/>
                </a:lnTo>
                <a:lnTo>
                  <a:pt x="14357908" y="7020813"/>
                </a:lnTo>
                <a:lnTo>
                  <a:pt x="14334096" y="7020813"/>
                </a:lnTo>
                <a:lnTo>
                  <a:pt x="14310283" y="7044626"/>
                </a:lnTo>
                <a:close/>
              </a:path>
              <a:path w="14357985" h="7068820">
                <a:moveTo>
                  <a:pt x="14357908" y="47625"/>
                </a:moveTo>
                <a:lnTo>
                  <a:pt x="14334096" y="47625"/>
                </a:lnTo>
                <a:lnTo>
                  <a:pt x="14310283" y="23812"/>
                </a:lnTo>
                <a:lnTo>
                  <a:pt x="14357908" y="23812"/>
                </a:lnTo>
                <a:lnTo>
                  <a:pt x="14357908" y="47625"/>
                </a:lnTo>
                <a:close/>
              </a:path>
              <a:path w="14357985" h="7068820">
                <a:moveTo>
                  <a:pt x="47625" y="7044626"/>
                </a:moveTo>
                <a:lnTo>
                  <a:pt x="23812" y="7020813"/>
                </a:lnTo>
                <a:lnTo>
                  <a:pt x="47625" y="7020813"/>
                </a:lnTo>
                <a:lnTo>
                  <a:pt x="47625" y="7044626"/>
                </a:lnTo>
                <a:close/>
              </a:path>
              <a:path w="14357985" h="7068820">
                <a:moveTo>
                  <a:pt x="14310283" y="7044626"/>
                </a:moveTo>
                <a:lnTo>
                  <a:pt x="47625" y="7044626"/>
                </a:lnTo>
                <a:lnTo>
                  <a:pt x="47625" y="7020813"/>
                </a:lnTo>
                <a:lnTo>
                  <a:pt x="14310283" y="7020813"/>
                </a:lnTo>
                <a:lnTo>
                  <a:pt x="14310283" y="7044626"/>
                </a:lnTo>
                <a:close/>
              </a:path>
              <a:path w="14357985" h="7068820">
                <a:moveTo>
                  <a:pt x="14357908" y="7044626"/>
                </a:moveTo>
                <a:lnTo>
                  <a:pt x="14310283" y="7044626"/>
                </a:lnTo>
                <a:lnTo>
                  <a:pt x="14334096" y="7020813"/>
                </a:lnTo>
                <a:lnTo>
                  <a:pt x="14357908" y="7020813"/>
                </a:lnTo>
                <a:lnTo>
                  <a:pt x="14357908" y="7044626"/>
                </a:lnTo>
                <a:close/>
              </a:path>
            </a:pathLst>
          </a:custGeom>
          <a:solidFill>
            <a:srgbClr val="3434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895652" y="1028700"/>
            <a:ext cx="14310360" cy="1186180"/>
          </a:xfrm>
          <a:custGeom>
            <a:avLst/>
            <a:gdLst/>
            <a:ahLst/>
            <a:cxnLst/>
            <a:rect l="l" t="t" r="r" b="b"/>
            <a:pathLst>
              <a:path w="14310360" h="1186180">
                <a:moveTo>
                  <a:pt x="14310271" y="1185557"/>
                </a:moveTo>
                <a:lnTo>
                  <a:pt x="0" y="1185557"/>
                </a:lnTo>
                <a:lnTo>
                  <a:pt x="0" y="0"/>
                </a:lnTo>
                <a:lnTo>
                  <a:pt x="14310271" y="0"/>
                </a:lnTo>
                <a:lnTo>
                  <a:pt x="14310271" y="118555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871840" y="1004887"/>
            <a:ext cx="14357985" cy="1233805"/>
          </a:xfrm>
          <a:custGeom>
            <a:avLst/>
            <a:gdLst/>
            <a:ahLst/>
            <a:cxnLst/>
            <a:rect l="l" t="t" r="r" b="b"/>
            <a:pathLst>
              <a:path w="14357985" h="1233805">
                <a:moveTo>
                  <a:pt x="14357908" y="1233182"/>
                </a:moveTo>
                <a:lnTo>
                  <a:pt x="0" y="1233182"/>
                </a:lnTo>
                <a:lnTo>
                  <a:pt x="0" y="0"/>
                </a:lnTo>
                <a:lnTo>
                  <a:pt x="14357908" y="0"/>
                </a:lnTo>
                <a:lnTo>
                  <a:pt x="14357908" y="23812"/>
                </a:lnTo>
                <a:lnTo>
                  <a:pt x="47625" y="23812"/>
                </a:lnTo>
                <a:lnTo>
                  <a:pt x="23812" y="47625"/>
                </a:lnTo>
                <a:lnTo>
                  <a:pt x="47625" y="47625"/>
                </a:lnTo>
                <a:lnTo>
                  <a:pt x="47625" y="1185557"/>
                </a:lnTo>
                <a:lnTo>
                  <a:pt x="23812" y="1185557"/>
                </a:lnTo>
                <a:lnTo>
                  <a:pt x="47625" y="1209370"/>
                </a:lnTo>
                <a:lnTo>
                  <a:pt x="14357908" y="1209370"/>
                </a:lnTo>
                <a:lnTo>
                  <a:pt x="14357908" y="1233182"/>
                </a:lnTo>
                <a:close/>
              </a:path>
              <a:path w="14357985" h="1233805">
                <a:moveTo>
                  <a:pt x="47625" y="47625"/>
                </a:moveTo>
                <a:lnTo>
                  <a:pt x="23812" y="47625"/>
                </a:lnTo>
                <a:lnTo>
                  <a:pt x="47625" y="23812"/>
                </a:lnTo>
                <a:lnTo>
                  <a:pt x="47625" y="47625"/>
                </a:lnTo>
                <a:close/>
              </a:path>
              <a:path w="14357985" h="1233805">
                <a:moveTo>
                  <a:pt x="14310283" y="47625"/>
                </a:moveTo>
                <a:lnTo>
                  <a:pt x="47625" y="47625"/>
                </a:lnTo>
                <a:lnTo>
                  <a:pt x="47625" y="23812"/>
                </a:lnTo>
                <a:lnTo>
                  <a:pt x="14310283" y="23812"/>
                </a:lnTo>
                <a:lnTo>
                  <a:pt x="14310283" y="47625"/>
                </a:lnTo>
                <a:close/>
              </a:path>
              <a:path w="14357985" h="1233805">
                <a:moveTo>
                  <a:pt x="14310283" y="1209370"/>
                </a:moveTo>
                <a:lnTo>
                  <a:pt x="14310283" y="23812"/>
                </a:lnTo>
                <a:lnTo>
                  <a:pt x="14334096" y="47625"/>
                </a:lnTo>
                <a:lnTo>
                  <a:pt x="14357908" y="47625"/>
                </a:lnTo>
                <a:lnTo>
                  <a:pt x="14357908" y="1185557"/>
                </a:lnTo>
                <a:lnTo>
                  <a:pt x="14334096" y="1185557"/>
                </a:lnTo>
                <a:lnTo>
                  <a:pt x="14310283" y="1209370"/>
                </a:lnTo>
                <a:close/>
              </a:path>
              <a:path w="14357985" h="1233805">
                <a:moveTo>
                  <a:pt x="14357908" y="47625"/>
                </a:moveTo>
                <a:lnTo>
                  <a:pt x="14334096" y="47625"/>
                </a:lnTo>
                <a:lnTo>
                  <a:pt x="14310283" y="23812"/>
                </a:lnTo>
                <a:lnTo>
                  <a:pt x="14357908" y="23812"/>
                </a:lnTo>
                <a:lnTo>
                  <a:pt x="14357908" y="47625"/>
                </a:lnTo>
                <a:close/>
              </a:path>
              <a:path w="14357985" h="1233805">
                <a:moveTo>
                  <a:pt x="47625" y="1209370"/>
                </a:moveTo>
                <a:lnTo>
                  <a:pt x="23812" y="1185557"/>
                </a:lnTo>
                <a:lnTo>
                  <a:pt x="47625" y="1185557"/>
                </a:lnTo>
                <a:lnTo>
                  <a:pt x="47625" y="1209370"/>
                </a:lnTo>
                <a:close/>
              </a:path>
              <a:path w="14357985" h="1233805">
                <a:moveTo>
                  <a:pt x="14310283" y="1209370"/>
                </a:moveTo>
                <a:lnTo>
                  <a:pt x="47625" y="1209370"/>
                </a:lnTo>
                <a:lnTo>
                  <a:pt x="47625" y="1185557"/>
                </a:lnTo>
                <a:lnTo>
                  <a:pt x="14310283" y="1185557"/>
                </a:lnTo>
                <a:lnTo>
                  <a:pt x="14310283" y="1209370"/>
                </a:lnTo>
                <a:close/>
              </a:path>
              <a:path w="14357985" h="1233805">
                <a:moveTo>
                  <a:pt x="14357908" y="1209370"/>
                </a:moveTo>
                <a:lnTo>
                  <a:pt x="14310283" y="1209370"/>
                </a:lnTo>
                <a:lnTo>
                  <a:pt x="14334096" y="1185557"/>
                </a:lnTo>
                <a:lnTo>
                  <a:pt x="14357908" y="1185557"/>
                </a:lnTo>
                <a:lnTo>
                  <a:pt x="14357908" y="1209370"/>
                </a:lnTo>
                <a:close/>
              </a:path>
            </a:pathLst>
          </a:custGeom>
          <a:solidFill>
            <a:srgbClr val="34343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45473" y="1397711"/>
            <a:ext cx="447167" cy="44703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14179" y="1397711"/>
            <a:ext cx="447167" cy="4470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90279" y="2796769"/>
            <a:ext cx="6645909" cy="817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rgbClr val="343434"/>
                </a:solidFill>
                <a:latin typeface="SimSun"/>
                <a:cs typeface="SimSu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37208" y="2539606"/>
            <a:ext cx="8575040" cy="2202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43434"/>
                </a:solidFill>
                <a:latin typeface="SimSun"/>
                <a:cs typeface="SimSu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20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21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25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0" y="0"/>
              <a:ext cx="18288000" cy="2774315"/>
            </a:xfrm>
            <a:custGeom>
              <a:avLst/>
              <a:gdLst/>
              <a:ahLst/>
              <a:cxnLst/>
              <a:rect l="l" t="t" r="r" b="b"/>
              <a:pathLst>
                <a:path w="18288000" h="2774315">
                  <a:moveTo>
                    <a:pt x="18288000" y="2774048"/>
                  </a:moveTo>
                  <a:lnTo>
                    <a:pt x="0" y="2774048"/>
                  </a:lnTo>
                  <a:lnTo>
                    <a:pt x="0" y="0"/>
                  </a:lnTo>
                  <a:lnTo>
                    <a:pt x="18288000" y="0"/>
                  </a:lnTo>
                  <a:lnTo>
                    <a:pt x="18288000" y="2774048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0"/>
              <a:ext cx="18288000" cy="2788920"/>
            </a:xfrm>
            <a:custGeom>
              <a:avLst/>
              <a:gdLst/>
              <a:ahLst/>
              <a:cxnLst/>
              <a:rect l="l" t="t" r="r" b="b"/>
              <a:pathLst>
                <a:path w="18288000" h="2788920">
                  <a:moveTo>
                    <a:pt x="0" y="14287"/>
                  </a:moveTo>
                  <a:lnTo>
                    <a:pt x="0" y="0"/>
                  </a:lnTo>
                  <a:lnTo>
                    <a:pt x="14287" y="0"/>
                  </a:lnTo>
                  <a:lnTo>
                    <a:pt x="0" y="14287"/>
                  </a:lnTo>
                  <a:close/>
                </a:path>
                <a:path w="18288000" h="2788920">
                  <a:moveTo>
                    <a:pt x="14287" y="2774048"/>
                  </a:moveTo>
                  <a:lnTo>
                    <a:pt x="0" y="2759760"/>
                  </a:lnTo>
                  <a:lnTo>
                    <a:pt x="0" y="14287"/>
                  </a:lnTo>
                  <a:lnTo>
                    <a:pt x="14287" y="0"/>
                  </a:lnTo>
                  <a:lnTo>
                    <a:pt x="14287" y="2774048"/>
                  </a:lnTo>
                  <a:close/>
                </a:path>
                <a:path w="18288000" h="2788920">
                  <a:moveTo>
                    <a:pt x="18273712" y="14287"/>
                  </a:moveTo>
                  <a:lnTo>
                    <a:pt x="14287" y="14287"/>
                  </a:lnTo>
                  <a:lnTo>
                    <a:pt x="14287" y="0"/>
                  </a:lnTo>
                  <a:lnTo>
                    <a:pt x="18273712" y="0"/>
                  </a:lnTo>
                  <a:lnTo>
                    <a:pt x="18273712" y="14287"/>
                  </a:lnTo>
                  <a:close/>
                </a:path>
                <a:path w="18288000" h="2788920">
                  <a:moveTo>
                    <a:pt x="18273712" y="2774048"/>
                  </a:moveTo>
                  <a:lnTo>
                    <a:pt x="18273712" y="0"/>
                  </a:lnTo>
                  <a:lnTo>
                    <a:pt x="18288000" y="14287"/>
                  </a:lnTo>
                  <a:lnTo>
                    <a:pt x="18288000" y="2759760"/>
                  </a:lnTo>
                  <a:lnTo>
                    <a:pt x="18273712" y="2774048"/>
                  </a:lnTo>
                  <a:close/>
                </a:path>
                <a:path w="18288000" h="2788920">
                  <a:moveTo>
                    <a:pt x="18288000" y="14287"/>
                  </a:moveTo>
                  <a:lnTo>
                    <a:pt x="18273712" y="0"/>
                  </a:lnTo>
                  <a:lnTo>
                    <a:pt x="18288000" y="0"/>
                  </a:lnTo>
                  <a:lnTo>
                    <a:pt x="18288000" y="14287"/>
                  </a:lnTo>
                  <a:close/>
                </a:path>
                <a:path w="18288000" h="2788920">
                  <a:moveTo>
                    <a:pt x="18288000" y="2788335"/>
                  </a:moveTo>
                  <a:lnTo>
                    <a:pt x="0" y="2788335"/>
                  </a:lnTo>
                  <a:lnTo>
                    <a:pt x="0" y="2759760"/>
                  </a:lnTo>
                  <a:lnTo>
                    <a:pt x="14287" y="2774048"/>
                  </a:lnTo>
                  <a:lnTo>
                    <a:pt x="18288000" y="2774048"/>
                  </a:lnTo>
                  <a:lnTo>
                    <a:pt x="18288000" y="2788335"/>
                  </a:lnTo>
                  <a:close/>
                </a:path>
                <a:path w="18288000" h="2788920">
                  <a:moveTo>
                    <a:pt x="18273712" y="2774048"/>
                  </a:moveTo>
                  <a:lnTo>
                    <a:pt x="14287" y="2774048"/>
                  </a:lnTo>
                  <a:lnTo>
                    <a:pt x="14287" y="2759760"/>
                  </a:lnTo>
                  <a:lnTo>
                    <a:pt x="18273712" y="2759760"/>
                  </a:lnTo>
                  <a:lnTo>
                    <a:pt x="18273712" y="2774048"/>
                  </a:lnTo>
                  <a:close/>
                </a:path>
                <a:path w="18288000" h="2788920">
                  <a:moveTo>
                    <a:pt x="18288000" y="2774048"/>
                  </a:moveTo>
                  <a:lnTo>
                    <a:pt x="18273712" y="2774048"/>
                  </a:lnTo>
                  <a:lnTo>
                    <a:pt x="18288000" y="2759760"/>
                  </a:lnTo>
                  <a:lnTo>
                    <a:pt x="18288000" y="2774048"/>
                  </a:lnTo>
                  <a:close/>
                </a:path>
              </a:pathLst>
            </a:custGeom>
            <a:solidFill>
              <a:srgbClr val="34343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864645" y="1306791"/>
              <a:ext cx="423354" cy="8980208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18456" y="258381"/>
              <a:ext cx="320548" cy="320548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6692219" y="282904"/>
              <a:ext cx="798195" cy="262255"/>
            </a:xfrm>
            <a:custGeom>
              <a:avLst/>
              <a:gdLst/>
              <a:ahLst/>
              <a:cxnLst/>
              <a:rect l="l" t="t" r="r" b="b"/>
              <a:pathLst>
                <a:path w="798194" h="262255">
                  <a:moveTo>
                    <a:pt x="233934" y="116700"/>
                  </a:moveTo>
                  <a:lnTo>
                    <a:pt x="0" y="116700"/>
                  </a:lnTo>
                  <a:lnTo>
                    <a:pt x="0" y="154800"/>
                  </a:lnTo>
                  <a:lnTo>
                    <a:pt x="233934" y="154800"/>
                  </a:lnTo>
                  <a:lnTo>
                    <a:pt x="233934" y="116700"/>
                  </a:lnTo>
                  <a:close/>
                </a:path>
                <a:path w="798194" h="262255">
                  <a:moveTo>
                    <a:pt x="797636" y="0"/>
                  </a:moveTo>
                  <a:lnTo>
                    <a:pt x="778586" y="0"/>
                  </a:lnTo>
                  <a:lnTo>
                    <a:pt x="778586" y="19050"/>
                  </a:lnTo>
                  <a:lnTo>
                    <a:pt x="778586" y="210121"/>
                  </a:lnTo>
                  <a:lnTo>
                    <a:pt x="728611" y="210121"/>
                  </a:lnTo>
                  <a:lnTo>
                    <a:pt x="728611" y="51854"/>
                  </a:lnTo>
                  <a:lnTo>
                    <a:pt x="587527" y="51854"/>
                  </a:lnTo>
                  <a:lnTo>
                    <a:pt x="587527" y="19050"/>
                  </a:lnTo>
                  <a:lnTo>
                    <a:pt x="778586" y="19050"/>
                  </a:lnTo>
                  <a:lnTo>
                    <a:pt x="778586" y="0"/>
                  </a:lnTo>
                  <a:lnTo>
                    <a:pt x="568477" y="0"/>
                  </a:lnTo>
                  <a:lnTo>
                    <a:pt x="568477" y="51854"/>
                  </a:lnTo>
                  <a:lnTo>
                    <a:pt x="518490" y="51854"/>
                  </a:lnTo>
                  <a:lnTo>
                    <a:pt x="518490" y="261962"/>
                  </a:lnTo>
                  <a:lnTo>
                    <a:pt x="728611" y="261962"/>
                  </a:lnTo>
                  <a:lnTo>
                    <a:pt x="728611" y="229171"/>
                  </a:lnTo>
                  <a:lnTo>
                    <a:pt x="797636" y="229171"/>
                  </a:lnTo>
                  <a:lnTo>
                    <a:pt x="797636" y="219646"/>
                  </a:lnTo>
                  <a:lnTo>
                    <a:pt x="797636" y="210121"/>
                  </a:lnTo>
                  <a:lnTo>
                    <a:pt x="797636" y="19050"/>
                  </a:lnTo>
                  <a:lnTo>
                    <a:pt x="797636" y="9525"/>
                  </a:lnTo>
                  <a:lnTo>
                    <a:pt x="797636" y="0"/>
                  </a:lnTo>
                  <a:close/>
                </a:path>
              </a:pathLst>
            </a:custGeom>
            <a:solidFill>
              <a:srgbClr val="B6B1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57147" y="2022970"/>
              <a:ext cx="11096625" cy="7066280"/>
            </a:xfrm>
            <a:custGeom>
              <a:avLst/>
              <a:gdLst/>
              <a:ahLst/>
              <a:cxnLst/>
              <a:rect l="l" t="t" r="r" b="b"/>
              <a:pathLst>
                <a:path w="11096625" h="7066280">
                  <a:moveTo>
                    <a:pt x="11096002" y="7065822"/>
                  </a:moveTo>
                  <a:lnTo>
                    <a:pt x="0" y="7065822"/>
                  </a:lnTo>
                  <a:lnTo>
                    <a:pt x="0" y="0"/>
                  </a:lnTo>
                  <a:lnTo>
                    <a:pt x="11096002" y="0"/>
                  </a:lnTo>
                  <a:lnTo>
                    <a:pt x="11096002" y="7065822"/>
                  </a:lnTo>
                  <a:close/>
                </a:path>
              </a:pathLst>
            </a:custGeom>
            <a:solidFill>
              <a:srgbClr val="343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69835" y="1823643"/>
              <a:ext cx="11096625" cy="7066280"/>
            </a:xfrm>
            <a:custGeom>
              <a:avLst/>
              <a:gdLst/>
              <a:ahLst/>
              <a:cxnLst/>
              <a:rect l="l" t="t" r="r" b="b"/>
              <a:pathLst>
                <a:path w="11096625" h="7066280">
                  <a:moveTo>
                    <a:pt x="11096002" y="7065822"/>
                  </a:moveTo>
                  <a:lnTo>
                    <a:pt x="0" y="7065822"/>
                  </a:lnTo>
                  <a:lnTo>
                    <a:pt x="0" y="0"/>
                  </a:lnTo>
                  <a:lnTo>
                    <a:pt x="11096002" y="0"/>
                  </a:lnTo>
                  <a:lnTo>
                    <a:pt x="11096002" y="7065822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60310" y="1814118"/>
              <a:ext cx="11115675" cy="7085330"/>
            </a:xfrm>
            <a:custGeom>
              <a:avLst/>
              <a:gdLst/>
              <a:ahLst/>
              <a:cxnLst/>
              <a:rect l="l" t="t" r="r" b="b"/>
              <a:pathLst>
                <a:path w="11115675" h="7085330">
                  <a:moveTo>
                    <a:pt x="11115065" y="7084872"/>
                  </a:moveTo>
                  <a:lnTo>
                    <a:pt x="0" y="7084872"/>
                  </a:lnTo>
                  <a:lnTo>
                    <a:pt x="0" y="0"/>
                  </a:lnTo>
                  <a:lnTo>
                    <a:pt x="11115065" y="0"/>
                  </a:lnTo>
                  <a:lnTo>
                    <a:pt x="11115065" y="9525"/>
                  </a:lnTo>
                  <a:lnTo>
                    <a:pt x="19050" y="9525"/>
                  </a:lnTo>
                  <a:lnTo>
                    <a:pt x="9525" y="19050"/>
                  </a:lnTo>
                  <a:lnTo>
                    <a:pt x="19050" y="19050"/>
                  </a:lnTo>
                  <a:lnTo>
                    <a:pt x="19050" y="7065822"/>
                  </a:lnTo>
                  <a:lnTo>
                    <a:pt x="9525" y="7065822"/>
                  </a:lnTo>
                  <a:lnTo>
                    <a:pt x="19050" y="7075347"/>
                  </a:lnTo>
                  <a:lnTo>
                    <a:pt x="11115065" y="7075347"/>
                  </a:lnTo>
                  <a:lnTo>
                    <a:pt x="11115065" y="7084872"/>
                  </a:lnTo>
                  <a:close/>
                </a:path>
                <a:path w="11115675" h="7085330">
                  <a:moveTo>
                    <a:pt x="19050" y="19050"/>
                  </a:moveTo>
                  <a:lnTo>
                    <a:pt x="9525" y="19050"/>
                  </a:lnTo>
                  <a:lnTo>
                    <a:pt x="19050" y="9525"/>
                  </a:lnTo>
                  <a:lnTo>
                    <a:pt x="19050" y="19050"/>
                  </a:lnTo>
                  <a:close/>
                </a:path>
                <a:path w="11115675" h="7085330">
                  <a:moveTo>
                    <a:pt x="11096015" y="19050"/>
                  </a:moveTo>
                  <a:lnTo>
                    <a:pt x="19050" y="19050"/>
                  </a:lnTo>
                  <a:lnTo>
                    <a:pt x="19050" y="9525"/>
                  </a:lnTo>
                  <a:lnTo>
                    <a:pt x="11096015" y="9525"/>
                  </a:lnTo>
                  <a:lnTo>
                    <a:pt x="11096015" y="19050"/>
                  </a:lnTo>
                  <a:close/>
                </a:path>
                <a:path w="11115675" h="7085330">
                  <a:moveTo>
                    <a:pt x="11096015" y="7075347"/>
                  </a:moveTo>
                  <a:lnTo>
                    <a:pt x="11096015" y="9525"/>
                  </a:lnTo>
                  <a:lnTo>
                    <a:pt x="11105540" y="19050"/>
                  </a:lnTo>
                  <a:lnTo>
                    <a:pt x="11115065" y="19050"/>
                  </a:lnTo>
                  <a:lnTo>
                    <a:pt x="11115065" y="7065822"/>
                  </a:lnTo>
                  <a:lnTo>
                    <a:pt x="11105540" y="7065822"/>
                  </a:lnTo>
                  <a:lnTo>
                    <a:pt x="11096015" y="7075347"/>
                  </a:lnTo>
                  <a:close/>
                </a:path>
                <a:path w="11115675" h="7085330">
                  <a:moveTo>
                    <a:pt x="11115065" y="19050"/>
                  </a:moveTo>
                  <a:lnTo>
                    <a:pt x="11105540" y="19050"/>
                  </a:lnTo>
                  <a:lnTo>
                    <a:pt x="11096015" y="9525"/>
                  </a:lnTo>
                  <a:lnTo>
                    <a:pt x="11115065" y="9525"/>
                  </a:lnTo>
                  <a:lnTo>
                    <a:pt x="11115065" y="19050"/>
                  </a:lnTo>
                  <a:close/>
                </a:path>
                <a:path w="11115675" h="7085330">
                  <a:moveTo>
                    <a:pt x="19050" y="7075347"/>
                  </a:moveTo>
                  <a:lnTo>
                    <a:pt x="9525" y="7065822"/>
                  </a:lnTo>
                  <a:lnTo>
                    <a:pt x="19050" y="7065822"/>
                  </a:lnTo>
                  <a:lnTo>
                    <a:pt x="19050" y="7075347"/>
                  </a:lnTo>
                  <a:close/>
                </a:path>
                <a:path w="11115675" h="7085330">
                  <a:moveTo>
                    <a:pt x="11096015" y="7075347"/>
                  </a:moveTo>
                  <a:lnTo>
                    <a:pt x="19050" y="7075347"/>
                  </a:lnTo>
                  <a:lnTo>
                    <a:pt x="19050" y="7065822"/>
                  </a:lnTo>
                  <a:lnTo>
                    <a:pt x="11096015" y="7065822"/>
                  </a:lnTo>
                  <a:lnTo>
                    <a:pt x="11096015" y="7075347"/>
                  </a:lnTo>
                  <a:close/>
                </a:path>
                <a:path w="11115675" h="7085330">
                  <a:moveTo>
                    <a:pt x="11115065" y="7075347"/>
                  </a:moveTo>
                  <a:lnTo>
                    <a:pt x="11096015" y="7075347"/>
                  </a:lnTo>
                  <a:lnTo>
                    <a:pt x="11105540" y="7065822"/>
                  </a:lnTo>
                  <a:lnTo>
                    <a:pt x="11115065" y="7065822"/>
                  </a:lnTo>
                  <a:lnTo>
                    <a:pt x="11115065" y="7075347"/>
                  </a:lnTo>
                  <a:close/>
                </a:path>
              </a:pathLst>
            </a:custGeom>
            <a:solidFill>
              <a:srgbClr val="34343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72445" y="7664462"/>
              <a:ext cx="1231239" cy="1593837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1537208" y="5499366"/>
            <a:ext cx="2513330" cy="718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50">
                <a:solidFill>
                  <a:srgbClr val="343434"/>
                </a:solidFill>
                <a:latin typeface="SimSun"/>
                <a:cs typeface="SimSun"/>
              </a:rPr>
              <a:t>作者</a:t>
            </a:r>
            <a:r>
              <a:rPr dirty="0" sz="4550" spc="-3190">
                <a:solidFill>
                  <a:srgbClr val="343434"/>
                </a:solidFill>
                <a:latin typeface="SimSun"/>
                <a:cs typeface="SimSun"/>
              </a:rPr>
              <a:t>·</a:t>
            </a:r>
            <a:r>
              <a:rPr dirty="0" sz="4550" spc="-25">
                <a:solidFill>
                  <a:srgbClr val="343434"/>
                </a:solidFill>
                <a:latin typeface="SimSun"/>
                <a:cs typeface="SimSun"/>
              </a:rPr>
              <a:t>皮特</a:t>
            </a:r>
            <a:endParaRPr sz="4550">
              <a:latin typeface="SimSun"/>
              <a:cs typeface="SimSu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748529" y="5542038"/>
            <a:ext cx="4540885" cy="2749550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273050" indent="-260350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273050" algn="l"/>
              </a:tabLst>
            </a:pPr>
            <a:r>
              <a:rPr dirty="0" sz="2400" spc="280">
                <a:solidFill>
                  <a:srgbClr val="343434"/>
                </a:solidFill>
                <a:latin typeface="SimSun"/>
                <a:cs typeface="SimSun"/>
              </a:rPr>
              <a:t>AI</a:t>
            </a:r>
            <a:r>
              <a:rPr dirty="0" sz="2400" spc="-5">
                <a:solidFill>
                  <a:srgbClr val="343434"/>
                </a:solidFill>
                <a:latin typeface="SimSun"/>
                <a:cs typeface="SimSun"/>
              </a:rPr>
              <a:t> 赋能 </a:t>
            </a:r>
            <a:r>
              <a:rPr dirty="0" sz="2400" spc="130">
                <a:solidFill>
                  <a:srgbClr val="343434"/>
                </a:solidFill>
                <a:latin typeface="SimSun"/>
                <a:cs typeface="SimSun"/>
              </a:rPr>
              <a:t>IP</a:t>
            </a:r>
            <a:r>
              <a:rPr dirty="0" sz="2400" spc="100">
                <a:solidFill>
                  <a:srgbClr val="343434"/>
                </a:solidFill>
                <a:latin typeface="SimSun"/>
                <a:cs typeface="SimSun"/>
              </a:rPr>
              <a:t> 孵化</a:t>
            </a:r>
            <a:r>
              <a:rPr dirty="0" sz="2400" spc="790">
                <a:solidFill>
                  <a:srgbClr val="343434"/>
                </a:solidFill>
                <a:latin typeface="SimSun"/>
                <a:cs typeface="SimSun"/>
              </a:rPr>
              <a:t>&amp;</a:t>
            </a:r>
            <a:r>
              <a:rPr dirty="0" sz="2400" spc="75">
                <a:solidFill>
                  <a:srgbClr val="343434"/>
                </a:solidFill>
                <a:latin typeface="SimSun"/>
                <a:cs typeface="SimSun"/>
              </a:rPr>
              <a:t>打造</a:t>
            </a:r>
            <a:endParaRPr sz="2400">
              <a:latin typeface="SimSun"/>
              <a:cs typeface="SimSun"/>
            </a:endParaRPr>
          </a:p>
          <a:p>
            <a:pPr marL="273050" indent="-26035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73050" algn="l"/>
              </a:tabLst>
            </a:pPr>
            <a:r>
              <a:rPr dirty="0" sz="2400" spc="360">
                <a:solidFill>
                  <a:srgbClr val="343434"/>
                </a:solidFill>
                <a:latin typeface="SimSun"/>
                <a:cs typeface="SimSun"/>
              </a:rPr>
              <a:t>4</a:t>
            </a:r>
            <a:r>
              <a:rPr dirty="0" sz="2400" spc="200">
                <a:solidFill>
                  <a:srgbClr val="343434"/>
                </a:solidFill>
                <a:latin typeface="SimSun"/>
                <a:cs typeface="SimSun"/>
              </a:rPr>
              <a:t>万人</a:t>
            </a:r>
            <a:r>
              <a:rPr dirty="0" sz="2400" spc="280">
                <a:solidFill>
                  <a:srgbClr val="343434"/>
                </a:solidFill>
                <a:latin typeface="SimSun"/>
                <a:cs typeface="SimSun"/>
              </a:rPr>
              <a:t>AI</a:t>
            </a:r>
            <a:r>
              <a:rPr dirty="0" sz="2400" spc="105">
                <a:solidFill>
                  <a:srgbClr val="343434"/>
                </a:solidFill>
                <a:latin typeface="SimSun"/>
                <a:cs typeface="SimSun"/>
              </a:rPr>
              <a:t> 社群合伙人</a:t>
            </a:r>
            <a:endParaRPr sz="2400">
              <a:latin typeface="SimSun"/>
              <a:cs typeface="SimSun"/>
            </a:endParaRPr>
          </a:p>
          <a:p>
            <a:pPr marL="273050" indent="-26035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73050" algn="l"/>
              </a:tabLst>
            </a:pPr>
            <a:r>
              <a:rPr dirty="0" sz="2400" spc="200">
                <a:solidFill>
                  <a:srgbClr val="343434"/>
                </a:solidFill>
                <a:latin typeface="SimSun"/>
                <a:cs typeface="SimSun"/>
              </a:rPr>
              <a:t>全网阅读量</a:t>
            </a:r>
            <a:r>
              <a:rPr dirty="0" sz="2400" spc="275">
                <a:solidFill>
                  <a:srgbClr val="343434"/>
                </a:solidFill>
                <a:latin typeface="SimSun"/>
                <a:cs typeface="SimSun"/>
              </a:rPr>
              <a:t>1000</a:t>
            </a:r>
            <a:r>
              <a:rPr dirty="0" sz="2400" spc="210">
                <a:solidFill>
                  <a:srgbClr val="343434"/>
                </a:solidFill>
                <a:latin typeface="SimSun"/>
                <a:cs typeface="SimSun"/>
              </a:rPr>
              <a:t>万+</a:t>
            </a:r>
            <a:endParaRPr sz="2400">
              <a:latin typeface="SimSun"/>
              <a:cs typeface="SimSun"/>
            </a:endParaRPr>
          </a:p>
          <a:p>
            <a:pPr marL="273050" indent="-26035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73050" algn="l"/>
              </a:tabLst>
            </a:pPr>
            <a:r>
              <a:rPr dirty="0" sz="2400" spc="370">
                <a:solidFill>
                  <a:srgbClr val="343434"/>
                </a:solidFill>
                <a:latin typeface="SimSun"/>
                <a:cs typeface="SimSun"/>
              </a:rPr>
              <a:t>AI</a:t>
            </a:r>
            <a:r>
              <a:rPr dirty="0" sz="2400" spc="200">
                <a:solidFill>
                  <a:srgbClr val="343434"/>
                </a:solidFill>
                <a:latin typeface="SimSun"/>
                <a:cs typeface="SimSun"/>
              </a:rPr>
              <a:t>赋能下，多平台写出</a:t>
            </a:r>
            <a:r>
              <a:rPr dirty="0" sz="2400" spc="195">
                <a:solidFill>
                  <a:srgbClr val="343434"/>
                </a:solidFill>
                <a:latin typeface="SimSun"/>
                <a:cs typeface="SimSun"/>
              </a:rPr>
              <a:t>10</a:t>
            </a:r>
            <a:r>
              <a:rPr dirty="0" sz="2400" spc="210">
                <a:solidFill>
                  <a:srgbClr val="343434"/>
                </a:solidFill>
                <a:latin typeface="SimSun"/>
                <a:cs typeface="SimSun"/>
              </a:rPr>
              <a:t>万+</a:t>
            </a:r>
            <a:endParaRPr sz="2400">
              <a:latin typeface="SimSun"/>
              <a:cs typeface="SimSun"/>
            </a:endParaRPr>
          </a:p>
          <a:p>
            <a:pPr marL="273050" indent="-26035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73050" algn="l"/>
              </a:tabLst>
            </a:pPr>
            <a:r>
              <a:rPr dirty="0" sz="2400" spc="370">
                <a:solidFill>
                  <a:srgbClr val="343434"/>
                </a:solidFill>
                <a:latin typeface="SimSun"/>
                <a:cs typeface="SimSun"/>
              </a:rPr>
              <a:t>AI</a:t>
            </a:r>
            <a:r>
              <a:rPr dirty="0" sz="2400" spc="200">
                <a:solidFill>
                  <a:srgbClr val="343434"/>
                </a:solidFill>
                <a:latin typeface="SimSun"/>
                <a:cs typeface="SimSun"/>
              </a:rPr>
              <a:t>领域公众号一年</a:t>
            </a:r>
            <a:r>
              <a:rPr dirty="0" sz="2400" spc="365">
                <a:solidFill>
                  <a:srgbClr val="343434"/>
                </a:solidFill>
                <a:latin typeface="SimSun"/>
                <a:cs typeface="SimSun"/>
              </a:rPr>
              <a:t>20000</a:t>
            </a:r>
            <a:r>
              <a:rPr dirty="0" sz="2400" spc="-50">
                <a:solidFill>
                  <a:srgbClr val="343434"/>
                </a:solidFill>
                <a:latin typeface="SimSun"/>
                <a:cs typeface="SimSun"/>
              </a:rPr>
              <a:t>粉</a:t>
            </a:r>
            <a:endParaRPr sz="2400">
              <a:latin typeface="SimSun"/>
              <a:cs typeface="SimSun"/>
            </a:endParaRPr>
          </a:p>
          <a:p>
            <a:pPr marL="273050" indent="-26035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73050" algn="l"/>
              </a:tabLst>
            </a:pPr>
            <a:r>
              <a:rPr dirty="0" sz="2400" spc="280">
                <a:solidFill>
                  <a:srgbClr val="343434"/>
                </a:solidFill>
                <a:latin typeface="SimSun"/>
                <a:cs typeface="SimSun"/>
              </a:rPr>
              <a:t>AI</a:t>
            </a:r>
            <a:r>
              <a:rPr dirty="0" sz="2400" spc="160">
                <a:solidFill>
                  <a:srgbClr val="343434"/>
                </a:solidFill>
                <a:latin typeface="SimSun"/>
                <a:cs typeface="SimSun"/>
              </a:rPr>
              <a:t> 写作书正在出版中</a:t>
            </a:r>
            <a:r>
              <a:rPr dirty="0" sz="2400" spc="860">
                <a:solidFill>
                  <a:srgbClr val="343434"/>
                </a:solidFill>
                <a:latin typeface="Segoe UI Emoji"/>
                <a:cs typeface="Segoe UI Emoji"/>
              </a:rPr>
              <a:t/>
            </a:r>
            <a:endParaRPr sz="2400">
              <a:latin typeface="Segoe UI Emoji"/>
              <a:cs typeface="Segoe UI Emoj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1215039" y="2539961"/>
            <a:ext cx="6130925" cy="6718934"/>
            <a:chOff x="11215039" y="2539961"/>
            <a:chExt cx="6130925" cy="6718934"/>
          </a:xfrm>
        </p:grpSpPr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15039" y="2539961"/>
              <a:ext cx="6130480" cy="6718338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819292" y="3431857"/>
              <a:ext cx="2656281" cy="1466469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12334582" y="3407422"/>
            <a:ext cx="1585595" cy="1366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685" marR="5080" indent="-6985">
              <a:lnSpc>
                <a:spcPct val="108600"/>
              </a:lnSpc>
              <a:spcBef>
                <a:spcPts val="100"/>
              </a:spcBef>
            </a:pPr>
            <a:r>
              <a:rPr dirty="0" sz="4050">
                <a:solidFill>
                  <a:srgbClr val="343434"/>
                </a:solidFill>
                <a:latin typeface="SimSun"/>
                <a:cs typeface="SimSun"/>
              </a:rPr>
              <a:t>IP</a:t>
            </a:r>
            <a:r>
              <a:rPr dirty="0" sz="4050" spc="-25">
                <a:solidFill>
                  <a:srgbClr val="343434"/>
                </a:solidFill>
                <a:latin typeface="SimSun"/>
                <a:cs typeface="SimSun"/>
              </a:rPr>
              <a:t>打造</a:t>
            </a:r>
            <a:r>
              <a:rPr dirty="0" sz="4050" spc="-20">
                <a:solidFill>
                  <a:srgbClr val="343434"/>
                </a:solidFill>
                <a:latin typeface="SimSun"/>
                <a:cs typeface="SimSun"/>
              </a:rPr>
              <a:t>全流程</a:t>
            </a:r>
            <a:endParaRPr sz="4050">
              <a:latin typeface="SimSun"/>
              <a:cs typeface="SimSun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53902" y="9834105"/>
            <a:ext cx="8980195" cy="423354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7100"/>
              </a:lnSpc>
              <a:spcBef>
                <a:spcPts val="95"/>
              </a:spcBef>
            </a:pPr>
            <a:r>
              <a:rPr dirty="0" spc="-5"/>
              <a:t>从早教老师到自由职业者</a:t>
            </a:r>
            <a:r>
              <a:rPr dirty="0" spc="-50"/>
              <a:t> </a:t>
            </a:r>
            <a:r>
              <a:rPr dirty="0" spc="70"/>
              <a:t>IP</a:t>
            </a:r>
            <a:r>
              <a:rPr dirty="0" spc="-10"/>
              <a:t>成长的底层逻辑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30679" y="1359395"/>
              <a:ext cx="524179" cy="52416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85374" y="1397711"/>
              <a:ext cx="447167" cy="44703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213" y="10029825"/>
              <a:ext cx="18284825" cy="257175"/>
            </a:xfrm>
            <a:custGeom>
              <a:avLst/>
              <a:gdLst/>
              <a:ahLst/>
              <a:cxnLst/>
              <a:rect l="l" t="t" r="r" b="b"/>
              <a:pathLst>
                <a:path w="18284825" h="257175">
                  <a:moveTo>
                    <a:pt x="0" y="257175"/>
                  </a:moveTo>
                  <a:lnTo>
                    <a:pt x="0" y="0"/>
                  </a:lnTo>
                  <a:lnTo>
                    <a:pt x="18284786" y="0"/>
                  </a:lnTo>
                  <a:lnTo>
                    <a:pt x="18284786" y="257175"/>
                  </a:lnTo>
                  <a:lnTo>
                    <a:pt x="0" y="25717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11872" y="4669282"/>
              <a:ext cx="349326" cy="55852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490279" y="2731223"/>
            <a:ext cx="614108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/>
              <a:t>你为什么要做</a:t>
            </a:r>
            <a:r>
              <a:rPr dirty="0" sz="6000" spc="-25"/>
              <a:t>IP？</a:t>
            </a:r>
            <a:endParaRPr sz="6000"/>
          </a:p>
        </p:txBody>
      </p:sp>
      <p:sp>
        <p:nvSpPr>
          <p:cNvPr id="8" name="object 8" descr=""/>
          <p:cNvSpPr txBox="1"/>
          <p:nvPr/>
        </p:nvSpPr>
        <p:spPr>
          <a:xfrm>
            <a:off x="2656243" y="4619116"/>
            <a:ext cx="5315585" cy="20046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35">
                <a:solidFill>
                  <a:srgbClr val="343434"/>
                </a:solidFill>
                <a:latin typeface="SimSun"/>
                <a:cs typeface="SimSun"/>
              </a:rPr>
              <a:t>什么是个人</a:t>
            </a:r>
            <a:r>
              <a:rPr dirty="0" sz="4000" spc="-25">
                <a:solidFill>
                  <a:srgbClr val="343434"/>
                </a:solidFill>
                <a:latin typeface="SimSun"/>
                <a:cs typeface="SimSun"/>
              </a:rPr>
              <a:t>IP？</a:t>
            </a:r>
            <a:endParaRPr sz="400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2000"/>
              </a:spcBef>
            </a:pPr>
            <a:endParaRPr sz="40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dirty="0" sz="3050">
                <a:solidFill>
                  <a:srgbClr val="343434"/>
                </a:solidFill>
                <a:latin typeface="SimSun"/>
                <a:cs typeface="SimSun"/>
              </a:rPr>
              <a:t>IP</a:t>
            </a:r>
            <a:r>
              <a:rPr dirty="0" sz="3050" spc="-170">
                <a:solidFill>
                  <a:srgbClr val="343434"/>
                </a:solidFill>
                <a:latin typeface="SimSun"/>
                <a:cs typeface="SimSun"/>
              </a:rPr>
              <a:t> = 影响力 + 变现能力 + 自由</a:t>
            </a:r>
            <a:endParaRPr sz="3050">
              <a:latin typeface="SimSun"/>
              <a:cs typeface="SimSun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707340" y="5578512"/>
            <a:ext cx="3685006" cy="41501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30679" y="1359395"/>
              <a:ext cx="524179" cy="52416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85374" y="1397711"/>
              <a:ext cx="447167" cy="44703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213" y="10029825"/>
              <a:ext cx="18284825" cy="257175"/>
            </a:xfrm>
            <a:custGeom>
              <a:avLst/>
              <a:gdLst/>
              <a:ahLst/>
              <a:cxnLst/>
              <a:rect l="l" t="t" r="r" b="b"/>
              <a:pathLst>
                <a:path w="18284825" h="257175">
                  <a:moveTo>
                    <a:pt x="0" y="257175"/>
                  </a:moveTo>
                  <a:lnTo>
                    <a:pt x="0" y="0"/>
                  </a:lnTo>
                  <a:lnTo>
                    <a:pt x="18284786" y="0"/>
                  </a:lnTo>
                  <a:lnTo>
                    <a:pt x="18284786" y="257175"/>
                  </a:lnTo>
                  <a:lnTo>
                    <a:pt x="0" y="25717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11872" y="4669282"/>
              <a:ext cx="349326" cy="55852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2656243" y="4596751"/>
            <a:ext cx="10240010" cy="1951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229">
                <a:solidFill>
                  <a:srgbClr val="343434"/>
                </a:solidFill>
                <a:latin typeface="SimSun"/>
                <a:cs typeface="SimSun"/>
              </a:rPr>
              <a:t>什么是 </a:t>
            </a:r>
            <a:r>
              <a:rPr dirty="0" sz="4000" spc="254">
                <a:solidFill>
                  <a:srgbClr val="343434"/>
                </a:solidFill>
                <a:latin typeface="SimSun"/>
                <a:cs typeface="SimSun"/>
              </a:rPr>
              <a:t>AIP?</a:t>
            </a:r>
            <a:endParaRPr sz="400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sz="4000">
              <a:latin typeface="SimSun"/>
              <a:cs typeface="SimSun"/>
            </a:endParaRPr>
          </a:p>
          <a:p>
            <a:pPr marL="66040">
              <a:lnSpc>
                <a:spcPct val="100000"/>
              </a:lnSpc>
            </a:pPr>
            <a:r>
              <a:rPr dirty="0" sz="3200" spc="-15">
                <a:solidFill>
                  <a:srgbClr val="343434"/>
                </a:solidFill>
                <a:latin typeface="SimSun"/>
                <a:cs typeface="SimSun"/>
              </a:rPr>
              <a:t>借助人工智能加速影响力的传播，和自媒体账号的打造。</a:t>
            </a:r>
            <a:endParaRPr sz="3200">
              <a:latin typeface="SimSun"/>
              <a:cs typeface="SimSun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10898" y="1028700"/>
            <a:ext cx="4113085" cy="41148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582875" y="2998698"/>
            <a:ext cx="614108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5"/>
              <a:t>你为什么要做</a:t>
            </a:r>
            <a:r>
              <a:rPr dirty="0" sz="6000" spc="-25"/>
              <a:t>IP？</a:t>
            </a:r>
            <a:endParaRPr sz="6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30679" y="1359395"/>
              <a:ext cx="524179" cy="52416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85374" y="1397711"/>
              <a:ext cx="447167" cy="44703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213" y="10029825"/>
              <a:ext cx="18284825" cy="257175"/>
            </a:xfrm>
            <a:custGeom>
              <a:avLst/>
              <a:gdLst/>
              <a:ahLst/>
              <a:cxnLst/>
              <a:rect l="l" t="t" r="r" b="b"/>
              <a:pathLst>
                <a:path w="18284825" h="257175">
                  <a:moveTo>
                    <a:pt x="0" y="257175"/>
                  </a:moveTo>
                  <a:lnTo>
                    <a:pt x="0" y="0"/>
                  </a:lnTo>
                  <a:lnTo>
                    <a:pt x="18284786" y="0"/>
                  </a:lnTo>
                  <a:lnTo>
                    <a:pt x="18284786" y="257175"/>
                  </a:lnTo>
                  <a:lnTo>
                    <a:pt x="0" y="25717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76165" y="5227815"/>
              <a:ext cx="4929771" cy="384520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782011" y="2830055"/>
            <a:ext cx="614108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/>
              <a:t>你为什么要做</a:t>
            </a:r>
            <a:r>
              <a:rPr dirty="0" sz="6000" spc="-25"/>
              <a:t>IP？</a:t>
            </a:r>
            <a:endParaRPr sz="6000"/>
          </a:p>
        </p:txBody>
      </p:sp>
      <p:sp>
        <p:nvSpPr>
          <p:cNvPr id="8" name="object 8" descr=""/>
          <p:cNvSpPr txBox="1"/>
          <p:nvPr/>
        </p:nvSpPr>
        <p:spPr>
          <a:xfrm>
            <a:off x="2801734" y="4850891"/>
            <a:ext cx="7280275" cy="1504950"/>
          </a:xfrm>
          <a:prstGeom prst="rect">
            <a:avLst/>
          </a:prstGeom>
        </p:spPr>
        <p:txBody>
          <a:bodyPr wrap="square" lIns="0" tIns="264160" rIns="0" bIns="0" rtlCol="0" vert="horz">
            <a:spAutoFit/>
          </a:bodyPr>
          <a:lstStyle/>
          <a:p>
            <a:pPr marL="357505" indent="-344805">
              <a:lnSpc>
                <a:spcPct val="100000"/>
              </a:lnSpc>
              <a:spcBef>
                <a:spcPts val="2080"/>
              </a:spcBef>
              <a:buFont typeface="Arial MT"/>
              <a:buChar char="•"/>
              <a:tabLst>
                <a:tab pos="357505" algn="l"/>
              </a:tabLst>
            </a:pPr>
            <a:r>
              <a:rPr dirty="0" sz="3200">
                <a:latin typeface="SimSun"/>
                <a:cs typeface="SimSun"/>
              </a:rPr>
              <a:t>IP</a:t>
            </a:r>
            <a:r>
              <a:rPr dirty="0" sz="3200" spc="-15">
                <a:latin typeface="SimSun"/>
                <a:cs typeface="SimSun"/>
              </a:rPr>
              <a:t>不是一个选择，而是一种能力。</a:t>
            </a:r>
            <a:endParaRPr sz="3200">
              <a:latin typeface="SimSun"/>
              <a:cs typeface="SimSun"/>
            </a:endParaRPr>
          </a:p>
          <a:p>
            <a:pPr marL="357505" indent="-344805">
              <a:lnSpc>
                <a:spcPct val="100000"/>
              </a:lnSpc>
              <a:spcBef>
                <a:spcPts val="1985"/>
              </a:spcBef>
              <a:buFont typeface="Arial MT"/>
              <a:buChar char="•"/>
              <a:tabLst>
                <a:tab pos="357505" algn="l"/>
              </a:tabLst>
            </a:pPr>
            <a:r>
              <a:rPr dirty="0" sz="3200" spc="-10">
                <a:solidFill>
                  <a:srgbClr val="343434"/>
                </a:solidFill>
                <a:latin typeface="SimSun"/>
                <a:cs typeface="SimSun"/>
              </a:rPr>
              <a:t>这个时代最好的安全感，是</a:t>
            </a:r>
            <a:r>
              <a:rPr dirty="0" sz="3200" spc="-10">
                <a:latin typeface="SimSun"/>
                <a:cs typeface="SimSun"/>
              </a:rPr>
              <a:t>被人记住</a:t>
            </a:r>
            <a:r>
              <a:rPr dirty="0" sz="3200" spc="-50">
                <a:solidFill>
                  <a:srgbClr val="343434"/>
                </a:solidFill>
                <a:latin typeface="SimSun"/>
                <a:cs typeface="SimSun"/>
              </a:rPr>
              <a:t>。</a:t>
            </a:r>
            <a:endParaRPr sz="32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85374" y="1397711"/>
              <a:ext cx="447167" cy="44703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3213" y="10029825"/>
              <a:ext cx="18284825" cy="257175"/>
            </a:xfrm>
            <a:custGeom>
              <a:avLst/>
              <a:gdLst/>
              <a:ahLst/>
              <a:cxnLst/>
              <a:rect l="l" t="t" r="r" b="b"/>
              <a:pathLst>
                <a:path w="18284825" h="257175">
                  <a:moveTo>
                    <a:pt x="0" y="257175"/>
                  </a:moveTo>
                  <a:lnTo>
                    <a:pt x="0" y="0"/>
                  </a:lnTo>
                  <a:lnTo>
                    <a:pt x="18284786" y="0"/>
                  </a:lnTo>
                  <a:lnTo>
                    <a:pt x="18284786" y="257175"/>
                  </a:lnTo>
                  <a:lnTo>
                    <a:pt x="0" y="25717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27954" y="414451"/>
              <a:ext cx="5755182" cy="359959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3001683" y="4605579"/>
            <a:ext cx="10617200" cy="2305685"/>
          </a:xfrm>
          <a:prstGeom prst="rect">
            <a:avLst/>
          </a:prstGeom>
        </p:spPr>
        <p:txBody>
          <a:bodyPr wrap="square" lIns="0" tIns="284480" rIns="0" bIns="0" rtlCol="0" vert="horz">
            <a:spAutoFit/>
          </a:bodyPr>
          <a:lstStyle/>
          <a:p>
            <a:pPr marL="356870" indent="-355600">
              <a:lnSpc>
                <a:spcPct val="100000"/>
              </a:lnSpc>
              <a:spcBef>
                <a:spcPts val="2240"/>
              </a:spcBef>
              <a:buSzPct val="84375"/>
              <a:buAutoNum type="arabicPeriod"/>
              <a:tabLst>
                <a:tab pos="356870" algn="l"/>
              </a:tabLst>
            </a:pPr>
            <a:r>
              <a:rPr dirty="0" sz="3200">
                <a:latin typeface="SimSun"/>
                <a:cs typeface="SimSun"/>
              </a:rPr>
              <a:t>IP</a:t>
            </a:r>
            <a:r>
              <a:rPr dirty="0" sz="3200" spc="-15">
                <a:latin typeface="SimSun"/>
                <a:cs typeface="SimSun"/>
              </a:rPr>
              <a:t>成长，不是单一技能，而是综合能力的提升。</a:t>
            </a:r>
            <a:endParaRPr sz="3200">
              <a:latin typeface="SimSun"/>
              <a:cs typeface="SimSun"/>
            </a:endParaRPr>
          </a:p>
          <a:p>
            <a:pPr marL="357505" indent="-355600">
              <a:lnSpc>
                <a:spcPct val="100000"/>
              </a:lnSpc>
              <a:spcBef>
                <a:spcPts val="2145"/>
              </a:spcBef>
              <a:buSzPct val="84375"/>
              <a:buAutoNum type="arabicPeriod"/>
              <a:tabLst>
                <a:tab pos="357505" algn="l"/>
              </a:tabLst>
            </a:pPr>
            <a:r>
              <a:rPr dirty="0" sz="3200" spc="-15">
                <a:latin typeface="SimSun"/>
                <a:cs typeface="SimSun"/>
              </a:rPr>
              <a:t>开始比完美更重要，能提供价值比定位更重要。</a:t>
            </a:r>
            <a:endParaRPr sz="32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2145"/>
              </a:spcBef>
            </a:pPr>
            <a:r>
              <a:rPr dirty="0" sz="3200" spc="-254">
                <a:latin typeface="SimSun"/>
                <a:cs typeface="SimSun"/>
              </a:rPr>
              <a:t>3</a:t>
            </a:r>
            <a:r>
              <a:rPr dirty="0" sz="3200" spc="-90">
                <a:latin typeface="SimSun"/>
                <a:cs typeface="SimSun"/>
              </a:rPr>
              <a:t>.内容的价值 = 解决别人的问题，而不是记录自己的心情。</a:t>
            </a:r>
            <a:endParaRPr sz="3200">
              <a:latin typeface="SimSun"/>
              <a:cs typeface="SimSu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968383" y="2823806"/>
            <a:ext cx="614108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55"/>
              <a:t>IP</a:t>
            </a:r>
            <a:r>
              <a:rPr dirty="0" sz="6000" spc="-10"/>
              <a:t>成长的关键要素</a:t>
            </a:r>
            <a:endParaRPr sz="6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85374" y="1397711"/>
              <a:ext cx="447167" cy="44703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3213" y="10029825"/>
              <a:ext cx="18284825" cy="257175"/>
            </a:xfrm>
            <a:custGeom>
              <a:avLst/>
              <a:gdLst/>
              <a:ahLst/>
              <a:cxnLst/>
              <a:rect l="l" t="t" r="r" b="b"/>
              <a:pathLst>
                <a:path w="18284825" h="257175">
                  <a:moveTo>
                    <a:pt x="0" y="257175"/>
                  </a:moveTo>
                  <a:lnTo>
                    <a:pt x="0" y="0"/>
                  </a:lnTo>
                  <a:lnTo>
                    <a:pt x="18284786" y="0"/>
                  </a:lnTo>
                  <a:lnTo>
                    <a:pt x="18284786" y="257175"/>
                  </a:lnTo>
                  <a:lnTo>
                    <a:pt x="0" y="25717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80097" y="3504666"/>
              <a:ext cx="3452736" cy="3259950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2922574" y="4611205"/>
            <a:ext cx="9728835" cy="2147570"/>
          </a:xfrm>
          <a:prstGeom prst="rect">
            <a:avLst/>
          </a:prstGeom>
        </p:spPr>
        <p:txBody>
          <a:bodyPr wrap="square" lIns="0" tIns="231775" rIns="0" bIns="0" rtlCol="0" vert="horz">
            <a:spAutoFit/>
          </a:bodyPr>
          <a:lstStyle/>
          <a:p>
            <a:pPr marL="356870" indent="-355600">
              <a:lnSpc>
                <a:spcPct val="100000"/>
              </a:lnSpc>
              <a:spcBef>
                <a:spcPts val="1825"/>
              </a:spcBef>
              <a:buSzPct val="84375"/>
              <a:buAutoNum type="arabicPeriod"/>
              <a:tabLst>
                <a:tab pos="356870" algn="l"/>
              </a:tabLst>
            </a:pPr>
            <a:r>
              <a:rPr dirty="0" sz="3200" spc="-15">
                <a:solidFill>
                  <a:srgbClr val="100F0D"/>
                </a:solidFill>
                <a:latin typeface="SimSun"/>
                <a:cs typeface="SimSun"/>
              </a:rPr>
              <a:t>商业化必经之路，不要拒绝，不要拒绝，不要拒绝！</a:t>
            </a:r>
            <a:endParaRPr sz="3200">
              <a:latin typeface="SimSun"/>
              <a:cs typeface="SimSun"/>
            </a:endParaRPr>
          </a:p>
          <a:p>
            <a:pPr marL="357505" indent="-355600">
              <a:lnSpc>
                <a:spcPct val="100000"/>
              </a:lnSpc>
              <a:spcBef>
                <a:spcPts val="1730"/>
              </a:spcBef>
              <a:buSzPct val="84375"/>
              <a:buAutoNum type="arabicPeriod"/>
              <a:tabLst>
                <a:tab pos="357505" algn="l"/>
              </a:tabLst>
            </a:pPr>
            <a:r>
              <a:rPr dirty="0" sz="3200" spc="-15">
                <a:solidFill>
                  <a:srgbClr val="100F0D"/>
                </a:solidFill>
                <a:latin typeface="SimSun"/>
                <a:cs typeface="SimSun"/>
              </a:rPr>
              <a:t>看到趋势果断跟，不要犹豫，不要犹豫，不要犹豫！</a:t>
            </a:r>
            <a:endParaRPr sz="3200">
              <a:latin typeface="SimSun"/>
              <a:cs typeface="SimSun"/>
            </a:endParaRPr>
          </a:p>
          <a:p>
            <a:pPr marL="357505" indent="-355600">
              <a:lnSpc>
                <a:spcPct val="100000"/>
              </a:lnSpc>
              <a:spcBef>
                <a:spcPts val="1730"/>
              </a:spcBef>
              <a:buSzPct val="84375"/>
              <a:buAutoNum type="arabicPeriod"/>
              <a:tabLst>
                <a:tab pos="357505" algn="l"/>
              </a:tabLst>
            </a:pPr>
            <a:r>
              <a:rPr dirty="0" sz="3200">
                <a:solidFill>
                  <a:srgbClr val="100F0D"/>
                </a:solidFill>
                <a:latin typeface="SimSun"/>
                <a:cs typeface="SimSun"/>
              </a:rPr>
              <a:t>IP</a:t>
            </a:r>
            <a:r>
              <a:rPr dirty="0" sz="3200" spc="-15">
                <a:solidFill>
                  <a:srgbClr val="100F0D"/>
                </a:solidFill>
                <a:latin typeface="SimSun"/>
                <a:cs typeface="SimSun"/>
              </a:rPr>
              <a:t>的复利性超强，不要放弃，不要放弃，不要放弃！</a:t>
            </a:r>
            <a:endParaRPr sz="3200">
              <a:latin typeface="SimSun"/>
              <a:cs typeface="SimSu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822473" y="2750781"/>
            <a:ext cx="657479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55"/>
              <a:t>IP</a:t>
            </a:r>
            <a:r>
              <a:rPr dirty="0" sz="6000"/>
              <a:t>路上的</a:t>
            </a:r>
            <a:r>
              <a:rPr dirty="0" sz="6000" spc="390"/>
              <a:t>3</a:t>
            </a:r>
            <a:r>
              <a:rPr dirty="0" sz="6000" spc="-15"/>
              <a:t>个大坑：</a:t>
            </a:r>
            <a:endParaRPr sz="6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85374" y="1397711"/>
              <a:ext cx="447167" cy="44703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3213" y="10029825"/>
              <a:ext cx="18284825" cy="257175"/>
            </a:xfrm>
            <a:custGeom>
              <a:avLst/>
              <a:gdLst/>
              <a:ahLst/>
              <a:cxnLst/>
              <a:rect l="l" t="t" r="r" b="b"/>
              <a:pathLst>
                <a:path w="18284825" h="257175">
                  <a:moveTo>
                    <a:pt x="0" y="257175"/>
                  </a:moveTo>
                  <a:lnTo>
                    <a:pt x="0" y="0"/>
                  </a:lnTo>
                  <a:lnTo>
                    <a:pt x="18284786" y="0"/>
                  </a:lnTo>
                  <a:lnTo>
                    <a:pt x="18284786" y="257175"/>
                  </a:lnTo>
                  <a:lnTo>
                    <a:pt x="0" y="25717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0794" y="4504042"/>
              <a:ext cx="349326" cy="55850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4500" y="2214257"/>
              <a:ext cx="4114800" cy="411480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50"/>
              <a:t>IP</a:t>
            </a:r>
            <a:r>
              <a:rPr dirty="0" spc="-55"/>
              <a:t>成长的三大核心逻辑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2490279" y="4459947"/>
            <a:ext cx="9672320" cy="2821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70560" indent="-669925">
              <a:lnSpc>
                <a:spcPct val="100000"/>
              </a:lnSpc>
              <a:spcBef>
                <a:spcPts val="100"/>
              </a:spcBef>
              <a:buSzPct val="95833"/>
              <a:buAutoNum type="arabicPlain"/>
              <a:tabLst>
                <a:tab pos="670560" algn="l"/>
              </a:tabLst>
            </a:pPr>
            <a:r>
              <a:rPr dirty="0" sz="3600" spc="-5">
                <a:solidFill>
                  <a:srgbClr val="343434"/>
                </a:solidFill>
                <a:latin typeface="SimSun"/>
                <a:cs typeface="SimSun"/>
              </a:rPr>
              <a:t>长期主义：熬过无声的日子</a:t>
            </a:r>
            <a:endParaRPr sz="360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315"/>
              </a:spcBef>
              <a:buClr>
                <a:srgbClr val="343434"/>
              </a:buClr>
              <a:buFont typeface="SimSun"/>
              <a:buAutoNum type="arabicPlain"/>
            </a:pPr>
            <a:endParaRPr sz="3600">
              <a:latin typeface="SimSun"/>
              <a:cs typeface="SimSun"/>
            </a:endParaRPr>
          </a:p>
          <a:p>
            <a:pPr lvl="1" marL="414020" indent="-302260">
              <a:lnSpc>
                <a:spcPct val="100000"/>
              </a:lnSpc>
              <a:buFont typeface="Arial MT"/>
              <a:buChar char="•"/>
              <a:tabLst>
                <a:tab pos="414020" algn="l"/>
              </a:tabLst>
            </a:pPr>
            <a:r>
              <a:rPr dirty="0" sz="2800">
                <a:latin typeface="SimSun"/>
                <a:cs typeface="SimSun"/>
              </a:rPr>
              <a:t>IP</a:t>
            </a:r>
            <a:r>
              <a:rPr dirty="0" sz="2800" spc="-35">
                <a:latin typeface="SimSun"/>
                <a:cs typeface="SimSun"/>
              </a:rPr>
              <a:t>的本质，是时间复利。</a:t>
            </a:r>
            <a:endParaRPr sz="2800">
              <a:latin typeface="SimSun"/>
              <a:cs typeface="SimSun"/>
            </a:endParaRPr>
          </a:p>
          <a:p>
            <a:pPr lvl="1" marL="414020" indent="-302260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414020" algn="l"/>
              </a:tabLst>
            </a:pPr>
            <a:r>
              <a:rPr dirty="0" sz="2800" spc="-35">
                <a:latin typeface="SimSun"/>
                <a:cs typeface="SimSun"/>
              </a:rPr>
              <a:t>真正拉开人与人差距的，不是才华，而是能否忍住沉默期。</a:t>
            </a:r>
            <a:endParaRPr sz="2800">
              <a:latin typeface="SimSun"/>
              <a:cs typeface="SimSun"/>
            </a:endParaRPr>
          </a:p>
          <a:p>
            <a:pPr lvl="1" marL="414020" indent="-302260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414020" algn="l"/>
              </a:tabLst>
            </a:pPr>
            <a:r>
              <a:rPr dirty="0" sz="2800" spc="-35">
                <a:latin typeface="SimSun"/>
                <a:cs typeface="SimSun"/>
              </a:rPr>
              <a:t>你坚持的事情，是否真的在积累价值？</a:t>
            </a:r>
            <a:endParaRPr sz="28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30679" y="1359395"/>
              <a:ext cx="524179" cy="52416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85374" y="1397711"/>
              <a:ext cx="447167" cy="44703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213" y="10029825"/>
              <a:ext cx="18284825" cy="257175"/>
            </a:xfrm>
            <a:custGeom>
              <a:avLst/>
              <a:gdLst/>
              <a:ahLst/>
              <a:cxnLst/>
              <a:rect l="l" t="t" r="r" b="b"/>
              <a:pathLst>
                <a:path w="18284825" h="257175">
                  <a:moveTo>
                    <a:pt x="0" y="257175"/>
                  </a:moveTo>
                  <a:lnTo>
                    <a:pt x="0" y="0"/>
                  </a:lnTo>
                  <a:lnTo>
                    <a:pt x="18284786" y="0"/>
                  </a:lnTo>
                  <a:lnTo>
                    <a:pt x="18284786" y="257175"/>
                  </a:lnTo>
                  <a:lnTo>
                    <a:pt x="0" y="25717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91013" y="4514583"/>
              <a:ext cx="349326" cy="55852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2023" y="6324612"/>
              <a:ext cx="1699768" cy="370521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490279" y="2853448"/>
            <a:ext cx="6645909" cy="81724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50"/>
              <a:t>IP</a:t>
            </a:r>
            <a:r>
              <a:rPr dirty="0" spc="-55"/>
              <a:t>成长的三大核心逻辑</a:t>
            </a:r>
          </a:p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705141" y="599744"/>
            <a:ext cx="3160407" cy="3229013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2490279" y="4471733"/>
            <a:ext cx="10380980" cy="2869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150">
                <a:solidFill>
                  <a:srgbClr val="343434"/>
                </a:solidFill>
                <a:latin typeface="SimSun"/>
                <a:cs typeface="SimSun"/>
              </a:rPr>
              <a:t>2）</a:t>
            </a:r>
            <a:r>
              <a:rPr dirty="0" sz="3600" spc="-5">
                <a:solidFill>
                  <a:srgbClr val="343434"/>
                </a:solidFill>
                <a:latin typeface="SimSun"/>
                <a:cs typeface="SimSun"/>
              </a:rPr>
              <a:t>抱大腿：找对圈子，少走弯路。</a:t>
            </a:r>
            <a:endParaRPr sz="360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700"/>
              </a:spcBef>
            </a:pPr>
            <a:endParaRPr sz="3600">
              <a:latin typeface="SimSun"/>
              <a:cs typeface="SimSun"/>
            </a:endParaRPr>
          </a:p>
          <a:p>
            <a:pPr marL="414020" indent="-302260">
              <a:lnSpc>
                <a:spcPct val="100000"/>
              </a:lnSpc>
              <a:buFont typeface="Arial MT"/>
              <a:buChar char="•"/>
              <a:tabLst>
                <a:tab pos="414020" algn="l"/>
              </a:tabLst>
            </a:pPr>
            <a:r>
              <a:rPr dirty="0" sz="2800" spc="-160">
                <a:latin typeface="SimSun"/>
                <a:cs typeface="SimSun"/>
              </a:rPr>
              <a:t>不要试图“自己摸索”一切，高手的经验可以让你少走很多弯路。</a:t>
            </a:r>
            <a:endParaRPr sz="2800">
              <a:latin typeface="SimSun"/>
              <a:cs typeface="SimSun"/>
            </a:endParaRPr>
          </a:p>
          <a:p>
            <a:pPr marL="414020" indent="-302260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414020" algn="l"/>
              </a:tabLst>
            </a:pPr>
            <a:r>
              <a:rPr dirty="0" sz="2800" spc="-35">
                <a:latin typeface="SimSun"/>
                <a:cs typeface="SimSun"/>
              </a:rPr>
              <a:t>信息差的价值，在于你知道别人不知道的东西。</a:t>
            </a:r>
            <a:endParaRPr sz="2800">
              <a:latin typeface="SimSun"/>
              <a:cs typeface="SimSun"/>
            </a:endParaRPr>
          </a:p>
          <a:p>
            <a:pPr marL="414020" indent="-302260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414020" algn="l"/>
              </a:tabLst>
            </a:pPr>
            <a:r>
              <a:rPr dirty="0" sz="2800" spc="-35">
                <a:latin typeface="SimSun"/>
                <a:cs typeface="SimSun"/>
              </a:rPr>
              <a:t>向高手学习，比盲目努力更重要。</a:t>
            </a:r>
            <a:endParaRPr sz="28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85374" y="1397711"/>
              <a:ext cx="447167" cy="44703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3213" y="10029825"/>
              <a:ext cx="18284825" cy="257175"/>
            </a:xfrm>
            <a:custGeom>
              <a:avLst/>
              <a:gdLst/>
              <a:ahLst/>
              <a:cxnLst/>
              <a:rect l="l" t="t" r="r" b="b"/>
              <a:pathLst>
                <a:path w="18284825" h="257175">
                  <a:moveTo>
                    <a:pt x="0" y="257175"/>
                  </a:moveTo>
                  <a:lnTo>
                    <a:pt x="0" y="0"/>
                  </a:lnTo>
                  <a:lnTo>
                    <a:pt x="18284786" y="0"/>
                  </a:lnTo>
                  <a:lnTo>
                    <a:pt x="18284786" y="257175"/>
                  </a:lnTo>
                  <a:lnTo>
                    <a:pt x="0" y="25717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52389" y="4511522"/>
              <a:ext cx="4153547" cy="4317238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2702864" y="4642282"/>
            <a:ext cx="6884034" cy="2147570"/>
          </a:xfrm>
          <a:prstGeom prst="rect">
            <a:avLst/>
          </a:prstGeom>
        </p:spPr>
        <p:txBody>
          <a:bodyPr wrap="square" lIns="0" tIns="231775" rIns="0" bIns="0" rtlCol="0" vert="horz">
            <a:spAutoFit/>
          </a:bodyPr>
          <a:lstStyle/>
          <a:p>
            <a:pPr marL="357505" indent="-344805">
              <a:lnSpc>
                <a:spcPct val="100000"/>
              </a:lnSpc>
              <a:spcBef>
                <a:spcPts val="1825"/>
              </a:spcBef>
              <a:buFont typeface="Arial MT"/>
              <a:buChar char="•"/>
              <a:tabLst>
                <a:tab pos="357505" algn="l"/>
              </a:tabLst>
            </a:pPr>
            <a:r>
              <a:rPr dirty="0" sz="3200" spc="-15">
                <a:latin typeface="SimSun"/>
                <a:cs typeface="SimSun"/>
              </a:rPr>
              <a:t>加入行业社群，学习最新打法。</a:t>
            </a:r>
            <a:endParaRPr sz="3200">
              <a:latin typeface="SimSun"/>
              <a:cs typeface="SimSun"/>
            </a:endParaRPr>
          </a:p>
          <a:p>
            <a:pPr marL="357505" indent="-34480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357505" algn="l"/>
              </a:tabLst>
            </a:pPr>
            <a:r>
              <a:rPr dirty="0" sz="3200" spc="-10">
                <a:latin typeface="SimSun"/>
                <a:cs typeface="SimSun"/>
              </a:rPr>
              <a:t>找到高手，向他们学习</a:t>
            </a:r>
            <a:r>
              <a:rPr dirty="0" sz="3200">
                <a:latin typeface="SimSun"/>
                <a:cs typeface="SimSun"/>
              </a:rPr>
              <a:t>IP</a:t>
            </a:r>
            <a:r>
              <a:rPr dirty="0" sz="3200" spc="-20">
                <a:latin typeface="SimSun"/>
                <a:cs typeface="SimSun"/>
              </a:rPr>
              <a:t>成长路径。</a:t>
            </a:r>
            <a:endParaRPr sz="3200">
              <a:latin typeface="SimSun"/>
              <a:cs typeface="SimSun"/>
            </a:endParaRPr>
          </a:p>
          <a:p>
            <a:pPr marL="357505" indent="-34480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357505" algn="l"/>
              </a:tabLst>
            </a:pPr>
            <a:r>
              <a:rPr dirty="0" sz="3200" spc="-15">
                <a:latin typeface="SimSun"/>
                <a:cs typeface="SimSun"/>
              </a:rPr>
              <a:t>多贡献价值，建立影响力。</a:t>
            </a:r>
            <a:endParaRPr sz="3200">
              <a:latin typeface="SimSun"/>
              <a:cs typeface="SimSu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685681" y="2971000"/>
            <a:ext cx="4216400" cy="1031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600" spc="-10"/>
              <a:t>行动指南：</a:t>
            </a:r>
            <a:endParaRPr sz="6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85374" y="1397711"/>
              <a:ext cx="447167" cy="44703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3213" y="10029825"/>
              <a:ext cx="18284825" cy="257175"/>
            </a:xfrm>
            <a:custGeom>
              <a:avLst/>
              <a:gdLst/>
              <a:ahLst/>
              <a:cxnLst/>
              <a:rect l="l" t="t" r="r" b="b"/>
              <a:pathLst>
                <a:path w="18284825" h="257175">
                  <a:moveTo>
                    <a:pt x="0" y="257175"/>
                  </a:moveTo>
                  <a:lnTo>
                    <a:pt x="0" y="0"/>
                  </a:lnTo>
                  <a:lnTo>
                    <a:pt x="18284786" y="0"/>
                  </a:lnTo>
                  <a:lnTo>
                    <a:pt x="18284786" y="257175"/>
                  </a:lnTo>
                  <a:lnTo>
                    <a:pt x="0" y="25717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26879" y="4528464"/>
              <a:ext cx="349326" cy="55852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348079" y="1203553"/>
              <a:ext cx="3939921" cy="411479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50"/>
              <a:t>IP</a:t>
            </a:r>
            <a:r>
              <a:rPr dirty="0" spc="-55"/>
              <a:t>成长的三大核心逻辑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2481351" y="4484370"/>
            <a:ext cx="9928225" cy="2831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dirty="0" sz="3600" spc="114">
                <a:solidFill>
                  <a:srgbClr val="343434"/>
                </a:solidFill>
                <a:latin typeface="SimSun"/>
                <a:cs typeface="SimSun"/>
              </a:rPr>
              <a:t>3）</a:t>
            </a:r>
            <a:r>
              <a:rPr dirty="0" sz="3600" spc="-5">
                <a:solidFill>
                  <a:srgbClr val="343434"/>
                </a:solidFill>
                <a:latin typeface="SimSun"/>
                <a:cs typeface="SimSun"/>
              </a:rPr>
              <a:t>选对赛道：努力不如选对方向</a:t>
            </a:r>
            <a:endParaRPr sz="360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sz="3600">
              <a:latin typeface="SimSun"/>
              <a:cs typeface="SimSun"/>
            </a:endParaRPr>
          </a:p>
          <a:p>
            <a:pPr marL="314325" indent="-301625">
              <a:lnSpc>
                <a:spcPct val="100000"/>
              </a:lnSpc>
              <a:buFont typeface="Arial MT"/>
              <a:buChar char="•"/>
              <a:tabLst>
                <a:tab pos="314325" algn="l"/>
              </a:tabLst>
            </a:pPr>
            <a:r>
              <a:rPr dirty="0" sz="2800" spc="-35">
                <a:solidFill>
                  <a:srgbClr val="343434"/>
                </a:solidFill>
                <a:latin typeface="SimSun"/>
                <a:cs typeface="SimSun"/>
              </a:rPr>
              <a:t>赛道决定了你的天花板，有些领域再努力也难以变现。</a:t>
            </a:r>
            <a:endParaRPr sz="2800">
              <a:latin typeface="SimSun"/>
              <a:cs typeface="SimSun"/>
            </a:endParaRPr>
          </a:p>
          <a:p>
            <a:pPr marL="314325" indent="-301625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314325" algn="l"/>
              </a:tabLst>
            </a:pPr>
            <a:r>
              <a:rPr dirty="0" sz="2800" spc="-35">
                <a:solidFill>
                  <a:srgbClr val="343434"/>
                </a:solidFill>
                <a:latin typeface="SimSun"/>
                <a:cs typeface="SimSun"/>
              </a:rPr>
              <a:t>选错方向，越努力越痛苦。</a:t>
            </a:r>
            <a:endParaRPr sz="2800">
              <a:latin typeface="SimSun"/>
              <a:cs typeface="SimSun"/>
            </a:endParaRPr>
          </a:p>
          <a:p>
            <a:pPr marL="314325" indent="-301625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314325" algn="l"/>
              </a:tabLst>
            </a:pPr>
            <a:r>
              <a:rPr dirty="0" sz="2800" spc="-35">
                <a:solidFill>
                  <a:srgbClr val="343434"/>
                </a:solidFill>
                <a:latin typeface="SimSun"/>
                <a:cs typeface="SimSun"/>
              </a:rPr>
              <a:t>能不能变现，不是取决于你写得多好，而是行业的商业逻辑。</a:t>
            </a:r>
            <a:endParaRPr sz="28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0" y="0"/>
              <a:ext cx="18288000" cy="10029825"/>
            </a:xfrm>
            <a:custGeom>
              <a:avLst/>
              <a:gdLst/>
              <a:ahLst/>
              <a:cxnLst/>
              <a:rect l="l" t="t" r="r" b="b"/>
              <a:pathLst>
                <a:path w="18288000" h="10029825">
                  <a:moveTo>
                    <a:pt x="0" y="10029825"/>
                  </a:moveTo>
                  <a:lnTo>
                    <a:pt x="18288000" y="10029825"/>
                  </a:lnTo>
                  <a:lnTo>
                    <a:pt x="18288000" y="0"/>
                  </a:lnTo>
                  <a:lnTo>
                    <a:pt x="0" y="0"/>
                  </a:lnTo>
                  <a:lnTo>
                    <a:pt x="0" y="10029825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6428" y="4349496"/>
              <a:ext cx="10291572" cy="3648455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200" y="6009728"/>
              <a:ext cx="18284825" cy="4277360"/>
            </a:xfrm>
            <a:custGeom>
              <a:avLst/>
              <a:gdLst/>
              <a:ahLst/>
              <a:cxnLst/>
              <a:rect l="l" t="t" r="r" b="b"/>
              <a:pathLst>
                <a:path w="18284825" h="4277359">
                  <a:moveTo>
                    <a:pt x="5601601" y="0"/>
                  </a:moveTo>
                  <a:lnTo>
                    <a:pt x="1387741" y="0"/>
                  </a:lnTo>
                  <a:lnTo>
                    <a:pt x="1387741" y="683463"/>
                  </a:lnTo>
                  <a:lnTo>
                    <a:pt x="5601601" y="683463"/>
                  </a:lnTo>
                  <a:lnTo>
                    <a:pt x="5601601" y="0"/>
                  </a:lnTo>
                  <a:close/>
                </a:path>
                <a:path w="18284825" h="4277359">
                  <a:moveTo>
                    <a:pt x="18284800" y="4020096"/>
                  </a:moveTo>
                  <a:lnTo>
                    <a:pt x="12" y="4020096"/>
                  </a:lnTo>
                  <a:lnTo>
                    <a:pt x="0" y="4277271"/>
                  </a:lnTo>
                  <a:lnTo>
                    <a:pt x="18284800" y="4277271"/>
                  </a:lnTo>
                  <a:lnTo>
                    <a:pt x="18284800" y="4020096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386179" y="6004966"/>
              <a:ext cx="4223385" cy="1876425"/>
            </a:xfrm>
            <a:custGeom>
              <a:avLst/>
              <a:gdLst/>
              <a:ahLst/>
              <a:cxnLst/>
              <a:rect l="l" t="t" r="r" b="b"/>
              <a:pathLst>
                <a:path w="4223385" h="1876425">
                  <a:moveTo>
                    <a:pt x="4218622" y="1184732"/>
                  </a:moveTo>
                  <a:lnTo>
                    <a:pt x="4762" y="1184732"/>
                  </a:lnTo>
                  <a:lnTo>
                    <a:pt x="4762" y="1876107"/>
                  </a:lnTo>
                  <a:lnTo>
                    <a:pt x="4218622" y="1876107"/>
                  </a:lnTo>
                  <a:lnTo>
                    <a:pt x="4218622" y="1184732"/>
                  </a:lnTo>
                  <a:close/>
                </a:path>
                <a:path w="4223385" h="1876425">
                  <a:moveTo>
                    <a:pt x="4223385" y="0"/>
                  </a:moveTo>
                  <a:lnTo>
                    <a:pt x="4213860" y="0"/>
                  </a:lnTo>
                  <a:lnTo>
                    <a:pt x="4213860" y="9525"/>
                  </a:lnTo>
                  <a:lnTo>
                    <a:pt x="4213860" y="683475"/>
                  </a:lnTo>
                  <a:lnTo>
                    <a:pt x="9525" y="683475"/>
                  </a:lnTo>
                  <a:lnTo>
                    <a:pt x="9525" y="9525"/>
                  </a:lnTo>
                  <a:lnTo>
                    <a:pt x="4213860" y="9525"/>
                  </a:lnTo>
                  <a:lnTo>
                    <a:pt x="4213860" y="0"/>
                  </a:lnTo>
                  <a:lnTo>
                    <a:pt x="0" y="0"/>
                  </a:lnTo>
                  <a:lnTo>
                    <a:pt x="0" y="693000"/>
                  </a:lnTo>
                  <a:lnTo>
                    <a:pt x="4223385" y="693000"/>
                  </a:lnTo>
                  <a:lnTo>
                    <a:pt x="4223385" y="688238"/>
                  </a:lnTo>
                  <a:lnTo>
                    <a:pt x="4223385" y="683475"/>
                  </a:lnTo>
                  <a:lnTo>
                    <a:pt x="4223385" y="9525"/>
                  </a:lnTo>
                  <a:lnTo>
                    <a:pt x="4223385" y="4762"/>
                  </a:lnTo>
                  <a:lnTo>
                    <a:pt x="4223385" y="0"/>
                  </a:lnTo>
                  <a:close/>
                </a:path>
              </a:pathLst>
            </a:custGeom>
            <a:solidFill>
              <a:srgbClr val="34343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9664" y="7535392"/>
              <a:ext cx="465137" cy="602119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582508" y="6099670"/>
            <a:ext cx="1804670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-204">
                <a:solidFill>
                  <a:srgbClr val="343434"/>
                </a:solidFill>
                <a:latin typeface="SimSun"/>
                <a:cs typeface="SimSun"/>
              </a:rPr>
              <a:t>b</a:t>
            </a:r>
            <a:r>
              <a:rPr dirty="0" sz="2850" spc="-55">
                <a:solidFill>
                  <a:srgbClr val="343434"/>
                </a:solidFill>
                <a:latin typeface="SimSun"/>
                <a:cs typeface="SimSun"/>
              </a:rPr>
              <a:t>.知识付费</a:t>
            </a:r>
            <a:endParaRPr sz="2850">
              <a:latin typeface="SimSun"/>
              <a:cs typeface="SimSun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390942" y="4826330"/>
            <a:ext cx="4213860" cy="691515"/>
          </a:xfrm>
          <a:custGeom>
            <a:avLst/>
            <a:gdLst/>
            <a:ahLst/>
            <a:cxnLst/>
            <a:rect l="l" t="t" r="r" b="b"/>
            <a:pathLst>
              <a:path w="4213860" h="691514">
                <a:moveTo>
                  <a:pt x="4213859" y="691375"/>
                </a:moveTo>
                <a:lnTo>
                  <a:pt x="0" y="691375"/>
                </a:lnTo>
                <a:lnTo>
                  <a:pt x="0" y="0"/>
                </a:lnTo>
                <a:lnTo>
                  <a:pt x="4213859" y="0"/>
                </a:lnTo>
                <a:lnTo>
                  <a:pt x="4213859" y="691375"/>
                </a:lnTo>
                <a:close/>
              </a:path>
            </a:pathLst>
          </a:custGeom>
          <a:solidFill>
            <a:srgbClr val="3434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390942" y="4826330"/>
            <a:ext cx="4213860" cy="691515"/>
          </a:xfrm>
          <a:prstGeom prst="rect">
            <a:avLst/>
          </a:prstGeom>
        </p:spPr>
        <p:txBody>
          <a:bodyPr wrap="square" lIns="0" tIns="128905" rIns="0" bIns="0" rtlCol="0" vert="horz">
            <a:spAutoFit/>
          </a:bodyPr>
          <a:lstStyle/>
          <a:p>
            <a:pPr marL="203835">
              <a:lnSpc>
                <a:spcPct val="100000"/>
              </a:lnSpc>
              <a:spcBef>
                <a:spcPts val="1015"/>
              </a:spcBef>
            </a:pPr>
            <a:r>
              <a:rPr dirty="0" sz="2850" spc="-315">
                <a:solidFill>
                  <a:srgbClr val="FFFFFF"/>
                </a:solidFill>
                <a:latin typeface="SimSun"/>
                <a:cs typeface="SimSun"/>
              </a:rPr>
              <a:t>a</a:t>
            </a:r>
            <a:r>
              <a:rPr dirty="0" sz="2850" spc="-20">
                <a:solidFill>
                  <a:srgbClr val="FFFFFF"/>
                </a:solidFill>
                <a:latin typeface="SimSun"/>
                <a:cs typeface="SimSun"/>
              </a:rPr>
              <a:t>.个人品牌+</a:t>
            </a:r>
            <a:r>
              <a:rPr dirty="0" sz="2850" spc="254">
                <a:solidFill>
                  <a:srgbClr val="FFFFFF"/>
                </a:solidFill>
                <a:latin typeface="SimSun"/>
                <a:cs typeface="SimSun"/>
              </a:rPr>
              <a:t>AI</a:t>
            </a:r>
            <a:r>
              <a:rPr dirty="0" sz="2850" spc="-25">
                <a:solidFill>
                  <a:srgbClr val="FFFFFF"/>
                </a:solidFill>
                <a:latin typeface="SimSun"/>
                <a:cs typeface="SimSun"/>
              </a:rPr>
              <a:t>工具</a:t>
            </a:r>
            <a:endParaRPr sz="2850">
              <a:latin typeface="SimSun"/>
              <a:cs typeface="SimSun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5139664" y="5172024"/>
            <a:ext cx="10829925" cy="1570355"/>
            <a:chOff x="5139664" y="5172024"/>
            <a:chExt cx="10829925" cy="1570355"/>
          </a:xfrm>
        </p:grpSpPr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9664" y="5172024"/>
              <a:ext cx="465137" cy="60211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77172" y="5841365"/>
              <a:ext cx="691908" cy="900430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1390942" y="7189698"/>
            <a:ext cx="4213860" cy="691515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203835">
              <a:lnSpc>
                <a:spcPct val="100000"/>
              </a:lnSpc>
              <a:spcBef>
                <a:spcPts val="850"/>
              </a:spcBef>
            </a:pPr>
            <a:r>
              <a:rPr dirty="0" sz="2850" spc="-85">
                <a:solidFill>
                  <a:srgbClr val="FFFFFF"/>
                </a:solidFill>
                <a:latin typeface="SimSun"/>
                <a:cs typeface="SimSun"/>
              </a:rPr>
              <a:t>c.AI</a:t>
            </a:r>
            <a:r>
              <a:rPr dirty="0" sz="2850" spc="-15">
                <a:solidFill>
                  <a:srgbClr val="FFFFFF"/>
                </a:solidFill>
                <a:latin typeface="SimSun"/>
                <a:cs typeface="SimSun"/>
              </a:rPr>
              <a:t>内容创业</a:t>
            </a:r>
            <a:endParaRPr sz="2850">
              <a:latin typeface="SimSun"/>
              <a:cs typeface="SimSu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378242" y="1265694"/>
            <a:ext cx="10231755" cy="1031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600" spc="475"/>
              <a:t>AI</a:t>
            </a:r>
            <a:r>
              <a:rPr dirty="0" sz="6600"/>
              <a:t>时代，IP</a:t>
            </a:r>
            <a:r>
              <a:rPr dirty="0" sz="6600" spc="-10"/>
              <a:t>的机会在哪里？</a:t>
            </a:r>
            <a:endParaRPr sz="6600"/>
          </a:p>
        </p:txBody>
      </p:sp>
      <p:sp>
        <p:nvSpPr>
          <p:cNvPr id="16" name="object 16" descr=""/>
          <p:cNvSpPr txBox="1"/>
          <p:nvPr/>
        </p:nvSpPr>
        <p:spPr>
          <a:xfrm>
            <a:off x="1378242" y="2498484"/>
            <a:ext cx="7337425" cy="17437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48400"/>
              </a:lnSpc>
              <a:spcBef>
                <a:spcPts val="95"/>
              </a:spcBef>
            </a:pPr>
            <a:r>
              <a:rPr dirty="0" sz="3800" spc="270">
                <a:solidFill>
                  <a:srgbClr val="343434"/>
                </a:solidFill>
                <a:latin typeface="SimSun"/>
                <a:cs typeface="SimSun"/>
              </a:rPr>
              <a:t>AI</a:t>
            </a:r>
            <a:r>
              <a:rPr dirty="0" sz="3800" spc="-15">
                <a:solidFill>
                  <a:srgbClr val="343434"/>
                </a:solidFill>
                <a:latin typeface="SimSun"/>
                <a:cs typeface="SimSun"/>
              </a:rPr>
              <a:t>不是你的对手，而是你的杠杆。</a:t>
            </a:r>
            <a:r>
              <a:rPr dirty="0" sz="3800" spc="-50">
                <a:solidFill>
                  <a:srgbClr val="343434"/>
                </a:solidFill>
                <a:latin typeface="SimSun"/>
                <a:cs typeface="SimSun"/>
              </a:rPr>
              <a:t> </a:t>
            </a:r>
            <a:r>
              <a:rPr dirty="0" sz="3800" spc="204">
                <a:solidFill>
                  <a:srgbClr val="343434"/>
                </a:solidFill>
                <a:latin typeface="SimSun"/>
                <a:cs typeface="SimSun"/>
              </a:rPr>
              <a:t>AI+IP</a:t>
            </a:r>
            <a:r>
              <a:rPr dirty="0" sz="3800" spc="-20">
                <a:solidFill>
                  <a:srgbClr val="343434"/>
                </a:solidFill>
                <a:latin typeface="SimSun"/>
                <a:cs typeface="SimSun"/>
              </a:rPr>
              <a:t>的三大变现路径：</a:t>
            </a:r>
            <a:endParaRPr sz="38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85374" y="1397711"/>
              <a:ext cx="447167" cy="44703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3213" y="10029825"/>
              <a:ext cx="18284825" cy="257175"/>
            </a:xfrm>
            <a:custGeom>
              <a:avLst/>
              <a:gdLst/>
              <a:ahLst/>
              <a:cxnLst/>
              <a:rect l="l" t="t" r="r" b="b"/>
              <a:pathLst>
                <a:path w="18284825" h="257175">
                  <a:moveTo>
                    <a:pt x="0" y="257175"/>
                  </a:moveTo>
                  <a:lnTo>
                    <a:pt x="0" y="0"/>
                  </a:lnTo>
                  <a:lnTo>
                    <a:pt x="18284786" y="0"/>
                  </a:lnTo>
                  <a:lnTo>
                    <a:pt x="18284786" y="257175"/>
                  </a:lnTo>
                  <a:lnTo>
                    <a:pt x="0" y="25717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2702864" y="4642282"/>
            <a:ext cx="6467475" cy="2147570"/>
          </a:xfrm>
          <a:prstGeom prst="rect">
            <a:avLst/>
          </a:prstGeom>
        </p:spPr>
        <p:txBody>
          <a:bodyPr wrap="square" lIns="0" tIns="231775" rIns="0" bIns="0" rtlCol="0" vert="horz">
            <a:spAutoFit/>
          </a:bodyPr>
          <a:lstStyle/>
          <a:p>
            <a:pPr marL="357505" indent="-344805">
              <a:lnSpc>
                <a:spcPct val="100000"/>
              </a:lnSpc>
              <a:spcBef>
                <a:spcPts val="1825"/>
              </a:spcBef>
              <a:buFont typeface="Arial MT"/>
              <a:buChar char="•"/>
              <a:tabLst>
                <a:tab pos="357505" algn="l"/>
              </a:tabLst>
            </a:pPr>
            <a:r>
              <a:rPr dirty="0" sz="3200">
                <a:solidFill>
                  <a:srgbClr val="100F0D"/>
                </a:solidFill>
                <a:latin typeface="SimSun"/>
                <a:cs typeface="SimSun"/>
              </a:rPr>
              <a:t>IP</a:t>
            </a:r>
            <a:r>
              <a:rPr dirty="0" sz="3200" spc="10">
                <a:solidFill>
                  <a:srgbClr val="100F0D"/>
                </a:solidFill>
                <a:latin typeface="SimSun"/>
                <a:cs typeface="SimSun"/>
              </a:rPr>
              <a:t>让你成为灯塔，</a:t>
            </a:r>
            <a:r>
              <a:rPr dirty="0" sz="3200" spc="145">
                <a:solidFill>
                  <a:srgbClr val="100F0D"/>
                </a:solidFill>
                <a:latin typeface="SimSun"/>
                <a:cs typeface="SimSun"/>
              </a:rPr>
              <a:t>AI</a:t>
            </a:r>
            <a:r>
              <a:rPr dirty="0" sz="3200" spc="-20">
                <a:solidFill>
                  <a:srgbClr val="100F0D"/>
                </a:solidFill>
                <a:latin typeface="SimSun"/>
                <a:cs typeface="SimSun"/>
              </a:rPr>
              <a:t>让你加速。</a:t>
            </a:r>
            <a:endParaRPr sz="3200">
              <a:latin typeface="SimSun"/>
              <a:cs typeface="SimSun"/>
            </a:endParaRPr>
          </a:p>
          <a:p>
            <a:pPr marL="357505" indent="-34480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357505" algn="l"/>
              </a:tabLst>
            </a:pPr>
            <a:r>
              <a:rPr dirty="0" sz="3200" spc="-15">
                <a:solidFill>
                  <a:srgbClr val="100F0D"/>
                </a:solidFill>
                <a:latin typeface="SimSun"/>
                <a:cs typeface="SimSun"/>
              </a:rPr>
              <a:t>长期主义，找到大腿，选对赛道。</a:t>
            </a:r>
            <a:endParaRPr sz="3200">
              <a:latin typeface="SimSun"/>
              <a:cs typeface="SimSun"/>
            </a:endParaRPr>
          </a:p>
          <a:p>
            <a:pPr marL="357505" indent="-344805">
              <a:lnSpc>
                <a:spcPct val="100000"/>
              </a:lnSpc>
              <a:spcBef>
                <a:spcPts val="1730"/>
              </a:spcBef>
              <a:buFont typeface="Arial MT"/>
              <a:buChar char="•"/>
              <a:tabLst>
                <a:tab pos="357505" algn="l"/>
              </a:tabLst>
            </a:pPr>
            <a:r>
              <a:rPr dirty="0" sz="3200" spc="-15">
                <a:solidFill>
                  <a:srgbClr val="100F0D"/>
                </a:solidFill>
                <a:latin typeface="SimSun"/>
                <a:cs typeface="SimSun"/>
              </a:rPr>
              <a:t>愿你在风起之前，已学会飞翔。</a:t>
            </a:r>
            <a:endParaRPr sz="3200">
              <a:latin typeface="SimSun"/>
              <a:cs typeface="SimSu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71724" y="3020212"/>
            <a:ext cx="842708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55"/>
              <a:t>IP</a:t>
            </a:r>
            <a:r>
              <a:rPr dirty="0" sz="6000" spc="-5"/>
              <a:t>的本质，是积累势能。</a:t>
            </a:r>
            <a:endParaRPr sz="6000"/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67080" y="4014622"/>
            <a:ext cx="2818980" cy="48394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37208" y="5638304"/>
            <a:ext cx="2513330" cy="718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50">
                <a:solidFill>
                  <a:srgbClr val="343434"/>
                </a:solidFill>
                <a:latin typeface="SimSun"/>
                <a:cs typeface="SimSun"/>
              </a:rPr>
              <a:t>作者</a:t>
            </a:r>
            <a:r>
              <a:rPr dirty="0" sz="4550" spc="-3190">
                <a:solidFill>
                  <a:srgbClr val="343434"/>
                </a:solidFill>
                <a:latin typeface="SimSun"/>
                <a:cs typeface="SimSun"/>
              </a:rPr>
              <a:t>·</a:t>
            </a:r>
            <a:r>
              <a:rPr dirty="0" sz="4550" spc="-25">
                <a:solidFill>
                  <a:srgbClr val="343434"/>
                </a:solidFill>
                <a:latin typeface="SimSun"/>
                <a:cs typeface="SimSun"/>
              </a:rPr>
              <a:t>皮特</a:t>
            </a:r>
            <a:endParaRPr sz="4550">
              <a:latin typeface="SimSun"/>
              <a:cs typeface="SimSun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653902" y="2539961"/>
            <a:ext cx="12691745" cy="7717790"/>
            <a:chOff x="4653902" y="2539961"/>
            <a:chExt cx="12691745" cy="771779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15039" y="2539961"/>
              <a:ext cx="6130480" cy="671833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19292" y="3431857"/>
              <a:ext cx="2656281" cy="146646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53902" y="9834104"/>
              <a:ext cx="8980195" cy="42335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250" spc="-114"/>
              <a:t>感谢您的观看</a:t>
            </a:r>
            <a:endParaRPr sz="11250"/>
          </a:p>
        </p:txBody>
      </p:sp>
      <p:sp>
        <p:nvSpPr>
          <p:cNvPr id="8" name="object 8" descr=""/>
          <p:cNvSpPr txBox="1"/>
          <p:nvPr/>
        </p:nvSpPr>
        <p:spPr>
          <a:xfrm>
            <a:off x="12334582" y="3407422"/>
            <a:ext cx="1585595" cy="1366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685" marR="5080" indent="-6985">
              <a:lnSpc>
                <a:spcPct val="108600"/>
              </a:lnSpc>
              <a:spcBef>
                <a:spcPts val="100"/>
              </a:spcBef>
            </a:pPr>
            <a:r>
              <a:rPr dirty="0" sz="4050">
                <a:solidFill>
                  <a:srgbClr val="343434"/>
                </a:solidFill>
                <a:latin typeface="SimSun"/>
                <a:cs typeface="SimSun"/>
              </a:rPr>
              <a:t>IP</a:t>
            </a:r>
            <a:r>
              <a:rPr dirty="0" sz="4050" spc="-25">
                <a:solidFill>
                  <a:srgbClr val="343434"/>
                </a:solidFill>
                <a:latin typeface="SimSun"/>
                <a:cs typeface="SimSun"/>
              </a:rPr>
              <a:t>打造</a:t>
            </a:r>
            <a:r>
              <a:rPr dirty="0" sz="4050" spc="-20">
                <a:solidFill>
                  <a:srgbClr val="343434"/>
                </a:solidFill>
                <a:latin typeface="SimSun"/>
                <a:cs typeface="SimSun"/>
              </a:rPr>
              <a:t>全流程</a:t>
            </a:r>
            <a:endParaRPr sz="405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Company/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description/>
  <dcterms:created xsi:type="dcterms:W3CDTF">2025-03-17T07:23:07Z</dcterms:created>
  <dcterms:modified xsi:type="dcterms:W3CDTF">2025-03-17T07:23:07Z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2025-03-16T00:00:00Z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2025-03-17T00:00:00Z</vt:filetime>
  </property>
  <property fmtid="{D5CDD505-2E9C-101B-9397-08002B2CF9AE}" pid="5" name="SourceModified">
    <vt:lpwstr>D:20250316233011+08'00'</vt:lpwstr>
  </property>
</Properties>
</file>