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大家好，欢迎来到第六课！上节课我们了解了工作流的概念，今天，我们将亲手搭建第一个AI工作流——职业照生成工作流。通过这个案例，大家将第一次完整地看到一个工作流是如何从无到有被搭建起来的。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程有三个目标：首先，大家将完整地看到我是如何搭建一个工作流的；其次，希望大家能理解工作流最基本的“输入-处理-输出”结构；最后，要让大家明白，工作流其实很简单，就是把一个个步骤组合起来而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为什么要做职业照生成的工作流呢？因为在生活中，我们经常需要用到各种正式的照片，比如求职简历、社交头像或者证件照。如果每次都手动去制作，会非常麻烦。而工作流可以帮我们把这些步骤自动化，一键搞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这个工作流的基本流程非常清晰。首先，我们上传一张自己的照片作为输入。然后，AI会自动完成抠图、换背景、调整风格这三个处理步骤。最后，我们就能得到一张精美的职业照作为输出。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第一步，输入内容。我们需要在工作流的开始，上传一张自己的照片。这里要注意，输入照片的质量很重要，清晰、正面的照片能让最终效果更好。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第二步，处理节点。这是工作流的核心部分。AI会依次完成抠图、换背景和调整风格这三个步骤。大家看，AI首先把人物从背景中抠出来，然后换上专业的背景，最后再调整一下整体的风格和色调。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第三步，输出结果。经过前面的处理，我们最终得到了一张精美的职业照。我们可以选择不同的格式和尺寸来下载它，非常方便。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现在轮到大家思考了！如果我们想生成不同风格的职业照，比如校园风、主持人风，我们应该怎么告诉AI呢？请大家分组讨论一下，如何修改我们的输入条件？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这个工作流还可以变得更强大！我们来玩个接龙游戏，大家想想，这个工作流还可以增加哪些功能？比如，能不能自动调整照片尺寸？能不能生成不同底色的证件照？谁有好主意？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今天的课程就到这里。我们一起搭建了第一个工作流，理解了“输入-处理-输出”的基本结构。大家要记住，工作流就是步骤的组合，我们可以通过调整输入来改变输出。下节课，我们将学习第二个搭建案例，感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jpe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jpe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notesSlides/notesSlide9.xml" Type="http://schemas.openxmlformats.org/officeDocument/2006/relationships/notesSlid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png" Type="http://schemas.openxmlformats.org/officeDocument/2006/relationships/image"/><Relationship Id="rId2" Target="../media/image1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svg" Type="http://schemas.openxmlformats.org/officeDocument/2006/relationships/image"/><Relationship Id="rId7" Target="../media/image58.png" Type="http://schemas.openxmlformats.org/officeDocument/2006/relationships/image"/><Relationship Id="rId8" Target="../media/image59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第6课：搭建型案例一：职业照生成工作流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亲手搭建你的第一个AI自动化流程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完整观摩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让同学们第一次完整地看到一个工作流是怎样被一步步搭建起来的。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建立结构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帮助大家建立“输入-处理-输出”的基本工作流结构意识。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0A192F">
              <a:alpha val="7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破除魔法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619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让大家理解工作流并非神秘的魔法，而是清晰的步骤设计和组合。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为什么需要职业照生成工作流？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30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高频应用场景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311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求职简历、社交媒体头像、证件办理等场景均有刚性需求，使用频率高。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115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2639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传统制作痛点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6449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手动拍摄、修图、抠图换背景等步骤繁琐，耗时费力，非专业用户难以操作。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597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AI工作流优势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9784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全流程自动化处理，一键生成合规职业照，大幅降低时间成本，提升效率。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0" y="2032000"/>
            <a:ext cx="381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239000" y="2171700"/>
            <a:ext cx="3556000" cy="2000250"/>
          </a:xfrm>
          <a:prstGeom prst="roundRect">
            <a:avLst>
              <a:gd name="adj" fmla="val 317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444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职业照应用场景示例：简历/头像/证件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704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职业照生成工作流的基本流程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1981200" cy="2540000"/>
          </a:xfrm>
          <a:prstGeom prst="roundRect">
            <a:avLst>
              <a:gd name="adj" fmla="val 641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98600" y="2540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636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输入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" y="3683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上传一张你的原始照片作为素材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33700" y="2286000"/>
            <a:ext cx="1981200" cy="2540000"/>
          </a:xfrm>
          <a:prstGeom prst="roundRect">
            <a:avLst>
              <a:gd name="adj" fmla="val 641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70300" y="2540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0353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抠图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35300" y="3683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AI自动识别并精准抠出人物主体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105400" y="2286000"/>
            <a:ext cx="1981200" cy="2540000"/>
          </a:xfrm>
          <a:prstGeom prst="roundRect">
            <a:avLst>
              <a:gd name="adj" fmla="val 641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842000" y="25400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070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换背景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07000" y="3683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将人物主体智能融合到预设职业背景中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277100" y="2286000"/>
            <a:ext cx="1981200" cy="2540000"/>
          </a:xfrm>
          <a:prstGeom prst="roundRect">
            <a:avLst>
              <a:gd name="adj" fmla="val 641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013700" y="25400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3787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调风格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78700" y="3683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根据需求调整商务、校园等不同风格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448800" y="2286000"/>
            <a:ext cx="1981200" cy="2540000"/>
          </a:xfrm>
          <a:prstGeom prst="roundRect">
            <a:avLst>
              <a:gd name="adj" fmla="val 641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85400" y="2540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550400" y="3175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输出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50400" y="3683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生成并下载高清的最终职业照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第一步：输入内容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20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操作步骤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在工作流的起始节点，我们需要上传一张原始照片作为输入。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5179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C107"/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0005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输入照片的质量（如清晰度、光线、背景）会直接影响最终生成的效果。因此，尽量选择一张清晰、正面的照片。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604000" y="2032000"/>
            <a:ext cx="4064000" cy="2286000"/>
          </a:xfrm>
          <a:prstGeom prst="roundRect">
            <a:avLst>
              <a:gd name="adj" fmla="val 5555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6604000" y="444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上传界面示意图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第二步：处理节点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36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159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AI抠图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自动识别照片中的人物轮廓，精准分离主体与背景。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79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302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更换背景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将抠出的主体放置到预设的商务、校园等专业背景中。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180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22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445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调整风格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智能优化照片色调与光影，适配不同场景的职业风格。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0" y="2032000"/>
            <a:ext cx="4064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73" r="73" t="0" b="0"/>
          <a:stretch>
            <a:fillRect/>
          </a:stretch>
        </p:blipFill>
        <p:spPr>
          <a:xfrm rot="0" flipH="false" flipV="false">
            <a:off x="7239000" y="2159000"/>
            <a:ext cx="3810000" cy="2146300"/>
          </a:xfrm>
          <a:prstGeom prst="roundRect">
            <a:avLst>
              <a:gd name="adj" fmla="val 2958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112000" y="457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处理全流程示意图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第三步：输出结果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349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最终效果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730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经过一系列智能处理后，工作流将自动输出一张符合职业规范与审美要求的高清职业照。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683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873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输出选项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4254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支持自定义选择输出格式（JPG/PNG）及常用证件照尺寸（一寸/二寸等），灵活适配不同场景。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2159000"/>
            <a:ext cx="457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65" b="65"/>
          <a:stretch>
            <a:fillRect/>
          </a:stretch>
        </p:blipFill>
        <p:spPr>
          <a:xfrm rot="0" flipH="false" flipV="false">
            <a:off x="6731000" y="2336800"/>
            <a:ext cx="4318000" cy="2425700"/>
          </a:xfrm>
          <a:prstGeom prst="roundRect">
            <a:avLst>
              <a:gd name="adj" fmla="val 523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604000" y="5080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最终生成的职业照效果预览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互动环节：修改输入条件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892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59000"/>
            <a:ext cx="927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互动思考：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如果我们想要生成不同风格的职业照，比如“校园风”、“主持人风”或者“未来职业风”，我们应该如何修改输入条件呢？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2672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3937000"/>
            <a:ext cx="927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引导方向：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需要在输入中明确指定风格要求。例如在上传照片时，附加文字说明：“生成一张校园风的职业照”，通过精准的指令词控制输出效果。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603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互动环节：补充工作流条件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7BFF">
              <a:alpha val="15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28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778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互动任务：</a:t>
            </a: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用口头接龙的方式，让同学们补充这个工作流还可以增加哪些条件或步骤。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9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示例方向参考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0165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068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34544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调整照片尺寸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自动适配一寸、二寸等标准规格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3302000"/>
            <a:ext cx="50165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67500" y="36068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302500" y="34544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添加水印/Logo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保护版权或增加公司标识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572000"/>
            <a:ext cx="50165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8768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47244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生成不同底色证件照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一键切换红底、白底、蓝底背景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4572000"/>
            <a:ext cx="50165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67500" y="4876800"/>
            <a:ext cx="457200" cy="457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302500" y="47244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人像自动美化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智能磨皮、瘦脸、调整肤色等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2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305300" y="508000"/>
            <a:ext cx="3581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课程总结与致谢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1905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254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984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工作流的基本结构遵循“输入-处理-输出”的闭环逻辑。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1905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254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设计逻辑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984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工作流的搭建本质上是对任务步骤的清晰拆解与有序组合。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1905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255000" y="254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灵活调整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2984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通过修改输入条件，可以轻松改变工作流的输出结果，适配不同目标。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445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下节课我们将学习第二个搭建案例，敬请期待！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