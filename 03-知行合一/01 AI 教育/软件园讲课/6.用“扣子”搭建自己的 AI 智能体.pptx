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01.svg" ContentType="image/svg+xml"/>
  <Override PartName="/ppt/media/image103.svg" ContentType="image/svg+xml"/>
  <Override PartName="/ppt/media/image112.svg" ContentType="image/svg+xml"/>
  <Override PartName="/ppt/media/image114.svg" ContentType="image/svg+xml"/>
  <Override PartName="/ppt/media/image116.svg" ContentType="image/svg+xml"/>
  <Override PartName="/ppt/media/image118.svg" ContentType="image/svg+xml"/>
  <Override PartName="/ppt/media/image12.svg" ContentType="image/svg+xml"/>
  <Override PartName="/ppt/media/image120.svg" ContentType="image/svg+xml"/>
  <Override PartName="/ppt/media/image122.svg" ContentType="image/svg+xml"/>
  <Override PartName="/ppt/media/image124.svg" ContentType="image/svg+xml"/>
  <Override PartName="/ppt/media/image126.svg" ContentType="image/svg+xml"/>
  <Override PartName="/ppt/media/image128.svg" ContentType="image/svg+xml"/>
  <Override PartName="/ppt/media/image130.svg" ContentType="image/svg+xml"/>
  <Override PartName="/ppt/media/image132.svg" ContentType="image/svg+xml"/>
  <Override PartName="/ppt/media/image134.svg" ContentType="image/svg+xml"/>
  <Override PartName="/ppt/media/image136.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3.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svg" ContentType="image/svg+xml"/>
  <Override PartName="/ppt/media/image61.svg" ContentType="image/svg+xml"/>
  <Override PartName="/ppt/media/image63.svg" ContentType="image/svg+xml"/>
  <Override PartName="/ppt/media/image65.svg" ContentType="image/svg+xml"/>
  <Override PartName="/ppt/media/image67.svg" ContentType="image/svg+xml"/>
  <Override PartName="/ppt/media/image69.svg" ContentType="image/svg+xml"/>
  <Override PartName="/ppt/media/image72.svg" ContentType="image/svg+xml"/>
  <Override PartName="/ppt/media/image74.svg" ContentType="image/svg+xml"/>
  <Override PartName="/ppt/media/image76.svg" ContentType="image/svg+xml"/>
  <Override PartName="/ppt/media/image78.svg" ContentType="image/svg+xml"/>
  <Override PartName="/ppt/media/image8.svg" ContentType="image/svg+xml"/>
  <Override PartName="/ppt/media/image80.svg" ContentType="image/svg+xml"/>
  <Override PartName="/ppt/media/image82.svg" ContentType="image/svg+xml"/>
  <Override PartName="/ppt/media/image84.svg" ContentType="image/svg+xml"/>
  <Override PartName="/ppt/media/image86.svg" ContentType="image/svg+xml"/>
  <Override PartName="/ppt/media/image88.svg" ContentType="image/svg+xml"/>
  <Override PartName="/ppt/media/image90.svg" ContentType="image/svg+xml"/>
  <Override PartName="/ppt/media/image92.svg" ContentType="image/svg+xml"/>
  <Override PartName="/ppt/media/image95.svg" ContentType="image/svg+xml"/>
  <Override PartName="/ppt/media/image97.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5" r:id="rId23"/>
    <p:sldId id="276" r:id="rId24"/>
    <p:sldId id="277" r:id="rId25"/>
    <p:sldId id="278" r:id="rId26"/>
  </p:sldIdLst>
  <p:sldSz cx="12192000" cy="6858000"/>
  <p:notesSz cx="6858000" cy="9144000"/>
  <p:custDataLst>
    <p:tags r:id="rId30"/>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0" Type="http://schemas.openxmlformats.org/officeDocument/2006/relationships/tags" Target="tags/tag1.xml"/><Relationship Id="rId3" Type="http://schemas.openxmlformats.org/officeDocument/2006/relationships/slideMaster" Target="slideMasters/slideMaster2.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来到今天的信息技术社团课。今天，我们将一起探索一个非常酷的主题——用“扣子”这个神奇的平台，亲手搭建一个属于我们自己的AI智能体。想象一下，拥有一个能听懂你说话、帮你解决问题的AI小助手，是不是很有趣？接下来的时间里，我将带领大家一步步实现这个想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在开始之前，我想先问问大家，提到AI，你首先想到的是什么？是手机里的语音助手，还是能陪你聊天的机器人？请大家和同桌交流30秒，分享一下你用过的AI产品，以及你最想让AI帮你做什么事情。</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大家说得都很好！今天我们要学习的“智能体”，就是一种更强大的AI。</a:t>
            </a:r>
            <a:endParaRPr lang="en-US" sz="1400" b="0" i="0" u="none" strike="noStrike">
              <a:solidFill>
                <a:srgbClr val="000000"/>
              </a:solidFill>
            </a:endParaRPr>
          </a:p>
          <a:p>
            <a:pPr indent="0" algn="l">
              <a:lnSpc>
                <a:spcPct val="100000"/>
              </a:lnSpc>
            </a:pPr>
            <a:r>
              <a:rPr lang="en-US" sz="1400" b="0" i="0" u="none" strike="noStrike">
                <a:solidFill>
                  <a:srgbClr val="000000"/>
                </a:solidFill>
              </a:rPr>
              <a:t>简单来说，一个智能体就像一个拥有大脑、嘴巴和手的小助手：它能“听”懂你的指令，能“想”出解决办法，还能“做”具体的事情。</a:t>
            </a:r>
            <a:endParaRPr lang="en-US" sz="1400" b="0" i="0" u="none" strike="noStrike">
              <a:solidFill>
                <a:srgbClr val="000000"/>
              </a:solidFill>
            </a:endParaRPr>
          </a:p>
          <a:p>
            <a:pPr indent="0" algn="l">
              <a:lnSpc>
                <a:spcPct val="100000"/>
              </a:lnSpc>
            </a:pPr>
            <a:r>
              <a:rPr lang="en-US" sz="1400" b="0" i="0" u="none" strike="noStrike">
                <a:solidFill>
                  <a:srgbClr val="000000"/>
                </a:solidFill>
              </a:rPr>
              <a:t>它就像你的私人小秘书，非常能干！</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智能体和我们平时聊天的机器人有什么不一样呢？最大的区别在于，普通机器人就像金鱼，只有七秒记忆，每次对话都是独立的。而智能体拥有“记忆”，能记住你们之前的聊天内容，还能主动帮你做事，甚至调用各种工具来完成任务，比如帮你搜索资料、画画等等。</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要搭建智能体，我们需要一个平台，它的名字叫“扣子”。</a:t>
            </a:r>
            <a:endParaRPr lang="en-US" sz="1400" b="0" i="0" u="none" strike="noStrike">
              <a:solidFill>
                <a:srgbClr val="000000"/>
              </a:solidFill>
            </a:endParaRPr>
          </a:p>
          <a:p>
            <a:pPr indent="0" algn="l">
              <a:lnSpc>
                <a:spcPct val="100000"/>
              </a:lnSpc>
            </a:pPr>
            <a:r>
              <a:rPr lang="en-US" sz="1400" b="0" i="0" u="none" strike="noStrike">
                <a:solidFill>
                  <a:srgbClr val="000000"/>
                </a:solidFill>
              </a:rPr>
              <a:t>大家可以把它想象成一个乐高工厂，我们不需要自己生产积木，只需要像搭积木一样，把各种功能模块组合起来，就能创造出属于自己的智能体。</a:t>
            </a:r>
            <a:endParaRPr lang="en-US" sz="1400" b="0" i="0" u="none" strike="noStrike">
              <a:solidFill>
                <a:srgbClr val="000000"/>
              </a:solidFill>
            </a:endParaRPr>
          </a:p>
          <a:p>
            <a:pPr indent="0" algn="l">
              <a:lnSpc>
                <a:spcPct val="100000"/>
              </a:lnSpc>
            </a:pPr>
            <a:r>
              <a:rPr lang="en-US" sz="1400" b="0" i="0" u="none" strike="noStrike">
                <a:solidFill>
                  <a:srgbClr val="000000"/>
                </a:solidFill>
              </a:rPr>
              <a:t>而且，这个平台非常友好，不需要写复杂的代码，我们用鼠标点一点就能完成。它内置了60多种插件，无论是搜索信息、识别图片还是解析文档，都能一键启用。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我们初中生能用扣子做出哪些有趣的智能体呢？这里有几个例子：比如一个能帮你报听写的单词助手，一个能根据你的错题自动出题的老师，一个能批改你作文的小帮手，还有一个能帮你规划学习时间的管家。这些听起来是不是很棒？而且，这些都不需要复杂的编程，只要你愿意动手，就能实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要开始我们的创作，首先需要访问扣子平台。大家可以在浏览器中输入网址coze.cn，然后用手机号注册一个账号。如果学校有统一的账号，那就更方便了。请大家确保已经完成了注册和登录。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登录后，我们会看到扣子的主界面。这里主要分为五个部分：左上角是创建智能体的按钮；中间是我们给智能体设定角色和能力的地方；左边是插件库，可以给智能体添加各种技能；下方是知识库，可以上传资料让智能体学习；右边是预览窗口，我们可以在这里测试智能体的效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创建一个智能体非常简单，总共分为四步：第一步，给它起个名字；第二步，告诉它扮演什么角色、拥有什么能力；第三步，在预览窗口测试它，看看效果怎么样；最后一步，如果一切满意，就可以发布它，让你的朋友们也能使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接下来，我们就动手实践，一起搭建一个名为“解忧小树洞”的智能体。它的目标是成为我们的知心朋友，能够倾听我们的烦恼，解答学习和生活中的困惑，并且能根据我们的情绪做出不同的回应。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第一步，我们点击左上角的“创建智能体”按钮，然后给它起个名字，就叫“解忧小树洞”。接着，在功能介绍里简单描述一下它的作用，让别人知道它是做什么的。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第二步是最核心的一步，编写“提示词”。提示词就像是给智能体的说明书，告诉它应该扮演什么角色，拥有什么技能，有什么不能做的，以及最终的目标是什么。</a:t>
            </a:r>
            <a:endParaRPr lang="en-US" sz="1400" b="0" i="0" u="none" strike="noStrike">
              <a:solidFill>
                <a:srgbClr val="000000"/>
              </a:solidFill>
            </a:endParaRPr>
          </a:p>
          <a:p>
            <a:pPr indent="0" algn="l">
              <a:lnSpc>
                <a:spcPct val="100000"/>
              </a:lnSpc>
            </a:pPr>
            <a:r>
              <a:rPr lang="en-US" sz="1400" b="0" i="0" u="none" strike="noStrike">
                <a:solidFill>
                  <a:srgbClr val="000000"/>
                </a:solidFill>
              </a:rPr>
              <a:t>大家可以参考这个通用的公式：角色 + 技能 + 限制 + 目标。</a:t>
            </a:r>
            <a:endParaRPr lang="en-US" sz="1400" b="0" i="0" u="none" strike="noStrike">
              <a:solidFill>
                <a:srgbClr val="000000"/>
              </a:solidFill>
            </a:endParaRPr>
          </a:p>
          <a:p>
            <a:pPr indent="0" algn="l">
              <a:lnSpc>
                <a:spcPct val="100000"/>
              </a:lnSpc>
            </a:pPr>
            <a:r>
              <a:rPr lang="en-US" sz="1400" b="0" i="0" u="none" strike="noStrike">
                <a:solidFill>
                  <a:srgbClr val="000000"/>
                </a:solidFill>
              </a:rPr>
              <a:t>这里我给大家提供了一个完整的示例——“解忧小树洞”。在这个案例中，我们首先定义了它是一个温和亲切的“角色”；然后赋予了它处理学习压力、人际交往等问题的“技能”；同时也设定了“限制”，比如不能说教、遇到严重问题要转介；最后明确了它的“目标”是成为学生信任的倾诉对象。</a:t>
            </a:r>
            <a:endParaRPr lang="en-US" sz="1400" b="0" i="0" u="none" strike="noStrike">
              <a:solidFill>
                <a:srgbClr val="000000"/>
              </a:solidFill>
            </a:endParaRPr>
          </a:p>
          <a:p>
            <a:pPr indent="0" algn="l">
              <a:lnSpc>
                <a:spcPct val="100000"/>
              </a:lnSpc>
            </a:pPr>
            <a:r>
              <a:rPr lang="en-US" sz="1400" b="0" i="0" u="none" strike="noStrike">
                <a:solidFill>
                  <a:srgbClr val="000000"/>
                </a:solidFill>
              </a:rPr>
              <a:t>大家可以直接参考这个结构，甚至复制使用，来构建你们自己的智能体提示词。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写提示词有个小技巧，如果你觉得自己写得不够好，可以点击“AI优化”按钮，让系统帮你润色。记住，提示词不是一次性就能写完美的，就像教一个新朋友一样，我们需要不断地和它沟通，反复调试，才能让它越来越聪明。</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让我们的“解忧小树洞”更专业，我们可以给它添加一个知识库。知识库就像是它的“图书馆”，我们可以上传一些相关的资料，比如心理健康手册、学习方法文章等。这样，当它回答问题时，就可以参考这些资料，让回答更加准确和可靠。</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还可以给智能体添加一些插件，就像给它装备上各种工具。比如，我们可以添加“情绪识别”插件，让它更好地感知用户的情绪。当然，对于我们初学者来说，更简单的方法是直接在提示词里告诉它如何识别情绪关键词并做出回应。如果想让它更强大，还可以添加“联网搜索”插件，让它能获取最新的信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可以在右侧的预览窗口测试我们的“解忧小树洞”了。大家可以尝试输入一些问题，比如关于考试焦虑、同学矛盾或者心情不好的话题，看看它的回答是否符合我们的预期，语气是否温和，建议是否具体。</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如果测试后发现智能体的回答不够理想，比如太啰嗦、太冷漠或者不准确，我们就需要回到提示词进行修改，然后再次测试。这个过程叫做“迭代”，通过不断地调试，我们的智能体才会变得越来越完美。</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当我们对智能体的表现满意后，就可以点击“发布”按钮了。发布成功后，我们会得到一个专属的链接或二维码，可以分享给你的同学和朋友，让他们也来体验一下你创造的AI小助手！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解忧小树洞”，我们还可以用扣子做很多有趣的项目。比如，一个能帮你学习的学科助教，一个能陪你玩游戏的游戏搭子，一个能帮你策划活动的社团小助手，等等。这些只是抛砖引玉，希望能激发大家更多的创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如果想让我们的智能体变得更强大，可以从三个方面入手：</a:t>
            </a:r>
            <a:endParaRPr lang="en-US" sz="1400" b="0" i="0" u="none" strike="noStrike">
              <a:solidFill>
                <a:srgbClr val="000000"/>
              </a:solidFill>
            </a:endParaRPr>
          </a:p>
          <a:p>
            <a:pPr indent="0" algn="l">
              <a:lnSpc>
                <a:spcPct val="100000"/>
              </a:lnSpc>
            </a:pPr>
            <a:r>
              <a:rPr lang="en-US" sz="1400" b="0" i="0" u="none" strike="noStrike">
                <a:solidFill>
                  <a:srgbClr val="000000"/>
                </a:solidFill>
              </a:rPr>
              <a:t>第一，给它添加更多的插件，比如联网搜索、图片识别、语音合成等，扩展它的基础能力；</a:t>
            </a:r>
            <a:endParaRPr lang="en-US" sz="1400" b="0" i="0" u="none" strike="noStrike">
              <a:solidFill>
                <a:srgbClr val="000000"/>
              </a:solidFill>
            </a:endParaRPr>
          </a:p>
          <a:p>
            <a:pPr indent="0" algn="l">
              <a:lnSpc>
                <a:spcPct val="100000"/>
              </a:lnSpc>
            </a:pPr>
            <a:r>
              <a:rPr lang="en-US" sz="1400" b="0" i="0" u="none" strike="noStrike">
                <a:solidFill>
                  <a:srgbClr val="000000"/>
                </a:solidFill>
              </a:rPr>
              <a:t>第二，给它喂更多的知识，通过上传PDF、PPT或接入网页链接，让它成为特定领域的专家；</a:t>
            </a:r>
            <a:endParaRPr lang="en-US" sz="1400" b="0" i="0" u="none" strike="noStrike">
              <a:solidFill>
                <a:srgbClr val="000000"/>
              </a:solidFill>
            </a:endParaRPr>
          </a:p>
          <a:p>
            <a:pPr indent="0" algn="l">
              <a:lnSpc>
                <a:spcPct val="100000"/>
              </a:lnSpc>
            </a:pPr>
            <a:r>
              <a:rPr lang="en-US" sz="1400" b="0" i="0" u="none" strike="noStrike">
                <a:solidFill>
                  <a:srgbClr val="000000"/>
                </a:solidFill>
              </a:rPr>
              <a:t>第三，学习使用工作流，让它能完成更复杂的多步任务。比如这个示例：用户提问后，智能体自动联网搜索，提取关键结果，最后用通俗易懂的语言总结出来。这就是工作流带来的强大自动化能力。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课程即将结束，让我们一起回顾一下今天学到了什么。我们知道了智能体是会听、会想、会做的AI助手，学会了如何使用扣子平台，掌握了创建智能体的四个步骤和提示词的基本公式，还了解了如何通过知识库、插件和工作流让智能体变得更强大。希望大家能将这些知识运用到实际工作中，提升效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给大家布置几个课后挑战。初级挑战是修改我们今天做的“解忧小树洞”，让它变成一个能解答数学问题的小老师。中级挑战是尝试给它添加一个知识库。高级挑战则是让它学会联网搜索。希望大家课后能继续探索，创造出更有趣、更强大的智能体！今天的课就到这里，谢谢大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90204"/>
              <a:buNone/>
              <a:defRPr sz="33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90204"/>
              <a:buChar char="•"/>
              <a:defRPr sz="21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marL="914400" marR="0" lvl="1" indent="-342900" algn="l" rtl="0">
              <a:lnSpc>
                <a:spcPct val="90000"/>
              </a:lnSpc>
              <a:spcBef>
                <a:spcPts val="400"/>
              </a:spcBef>
              <a:spcAft>
                <a:spcPts val="0"/>
              </a:spcAft>
              <a:buClr>
                <a:schemeClr val="dk1"/>
              </a:buClr>
              <a:buSzPts val="1800"/>
              <a:buFont typeface="Arial" panose="020B0604020202090204"/>
              <a:buChar char="•"/>
              <a:defRPr sz="18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L="1371600" marR="0" lvl="2" indent="-323850" algn="l" rtl="0">
              <a:lnSpc>
                <a:spcPct val="90000"/>
              </a:lnSpc>
              <a:spcBef>
                <a:spcPts val="400"/>
              </a:spcBef>
              <a:spcAft>
                <a:spcPts val="0"/>
              </a:spcAft>
              <a:buClr>
                <a:schemeClr val="dk1"/>
              </a:buClr>
              <a:buSzPts val="1500"/>
              <a:buFont typeface="Arial" panose="020B0604020202090204"/>
              <a:buChar char="•"/>
              <a:defRPr sz="15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L="1828800" marR="0" lvl="3"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L="2286000" marR="0" lvl="4"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L="2743200" marR="0" lvl="5"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L="3200400" marR="0" lvl="6"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L="3657600" marR="0" lvl="7"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L="4114800" marR="0" lvl="8"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L="0" marR="0" lvl="1"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2pPr>
            <a:lvl3pPr marL="0" marR="0" lvl="2"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3pPr>
            <a:lvl4pPr marL="0" marR="0" lvl="3"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4pPr>
            <a:lvl5pPr marL="0" marR="0" lvl="4"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5pPr>
            <a:lvl6pPr marL="0" marR="0" lvl="5"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6pPr>
            <a:lvl7pPr marL="0" marR="0" lvl="6"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7pPr>
            <a:lvl8pPr marL="0" marR="0" lvl="7"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8pPr>
            <a:lvl9pPr marL="0" marR="0" lvl="8"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2.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12.xml"/><Relationship Id="rId7" Type="http://schemas.openxmlformats.org/officeDocument/2006/relationships/image" Target="../media/image10.svg"/><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2.xml"/><Relationship Id="rId6" Type="http://schemas.openxmlformats.org/officeDocument/2006/relationships/image" Target="../media/image13.jpeg"/><Relationship Id="rId5" Type="http://schemas.openxmlformats.org/officeDocument/2006/relationships/image" Target="../media/image12.svg"/><Relationship Id="rId4" Type="http://schemas.openxmlformats.org/officeDocument/2006/relationships/image" Target="../media/image11.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12.xml"/><Relationship Id="rId7" Type="http://schemas.openxmlformats.org/officeDocument/2006/relationships/image" Target="../media/image19.svg"/><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6.jpeg"/><Relationship Id="rId7" Type="http://schemas.openxmlformats.org/officeDocument/2006/relationships/image" Target="../media/image25.svg"/><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 Id="rId3" Type="http://schemas.openxmlformats.org/officeDocument/2006/relationships/image" Target="../media/image21.svg"/><Relationship Id="rId2" Type="http://schemas.openxmlformats.org/officeDocument/2006/relationships/image" Target="../media/image20.png"/><Relationship Id="rId10" Type="http://schemas.openxmlformats.org/officeDocument/2006/relationships/notesSlide" Target="../notesSlides/notesSlide5.xml"/><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2.xml"/><Relationship Id="rId5" Type="http://schemas.openxmlformats.org/officeDocument/2006/relationships/image" Target="../media/image30.jpeg"/><Relationship Id="rId4" Type="http://schemas.openxmlformats.org/officeDocument/2006/relationships/image" Target="../media/image29.jpeg"/><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slideLayout" Target="../slideLayouts/slideLayout12.xml"/><Relationship Id="rId7" Type="http://schemas.openxmlformats.org/officeDocument/2006/relationships/image" Target="../media/image36.svg"/><Relationship Id="rId6" Type="http://schemas.openxmlformats.org/officeDocument/2006/relationships/image" Target="../media/image35.png"/><Relationship Id="rId5" Type="http://schemas.openxmlformats.org/officeDocument/2006/relationships/image" Target="../media/image34.svg"/><Relationship Id="rId4" Type="http://schemas.openxmlformats.org/officeDocument/2006/relationships/image" Target="../media/image33.png"/><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9" Type="http://schemas.openxmlformats.org/officeDocument/2006/relationships/image" Target="../media/image42.svg"/><Relationship Id="rId8" Type="http://schemas.openxmlformats.org/officeDocument/2006/relationships/image" Target="../media/image41.png"/><Relationship Id="rId7" Type="http://schemas.openxmlformats.org/officeDocument/2006/relationships/image" Target="../media/image25.svg"/><Relationship Id="rId6" Type="http://schemas.openxmlformats.org/officeDocument/2006/relationships/image" Target="../media/image24.png"/><Relationship Id="rId5" Type="http://schemas.openxmlformats.org/officeDocument/2006/relationships/image" Target="../media/image40.svg"/><Relationship Id="rId4" Type="http://schemas.openxmlformats.org/officeDocument/2006/relationships/image" Target="../media/image39.png"/><Relationship Id="rId3" Type="http://schemas.openxmlformats.org/officeDocument/2006/relationships/image" Target="../media/image38.svg"/><Relationship Id="rId2" Type="http://schemas.openxmlformats.org/officeDocument/2006/relationships/image" Target="../media/image37.png"/><Relationship Id="rId13" Type="http://schemas.openxmlformats.org/officeDocument/2006/relationships/notesSlide" Target="../notesSlides/notesSlide8.xml"/><Relationship Id="rId12" Type="http://schemas.openxmlformats.org/officeDocument/2006/relationships/slideLayout" Target="../slideLayouts/slideLayout12.xml"/><Relationship Id="rId11" Type="http://schemas.openxmlformats.org/officeDocument/2006/relationships/image" Target="../media/image44.svg"/><Relationship Id="rId10" Type="http://schemas.openxmlformats.org/officeDocument/2006/relationships/image" Target="../media/image43.png"/><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12.xml"/><Relationship Id="rId5" Type="http://schemas.openxmlformats.org/officeDocument/2006/relationships/image" Target="../media/image48.jpeg"/><Relationship Id="rId4" Type="http://schemas.openxmlformats.org/officeDocument/2006/relationships/image" Target="../media/image47.jpeg"/><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image" Target="../media/image4.jpe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53.svg"/><Relationship Id="rId7" Type="http://schemas.openxmlformats.org/officeDocument/2006/relationships/image" Target="../media/image52.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51.svg"/><Relationship Id="rId3" Type="http://schemas.openxmlformats.org/officeDocument/2006/relationships/image" Target="../media/image50.png"/><Relationship Id="rId2" Type="http://schemas.openxmlformats.org/officeDocument/2006/relationships/image" Target="../media/image49.jpeg"/><Relationship Id="rId10" Type="http://schemas.openxmlformats.org/officeDocument/2006/relationships/notesSlide" Target="../notesSlides/notesSlide10.xml"/><Relationship Id="rId1" Type="http://schemas.openxmlformats.org/officeDocument/2006/relationships/image" Target="../media/image4.jpeg"/></Relationships>
</file>

<file path=ppt/slides/_rels/slide11.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12.xml"/><Relationship Id="rId7" Type="http://schemas.openxmlformats.org/officeDocument/2006/relationships/image" Target="../media/image59.svg"/><Relationship Id="rId6" Type="http://schemas.openxmlformats.org/officeDocument/2006/relationships/image" Target="../media/image58.png"/><Relationship Id="rId5" Type="http://schemas.openxmlformats.org/officeDocument/2006/relationships/image" Target="../media/image57.svg"/><Relationship Id="rId4" Type="http://schemas.openxmlformats.org/officeDocument/2006/relationships/image" Target="../media/image56.png"/><Relationship Id="rId3" Type="http://schemas.openxmlformats.org/officeDocument/2006/relationships/image" Target="../media/image55.svg"/><Relationship Id="rId2" Type="http://schemas.openxmlformats.org/officeDocument/2006/relationships/image" Target="../media/image54.png"/><Relationship Id="rId1" Type="http://schemas.openxmlformats.org/officeDocument/2006/relationships/image" Target="../media/image4.jpeg"/></Relationships>
</file>

<file path=ppt/slides/_rels/slide12.xml.rels><?xml version="1.0" encoding="UTF-8" standalone="yes"?>
<Relationships xmlns="http://schemas.openxmlformats.org/package/2006/relationships"><Relationship Id="rId9" Type="http://schemas.openxmlformats.org/officeDocument/2006/relationships/image" Target="../media/image67.svg"/><Relationship Id="rId8" Type="http://schemas.openxmlformats.org/officeDocument/2006/relationships/image" Target="../media/image66.png"/><Relationship Id="rId7" Type="http://schemas.openxmlformats.org/officeDocument/2006/relationships/image" Target="../media/image65.svg"/><Relationship Id="rId6" Type="http://schemas.openxmlformats.org/officeDocument/2006/relationships/image" Target="../media/image64.png"/><Relationship Id="rId5" Type="http://schemas.openxmlformats.org/officeDocument/2006/relationships/image" Target="../media/image63.svg"/><Relationship Id="rId4" Type="http://schemas.openxmlformats.org/officeDocument/2006/relationships/image" Target="../media/image62.png"/><Relationship Id="rId3" Type="http://schemas.openxmlformats.org/officeDocument/2006/relationships/image" Target="../media/image61.svg"/><Relationship Id="rId2" Type="http://schemas.openxmlformats.org/officeDocument/2006/relationships/image" Target="../media/image60.png"/><Relationship Id="rId13" Type="http://schemas.openxmlformats.org/officeDocument/2006/relationships/notesSlide" Target="../notesSlides/notesSlide12.xml"/><Relationship Id="rId12" Type="http://schemas.openxmlformats.org/officeDocument/2006/relationships/slideLayout" Target="../slideLayouts/slideLayout12.xml"/><Relationship Id="rId11" Type="http://schemas.openxmlformats.org/officeDocument/2006/relationships/image" Target="../media/image69.svg"/><Relationship Id="rId10" Type="http://schemas.openxmlformats.org/officeDocument/2006/relationships/image" Target="../media/image68.png"/><Relationship Id="rId1" Type="http://schemas.openxmlformats.org/officeDocument/2006/relationships/image" Target="../media/image4.jpeg"/></Relationships>
</file>

<file path=ppt/slides/_rels/slide13.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slideLayout" Target="../slideLayouts/slideLayout12.xml"/><Relationship Id="rId7" Type="http://schemas.openxmlformats.org/officeDocument/2006/relationships/image" Target="../media/image74.svg"/><Relationship Id="rId6" Type="http://schemas.openxmlformats.org/officeDocument/2006/relationships/image" Target="../media/image73.png"/><Relationship Id="rId5" Type="http://schemas.openxmlformats.org/officeDocument/2006/relationships/image" Target="../media/image72.svg"/><Relationship Id="rId4" Type="http://schemas.openxmlformats.org/officeDocument/2006/relationships/image" Target="../media/image71.png"/><Relationship Id="rId3" Type="http://schemas.openxmlformats.org/officeDocument/2006/relationships/image" Target="../media/image5.png"/><Relationship Id="rId2" Type="http://schemas.openxmlformats.org/officeDocument/2006/relationships/image" Target="../media/image70.jpeg"/><Relationship Id="rId1" Type="http://schemas.openxmlformats.org/officeDocument/2006/relationships/image" Target="../media/image4.jpeg"/></Relationships>
</file>

<file path=ppt/slides/_rels/slide14.xml.rels><?xml version="1.0" encoding="UTF-8" standalone="yes"?>
<Relationships xmlns="http://schemas.openxmlformats.org/package/2006/relationships"><Relationship Id="rId9" Type="http://schemas.openxmlformats.org/officeDocument/2006/relationships/image" Target="../media/image82.svg"/><Relationship Id="rId8" Type="http://schemas.openxmlformats.org/officeDocument/2006/relationships/image" Target="../media/image81.png"/><Relationship Id="rId7" Type="http://schemas.openxmlformats.org/officeDocument/2006/relationships/image" Target="../media/image80.svg"/><Relationship Id="rId6" Type="http://schemas.openxmlformats.org/officeDocument/2006/relationships/image" Target="../media/image79.png"/><Relationship Id="rId5" Type="http://schemas.openxmlformats.org/officeDocument/2006/relationships/image" Target="../media/image78.svg"/><Relationship Id="rId4" Type="http://schemas.openxmlformats.org/officeDocument/2006/relationships/image" Target="../media/image77.png"/><Relationship Id="rId3" Type="http://schemas.openxmlformats.org/officeDocument/2006/relationships/image" Target="../media/image76.svg"/><Relationship Id="rId2" Type="http://schemas.openxmlformats.org/officeDocument/2006/relationships/image" Target="../media/image75.png"/><Relationship Id="rId11" Type="http://schemas.openxmlformats.org/officeDocument/2006/relationships/notesSlide" Target="../notesSlides/notesSlide14.xml"/><Relationship Id="rId10" Type="http://schemas.openxmlformats.org/officeDocument/2006/relationships/slideLayout" Target="../slideLayouts/slideLayout12.xml"/><Relationship Id="rId1" Type="http://schemas.openxmlformats.org/officeDocument/2006/relationships/image" Target="../media/image4.jpe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12.xml"/><Relationship Id="rId6" Type="http://schemas.openxmlformats.org/officeDocument/2006/relationships/image" Target="../media/image86.svg"/><Relationship Id="rId5" Type="http://schemas.openxmlformats.org/officeDocument/2006/relationships/image" Target="../media/image85.png"/><Relationship Id="rId4" Type="http://schemas.openxmlformats.org/officeDocument/2006/relationships/image" Target="../media/image84.svg"/><Relationship Id="rId3" Type="http://schemas.openxmlformats.org/officeDocument/2006/relationships/image" Target="../media/image83.png"/><Relationship Id="rId2" Type="http://schemas.openxmlformats.org/officeDocument/2006/relationships/image" Target="../media/image16.png"/><Relationship Id="rId1" Type="http://schemas.openxmlformats.org/officeDocument/2006/relationships/image" Target="../media/image4.jpeg"/></Relationships>
</file>

<file path=ppt/slides/_rels/slide16.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image" Target="../media/image92.svg"/><Relationship Id="rId7" Type="http://schemas.openxmlformats.org/officeDocument/2006/relationships/image" Target="../media/image91.png"/><Relationship Id="rId6" Type="http://schemas.openxmlformats.org/officeDocument/2006/relationships/image" Target="../media/image90.svg"/><Relationship Id="rId5" Type="http://schemas.openxmlformats.org/officeDocument/2006/relationships/image" Target="../media/image89.png"/><Relationship Id="rId4" Type="http://schemas.openxmlformats.org/officeDocument/2006/relationships/image" Target="../media/image88.svg"/><Relationship Id="rId3" Type="http://schemas.openxmlformats.org/officeDocument/2006/relationships/image" Target="../media/image87.png"/><Relationship Id="rId2" Type="http://schemas.openxmlformats.org/officeDocument/2006/relationships/image" Target="../media/image7.png"/><Relationship Id="rId11" Type="http://schemas.openxmlformats.org/officeDocument/2006/relationships/notesSlide" Target="../notesSlides/notesSlide16.xml"/><Relationship Id="rId10" Type="http://schemas.openxmlformats.org/officeDocument/2006/relationships/slideLayout" Target="../slideLayouts/slideLayout12.xml"/><Relationship Id="rId1" Type="http://schemas.openxmlformats.org/officeDocument/2006/relationships/image" Target="../media/image4.jpeg"/></Relationships>
</file>

<file path=ppt/slides/_rels/slide17.xml.rels><?xml version="1.0" encoding="UTF-8" standalone="yes"?>
<Relationships xmlns="http://schemas.openxmlformats.org/package/2006/relationships"><Relationship Id="rId9" Type="http://schemas.openxmlformats.org/officeDocument/2006/relationships/notesSlide" Target="../notesSlides/notesSlide17.xml"/><Relationship Id="rId8" Type="http://schemas.openxmlformats.org/officeDocument/2006/relationships/slideLayout" Target="../slideLayouts/slideLayout12.xml"/><Relationship Id="rId7" Type="http://schemas.openxmlformats.org/officeDocument/2006/relationships/image" Target="../media/image97.svg"/><Relationship Id="rId6" Type="http://schemas.openxmlformats.org/officeDocument/2006/relationships/image" Target="../media/image96.png"/><Relationship Id="rId5" Type="http://schemas.openxmlformats.org/officeDocument/2006/relationships/image" Target="../media/image52.png"/><Relationship Id="rId4" Type="http://schemas.openxmlformats.org/officeDocument/2006/relationships/image" Target="../media/image95.svg"/><Relationship Id="rId3" Type="http://schemas.openxmlformats.org/officeDocument/2006/relationships/image" Target="../media/image94.png"/><Relationship Id="rId2" Type="http://schemas.openxmlformats.org/officeDocument/2006/relationships/image" Target="../media/image93.jpeg"/><Relationship Id="rId1" Type="http://schemas.openxmlformats.org/officeDocument/2006/relationships/image" Target="../media/image4.jpeg"/></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04.jpeg"/><Relationship Id="rId7" Type="http://schemas.openxmlformats.org/officeDocument/2006/relationships/image" Target="../media/image103.svg"/><Relationship Id="rId6" Type="http://schemas.openxmlformats.org/officeDocument/2006/relationships/image" Target="../media/image102.png"/><Relationship Id="rId5" Type="http://schemas.openxmlformats.org/officeDocument/2006/relationships/image" Target="../media/image101.svg"/><Relationship Id="rId4" Type="http://schemas.openxmlformats.org/officeDocument/2006/relationships/image" Target="../media/image100.png"/><Relationship Id="rId3" Type="http://schemas.openxmlformats.org/officeDocument/2006/relationships/image" Target="../media/image99.svg"/><Relationship Id="rId2" Type="http://schemas.openxmlformats.org/officeDocument/2006/relationships/image" Target="../media/image98.png"/><Relationship Id="rId10" Type="http://schemas.openxmlformats.org/officeDocument/2006/relationships/notesSlide" Target="../notesSlides/notesSlide18.xml"/><Relationship Id="rId1" Type="http://schemas.openxmlformats.org/officeDocument/2006/relationships/image" Target="../media/image4.jpe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12.xml"/><Relationship Id="rId6" Type="http://schemas.openxmlformats.org/officeDocument/2006/relationships/image" Target="../media/image109.jpeg"/><Relationship Id="rId5" Type="http://schemas.openxmlformats.org/officeDocument/2006/relationships/image" Target="../media/image108.jpeg"/><Relationship Id="rId4" Type="http://schemas.openxmlformats.org/officeDocument/2006/relationships/image" Target="../media/image107.jpeg"/><Relationship Id="rId3" Type="http://schemas.openxmlformats.org/officeDocument/2006/relationships/image" Target="../media/image106.jpeg"/><Relationship Id="rId2" Type="http://schemas.openxmlformats.org/officeDocument/2006/relationships/image" Target="../media/image105.jpeg"/><Relationship Id="rId1" Type="http://schemas.openxmlformats.org/officeDocument/2006/relationships/image" Target="../media/image4.jpeg"/></Relationships>
</file>

<file path=ppt/slides/_rels/slide20.xml.rels><?xml version="1.0" encoding="UTF-8" standalone="yes"?>
<Relationships xmlns="http://schemas.openxmlformats.org/package/2006/relationships"><Relationship Id="rId9" Type="http://schemas.openxmlformats.org/officeDocument/2006/relationships/image" Target="../media/image116.svg"/><Relationship Id="rId8" Type="http://schemas.openxmlformats.org/officeDocument/2006/relationships/image" Target="../media/image115.png"/><Relationship Id="rId7" Type="http://schemas.openxmlformats.org/officeDocument/2006/relationships/image" Target="../media/image114.svg"/><Relationship Id="rId6" Type="http://schemas.openxmlformats.org/officeDocument/2006/relationships/image" Target="../media/image113.png"/><Relationship Id="rId5" Type="http://schemas.openxmlformats.org/officeDocument/2006/relationships/image" Target="../media/image112.svg"/><Relationship Id="rId4" Type="http://schemas.openxmlformats.org/officeDocument/2006/relationships/image" Target="../media/image111.png"/><Relationship Id="rId3" Type="http://schemas.openxmlformats.org/officeDocument/2006/relationships/image" Target="../media/image20.png"/><Relationship Id="rId2" Type="http://schemas.openxmlformats.org/officeDocument/2006/relationships/image" Target="../media/image110.jpeg"/><Relationship Id="rId19" Type="http://schemas.openxmlformats.org/officeDocument/2006/relationships/notesSlide" Target="../notesSlides/notesSlide20.xml"/><Relationship Id="rId18" Type="http://schemas.openxmlformats.org/officeDocument/2006/relationships/slideLayout" Target="../slideLayouts/slideLayout12.xml"/><Relationship Id="rId17" Type="http://schemas.openxmlformats.org/officeDocument/2006/relationships/image" Target="../media/image124.svg"/><Relationship Id="rId16" Type="http://schemas.openxmlformats.org/officeDocument/2006/relationships/image" Target="../media/image123.png"/><Relationship Id="rId15" Type="http://schemas.openxmlformats.org/officeDocument/2006/relationships/image" Target="../media/image122.svg"/><Relationship Id="rId14" Type="http://schemas.openxmlformats.org/officeDocument/2006/relationships/image" Target="../media/image121.png"/><Relationship Id="rId13" Type="http://schemas.openxmlformats.org/officeDocument/2006/relationships/image" Target="../media/image120.svg"/><Relationship Id="rId12" Type="http://schemas.openxmlformats.org/officeDocument/2006/relationships/image" Target="../media/image119.png"/><Relationship Id="rId11" Type="http://schemas.openxmlformats.org/officeDocument/2006/relationships/image" Target="../media/image118.svg"/><Relationship Id="rId10" Type="http://schemas.openxmlformats.org/officeDocument/2006/relationships/image" Target="../media/image117.png"/><Relationship Id="rId1" Type="http://schemas.openxmlformats.org/officeDocument/2006/relationships/image" Target="../media/image4.jpeg"/></Relationships>
</file>

<file path=ppt/slides/_rels/slide21.xml.rels><?xml version="1.0" encoding="UTF-8" standalone="yes"?>
<Relationships xmlns="http://schemas.openxmlformats.org/package/2006/relationships"><Relationship Id="rId9" Type="http://schemas.openxmlformats.org/officeDocument/2006/relationships/image" Target="../media/image131.png"/><Relationship Id="rId8" Type="http://schemas.openxmlformats.org/officeDocument/2006/relationships/image" Target="../media/image130.svg"/><Relationship Id="rId7" Type="http://schemas.openxmlformats.org/officeDocument/2006/relationships/image" Target="../media/image129.png"/><Relationship Id="rId6" Type="http://schemas.openxmlformats.org/officeDocument/2006/relationships/image" Target="../media/image128.svg"/><Relationship Id="rId5" Type="http://schemas.openxmlformats.org/officeDocument/2006/relationships/image" Target="../media/image127.png"/><Relationship Id="rId4" Type="http://schemas.openxmlformats.org/officeDocument/2006/relationships/image" Target="../media/image126.svg"/><Relationship Id="rId3" Type="http://schemas.openxmlformats.org/officeDocument/2006/relationships/image" Target="../media/image125.png"/><Relationship Id="rId2" Type="http://schemas.openxmlformats.org/officeDocument/2006/relationships/image" Target="../media/image5.png"/><Relationship Id="rId14" Type="http://schemas.openxmlformats.org/officeDocument/2006/relationships/notesSlide" Target="../notesSlides/notesSlide21.xml"/><Relationship Id="rId13" Type="http://schemas.openxmlformats.org/officeDocument/2006/relationships/slideLayout" Target="../slideLayouts/slideLayout12.xml"/><Relationship Id="rId12" Type="http://schemas.openxmlformats.org/officeDocument/2006/relationships/image" Target="../media/image134.svg"/><Relationship Id="rId11" Type="http://schemas.openxmlformats.org/officeDocument/2006/relationships/image" Target="../media/image133.png"/><Relationship Id="rId10" Type="http://schemas.openxmlformats.org/officeDocument/2006/relationships/image" Target="../media/image132.svg"/><Relationship Id="rId1" Type="http://schemas.openxmlformats.org/officeDocument/2006/relationships/image" Target="../media/image4.jpeg"/></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37.jpeg"/><Relationship Id="rId7" Type="http://schemas.openxmlformats.org/officeDocument/2006/relationships/image" Target="../media/image136.svg"/><Relationship Id="rId6" Type="http://schemas.openxmlformats.org/officeDocument/2006/relationships/image" Target="../media/image135.png"/><Relationship Id="rId5" Type="http://schemas.openxmlformats.org/officeDocument/2006/relationships/image" Target="../media/image112.svg"/><Relationship Id="rId4" Type="http://schemas.openxmlformats.org/officeDocument/2006/relationships/image" Target="../media/image111.png"/><Relationship Id="rId3" Type="http://schemas.openxmlformats.org/officeDocument/2006/relationships/image" Target="../media/image69.svg"/><Relationship Id="rId2" Type="http://schemas.openxmlformats.org/officeDocument/2006/relationships/image" Target="../media/image68.png"/><Relationship Id="rId10" Type="http://schemas.openxmlformats.org/officeDocument/2006/relationships/notesSlide" Target="../notesSlides/notesSlide22.xml"/><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B162C">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0"/>
            <a:ext cx="12192000" cy="76200"/>
          </a:xfrm>
          <a:prstGeom prst="roundRect">
            <a:avLst>
              <a:gd name="adj" fmla="val 0"/>
            </a:avLst>
          </a:prstGeom>
          <a:gradFill rotWithShape="1">
            <a:gsLst>
              <a:gs pos="0">
                <a:srgbClr val="4A90E2">
                  <a:alpha val="100000"/>
                </a:srgbClr>
              </a:gs>
              <a:gs pos="100000">
                <a:srgbClr val="7ED321">
                  <a:alpha val="10000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508000" y="1905000"/>
            <a:ext cx="11176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FFFFFF"/>
                </a:solidFill>
                <a:latin typeface="Noto Sans SC"/>
                <a:ea typeface="Noto Sans SC"/>
                <a:cs typeface="Noto Sans SC"/>
                <a:sym typeface="Noto Sans SC"/>
              </a:rPr>
              <a:t>用“扣子”搭建自己的 AI 智能体</a:t>
            </a:r>
            <a:endParaRPr lang="en-US" sz="1100"/>
          </a:p>
        </p:txBody>
      </p:sp>
      <p:sp>
        <p:nvSpPr>
          <p:cNvPr id="6" name="AutoShape 6"/>
          <p:cNvSpPr/>
          <p:nvPr/>
        </p:nvSpPr>
        <p:spPr>
          <a:xfrm>
            <a:off x="508000" y="2794000"/>
            <a:ext cx="11176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200" b="0" i="0" u="none" strike="noStrike">
                <a:solidFill>
                  <a:srgbClr val="F5A623"/>
                </a:solidFill>
                <a:latin typeface="Noto Sans SC"/>
                <a:ea typeface="Noto Sans SC"/>
                <a:cs typeface="Noto Sans SC"/>
                <a:sym typeface="Noto Sans SC"/>
              </a:rPr>
              <a:t>动手创造属于你的 AI 小助手</a:t>
            </a:r>
            <a:endParaRPr lang="en-US" sz="1100"/>
          </a:p>
        </p:txBody>
      </p:sp>
      <p:cxnSp>
        <p:nvCxnSpPr>
          <p:cNvPr id="7" name="Connector 7"/>
          <p:cNvCxnSpPr/>
          <p:nvPr/>
        </p:nvCxnSpPr>
        <p:spPr>
          <a:xfrm rot="-34376">
            <a:off x="5461032" y="3549650"/>
            <a:ext cx="1270000" cy="12700"/>
          </a:xfrm>
          <a:prstGeom prst="line">
            <a:avLst/>
          </a:prstGeom>
          <a:solidFill>
            <a:srgbClr val="DEE0E3">
              <a:alpha val="100000"/>
            </a:srgbClr>
          </a:solidFill>
          <a:ln w="25400" cap="flat" cmpd="sng">
            <a:solidFill>
              <a:srgbClr val="7ED321">
                <a:alpha val="100000"/>
              </a:srgbClr>
            </a:solidFill>
            <a:prstDash val="solid"/>
            <a:round/>
            <a:headEnd type="none" w="lg" len="lg"/>
            <a:tailEnd type="none" w="lg" len="lg"/>
          </a:ln>
        </p:spPr>
      </p:cxnSp>
      <p:sp>
        <p:nvSpPr>
          <p:cNvPr id="8" name="AutoShape 8"/>
          <p:cNvSpPr/>
          <p:nvPr/>
        </p:nvSpPr>
        <p:spPr>
          <a:xfrm>
            <a:off x="4064000" y="4064000"/>
            <a:ext cx="4064000" cy="635000"/>
          </a:xfrm>
          <a:prstGeom prst="roundRect">
            <a:avLst>
              <a:gd name="adj" fmla="val 20000"/>
            </a:avLst>
          </a:prstGeom>
          <a:solidFill>
            <a:srgbClr val="4A90E2">
              <a:alpha val="20000"/>
            </a:srgbClr>
          </a:solidFill>
          <a:ln w="12700" cap="flat" cmpd="sng">
            <a:solidFill>
              <a:srgbClr val="4A90E2">
                <a:alpha val="5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318000" y="4229100"/>
            <a:ext cx="304800" cy="304800"/>
          </a:xfrm>
          <a:prstGeom prst="rect">
            <a:avLst/>
          </a:prstGeom>
        </p:spPr>
      </p:pic>
      <p:sp>
        <p:nvSpPr>
          <p:cNvPr id="10" name="AutoShape 10"/>
          <p:cNvSpPr/>
          <p:nvPr/>
        </p:nvSpPr>
        <p:spPr>
          <a:xfrm>
            <a:off x="4699000" y="4191000"/>
            <a:ext cx="304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DCDCDC"/>
                </a:solidFill>
                <a:latin typeface="Noto Sans SC"/>
                <a:ea typeface="Noto Sans SC"/>
                <a:cs typeface="Noto Sans SC"/>
                <a:sym typeface="Noto Sans SC"/>
              </a:rPr>
              <a:t>中</a:t>
            </a:r>
            <a:r>
              <a:rPr lang="zh-CN" altLang="en-US" sz="1600" b="0" i="0" u="none" strike="noStrike">
                <a:solidFill>
                  <a:srgbClr val="DCDCDC"/>
                </a:solidFill>
                <a:latin typeface="Noto Sans SC"/>
                <a:ea typeface="Noto Sans SC"/>
                <a:cs typeface="Noto Sans SC"/>
                <a:sym typeface="Noto Sans SC"/>
              </a:rPr>
              <a:t>学</a:t>
            </a:r>
            <a:r>
              <a:rPr lang="en-US" sz="1600" b="0" i="0" u="none" strike="noStrike">
                <a:solidFill>
                  <a:srgbClr val="DCDCDC"/>
                </a:solidFill>
                <a:latin typeface="Noto Sans SC"/>
                <a:ea typeface="Noto Sans SC"/>
                <a:cs typeface="Noto Sans SC"/>
                <a:sym typeface="Noto Sans SC"/>
              </a:rPr>
              <a:t>生信息技术 / 社团课</a:t>
            </a:r>
            <a:endParaRPr lang="en-US" sz="1100"/>
          </a:p>
        </p:txBody>
      </p:sp>
      <p:sp>
        <p:nvSpPr>
          <p:cNvPr id="11" name="AutoShape 11"/>
          <p:cNvSpPr/>
          <p:nvPr/>
        </p:nvSpPr>
        <p:spPr>
          <a:xfrm>
            <a:off x="5715000" y="6096000"/>
            <a:ext cx="762000" cy="50800"/>
          </a:xfrm>
          <a:prstGeom prst="roundRect">
            <a:avLst>
              <a:gd name="adj" fmla="val 0"/>
            </a:avLst>
          </a:prstGeom>
          <a:solidFill>
            <a:srgbClr val="F5A623">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65405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4A90E2"/>
                </a:solidFill>
                <a:latin typeface="Noto Sans SC"/>
                <a:ea typeface="Noto Sans SC"/>
                <a:cs typeface="Noto Sans SC"/>
                <a:sym typeface="Noto Sans SC"/>
              </a:rPr>
              <a:t>你想象中的 AI 是什么？</a:t>
            </a:r>
            <a:endParaRPr lang="en-US" sz="1100"/>
          </a:p>
        </p:txBody>
      </p:sp>
      <p:sp>
        <p:nvSpPr>
          <p:cNvPr id="4" name="AutoShape 4"/>
          <p:cNvSpPr/>
          <p:nvPr/>
        </p:nvSpPr>
        <p:spPr>
          <a:xfrm>
            <a:off x="762000" y="1524000"/>
            <a:ext cx="10668000" cy="1270000"/>
          </a:xfrm>
          <a:prstGeom prst="roundRect">
            <a:avLst>
              <a:gd name="adj" fmla="val 10000"/>
            </a:avLst>
          </a:prstGeom>
          <a:solidFill>
            <a:srgbClr val="4A90E2">
              <a:alpha val="10000"/>
            </a:srgbClr>
          </a:solidFill>
          <a:ln w="25400" cap="flat" cmpd="sng">
            <a:solidFill>
              <a:srgbClr val="4A90E2">
                <a:alpha val="10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905000"/>
            <a:ext cx="508000" cy="508000"/>
          </a:xfrm>
          <a:prstGeom prst="rect">
            <a:avLst/>
          </a:prstGeom>
        </p:spPr>
      </p:pic>
      <p:sp>
        <p:nvSpPr>
          <p:cNvPr id="6" name="AutoShape 6"/>
          <p:cNvSpPr/>
          <p:nvPr/>
        </p:nvSpPr>
        <p:spPr>
          <a:xfrm>
            <a:off x="1651000" y="1651000"/>
            <a:ext cx="9525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Q1: 你用过哪些 AI 产品？</a:t>
            </a:r>
            <a:endParaRPr lang="en-US" sz="1100"/>
          </a:p>
          <a:p>
            <a:pPr indent="0" algn="l">
              <a:lnSpc>
                <a:spcPct val="125000"/>
              </a:lnSpc>
            </a:pPr>
            <a:r>
              <a:rPr lang="en-US" sz="1600" b="0" i="0" u="none" strike="noStrike">
                <a:solidFill>
                  <a:srgbClr val="666666"/>
                </a:solidFill>
                <a:latin typeface="Noto Sans SC"/>
                <a:ea typeface="Noto Sans SC"/>
                <a:cs typeface="Noto Sans SC"/>
                <a:sym typeface="Noto Sans SC"/>
              </a:rPr>
              <a:t>例如：Siri、小爱同学、ChatGPT、豆包、DeepSeek 等...</a:t>
            </a:r>
            <a:endParaRPr lang="en-US" sz="1600" b="0" i="0" u="none" strike="noStrike">
              <a:solidFill>
                <a:srgbClr val="666666"/>
              </a:solidFill>
              <a:latin typeface="Noto Sans SC"/>
              <a:ea typeface="Noto Sans SC"/>
              <a:cs typeface="Noto Sans SC"/>
              <a:sym typeface="Noto Sans SC"/>
            </a:endParaRPr>
          </a:p>
        </p:txBody>
      </p:sp>
      <p:sp>
        <p:nvSpPr>
          <p:cNvPr id="7" name="AutoShape 7"/>
          <p:cNvSpPr/>
          <p:nvPr/>
        </p:nvSpPr>
        <p:spPr>
          <a:xfrm>
            <a:off x="762000" y="3048000"/>
            <a:ext cx="10668000" cy="1270000"/>
          </a:xfrm>
          <a:prstGeom prst="roundRect">
            <a:avLst>
              <a:gd name="adj" fmla="val 10000"/>
            </a:avLst>
          </a:prstGeom>
          <a:solidFill>
            <a:srgbClr val="F5A623">
              <a:alpha val="10000"/>
            </a:srgbClr>
          </a:solidFill>
          <a:ln w="25400" cap="flat" cmpd="sng">
            <a:solidFill>
              <a:srgbClr val="F5A623">
                <a:alpha val="10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429000"/>
            <a:ext cx="508000" cy="508000"/>
          </a:xfrm>
          <a:prstGeom prst="rect">
            <a:avLst/>
          </a:prstGeom>
        </p:spPr>
      </p:pic>
      <p:sp>
        <p:nvSpPr>
          <p:cNvPr id="9" name="AutoShape 9"/>
          <p:cNvSpPr/>
          <p:nvPr/>
        </p:nvSpPr>
        <p:spPr>
          <a:xfrm>
            <a:off x="1651000" y="3175000"/>
            <a:ext cx="9525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Q2: 如果让你“教”AI 做一件事，你最想让它帮你做什么？</a:t>
            </a:r>
            <a:endParaRPr lang="en-US" sz="1100"/>
          </a:p>
          <a:p>
            <a:pPr indent="0" algn="l">
              <a:lnSpc>
                <a:spcPct val="125000"/>
              </a:lnSpc>
            </a:pPr>
            <a:r>
              <a:rPr lang="en-US" sz="1600" b="0" i="0" u="none" strike="noStrike">
                <a:solidFill>
                  <a:srgbClr val="666666"/>
                </a:solidFill>
                <a:latin typeface="Noto Sans SC"/>
                <a:ea typeface="Noto Sans SC"/>
                <a:cs typeface="Noto Sans SC"/>
                <a:sym typeface="Noto Sans SC"/>
              </a:rPr>
              <a:t>发挥你的想象力，学习、工作、生活、娱乐... 任何场景都可以！</a:t>
            </a:r>
            <a:endParaRPr lang="en-US" sz="1600" b="0" i="0" u="none" strike="noStrike">
              <a:solidFill>
                <a:srgbClr val="666666"/>
              </a:solidFill>
              <a:latin typeface="Noto Sans SC"/>
              <a:ea typeface="Noto Sans SC"/>
              <a:cs typeface="Noto Sans SC"/>
              <a:sym typeface="Noto Sans SC"/>
            </a:endParaRPr>
          </a:p>
        </p:txBody>
      </p:sp>
      <p:sp>
        <p:nvSpPr>
          <p:cNvPr id="10" name="AutoShape 10"/>
          <p:cNvSpPr/>
          <p:nvPr/>
        </p:nvSpPr>
        <p:spPr>
          <a:xfrm>
            <a:off x="762000" y="4572000"/>
            <a:ext cx="10668000" cy="889000"/>
          </a:xfrm>
          <a:prstGeom prst="roundRect">
            <a:avLst>
              <a:gd name="adj" fmla="val 14285"/>
            </a:avLst>
          </a:prstGeom>
          <a:solidFill>
            <a:srgbClr val="7ED321">
              <a:alpha val="10000"/>
            </a:srgbClr>
          </a:solidFill>
          <a:ln w="25400" cap="flat" cmpd="sng">
            <a:solidFill>
              <a:srgbClr val="7ED321">
                <a:alpha val="10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66800" y="4813300"/>
            <a:ext cx="406400" cy="406400"/>
          </a:xfrm>
          <a:prstGeom prst="rect">
            <a:avLst/>
          </a:prstGeom>
        </p:spPr>
      </p:pic>
      <p:sp>
        <p:nvSpPr>
          <p:cNvPr id="12" name="AutoShape 12"/>
          <p:cNvSpPr/>
          <p:nvPr/>
        </p:nvSpPr>
        <p:spPr>
          <a:xfrm>
            <a:off x="1587500" y="4699000"/>
            <a:ext cx="965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a:ea typeface="Noto Sans SC"/>
                <a:cs typeface="Noto Sans SC"/>
                <a:sym typeface="Noto Sans SC"/>
              </a:rPr>
              <a:t>💡 课堂小互动：请和同桌交流 30 秒，分享你的想法！</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35179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4A90E2"/>
                </a:solidFill>
                <a:latin typeface="Noto Sans SC"/>
                <a:ea typeface="Noto Sans SC"/>
                <a:cs typeface="Noto Sans SC"/>
                <a:sym typeface="Noto Sans SC"/>
              </a:rPr>
              <a:t>什么是智能体？</a:t>
            </a:r>
            <a:endParaRPr lang="en-US" sz="1100"/>
          </a:p>
        </p:txBody>
      </p:sp>
      <p:sp>
        <p:nvSpPr>
          <p:cNvPr id="5" name="AutoShape 5"/>
          <p:cNvSpPr/>
          <p:nvPr/>
        </p:nvSpPr>
        <p:spPr>
          <a:xfrm>
            <a:off x="762000" y="1206500"/>
            <a:ext cx="762000" cy="50800"/>
          </a:xfrm>
          <a:prstGeom prst="roundRect">
            <a:avLst>
              <a:gd name="adj" fmla="val 0"/>
            </a:avLst>
          </a:prstGeom>
          <a:solidFill>
            <a:srgbClr val="F5A623">
              <a:alpha val="100000"/>
            </a:srgbClr>
          </a:solidFill>
          <a:ln cap="flat" cmpd="sng">
            <a:solidFill>
              <a:srgbClr val="DC8C09">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1651000"/>
            <a:ext cx="5334000" cy="1651000"/>
          </a:xfrm>
          <a:prstGeom prst="roundRect">
            <a:avLst>
              <a:gd name="adj" fmla="val 7692"/>
            </a:avLst>
          </a:prstGeom>
          <a:solidFill>
            <a:srgbClr val="4A90E2">
              <a:alpha val="10000"/>
            </a:srgbClr>
          </a:solidFill>
          <a:ln w="12700" cap="flat" cmpd="sng">
            <a:solidFill>
              <a:srgbClr val="4A90E2">
                <a:alpha val="10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841500"/>
            <a:ext cx="406400" cy="406400"/>
          </a:xfrm>
          <a:prstGeom prst="rect">
            <a:avLst/>
          </a:prstGeom>
        </p:spPr>
      </p:pic>
      <p:sp>
        <p:nvSpPr>
          <p:cNvPr id="8" name="AutoShape 8"/>
          <p:cNvSpPr/>
          <p:nvPr/>
        </p:nvSpPr>
        <p:spPr>
          <a:xfrm>
            <a:off x="1524000" y="1803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90E2"/>
                </a:solidFill>
                <a:latin typeface="Noto Sans SC"/>
                <a:ea typeface="Noto Sans SC"/>
                <a:cs typeface="Noto Sans SC"/>
                <a:sym typeface="Noto Sans SC"/>
              </a:rPr>
              <a:t>核心定义</a:t>
            </a:r>
            <a:endParaRPr lang="en-US" sz="1100"/>
          </a:p>
        </p:txBody>
      </p:sp>
      <p:sp>
        <p:nvSpPr>
          <p:cNvPr id="9" name="AutoShape 9"/>
          <p:cNvSpPr/>
          <p:nvPr/>
        </p:nvSpPr>
        <p:spPr>
          <a:xfrm>
            <a:off x="1016000" y="2286000"/>
            <a:ext cx="4826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333333"/>
                </a:solidFill>
                <a:latin typeface="Noto Sans SC"/>
                <a:ea typeface="Noto Sans SC"/>
                <a:cs typeface="Noto Sans SC"/>
                <a:sym typeface="Noto Sans SC"/>
              </a:rPr>
              <a:t>智能体 =</a:t>
            </a:r>
            <a:r>
              <a:rPr lang="en-US" sz="1800" b="1" i="0" u="none" strike="noStrike">
                <a:solidFill>
                  <a:srgbClr val="F5A623"/>
                </a:solidFill>
                <a:latin typeface="Noto Sans SC"/>
                <a:ea typeface="Noto Sans SC"/>
                <a:cs typeface="Noto Sans SC"/>
                <a:sym typeface="Noto Sans SC"/>
              </a:rPr>
              <a:t>会听</a:t>
            </a:r>
            <a:r>
              <a:rPr lang="en-US" sz="1800" b="0" i="0" u="none" strike="noStrike">
                <a:solidFill>
                  <a:srgbClr val="333333"/>
                </a:solidFill>
                <a:latin typeface="Noto Sans SC"/>
                <a:ea typeface="Noto Sans SC"/>
                <a:cs typeface="Noto Sans SC"/>
                <a:sym typeface="Noto Sans SC"/>
              </a:rPr>
              <a:t>+</a:t>
            </a:r>
            <a:r>
              <a:rPr lang="en-US" sz="1800" b="1" i="0" u="none" strike="noStrike">
                <a:solidFill>
                  <a:srgbClr val="4A90E2"/>
                </a:solidFill>
                <a:latin typeface="Noto Sans SC"/>
                <a:ea typeface="Noto Sans SC"/>
                <a:cs typeface="Noto Sans SC"/>
                <a:sym typeface="Noto Sans SC"/>
              </a:rPr>
              <a:t>会想</a:t>
            </a:r>
            <a:r>
              <a:rPr lang="en-US" sz="1800" b="0" i="0" u="none" strike="noStrike">
                <a:solidFill>
                  <a:srgbClr val="333333"/>
                </a:solidFill>
                <a:latin typeface="Noto Sans SC"/>
                <a:ea typeface="Noto Sans SC"/>
                <a:cs typeface="Noto Sans SC"/>
                <a:sym typeface="Noto Sans SC"/>
              </a:rPr>
              <a:t>+</a:t>
            </a:r>
            <a:r>
              <a:rPr lang="en-US" sz="1800" b="1" i="0" u="none" strike="noStrike">
                <a:solidFill>
                  <a:srgbClr val="7ED321"/>
                </a:solidFill>
                <a:latin typeface="Noto Sans SC"/>
                <a:ea typeface="Noto Sans SC"/>
                <a:cs typeface="Noto Sans SC"/>
                <a:sym typeface="Noto Sans SC"/>
              </a:rPr>
              <a:t>会做</a:t>
            </a:r>
            <a:r>
              <a:rPr lang="en-US" sz="1800" b="0" i="0" u="none" strike="noStrike">
                <a:solidFill>
                  <a:srgbClr val="333333"/>
                </a:solidFill>
                <a:latin typeface="Noto Sans SC"/>
                <a:ea typeface="Noto Sans SC"/>
                <a:cs typeface="Noto Sans SC"/>
                <a:sym typeface="Noto Sans SC"/>
              </a:rPr>
              <a:t>的 AI 助手</a:t>
            </a:r>
            <a:endParaRPr lang="en-US" sz="1100"/>
          </a:p>
        </p:txBody>
      </p:sp>
      <p:sp>
        <p:nvSpPr>
          <p:cNvPr id="10" name="AutoShape 10"/>
          <p:cNvSpPr/>
          <p:nvPr/>
        </p:nvSpPr>
        <p:spPr>
          <a:xfrm>
            <a:off x="762000" y="3556000"/>
            <a:ext cx="5334000" cy="1651000"/>
          </a:xfrm>
          <a:prstGeom prst="roundRect">
            <a:avLst>
              <a:gd name="adj" fmla="val 7692"/>
            </a:avLst>
          </a:prstGeom>
          <a:solidFill>
            <a:srgbClr val="F5A623">
              <a:alpha val="10000"/>
            </a:srgbClr>
          </a:solidFill>
          <a:ln w="12700" cap="flat" cmpd="sng">
            <a:solidFill>
              <a:srgbClr val="F5A623">
                <a:alpha val="10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746500"/>
            <a:ext cx="406400" cy="406400"/>
          </a:xfrm>
          <a:prstGeom prst="rect">
            <a:avLst/>
          </a:prstGeom>
        </p:spPr>
      </p:pic>
      <p:sp>
        <p:nvSpPr>
          <p:cNvPr id="12" name="AutoShape 12"/>
          <p:cNvSpPr/>
          <p:nvPr/>
        </p:nvSpPr>
        <p:spPr>
          <a:xfrm>
            <a:off x="1524000" y="3708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5A623"/>
                </a:solidFill>
                <a:latin typeface="Noto Sans SC"/>
                <a:ea typeface="Noto Sans SC"/>
                <a:cs typeface="Noto Sans SC"/>
                <a:sym typeface="Noto Sans SC"/>
              </a:rPr>
              <a:t>通俗理解</a:t>
            </a:r>
            <a:endParaRPr lang="en-US" sz="1100"/>
          </a:p>
        </p:txBody>
      </p:sp>
      <p:sp>
        <p:nvSpPr>
          <p:cNvPr id="13" name="AutoShape 13"/>
          <p:cNvSpPr/>
          <p:nvPr/>
        </p:nvSpPr>
        <p:spPr>
          <a:xfrm>
            <a:off x="1016000" y="4191000"/>
            <a:ext cx="4826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333333"/>
                </a:solidFill>
                <a:latin typeface="Noto Sans SC"/>
                <a:ea typeface="Noto Sans SC"/>
                <a:cs typeface="Noto Sans SC"/>
                <a:sym typeface="Noto Sans SC"/>
              </a:rPr>
              <a:t>像你的私人小秘书，能听懂你的话并帮你干活，是更强大的 AI 助手。</a:t>
            </a:r>
            <a:endParaRPr lang="en-US" sz="1100"/>
          </a:p>
        </p:txBody>
      </p:sp>
      <p:pic>
        <p:nvPicPr>
          <p:cNvPr id="14" name="Picture 14"/>
          <p:cNvPicPr>
            <a:picLocks noChangeAspect="1"/>
          </p:cNvPicPr>
          <p:nvPr/>
        </p:nvPicPr>
        <p:blipFill>
          <a:blip r:embed="rId6"/>
          <a:srcRect/>
          <a:stretch>
            <a:fillRect/>
          </a:stretch>
        </p:blipFill>
        <p:spPr>
          <a:xfrm>
            <a:off x="7366000" y="1651000"/>
            <a:ext cx="3302000" cy="3302000"/>
          </a:xfrm>
          <a:prstGeom prst="roundRect">
            <a:avLst>
              <a:gd name="adj" fmla="val 7692"/>
            </a:avLst>
          </a:prstGeom>
          <a:noFill/>
          <a:ln w="25400" cap="flat" cmpd="sng">
            <a:noFill/>
            <a:prstDash val="solid"/>
            <a:round/>
          </a:ln>
          <a:effectLst>
            <a:outerShdw blurRad="127000" dist="63500" dir="2700000" algn="tl" rotWithShape="0">
              <a:srgbClr val="000000">
                <a:alpha val="15000"/>
              </a:srgbClr>
            </a:outerShdw>
          </a:effectLst>
        </p:spPr>
      </p:pic>
      <p:sp>
        <p:nvSpPr>
          <p:cNvPr id="15" name="AutoShape 15"/>
          <p:cNvSpPr/>
          <p:nvPr/>
        </p:nvSpPr>
        <p:spPr>
          <a:xfrm>
            <a:off x="7366000" y="5080000"/>
            <a:ext cx="330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808080"/>
                </a:solidFill>
                <a:latin typeface="Noto Sans SC"/>
                <a:ea typeface="Noto Sans SC"/>
                <a:cs typeface="Noto Sans SC"/>
                <a:sym typeface="Noto Sans SC"/>
              </a:rPr>
              <a:t>听 · 想 · 做：智能体的三大能力</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4A90E2"/>
                </a:solidFill>
                <a:latin typeface="Noto Sans SC"/>
                <a:ea typeface="Noto Sans SC"/>
                <a:cs typeface="Noto Sans SC"/>
                <a:sym typeface="Noto Sans SC"/>
              </a:rPr>
              <a:t>智能体 vs 普通聊天机器人</a:t>
            </a:r>
            <a:endParaRPr lang="en-US" sz="1100"/>
          </a:p>
        </p:txBody>
      </p:sp>
      <p:sp>
        <p:nvSpPr>
          <p:cNvPr id="4" name="AutoShape 4"/>
          <p:cNvSpPr/>
          <p:nvPr/>
        </p:nvSpPr>
        <p:spPr>
          <a:xfrm>
            <a:off x="762000" y="1524000"/>
            <a:ext cx="4953000" cy="3302000"/>
          </a:xfrm>
          <a:prstGeom prst="roundRect">
            <a:avLst>
              <a:gd name="adj" fmla="val 3846"/>
            </a:avLst>
          </a:prstGeom>
          <a:solidFill>
            <a:srgbClr val="FFFFFF">
              <a:alpha val="90000"/>
            </a:srgbClr>
          </a:solidFill>
          <a:ln cap="flat" cmpd="sng">
            <a:solidFill>
              <a:srgbClr val="E6CFCF">
                <a:alpha val="90000"/>
              </a:srgbClr>
            </a:solid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3000" y="1778000"/>
            <a:ext cx="609600" cy="609600"/>
          </a:xfrm>
          <a:prstGeom prst="rect">
            <a:avLst/>
          </a:prstGeom>
        </p:spPr>
      </p:pic>
      <p:sp>
        <p:nvSpPr>
          <p:cNvPr id="6" name="AutoShape 6"/>
          <p:cNvSpPr/>
          <p:nvPr/>
        </p:nvSpPr>
        <p:spPr>
          <a:xfrm>
            <a:off x="1905000" y="1778000"/>
            <a:ext cx="304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505050"/>
                </a:solidFill>
                <a:latin typeface="Noto Sans SC"/>
                <a:ea typeface="Noto Sans SC"/>
                <a:cs typeface="Noto Sans SC"/>
                <a:sym typeface="Noto Sans SC"/>
              </a:rPr>
              <a:t>普通聊天机器人</a:t>
            </a:r>
            <a:endParaRPr lang="en-US" sz="1100"/>
          </a:p>
        </p:txBody>
      </p:sp>
      <p:cxnSp>
        <p:nvCxnSpPr>
          <p:cNvPr id="7" name="Connector 7"/>
          <p:cNvCxnSpPr/>
          <p:nvPr/>
        </p:nvCxnSpPr>
        <p:spPr>
          <a:xfrm rot="-10417">
            <a:off x="1143010" y="2533650"/>
            <a:ext cx="4191000" cy="12700"/>
          </a:xfrm>
          <a:prstGeom prst="line">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8" name="AutoShape 8"/>
          <p:cNvSpPr/>
          <p:nvPr/>
        </p:nvSpPr>
        <p:spPr>
          <a:xfrm>
            <a:off x="1143000" y="2794000"/>
            <a:ext cx="4191000" cy="1524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800" b="1" i="0" u="none" strike="noStrike">
                <a:solidFill>
                  <a:srgbClr val="646464"/>
                </a:solidFill>
                <a:latin typeface="Noto Sans SC"/>
                <a:ea typeface="Noto Sans SC"/>
                <a:cs typeface="Noto Sans SC"/>
                <a:sym typeface="Noto Sans SC"/>
              </a:rPr>
              <a:t>局限性：</a:t>
            </a:r>
            <a:endParaRPr lang="en-US" sz="1100"/>
          </a:p>
          <a:p>
            <a:pPr indent="0" algn="l">
              <a:lnSpc>
                <a:spcPct val="117000"/>
              </a:lnSpc>
            </a:pPr>
            <a:r>
              <a:rPr lang="en-US" sz="1800" b="0" i="0" u="none" strike="noStrike">
                <a:solidFill>
                  <a:srgbClr val="646464"/>
                </a:solidFill>
                <a:latin typeface="Noto Sans SC"/>
                <a:ea typeface="Noto Sans SC"/>
                <a:cs typeface="Noto Sans SC"/>
                <a:sym typeface="Noto Sans SC"/>
              </a:rPr>
              <a:t>• 仅支持简单的问答交互</a:t>
            </a:r>
            <a:endParaRPr lang="en-US" sz="1800" b="0" i="0" u="none" strike="noStrike">
              <a:solidFill>
                <a:srgbClr val="646464"/>
              </a:solidFill>
              <a:latin typeface="Noto Sans SC"/>
              <a:ea typeface="Noto Sans SC"/>
              <a:cs typeface="Noto Sans SC"/>
              <a:sym typeface="Noto Sans SC"/>
            </a:endParaRPr>
          </a:p>
          <a:p>
            <a:pPr indent="0" algn="l">
              <a:lnSpc>
                <a:spcPct val="117000"/>
              </a:lnSpc>
            </a:pPr>
            <a:r>
              <a:rPr lang="en-US" sz="1800" b="0" i="0" u="none" strike="noStrike">
                <a:solidFill>
                  <a:srgbClr val="646464"/>
                </a:solidFill>
                <a:latin typeface="Noto Sans SC"/>
                <a:ea typeface="Noto Sans SC"/>
                <a:cs typeface="Noto Sans SC"/>
                <a:sym typeface="Noto Sans SC"/>
              </a:rPr>
              <a:t>• 无记忆能力，每次对话“失忆”</a:t>
            </a:r>
            <a:endParaRPr lang="en-US" sz="1800" b="0" i="0" u="none" strike="noStrike">
              <a:solidFill>
                <a:srgbClr val="646464"/>
              </a:solidFill>
              <a:latin typeface="Noto Sans SC"/>
              <a:ea typeface="Noto Sans SC"/>
              <a:cs typeface="Noto Sans SC"/>
              <a:sym typeface="Noto Sans SC"/>
            </a:endParaRPr>
          </a:p>
          <a:p>
            <a:pPr indent="0" algn="l">
              <a:lnSpc>
                <a:spcPct val="117000"/>
              </a:lnSpc>
            </a:pPr>
            <a:r>
              <a:rPr lang="en-US" sz="1800" b="0" i="0" u="none" strike="noStrike">
                <a:solidFill>
                  <a:srgbClr val="646464"/>
                </a:solidFill>
                <a:latin typeface="Noto Sans SC"/>
                <a:ea typeface="Noto Sans SC"/>
                <a:cs typeface="Noto Sans SC"/>
                <a:sym typeface="Noto Sans SC"/>
              </a:rPr>
              <a:t>• 被动响应，无法主动行动</a:t>
            </a:r>
            <a:endParaRPr lang="en-US" sz="1800" b="0" i="0" u="none" strike="noStrike">
              <a:solidFill>
                <a:srgbClr val="646464"/>
              </a:solidFill>
              <a:latin typeface="Noto Sans SC"/>
              <a:ea typeface="Noto Sans SC"/>
              <a:cs typeface="Noto Sans SC"/>
              <a:sym typeface="Noto Sans SC"/>
            </a:endParaRPr>
          </a:p>
        </p:txBody>
      </p:sp>
      <p:sp>
        <p:nvSpPr>
          <p:cNvPr id="9" name="AutoShape 9"/>
          <p:cNvSpPr/>
          <p:nvPr/>
        </p:nvSpPr>
        <p:spPr>
          <a:xfrm>
            <a:off x="6477000" y="1524000"/>
            <a:ext cx="4953000" cy="3302000"/>
          </a:xfrm>
          <a:prstGeom prst="roundRect">
            <a:avLst>
              <a:gd name="adj" fmla="val 3846"/>
            </a:avLst>
          </a:prstGeom>
          <a:solidFill>
            <a:srgbClr val="FFFFFF">
              <a:alpha val="95000"/>
            </a:srgbClr>
          </a:solidFill>
          <a:ln w="25400" cap="flat" cmpd="sng">
            <a:solidFill>
              <a:srgbClr val="4A90E2">
                <a:alpha val="100000"/>
              </a:srgbClr>
            </a:solidFill>
            <a:prstDash val="solid"/>
            <a:round/>
          </a:ln>
          <a:effectLst>
            <a:outerShdw blurRad="190500" dist="50800" dir="5400000" algn="tl" rotWithShape="0">
              <a:srgbClr val="4A90E2">
                <a:alpha val="20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58000" y="1778000"/>
            <a:ext cx="609600" cy="609600"/>
          </a:xfrm>
          <a:prstGeom prst="rect">
            <a:avLst/>
          </a:prstGeom>
        </p:spPr>
      </p:pic>
      <p:sp>
        <p:nvSpPr>
          <p:cNvPr id="11" name="AutoShape 11"/>
          <p:cNvSpPr/>
          <p:nvPr/>
        </p:nvSpPr>
        <p:spPr>
          <a:xfrm>
            <a:off x="7620000" y="1778000"/>
            <a:ext cx="304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4A90E2"/>
                </a:solidFill>
                <a:latin typeface="Noto Sans SC"/>
                <a:ea typeface="Noto Sans SC"/>
                <a:cs typeface="Noto Sans SC"/>
                <a:sym typeface="Noto Sans SC"/>
              </a:rPr>
              <a:t>智能体 (AI Agent)</a:t>
            </a:r>
            <a:endParaRPr lang="en-US" sz="1100"/>
          </a:p>
        </p:txBody>
      </p:sp>
      <p:cxnSp>
        <p:nvCxnSpPr>
          <p:cNvPr id="12" name="Connector 12"/>
          <p:cNvCxnSpPr/>
          <p:nvPr/>
        </p:nvCxnSpPr>
        <p:spPr>
          <a:xfrm rot="-10417">
            <a:off x="6858010" y="2533650"/>
            <a:ext cx="4191000" cy="12700"/>
          </a:xfrm>
          <a:prstGeom prst="line">
            <a:avLst/>
          </a:prstGeom>
          <a:solidFill>
            <a:srgbClr val="DEE0E3">
              <a:alpha val="100000"/>
            </a:srgbClr>
          </a:solidFill>
          <a:ln w="12700" cap="flat" cmpd="sng">
            <a:solidFill>
              <a:srgbClr val="4A90E2">
                <a:alpha val="30000"/>
              </a:srgbClr>
            </a:solidFill>
            <a:prstDash val="solid"/>
            <a:round/>
            <a:headEnd type="none" w="med" len="med"/>
            <a:tailEnd type="none" w="med" len="med"/>
          </a:ln>
        </p:spPr>
      </p:cxnSp>
      <p:sp>
        <p:nvSpPr>
          <p:cNvPr id="13" name="AutoShape 13"/>
          <p:cNvSpPr/>
          <p:nvPr/>
        </p:nvSpPr>
        <p:spPr>
          <a:xfrm>
            <a:off x="6858000" y="2794000"/>
            <a:ext cx="4191000" cy="1524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800" b="1" i="0" u="none" strike="noStrike">
                <a:solidFill>
                  <a:srgbClr val="323232"/>
                </a:solidFill>
                <a:latin typeface="Noto Sans SC"/>
                <a:ea typeface="Noto Sans SC"/>
                <a:cs typeface="Noto Sans SC"/>
                <a:sym typeface="Noto Sans SC"/>
              </a:rPr>
              <a:t>核心优势：</a:t>
            </a:r>
            <a:endParaRPr lang="en-US" sz="1100"/>
          </a:p>
          <a:p>
            <a:pPr indent="0" algn="l">
              <a:lnSpc>
                <a:spcPct val="117000"/>
              </a:lnSpc>
            </a:pPr>
            <a:r>
              <a:rPr lang="en-US" sz="1800" b="0" i="0" u="none" strike="noStrike">
                <a:solidFill>
                  <a:srgbClr val="323232"/>
                </a:solidFill>
                <a:latin typeface="Noto Sans SC"/>
                <a:ea typeface="Noto Sans SC"/>
                <a:cs typeface="Noto Sans SC"/>
                <a:sym typeface="Noto Sans SC"/>
              </a:rPr>
              <a:t>•</a:t>
            </a:r>
            <a:r>
              <a:rPr lang="en-US" sz="1800" b="0" i="0" u="none" strike="noStrike">
                <a:solidFill>
                  <a:srgbClr val="7ED321"/>
                </a:solidFill>
                <a:latin typeface="Noto Sans SC"/>
                <a:ea typeface="Noto Sans SC"/>
                <a:cs typeface="Noto Sans SC"/>
                <a:sym typeface="Noto Sans SC"/>
              </a:rPr>
              <a:t>长程记忆</a:t>
            </a:r>
            <a:r>
              <a:rPr lang="en-US" sz="1800" b="0" i="0" u="none" strike="noStrike">
                <a:solidFill>
                  <a:srgbClr val="323232"/>
                </a:solidFill>
                <a:latin typeface="Noto Sans SC"/>
                <a:ea typeface="Noto Sans SC"/>
                <a:cs typeface="Noto Sans SC"/>
                <a:sym typeface="Noto Sans SC"/>
              </a:rPr>
              <a:t>：记住上下文与历史交互</a:t>
            </a:r>
            <a:endParaRPr lang="en-US" sz="1800" b="0" i="0" u="none" strike="noStrike">
              <a:solidFill>
                <a:srgbClr val="323232"/>
              </a:solidFill>
              <a:latin typeface="Noto Sans SC"/>
              <a:ea typeface="Noto Sans SC"/>
              <a:cs typeface="Noto Sans SC"/>
              <a:sym typeface="Noto Sans SC"/>
            </a:endParaRPr>
          </a:p>
          <a:p>
            <a:pPr indent="0" algn="l">
              <a:lnSpc>
                <a:spcPct val="117000"/>
              </a:lnSpc>
            </a:pPr>
            <a:r>
              <a:rPr lang="en-US" sz="1800" b="0" i="0" u="none" strike="noStrike">
                <a:solidFill>
                  <a:srgbClr val="323232"/>
                </a:solidFill>
                <a:latin typeface="Noto Sans SC"/>
                <a:ea typeface="Noto Sans SC"/>
                <a:cs typeface="Noto Sans SC"/>
                <a:sym typeface="Noto Sans SC"/>
              </a:rPr>
              <a:t>•</a:t>
            </a:r>
            <a:r>
              <a:rPr lang="en-US" sz="1800" b="0" i="0" u="none" strike="noStrike">
                <a:solidFill>
                  <a:srgbClr val="F5A623"/>
                </a:solidFill>
                <a:latin typeface="Noto Sans SC"/>
                <a:ea typeface="Noto Sans SC"/>
                <a:cs typeface="Noto Sans SC"/>
                <a:sym typeface="Noto Sans SC"/>
              </a:rPr>
              <a:t>主动行动</a:t>
            </a:r>
            <a:r>
              <a:rPr lang="en-US" sz="1800" b="0" i="0" u="none" strike="noStrike">
                <a:solidFill>
                  <a:srgbClr val="323232"/>
                </a:solidFill>
                <a:latin typeface="Noto Sans SC"/>
                <a:ea typeface="Noto Sans SC"/>
                <a:cs typeface="Noto Sans SC"/>
                <a:sym typeface="Noto Sans SC"/>
              </a:rPr>
              <a:t>：无需指令也能推进任务</a:t>
            </a:r>
            <a:endParaRPr lang="en-US" sz="1800" b="0" i="0" u="none" strike="noStrike">
              <a:solidFill>
                <a:srgbClr val="323232"/>
              </a:solidFill>
              <a:latin typeface="Noto Sans SC"/>
              <a:ea typeface="Noto Sans SC"/>
              <a:cs typeface="Noto Sans SC"/>
              <a:sym typeface="Noto Sans SC"/>
            </a:endParaRPr>
          </a:p>
          <a:p>
            <a:pPr indent="0" algn="l">
              <a:lnSpc>
                <a:spcPct val="117000"/>
              </a:lnSpc>
            </a:pPr>
            <a:r>
              <a:rPr lang="en-US" sz="1800" b="0" i="0" u="none" strike="noStrike">
                <a:solidFill>
                  <a:srgbClr val="323232"/>
                </a:solidFill>
                <a:latin typeface="Noto Sans SC"/>
                <a:ea typeface="Noto Sans SC"/>
                <a:cs typeface="Noto Sans SC"/>
                <a:sym typeface="Noto Sans SC"/>
              </a:rPr>
              <a:t>•</a:t>
            </a:r>
            <a:r>
              <a:rPr lang="en-US" sz="1800" b="0" i="0" u="none" strike="noStrike">
                <a:solidFill>
                  <a:srgbClr val="4A90E2"/>
                </a:solidFill>
                <a:latin typeface="Noto Sans SC"/>
                <a:ea typeface="Noto Sans SC"/>
                <a:cs typeface="Noto Sans SC"/>
                <a:sym typeface="Noto Sans SC"/>
              </a:rPr>
              <a:t>工具调用</a:t>
            </a:r>
            <a:r>
              <a:rPr lang="en-US" sz="1800" b="0" i="0" u="none" strike="noStrike">
                <a:solidFill>
                  <a:srgbClr val="323232"/>
                </a:solidFill>
                <a:latin typeface="Noto Sans SC"/>
                <a:ea typeface="Noto Sans SC"/>
                <a:cs typeface="Noto Sans SC"/>
                <a:sym typeface="Noto Sans SC"/>
              </a:rPr>
              <a:t>：联网搜索、绘图、执行代码</a:t>
            </a:r>
            <a:endParaRPr lang="en-US" sz="1800" b="0" i="0" u="none" strike="noStrike">
              <a:solidFill>
                <a:srgbClr val="323232"/>
              </a:solidFill>
              <a:latin typeface="Noto Sans SC"/>
              <a:ea typeface="Noto Sans SC"/>
              <a:cs typeface="Noto Sans SC"/>
              <a:sym typeface="Noto Sans SC"/>
            </a:endParaRPr>
          </a:p>
        </p:txBody>
      </p:sp>
      <p:sp>
        <p:nvSpPr>
          <p:cNvPr id="14" name="AutoShape 14"/>
          <p:cNvSpPr/>
          <p:nvPr/>
        </p:nvSpPr>
        <p:spPr>
          <a:xfrm>
            <a:off x="762000" y="5207000"/>
            <a:ext cx="10668000" cy="1016000"/>
          </a:xfrm>
          <a:prstGeom prst="roundRect">
            <a:avLst>
              <a:gd name="adj" fmla="val 12500"/>
            </a:avLst>
          </a:prstGeom>
          <a:solidFill>
            <a:srgbClr val="4A90E2">
              <a:alpha val="10000"/>
            </a:srgbClr>
          </a:solidFill>
          <a:ln cap="flat" cmpd="sng">
            <a:solidFill>
              <a:srgbClr val="2E75C9">
                <a:alpha val="1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5461000"/>
            <a:ext cx="406400" cy="406400"/>
          </a:xfrm>
          <a:prstGeom prst="rect">
            <a:avLst/>
          </a:prstGeom>
        </p:spPr>
      </p:pic>
      <p:sp>
        <p:nvSpPr>
          <p:cNvPr id="16" name="AutoShape 16"/>
          <p:cNvSpPr/>
          <p:nvPr/>
        </p:nvSpPr>
        <p:spPr>
          <a:xfrm>
            <a:off x="1524000" y="5397500"/>
            <a:ext cx="965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A90E2"/>
                </a:solidFill>
                <a:latin typeface="Noto Sans SC"/>
                <a:ea typeface="Noto Sans SC"/>
                <a:cs typeface="Noto Sans SC"/>
                <a:sym typeface="Noto Sans SC"/>
              </a:rPr>
              <a:t>总结：</a:t>
            </a:r>
            <a:r>
              <a:rPr lang="en-US" sz="1800" b="0" i="0" u="none" strike="noStrike">
                <a:solidFill>
                  <a:srgbClr val="505050"/>
                </a:solidFill>
                <a:latin typeface="Noto Sans SC"/>
                <a:ea typeface="Noto Sans SC"/>
                <a:cs typeface="Noto Sans SC"/>
                <a:sym typeface="Noto Sans SC"/>
              </a:rPr>
              <a:t>智能体不仅仅是对话工具，更是拥有“自我意识”和“执行力”的数字助手，能够独立完成复杂的任务闭环。</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8559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4A90E2"/>
                </a:solidFill>
                <a:latin typeface="Noto Sans SC"/>
                <a:ea typeface="Noto Sans SC"/>
                <a:cs typeface="Noto Sans SC"/>
                <a:sym typeface="Noto Sans SC"/>
              </a:rPr>
              <a:t>扣子是什么？——智能体的“乐高工厂”</a:t>
            </a:r>
            <a:endParaRPr lang="en-US" sz="1100"/>
          </a:p>
        </p:txBody>
      </p:sp>
      <p:sp>
        <p:nvSpPr>
          <p:cNvPr id="5" name="AutoShape 5"/>
          <p:cNvSpPr/>
          <p:nvPr/>
        </p:nvSpPr>
        <p:spPr>
          <a:xfrm>
            <a:off x="762000" y="1524000"/>
            <a:ext cx="5334000" cy="1143000"/>
          </a:xfrm>
          <a:prstGeom prst="roundRect">
            <a:avLst>
              <a:gd name="adj" fmla="val 11111"/>
            </a:avLst>
          </a:prstGeom>
          <a:solidFill>
            <a:srgbClr val="EBF5FF">
              <a:alpha val="100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892300"/>
            <a:ext cx="406400" cy="406400"/>
          </a:xfrm>
          <a:prstGeom prst="rect">
            <a:avLst/>
          </a:prstGeom>
        </p:spPr>
      </p:pic>
      <p:sp>
        <p:nvSpPr>
          <p:cNvPr id="7" name="AutoShape 7"/>
          <p:cNvSpPr/>
          <p:nvPr/>
        </p:nvSpPr>
        <p:spPr>
          <a:xfrm>
            <a:off x="1524000" y="1651000"/>
            <a:ext cx="431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90E2"/>
                </a:solidFill>
                <a:latin typeface="Noto Sans SC"/>
                <a:ea typeface="Noto Sans SC"/>
                <a:cs typeface="Noto Sans SC"/>
                <a:sym typeface="Noto Sans SC"/>
              </a:rPr>
              <a:t>零门槛智能体平台</a:t>
            </a:r>
            <a:endParaRPr lang="en-US" sz="1100"/>
          </a:p>
          <a:p>
            <a:pPr indent="0" algn="l">
              <a:lnSpc>
                <a:spcPct val="125000"/>
              </a:lnSpc>
            </a:pPr>
            <a:r>
              <a:rPr lang="en-US" sz="1600" b="0" i="0" u="none" strike="noStrike">
                <a:solidFill>
                  <a:srgbClr val="555555"/>
                </a:solidFill>
                <a:latin typeface="Noto Sans SC"/>
                <a:ea typeface="Noto Sans SC"/>
                <a:cs typeface="Noto Sans SC"/>
                <a:sym typeface="Noto Sans SC"/>
              </a:rPr>
              <a:t>字节跳动出品的 coze.cn，支持零代码/低代码开发，让AI应用触手可及。</a:t>
            </a:r>
            <a:endParaRPr lang="en-US" sz="1600" b="0" i="0" u="none" strike="noStrike">
              <a:solidFill>
                <a:srgbClr val="555555"/>
              </a:solidFill>
              <a:latin typeface="Noto Sans SC"/>
              <a:ea typeface="Noto Sans SC"/>
              <a:cs typeface="Noto Sans SC"/>
              <a:sym typeface="Noto Sans SC"/>
            </a:endParaRPr>
          </a:p>
        </p:txBody>
      </p:sp>
      <p:sp>
        <p:nvSpPr>
          <p:cNvPr id="8" name="AutoShape 8"/>
          <p:cNvSpPr/>
          <p:nvPr/>
        </p:nvSpPr>
        <p:spPr>
          <a:xfrm>
            <a:off x="762000" y="2921000"/>
            <a:ext cx="5334000" cy="1143000"/>
          </a:xfrm>
          <a:prstGeom prst="roundRect">
            <a:avLst>
              <a:gd name="adj" fmla="val 11111"/>
            </a:avLst>
          </a:prstGeom>
          <a:solidFill>
            <a:srgbClr val="FFF8EB">
              <a:alpha val="100000"/>
            </a:srgbClr>
          </a:solidFill>
          <a:ln w="12700" cap="flat" cmpd="sng">
            <a:solidFill>
              <a:srgbClr val="F5A623">
                <a:alpha val="3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289300"/>
            <a:ext cx="406400" cy="406400"/>
          </a:xfrm>
          <a:prstGeom prst="rect">
            <a:avLst/>
          </a:prstGeom>
        </p:spPr>
      </p:pic>
      <p:sp>
        <p:nvSpPr>
          <p:cNvPr id="10" name="AutoShape 10"/>
          <p:cNvSpPr/>
          <p:nvPr/>
        </p:nvSpPr>
        <p:spPr>
          <a:xfrm>
            <a:off x="1524000" y="3048000"/>
            <a:ext cx="431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5A623"/>
                </a:solidFill>
                <a:latin typeface="Noto Sans SC"/>
                <a:ea typeface="Noto Sans SC"/>
                <a:cs typeface="Noto Sans SC"/>
                <a:sym typeface="Noto Sans SC"/>
              </a:rPr>
              <a:t>“乐高工厂”式组装</a:t>
            </a:r>
            <a:endParaRPr lang="en-US" sz="1100"/>
          </a:p>
          <a:p>
            <a:pPr indent="0" algn="l">
              <a:lnSpc>
                <a:spcPct val="125000"/>
              </a:lnSpc>
            </a:pPr>
            <a:r>
              <a:rPr lang="en-US" sz="1600" b="0" i="0" u="none" strike="noStrike">
                <a:solidFill>
                  <a:srgbClr val="555555"/>
                </a:solidFill>
                <a:latin typeface="Noto Sans SC"/>
                <a:ea typeface="Noto Sans SC"/>
                <a:cs typeface="Noto Sans SC"/>
                <a:sym typeface="Noto Sans SC"/>
              </a:rPr>
              <a:t>无需自己生产“积木”，像搭乐高一样组合功能模块，轻松做出专属智能体。</a:t>
            </a:r>
            <a:endParaRPr lang="en-US" sz="1600" b="0" i="0" u="none" strike="noStrike">
              <a:solidFill>
                <a:srgbClr val="555555"/>
              </a:solidFill>
              <a:latin typeface="Noto Sans SC"/>
              <a:ea typeface="Noto Sans SC"/>
              <a:cs typeface="Noto Sans SC"/>
              <a:sym typeface="Noto Sans SC"/>
            </a:endParaRPr>
          </a:p>
        </p:txBody>
      </p:sp>
      <p:sp>
        <p:nvSpPr>
          <p:cNvPr id="11" name="AutoShape 11"/>
          <p:cNvSpPr/>
          <p:nvPr/>
        </p:nvSpPr>
        <p:spPr>
          <a:xfrm>
            <a:off x="762000" y="4318000"/>
            <a:ext cx="5334000" cy="1143000"/>
          </a:xfrm>
          <a:prstGeom prst="roundRect">
            <a:avLst>
              <a:gd name="adj" fmla="val 11111"/>
            </a:avLst>
          </a:prstGeom>
          <a:solidFill>
            <a:srgbClr val="F0FFEB">
              <a:alpha val="100000"/>
            </a:srgbClr>
          </a:solidFill>
          <a:ln w="12700" cap="flat" cmpd="sng">
            <a:solidFill>
              <a:srgbClr val="7ED321">
                <a:alpha val="3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686300"/>
            <a:ext cx="406400" cy="406400"/>
          </a:xfrm>
          <a:prstGeom prst="rect">
            <a:avLst/>
          </a:prstGeom>
        </p:spPr>
      </p:pic>
      <p:sp>
        <p:nvSpPr>
          <p:cNvPr id="13" name="AutoShape 13"/>
          <p:cNvSpPr/>
          <p:nvPr/>
        </p:nvSpPr>
        <p:spPr>
          <a:xfrm>
            <a:off x="1524000" y="4445000"/>
            <a:ext cx="431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7ED321"/>
                </a:solidFill>
                <a:latin typeface="Noto Sans SC"/>
                <a:ea typeface="Noto Sans SC"/>
                <a:cs typeface="Noto Sans SC"/>
                <a:sym typeface="Noto Sans SC"/>
              </a:rPr>
              <a:t>60+ 内置插件库</a:t>
            </a:r>
            <a:endParaRPr lang="en-US" sz="1100"/>
          </a:p>
          <a:p>
            <a:pPr indent="0" algn="l">
              <a:lnSpc>
                <a:spcPct val="125000"/>
              </a:lnSpc>
            </a:pPr>
            <a:r>
              <a:rPr lang="en-US" sz="1600" b="0" i="0" u="none" strike="noStrike">
                <a:solidFill>
                  <a:srgbClr val="555555"/>
                </a:solidFill>
                <a:latin typeface="Noto Sans SC"/>
                <a:ea typeface="Noto Sans SC"/>
                <a:cs typeface="Noto Sans SC"/>
                <a:sym typeface="Noto Sans SC"/>
              </a:rPr>
              <a:t>集成搜索、图片识别、文档解析等能力，插件一键启用，功能即刻拥有。</a:t>
            </a:r>
            <a:endParaRPr lang="en-US" sz="1600" b="0" i="0" u="none" strike="noStrike">
              <a:solidFill>
                <a:srgbClr val="555555"/>
              </a:solidFill>
              <a:latin typeface="Noto Sans SC"/>
              <a:ea typeface="Noto Sans SC"/>
              <a:cs typeface="Noto Sans SC"/>
              <a:sym typeface="Noto Sans SC"/>
            </a:endParaRPr>
          </a:p>
        </p:txBody>
      </p:sp>
      <p:pic>
        <p:nvPicPr>
          <p:cNvPr id="14" name="Picture 14"/>
          <p:cNvPicPr>
            <a:picLocks noChangeAspect="1"/>
          </p:cNvPicPr>
          <p:nvPr/>
        </p:nvPicPr>
        <p:blipFill>
          <a:blip r:embed="rId8"/>
          <a:srcRect/>
          <a:stretch>
            <a:fillRect/>
          </a:stretch>
        </p:blipFill>
        <p:spPr>
          <a:xfrm>
            <a:off x="7112000" y="1778000"/>
            <a:ext cx="3556000" cy="2667000"/>
          </a:xfrm>
          <a:prstGeom prst="roundRect">
            <a:avLst>
              <a:gd name="adj" fmla="val 9523"/>
            </a:avLst>
          </a:prstGeom>
          <a:noFill/>
          <a:ln w="25400" cap="flat" cmpd="sng">
            <a:noFill/>
            <a:prstDash val="solid"/>
            <a:round/>
          </a:ln>
          <a:effectLst>
            <a:outerShdw blurRad="254000" dist="127000" dir="2700000" algn="tl" rotWithShape="0">
              <a:srgbClr val="000000">
                <a:alpha val="15000"/>
              </a:srgbClr>
            </a:outerShdw>
          </a:effectLst>
        </p:spPr>
      </p:pic>
      <p:sp>
        <p:nvSpPr>
          <p:cNvPr id="15" name="AutoShape 15"/>
          <p:cNvSpPr/>
          <p:nvPr/>
        </p:nvSpPr>
        <p:spPr>
          <a:xfrm>
            <a:off x="7112000" y="4699000"/>
            <a:ext cx="355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1" u="none" strike="noStrike">
                <a:solidFill>
                  <a:srgbClr val="969696"/>
                </a:solidFill>
                <a:latin typeface="Noto Sans SC"/>
                <a:ea typeface="Noto Sans SC"/>
                <a:cs typeface="Noto Sans SC"/>
                <a:sym typeface="Noto Sans SC"/>
              </a:rPr>
              <a:t>“积木虽小，创意无限”</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65405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4A90E2"/>
                </a:solidFill>
                <a:latin typeface="Noto Sans SC"/>
                <a:ea typeface="Noto Sans SC"/>
                <a:cs typeface="Noto Sans SC"/>
                <a:sym typeface="Noto Sans SC"/>
              </a:rPr>
              <a:t>初中生能用扣子做什么？</a:t>
            </a:r>
            <a:endParaRPr lang="en-US" sz="1100"/>
          </a:p>
        </p:txBody>
      </p:sp>
      <p:sp>
        <p:nvSpPr>
          <p:cNvPr id="4" name="AutoShape 4"/>
          <p:cNvSpPr/>
          <p:nvPr/>
        </p:nvSpPr>
        <p:spPr>
          <a:xfrm>
            <a:off x="762000" y="1397000"/>
            <a:ext cx="5080000" cy="1270000"/>
          </a:xfrm>
          <a:prstGeom prst="roundRect">
            <a:avLst>
              <a:gd name="adj" fmla="val 10000"/>
            </a:avLst>
          </a:prstGeom>
          <a:solidFill>
            <a:srgbClr val="FFFFFF">
              <a:alpha val="90000"/>
            </a:srgbClr>
          </a:solidFill>
          <a:ln w="25400" cap="flat" cmpd="sng">
            <a:noFill/>
            <a:prstDash val="solid"/>
            <a:round/>
          </a:ln>
          <a:effectLst>
            <a:outerShdw blurRad="127000" dist="50800" dir="5400000" algn="tl" rotWithShape="0">
              <a:srgbClr val="4A90E2">
                <a:alpha val="20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srcRect/>
          <a:stretch>
            <a:fillRect/>
          </a:stretch>
        </p:blipFill>
        <p:spPr>
          <a:xfrm>
            <a:off x="1016000" y="1651000"/>
            <a:ext cx="762000" cy="762000"/>
          </a:xfrm>
          <a:prstGeom prst="ellipse">
            <a:avLst/>
          </a:prstGeom>
          <a:noFill/>
          <a:ln w="25400" cap="flat" cmpd="sng">
            <a:noFill/>
            <a:prstDash val="solid"/>
            <a:round/>
          </a:ln>
        </p:spPr>
      </p:pic>
      <p:sp>
        <p:nvSpPr>
          <p:cNvPr id="6" name="AutoShape 6"/>
          <p:cNvSpPr/>
          <p:nvPr/>
        </p:nvSpPr>
        <p:spPr>
          <a:xfrm>
            <a:off x="1968500" y="15875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90E2"/>
                </a:solidFill>
                <a:latin typeface="Noto Sans SC"/>
                <a:ea typeface="Noto Sans SC"/>
                <a:cs typeface="Noto Sans SC"/>
                <a:sym typeface="Noto Sans SC"/>
              </a:rPr>
              <a:t>单词拼写助手</a:t>
            </a:r>
            <a:endParaRPr lang="en-US" sz="1100"/>
          </a:p>
        </p:txBody>
      </p:sp>
      <p:sp>
        <p:nvSpPr>
          <p:cNvPr id="7" name="AutoShape 7"/>
          <p:cNvSpPr/>
          <p:nvPr/>
        </p:nvSpPr>
        <p:spPr>
          <a:xfrm>
            <a:off x="1968500" y="19685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505050"/>
                </a:solidFill>
                <a:latin typeface="Noto Sans SC"/>
                <a:ea typeface="Noto Sans SC"/>
                <a:cs typeface="Noto Sans SC"/>
                <a:sym typeface="Noto Sans SC"/>
              </a:rPr>
              <a:t>拍照出单词，自动报听写，解放双手。</a:t>
            </a:r>
            <a:endParaRPr lang="en-US" sz="1100"/>
          </a:p>
        </p:txBody>
      </p:sp>
      <p:sp>
        <p:nvSpPr>
          <p:cNvPr id="8" name="AutoShape 8"/>
          <p:cNvSpPr/>
          <p:nvPr/>
        </p:nvSpPr>
        <p:spPr>
          <a:xfrm>
            <a:off x="6350000" y="1397000"/>
            <a:ext cx="5080000" cy="1270000"/>
          </a:xfrm>
          <a:prstGeom prst="roundRect">
            <a:avLst>
              <a:gd name="adj" fmla="val 10000"/>
            </a:avLst>
          </a:prstGeom>
          <a:solidFill>
            <a:srgbClr val="FFFFFF">
              <a:alpha val="90000"/>
            </a:srgbClr>
          </a:solidFill>
          <a:ln w="25400" cap="flat" cmpd="sng">
            <a:noFill/>
            <a:prstDash val="solid"/>
            <a:round/>
          </a:ln>
          <a:effectLst>
            <a:outerShdw blurRad="127000" dist="50800" dir="5400000" algn="tl" rotWithShape="0">
              <a:srgbClr val="F5A623">
                <a:alpha val="2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srcRect/>
          <a:stretch>
            <a:fillRect/>
          </a:stretch>
        </p:blipFill>
        <p:spPr>
          <a:xfrm>
            <a:off x="6604000" y="1651000"/>
            <a:ext cx="762000" cy="762000"/>
          </a:xfrm>
          <a:prstGeom prst="ellipse">
            <a:avLst/>
          </a:prstGeom>
          <a:noFill/>
          <a:ln w="25400" cap="flat" cmpd="sng">
            <a:noFill/>
            <a:prstDash val="solid"/>
            <a:round/>
          </a:ln>
        </p:spPr>
      </p:pic>
      <p:sp>
        <p:nvSpPr>
          <p:cNvPr id="10" name="AutoShape 10"/>
          <p:cNvSpPr/>
          <p:nvPr/>
        </p:nvSpPr>
        <p:spPr>
          <a:xfrm>
            <a:off x="7556500" y="15875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5A623"/>
                </a:solidFill>
                <a:latin typeface="Noto Sans SC"/>
                <a:ea typeface="Noto Sans SC"/>
                <a:cs typeface="Noto Sans SC"/>
                <a:sym typeface="Noto Sans SC"/>
              </a:rPr>
              <a:t>自动出题智能体</a:t>
            </a:r>
            <a:endParaRPr lang="en-US" sz="1100"/>
          </a:p>
        </p:txBody>
      </p:sp>
      <p:sp>
        <p:nvSpPr>
          <p:cNvPr id="11" name="AutoShape 11"/>
          <p:cNvSpPr/>
          <p:nvPr/>
        </p:nvSpPr>
        <p:spPr>
          <a:xfrm>
            <a:off x="7556500" y="19685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505050"/>
                </a:solidFill>
                <a:latin typeface="Noto Sans SC"/>
                <a:ea typeface="Noto Sans SC"/>
                <a:cs typeface="Noto Sans SC"/>
                <a:sym typeface="Noto Sans SC"/>
              </a:rPr>
              <a:t>分析错题本，生成针对性练习，精准提分。</a:t>
            </a:r>
            <a:endParaRPr lang="en-US" sz="1100"/>
          </a:p>
        </p:txBody>
      </p:sp>
      <p:sp>
        <p:nvSpPr>
          <p:cNvPr id="12" name="AutoShape 12"/>
          <p:cNvSpPr/>
          <p:nvPr/>
        </p:nvSpPr>
        <p:spPr>
          <a:xfrm>
            <a:off x="762000" y="2921000"/>
            <a:ext cx="5080000" cy="1270000"/>
          </a:xfrm>
          <a:prstGeom prst="roundRect">
            <a:avLst>
              <a:gd name="adj" fmla="val 10000"/>
            </a:avLst>
          </a:prstGeom>
          <a:solidFill>
            <a:srgbClr val="FFFFFF">
              <a:alpha val="90000"/>
            </a:srgbClr>
          </a:solidFill>
          <a:ln w="25400" cap="flat" cmpd="sng">
            <a:noFill/>
            <a:prstDash val="solid"/>
            <a:round/>
          </a:ln>
          <a:effectLst>
            <a:outerShdw blurRad="127000" dist="50800" dir="5400000" algn="tl" rotWithShape="0">
              <a:srgbClr val="7ED321">
                <a:alpha val="20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4"/>
          <a:srcRect/>
          <a:stretch>
            <a:fillRect/>
          </a:stretch>
        </p:blipFill>
        <p:spPr>
          <a:xfrm>
            <a:off x="1016000" y="3175000"/>
            <a:ext cx="762000" cy="762000"/>
          </a:xfrm>
          <a:prstGeom prst="ellipse">
            <a:avLst/>
          </a:prstGeom>
          <a:noFill/>
          <a:ln w="25400" cap="flat" cmpd="sng">
            <a:noFill/>
            <a:prstDash val="solid"/>
            <a:round/>
          </a:ln>
        </p:spPr>
      </p:pic>
      <p:sp>
        <p:nvSpPr>
          <p:cNvPr id="14" name="AutoShape 14"/>
          <p:cNvSpPr/>
          <p:nvPr/>
        </p:nvSpPr>
        <p:spPr>
          <a:xfrm>
            <a:off x="1968500" y="31115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7ED321"/>
                </a:solidFill>
                <a:latin typeface="Noto Sans SC"/>
                <a:ea typeface="Noto Sans SC"/>
                <a:cs typeface="Noto Sans SC"/>
                <a:sym typeface="Noto Sans SC"/>
              </a:rPr>
              <a:t>作文批改助手</a:t>
            </a:r>
            <a:endParaRPr lang="en-US" sz="1100"/>
          </a:p>
        </p:txBody>
      </p:sp>
      <p:sp>
        <p:nvSpPr>
          <p:cNvPr id="15" name="AutoShape 15"/>
          <p:cNvSpPr/>
          <p:nvPr/>
        </p:nvSpPr>
        <p:spPr>
          <a:xfrm>
            <a:off x="1968500" y="34925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505050"/>
                </a:solidFill>
                <a:latin typeface="Noto Sans SC"/>
                <a:ea typeface="Noto Sans SC"/>
                <a:cs typeface="Noto Sans SC"/>
                <a:sym typeface="Noto Sans SC"/>
              </a:rPr>
              <a:t>上传作文，秒出修改建议与评分。</a:t>
            </a:r>
            <a:endParaRPr lang="en-US" sz="1100"/>
          </a:p>
        </p:txBody>
      </p:sp>
      <p:sp>
        <p:nvSpPr>
          <p:cNvPr id="16" name="AutoShape 16"/>
          <p:cNvSpPr/>
          <p:nvPr/>
        </p:nvSpPr>
        <p:spPr>
          <a:xfrm>
            <a:off x="6350000" y="2921000"/>
            <a:ext cx="5080000" cy="1270000"/>
          </a:xfrm>
          <a:prstGeom prst="roundRect">
            <a:avLst>
              <a:gd name="adj" fmla="val 10000"/>
            </a:avLst>
          </a:prstGeom>
          <a:solidFill>
            <a:srgbClr val="FFFFFF">
              <a:alpha val="90000"/>
            </a:srgbClr>
          </a:solidFill>
          <a:ln w="25400" cap="flat" cmpd="sng">
            <a:noFill/>
            <a:prstDash val="solid"/>
            <a:round/>
          </a:ln>
          <a:effectLst>
            <a:outerShdw blurRad="127000" dist="50800" dir="5400000" algn="tl" rotWithShape="0">
              <a:srgbClr val="4A90E2">
                <a:alpha val="20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5"/>
          <a:srcRect/>
          <a:stretch>
            <a:fillRect/>
          </a:stretch>
        </p:blipFill>
        <p:spPr>
          <a:xfrm>
            <a:off x="6604000" y="3175000"/>
            <a:ext cx="762000" cy="762000"/>
          </a:xfrm>
          <a:prstGeom prst="ellipse">
            <a:avLst/>
          </a:prstGeom>
          <a:noFill/>
          <a:ln w="25400" cap="flat" cmpd="sng">
            <a:noFill/>
            <a:prstDash val="solid"/>
            <a:round/>
          </a:ln>
        </p:spPr>
      </p:pic>
      <p:sp>
        <p:nvSpPr>
          <p:cNvPr id="18" name="AutoShape 18"/>
          <p:cNvSpPr/>
          <p:nvPr/>
        </p:nvSpPr>
        <p:spPr>
          <a:xfrm>
            <a:off x="7556500" y="31115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90E2"/>
                </a:solidFill>
                <a:latin typeface="Noto Sans SC"/>
                <a:ea typeface="Noto Sans SC"/>
                <a:cs typeface="Noto Sans SC"/>
                <a:sym typeface="Noto Sans SC"/>
              </a:rPr>
              <a:t>学习计划管家</a:t>
            </a:r>
            <a:endParaRPr lang="en-US" sz="1100"/>
          </a:p>
        </p:txBody>
      </p:sp>
      <p:sp>
        <p:nvSpPr>
          <p:cNvPr id="19" name="AutoShape 19"/>
          <p:cNvSpPr/>
          <p:nvPr/>
        </p:nvSpPr>
        <p:spPr>
          <a:xfrm>
            <a:off x="7556500" y="34925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505050"/>
                </a:solidFill>
                <a:latin typeface="Noto Sans SC"/>
                <a:ea typeface="Noto Sans SC"/>
                <a:cs typeface="Noto Sans SC"/>
                <a:sym typeface="Noto Sans SC"/>
              </a:rPr>
              <a:t>根据作业量自动排时间表，科学管理时间。</a:t>
            </a:r>
            <a:endParaRPr lang="en-US" sz="1100"/>
          </a:p>
        </p:txBody>
      </p:sp>
      <p:sp>
        <p:nvSpPr>
          <p:cNvPr id="20" name="AutoShape 20"/>
          <p:cNvSpPr/>
          <p:nvPr/>
        </p:nvSpPr>
        <p:spPr>
          <a:xfrm>
            <a:off x="762000" y="4572000"/>
            <a:ext cx="10668000" cy="762000"/>
          </a:xfrm>
          <a:prstGeom prst="roundRect">
            <a:avLst>
              <a:gd name="adj" fmla="val 33333"/>
            </a:avLst>
          </a:prstGeom>
          <a:solidFill>
            <a:srgbClr val="F5A623">
              <a:alpha val="10000"/>
            </a:srgbClr>
          </a:solidFill>
          <a:ln w="25400" cap="flat" cmpd="sng">
            <a:solidFill>
              <a:srgbClr val="F5A623">
                <a:alpha val="10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889000" y="4699000"/>
            <a:ext cx="1041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5A623"/>
                </a:solidFill>
                <a:latin typeface="Noto Sans SC"/>
                <a:ea typeface="Noto Sans SC"/>
                <a:cs typeface="Noto Sans SC"/>
                <a:sym typeface="Noto Sans SC"/>
              </a:rPr>
              <a:t>💡 这些都是普通学生用鼠标点一点就能搭出来的！</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25146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4A90E2"/>
                </a:solidFill>
                <a:latin typeface="Noto Sans SC"/>
                <a:ea typeface="Noto Sans SC"/>
                <a:cs typeface="Noto Sans SC"/>
                <a:sym typeface="Noto Sans SC"/>
              </a:rPr>
              <a:t>注册与登录</a:t>
            </a:r>
            <a:endParaRPr lang="en-US" sz="1100"/>
          </a:p>
        </p:txBody>
      </p:sp>
      <p:sp>
        <p:nvSpPr>
          <p:cNvPr id="4" name="AutoShape 4"/>
          <p:cNvSpPr/>
          <p:nvPr/>
        </p:nvSpPr>
        <p:spPr>
          <a:xfrm>
            <a:off x="1016000" y="1778000"/>
            <a:ext cx="3048000" cy="2032000"/>
          </a:xfrm>
          <a:prstGeom prst="roundRect">
            <a:avLst>
              <a:gd name="adj" fmla="val 6250"/>
            </a:avLst>
          </a:prstGeom>
          <a:solidFill>
            <a:srgbClr val="FFFFFF">
              <a:alpha val="90000"/>
            </a:srgbClr>
          </a:solidFill>
          <a:ln cap="flat" cmpd="sng">
            <a:solidFill>
              <a:srgbClr val="E6CFCF">
                <a:alpha val="90000"/>
              </a:srgbClr>
            </a:solidFill>
            <a:prstDash val="solid"/>
            <a:round/>
          </a:ln>
          <a:effectLst>
            <a:outerShdw blurRad="254000" dist="127000" dir="5400000" algn="tl" rotWithShape="0">
              <a:srgbClr val="4A90E2">
                <a:alpha val="20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35200" y="2032000"/>
            <a:ext cx="609600" cy="609600"/>
          </a:xfrm>
          <a:prstGeom prst="rect">
            <a:avLst/>
          </a:prstGeom>
        </p:spPr>
      </p:pic>
      <p:sp>
        <p:nvSpPr>
          <p:cNvPr id="6" name="AutoShape 6"/>
          <p:cNvSpPr/>
          <p:nvPr/>
        </p:nvSpPr>
        <p:spPr>
          <a:xfrm>
            <a:off x="1143000" y="27305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33333"/>
                </a:solidFill>
                <a:latin typeface="Noto Sans SC"/>
                <a:ea typeface="Noto Sans SC"/>
                <a:cs typeface="Noto Sans SC"/>
                <a:sym typeface="Noto Sans SC"/>
              </a:rPr>
              <a:t>访问平台</a:t>
            </a:r>
            <a:endParaRPr lang="en-US" sz="1100"/>
          </a:p>
        </p:txBody>
      </p:sp>
      <p:sp>
        <p:nvSpPr>
          <p:cNvPr id="7" name="AutoShape 7"/>
          <p:cNvSpPr/>
          <p:nvPr/>
        </p:nvSpPr>
        <p:spPr>
          <a:xfrm>
            <a:off x="1143000" y="3175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666666"/>
                </a:solidFill>
                <a:latin typeface="Noto Sans SC"/>
                <a:ea typeface="Noto Sans SC"/>
                <a:cs typeface="Noto Sans SC"/>
                <a:sym typeface="Noto Sans SC"/>
              </a:rPr>
              <a:t>浏览器输入 coze.cn</a:t>
            </a:r>
            <a:endParaRPr lang="en-US" sz="1100"/>
          </a:p>
        </p:txBody>
      </p:sp>
      <p:sp>
        <p:nvSpPr>
          <p:cNvPr id="8" name="AutoShape 8"/>
          <p:cNvSpPr/>
          <p:nvPr/>
        </p:nvSpPr>
        <p:spPr>
          <a:xfrm>
            <a:off x="4572000" y="1778000"/>
            <a:ext cx="3048000" cy="2032000"/>
          </a:xfrm>
          <a:prstGeom prst="roundRect">
            <a:avLst>
              <a:gd name="adj" fmla="val 6250"/>
            </a:avLst>
          </a:prstGeom>
          <a:solidFill>
            <a:srgbClr val="FFFFFF">
              <a:alpha val="90000"/>
            </a:srgbClr>
          </a:solidFill>
          <a:ln cap="flat" cmpd="sng">
            <a:solidFill>
              <a:srgbClr val="E6CFCF">
                <a:alpha val="90000"/>
              </a:srgbClr>
            </a:solidFill>
            <a:prstDash val="solid"/>
            <a:round/>
          </a:ln>
          <a:effectLst>
            <a:outerShdw blurRad="254000" dist="127000" dir="5400000" algn="tl" rotWithShape="0">
              <a:srgbClr val="F5A623">
                <a:alpha val="2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91200" y="2032000"/>
            <a:ext cx="609600" cy="609600"/>
          </a:xfrm>
          <a:prstGeom prst="rect">
            <a:avLst/>
          </a:prstGeom>
        </p:spPr>
      </p:pic>
      <p:sp>
        <p:nvSpPr>
          <p:cNvPr id="10" name="AutoShape 10"/>
          <p:cNvSpPr/>
          <p:nvPr/>
        </p:nvSpPr>
        <p:spPr>
          <a:xfrm>
            <a:off x="4699000" y="27305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33333"/>
                </a:solidFill>
                <a:latin typeface="Noto Sans SC"/>
                <a:ea typeface="Noto Sans SC"/>
                <a:cs typeface="Noto Sans SC"/>
                <a:sym typeface="Noto Sans SC"/>
              </a:rPr>
              <a:t>注册账号</a:t>
            </a:r>
            <a:endParaRPr lang="en-US" sz="1100"/>
          </a:p>
        </p:txBody>
      </p:sp>
      <p:sp>
        <p:nvSpPr>
          <p:cNvPr id="11" name="AutoShape 11"/>
          <p:cNvSpPr/>
          <p:nvPr/>
        </p:nvSpPr>
        <p:spPr>
          <a:xfrm>
            <a:off x="4699000" y="3175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666666"/>
                </a:solidFill>
                <a:latin typeface="Noto Sans SC"/>
                <a:ea typeface="Noto Sans SC"/>
                <a:cs typeface="Noto Sans SC"/>
                <a:sym typeface="Noto Sans SC"/>
              </a:rPr>
              <a:t>使用手机号快速注册</a:t>
            </a:r>
            <a:endParaRPr lang="en-US" sz="1100"/>
          </a:p>
        </p:txBody>
      </p:sp>
      <p:sp>
        <p:nvSpPr>
          <p:cNvPr id="12" name="AutoShape 12"/>
          <p:cNvSpPr/>
          <p:nvPr/>
        </p:nvSpPr>
        <p:spPr>
          <a:xfrm>
            <a:off x="8128000" y="1778000"/>
            <a:ext cx="3048000" cy="2032000"/>
          </a:xfrm>
          <a:prstGeom prst="roundRect">
            <a:avLst>
              <a:gd name="adj" fmla="val 6250"/>
            </a:avLst>
          </a:prstGeom>
          <a:solidFill>
            <a:srgbClr val="FFFFFF">
              <a:alpha val="90000"/>
            </a:srgbClr>
          </a:solidFill>
          <a:ln cap="flat" cmpd="sng">
            <a:solidFill>
              <a:srgbClr val="E6CFCF">
                <a:alpha val="90000"/>
              </a:srgbClr>
            </a:solidFill>
            <a:prstDash val="solid"/>
            <a:round/>
          </a:ln>
          <a:effectLst>
            <a:outerShdw blurRad="254000" dist="127000" dir="5400000" algn="tl" rotWithShape="0">
              <a:srgbClr val="7ED321">
                <a:alpha val="20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347200" y="2032000"/>
            <a:ext cx="609600" cy="609600"/>
          </a:xfrm>
          <a:prstGeom prst="rect">
            <a:avLst/>
          </a:prstGeom>
        </p:spPr>
      </p:pic>
      <p:sp>
        <p:nvSpPr>
          <p:cNvPr id="14" name="AutoShape 14"/>
          <p:cNvSpPr/>
          <p:nvPr/>
        </p:nvSpPr>
        <p:spPr>
          <a:xfrm>
            <a:off x="8255000" y="27305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33333"/>
                </a:solidFill>
                <a:latin typeface="Noto Sans SC"/>
                <a:ea typeface="Noto Sans SC"/>
                <a:cs typeface="Noto Sans SC"/>
                <a:sym typeface="Noto Sans SC"/>
              </a:rPr>
              <a:t>温馨提示</a:t>
            </a:r>
            <a:endParaRPr lang="en-US" sz="1100"/>
          </a:p>
        </p:txBody>
      </p:sp>
      <p:sp>
        <p:nvSpPr>
          <p:cNvPr id="15" name="AutoShape 15"/>
          <p:cNvSpPr/>
          <p:nvPr/>
        </p:nvSpPr>
        <p:spPr>
          <a:xfrm>
            <a:off x="8255000" y="3175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666666"/>
                </a:solidFill>
                <a:latin typeface="Noto Sans SC"/>
                <a:ea typeface="Noto Sans SC"/>
                <a:cs typeface="Noto Sans SC"/>
                <a:sym typeface="Noto Sans SC"/>
              </a:rPr>
              <a:t>建议使用学校统一账号</a:t>
            </a:r>
            <a:endParaRPr lang="en-US" sz="1100"/>
          </a:p>
        </p:txBody>
      </p:sp>
      <p:sp>
        <p:nvSpPr>
          <p:cNvPr id="16" name="AutoShape 16"/>
          <p:cNvSpPr/>
          <p:nvPr/>
        </p:nvSpPr>
        <p:spPr>
          <a:xfrm>
            <a:off x="0" y="6756400"/>
            <a:ext cx="12192000" cy="101600"/>
          </a:xfrm>
          <a:prstGeom prst="roundRect">
            <a:avLst>
              <a:gd name="adj" fmla="val 0"/>
            </a:avLst>
          </a:prstGeom>
          <a:gradFill rotWithShape="1">
            <a:gsLst>
              <a:gs pos="0">
                <a:srgbClr val="4A90E2">
                  <a:alpha val="100000"/>
                </a:srgbClr>
              </a:gs>
              <a:gs pos="100000">
                <a:srgbClr val="7ED321">
                  <a:alpha val="100000"/>
                </a:srgbClr>
              </a:gs>
            </a:gsLst>
            <a:lin ang="0"/>
          </a:gra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6096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4A90E2"/>
                </a:solidFill>
                <a:latin typeface="Noto Sans SC"/>
                <a:ea typeface="Noto Sans SC"/>
                <a:cs typeface="Noto Sans SC"/>
                <a:sym typeface="Noto Sans SC"/>
              </a:rPr>
              <a:t>扣子主界面五大功能区</a:t>
            </a:r>
            <a:endParaRPr lang="en-US" sz="1100"/>
          </a:p>
        </p:txBody>
      </p:sp>
      <p:sp>
        <p:nvSpPr>
          <p:cNvPr id="4" name="AutoShape 4"/>
          <p:cNvSpPr/>
          <p:nvPr/>
        </p:nvSpPr>
        <p:spPr>
          <a:xfrm>
            <a:off x="762000" y="1651000"/>
            <a:ext cx="2032000" cy="2540000"/>
          </a:xfrm>
          <a:prstGeom prst="roundRect">
            <a:avLst>
              <a:gd name="adj" fmla="val 6250"/>
            </a:avLst>
          </a:prstGeom>
          <a:solidFill>
            <a:srgbClr val="FFFFFF">
              <a:alpha val="90000"/>
            </a:srgbClr>
          </a:solidFill>
          <a:ln cap="flat" cmpd="sng">
            <a:solidFill>
              <a:srgbClr val="E6CFCF">
                <a:alpha val="90000"/>
              </a:srgbClr>
            </a:solidFill>
            <a:prstDash val="solid"/>
            <a:round/>
          </a:ln>
          <a:effectLst>
            <a:outerShdw blurRad="127000" dist="50800" dir="5400000" algn="tl" rotWithShape="0">
              <a:srgbClr val="4A90E2">
                <a:alpha val="20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73200" y="1905000"/>
            <a:ext cx="609600" cy="609600"/>
          </a:xfrm>
          <a:prstGeom prst="rect">
            <a:avLst/>
          </a:prstGeom>
        </p:spPr>
      </p:pic>
      <p:sp>
        <p:nvSpPr>
          <p:cNvPr id="6" name="AutoShape 6"/>
          <p:cNvSpPr/>
          <p:nvPr/>
        </p:nvSpPr>
        <p:spPr>
          <a:xfrm>
            <a:off x="889000" y="2667000"/>
            <a:ext cx="177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Noto Sans SC"/>
                <a:ea typeface="Noto Sans SC"/>
                <a:cs typeface="Noto Sans SC"/>
                <a:sym typeface="Noto Sans SC"/>
              </a:rPr>
              <a:t>创建智能体</a:t>
            </a:r>
            <a:endParaRPr lang="en-US" sz="1100"/>
          </a:p>
        </p:txBody>
      </p:sp>
      <p:sp>
        <p:nvSpPr>
          <p:cNvPr id="7" name="AutoShape 7"/>
          <p:cNvSpPr/>
          <p:nvPr/>
        </p:nvSpPr>
        <p:spPr>
          <a:xfrm>
            <a:off x="889000" y="3111500"/>
            <a:ext cx="1778000" cy="762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b="0" i="0" u="none" strike="noStrike">
                <a:solidFill>
                  <a:srgbClr val="666666"/>
                </a:solidFill>
                <a:latin typeface="Noto Sans SC"/>
                <a:ea typeface="Noto Sans SC"/>
                <a:cs typeface="Noto Sans SC"/>
                <a:sym typeface="Noto Sans SC"/>
              </a:rPr>
              <a:t>点击大“+”号</a:t>
            </a:r>
            <a:br>
              <a:rPr lang="en-US" sz="1400" b="0" i="0" u="none" strike="noStrike">
                <a:solidFill>
                  <a:srgbClr val="666666"/>
                </a:solidFill>
                <a:latin typeface="Noto Sans SC"/>
                <a:ea typeface="Noto Sans SC"/>
                <a:cs typeface="Noto Sans SC"/>
                <a:sym typeface="Noto Sans SC"/>
              </a:rPr>
            </a:br>
            <a:r>
              <a:rPr lang="en-US" sz="1400" b="0" i="0" u="none" strike="noStrike">
                <a:solidFill>
                  <a:srgbClr val="666666"/>
                </a:solidFill>
                <a:latin typeface="Noto Sans SC"/>
                <a:ea typeface="Noto Sans SC"/>
                <a:cs typeface="Noto Sans SC"/>
                <a:sym typeface="Noto Sans SC"/>
              </a:rPr>
              <a:t>快速新建智能体</a:t>
            </a:r>
            <a:endParaRPr lang="en-US" sz="1100"/>
          </a:p>
        </p:txBody>
      </p:sp>
      <p:sp>
        <p:nvSpPr>
          <p:cNvPr id="8" name="AutoShape 8"/>
          <p:cNvSpPr/>
          <p:nvPr/>
        </p:nvSpPr>
        <p:spPr>
          <a:xfrm>
            <a:off x="2984500" y="1651000"/>
            <a:ext cx="2032000" cy="2540000"/>
          </a:xfrm>
          <a:prstGeom prst="roundRect">
            <a:avLst>
              <a:gd name="adj" fmla="val 6250"/>
            </a:avLst>
          </a:prstGeom>
          <a:solidFill>
            <a:srgbClr val="FFFFFF">
              <a:alpha val="90000"/>
            </a:srgbClr>
          </a:solidFill>
          <a:ln cap="flat" cmpd="sng">
            <a:solidFill>
              <a:srgbClr val="E6CFCF">
                <a:alpha val="90000"/>
              </a:srgbClr>
            </a:solidFill>
            <a:prstDash val="solid"/>
            <a:round/>
          </a:ln>
          <a:effectLst>
            <a:outerShdw blurRad="127000" dist="50800" dir="5400000" algn="tl" rotWithShape="0">
              <a:srgbClr val="4A90E2">
                <a:alpha val="2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95700" y="1905000"/>
            <a:ext cx="609600" cy="609600"/>
          </a:xfrm>
          <a:prstGeom prst="rect">
            <a:avLst/>
          </a:prstGeom>
        </p:spPr>
      </p:pic>
      <p:sp>
        <p:nvSpPr>
          <p:cNvPr id="10" name="AutoShape 10"/>
          <p:cNvSpPr/>
          <p:nvPr/>
        </p:nvSpPr>
        <p:spPr>
          <a:xfrm>
            <a:off x="3111500" y="2667000"/>
            <a:ext cx="177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Noto Sans SC"/>
                <a:ea typeface="Noto Sans SC"/>
                <a:cs typeface="Noto Sans SC"/>
                <a:sym typeface="Noto Sans SC"/>
              </a:rPr>
              <a:t>人设与逻辑</a:t>
            </a:r>
            <a:endParaRPr lang="en-US" sz="1100"/>
          </a:p>
        </p:txBody>
      </p:sp>
      <p:sp>
        <p:nvSpPr>
          <p:cNvPr id="11" name="AutoShape 11"/>
          <p:cNvSpPr/>
          <p:nvPr/>
        </p:nvSpPr>
        <p:spPr>
          <a:xfrm>
            <a:off x="3111500" y="3111500"/>
            <a:ext cx="1778000" cy="762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b="0" i="0" u="none" strike="noStrike">
                <a:solidFill>
                  <a:srgbClr val="666666"/>
                </a:solidFill>
                <a:latin typeface="Noto Sans SC"/>
                <a:ea typeface="Noto Sans SC"/>
                <a:cs typeface="Noto Sans SC"/>
                <a:sym typeface="Noto Sans SC"/>
              </a:rPr>
              <a:t>编写提示词</a:t>
            </a:r>
            <a:br>
              <a:rPr lang="en-US" sz="1400" b="0" i="0" u="none" strike="noStrike">
                <a:solidFill>
                  <a:srgbClr val="666666"/>
                </a:solidFill>
                <a:latin typeface="Noto Sans SC"/>
                <a:ea typeface="Noto Sans SC"/>
                <a:cs typeface="Noto Sans SC"/>
                <a:sym typeface="Noto Sans SC"/>
              </a:rPr>
            </a:br>
            <a:r>
              <a:rPr lang="en-US" sz="1400" b="0" i="0" u="none" strike="noStrike">
                <a:solidFill>
                  <a:srgbClr val="666666"/>
                </a:solidFill>
                <a:latin typeface="Noto Sans SC"/>
                <a:ea typeface="Noto Sans SC"/>
                <a:cs typeface="Noto Sans SC"/>
                <a:sym typeface="Noto Sans SC"/>
              </a:rPr>
              <a:t>定义角色能力</a:t>
            </a:r>
            <a:endParaRPr lang="en-US" sz="1100"/>
          </a:p>
        </p:txBody>
      </p:sp>
      <p:sp>
        <p:nvSpPr>
          <p:cNvPr id="12" name="AutoShape 12"/>
          <p:cNvSpPr/>
          <p:nvPr/>
        </p:nvSpPr>
        <p:spPr>
          <a:xfrm>
            <a:off x="5207000" y="1651000"/>
            <a:ext cx="2032000" cy="2540000"/>
          </a:xfrm>
          <a:prstGeom prst="roundRect">
            <a:avLst>
              <a:gd name="adj" fmla="val 6250"/>
            </a:avLst>
          </a:prstGeom>
          <a:solidFill>
            <a:srgbClr val="FFFFFF">
              <a:alpha val="90000"/>
            </a:srgbClr>
          </a:solidFill>
          <a:ln cap="flat" cmpd="sng">
            <a:solidFill>
              <a:srgbClr val="E6CFCF">
                <a:alpha val="90000"/>
              </a:srgbClr>
            </a:solidFill>
            <a:prstDash val="solid"/>
            <a:round/>
          </a:ln>
          <a:effectLst>
            <a:outerShdw blurRad="127000" dist="50800" dir="5400000" algn="tl" rotWithShape="0">
              <a:srgbClr val="4A90E2">
                <a:alpha val="20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18200" y="1905000"/>
            <a:ext cx="609600" cy="609600"/>
          </a:xfrm>
          <a:prstGeom prst="rect">
            <a:avLst/>
          </a:prstGeom>
        </p:spPr>
      </p:pic>
      <p:sp>
        <p:nvSpPr>
          <p:cNvPr id="14" name="AutoShape 14"/>
          <p:cNvSpPr/>
          <p:nvPr/>
        </p:nvSpPr>
        <p:spPr>
          <a:xfrm>
            <a:off x="5334000" y="2667000"/>
            <a:ext cx="177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Noto Sans SC"/>
                <a:ea typeface="Noto Sans SC"/>
                <a:cs typeface="Noto Sans SC"/>
                <a:sym typeface="Noto Sans SC"/>
              </a:rPr>
              <a:t>插件库</a:t>
            </a:r>
            <a:endParaRPr lang="en-US" sz="1100"/>
          </a:p>
        </p:txBody>
      </p:sp>
      <p:sp>
        <p:nvSpPr>
          <p:cNvPr id="15" name="AutoShape 15"/>
          <p:cNvSpPr/>
          <p:nvPr/>
        </p:nvSpPr>
        <p:spPr>
          <a:xfrm>
            <a:off x="5334000" y="3111500"/>
            <a:ext cx="1778000" cy="762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b="0" i="0" u="none" strike="noStrike">
                <a:solidFill>
                  <a:srgbClr val="666666"/>
                </a:solidFill>
                <a:latin typeface="Noto Sans SC"/>
                <a:ea typeface="Noto Sans SC"/>
                <a:cs typeface="Noto Sans SC"/>
                <a:sym typeface="Noto Sans SC"/>
              </a:rPr>
              <a:t>给智能体加装备</a:t>
            </a:r>
            <a:br>
              <a:rPr lang="en-US" sz="1400" b="0" i="0" u="none" strike="noStrike">
                <a:solidFill>
                  <a:srgbClr val="666666"/>
                </a:solidFill>
                <a:latin typeface="Noto Sans SC"/>
                <a:ea typeface="Noto Sans SC"/>
                <a:cs typeface="Noto Sans SC"/>
                <a:sym typeface="Noto Sans SC"/>
              </a:rPr>
            </a:br>
            <a:r>
              <a:rPr lang="en-US" sz="1400" b="0" i="0" u="none" strike="noStrike">
                <a:solidFill>
                  <a:srgbClr val="666666"/>
                </a:solidFill>
                <a:latin typeface="Noto Sans SC"/>
                <a:ea typeface="Noto Sans SC"/>
                <a:cs typeface="Noto Sans SC"/>
                <a:sym typeface="Noto Sans SC"/>
              </a:rPr>
              <a:t>扩展实用技能</a:t>
            </a:r>
            <a:endParaRPr lang="en-US" sz="1100"/>
          </a:p>
        </p:txBody>
      </p:sp>
      <p:sp>
        <p:nvSpPr>
          <p:cNvPr id="16" name="AutoShape 16"/>
          <p:cNvSpPr/>
          <p:nvPr/>
        </p:nvSpPr>
        <p:spPr>
          <a:xfrm>
            <a:off x="7429500" y="1651000"/>
            <a:ext cx="2032000" cy="2540000"/>
          </a:xfrm>
          <a:prstGeom prst="roundRect">
            <a:avLst>
              <a:gd name="adj" fmla="val 6250"/>
            </a:avLst>
          </a:prstGeom>
          <a:solidFill>
            <a:srgbClr val="FFFFFF">
              <a:alpha val="90000"/>
            </a:srgbClr>
          </a:solidFill>
          <a:ln cap="flat" cmpd="sng">
            <a:solidFill>
              <a:srgbClr val="E6CFCF">
                <a:alpha val="90000"/>
              </a:srgbClr>
            </a:solidFill>
            <a:prstDash val="solid"/>
            <a:round/>
          </a:ln>
          <a:effectLst>
            <a:outerShdw blurRad="127000" dist="50800" dir="5400000" algn="tl" rotWithShape="0">
              <a:srgbClr val="4A90E2">
                <a:alpha val="20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40700" y="1905000"/>
            <a:ext cx="609600" cy="609600"/>
          </a:xfrm>
          <a:prstGeom prst="rect">
            <a:avLst/>
          </a:prstGeom>
        </p:spPr>
      </p:pic>
      <p:sp>
        <p:nvSpPr>
          <p:cNvPr id="18" name="AutoShape 18"/>
          <p:cNvSpPr/>
          <p:nvPr/>
        </p:nvSpPr>
        <p:spPr>
          <a:xfrm>
            <a:off x="7556500" y="2667000"/>
            <a:ext cx="177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Noto Sans SC"/>
                <a:ea typeface="Noto Sans SC"/>
                <a:cs typeface="Noto Sans SC"/>
                <a:sym typeface="Noto Sans SC"/>
              </a:rPr>
              <a:t>知识库</a:t>
            </a:r>
            <a:endParaRPr lang="en-US" sz="1100"/>
          </a:p>
        </p:txBody>
      </p:sp>
      <p:sp>
        <p:nvSpPr>
          <p:cNvPr id="19" name="AutoShape 19"/>
          <p:cNvSpPr/>
          <p:nvPr/>
        </p:nvSpPr>
        <p:spPr>
          <a:xfrm>
            <a:off x="7556500" y="3111500"/>
            <a:ext cx="1778000" cy="762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b="0" i="0" u="none" strike="noStrike">
                <a:solidFill>
                  <a:srgbClr val="666666"/>
                </a:solidFill>
                <a:latin typeface="Noto Sans SC"/>
                <a:ea typeface="Noto Sans SC"/>
                <a:cs typeface="Noto Sans SC"/>
                <a:sym typeface="Noto Sans SC"/>
              </a:rPr>
              <a:t>上传资料文档</a:t>
            </a:r>
            <a:br>
              <a:rPr lang="en-US" sz="1400" b="0" i="0" u="none" strike="noStrike">
                <a:solidFill>
                  <a:srgbClr val="666666"/>
                </a:solidFill>
                <a:latin typeface="Noto Sans SC"/>
                <a:ea typeface="Noto Sans SC"/>
                <a:cs typeface="Noto Sans SC"/>
                <a:sym typeface="Noto Sans SC"/>
              </a:rPr>
            </a:br>
            <a:r>
              <a:rPr lang="en-US" sz="1400" b="0" i="0" u="none" strike="noStrike">
                <a:solidFill>
                  <a:srgbClr val="666666"/>
                </a:solidFill>
                <a:latin typeface="Noto Sans SC"/>
                <a:ea typeface="Noto Sans SC"/>
                <a:cs typeface="Noto Sans SC"/>
                <a:sym typeface="Noto Sans SC"/>
              </a:rPr>
              <a:t>训练专属模型</a:t>
            </a:r>
            <a:endParaRPr lang="en-US" sz="1100"/>
          </a:p>
        </p:txBody>
      </p:sp>
      <p:sp>
        <p:nvSpPr>
          <p:cNvPr id="20" name="AutoShape 20"/>
          <p:cNvSpPr/>
          <p:nvPr/>
        </p:nvSpPr>
        <p:spPr>
          <a:xfrm>
            <a:off x="9652000" y="1651000"/>
            <a:ext cx="2032000" cy="2540000"/>
          </a:xfrm>
          <a:prstGeom prst="roundRect">
            <a:avLst>
              <a:gd name="adj" fmla="val 6250"/>
            </a:avLst>
          </a:prstGeom>
          <a:solidFill>
            <a:srgbClr val="FFFFFF">
              <a:alpha val="90000"/>
            </a:srgbClr>
          </a:solidFill>
          <a:ln cap="flat" cmpd="sng">
            <a:solidFill>
              <a:srgbClr val="E6CFCF">
                <a:alpha val="90000"/>
              </a:srgbClr>
            </a:solidFill>
            <a:prstDash val="solid"/>
            <a:round/>
          </a:ln>
          <a:effectLst>
            <a:outerShdw blurRad="127000" dist="50800" dir="5400000" algn="tl" rotWithShape="0">
              <a:srgbClr val="4A90E2">
                <a:alpha val="20000"/>
              </a:srgbClr>
            </a:outerShdw>
          </a:effectLst>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363200" y="1905000"/>
            <a:ext cx="609600" cy="609600"/>
          </a:xfrm>
          <a:prstGeom prst="rect">
            <a:avLst/>
          </a:prstGeom>
        </p:spPr>
      </p:pic>
      <p:sp>
        <p:nvSpPr>
          <p:cNvPr id="22" name="AutoShape 22"/>
          <p:cNvSpPr/>
          <p:nvPr/>
        </p:nvSpPr>
        <p:spPr>
          <a:xfrm>
            <a:off x="9779000" y="2667000"/>
            <a:ext cx="177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Noto Sans SC"/>
                <a:ea typeface="Noto Sans SC"/>
                <a:cs typeface="Noto Sans SC"/>
                <a:sym typeface="Noto Sans SC"/>
              </a:rPr>
              <a:t>预览与调试</a:t>
            </a:r>
            <a:endParaRPr lang="en-US" sz="1100"/>
          </a:p>
        </p:txBody>
      </p:sp>
      <p:sp>
        <p:nvSpPr>
          <p:cNvPr id="23" name="AutoShape 23"/>
          <p:cNvSpPr/>
          <p:nvPr/>
        </p:nvSpPr>
        <p:spPr>
          <a:xfrm>
            <a:off x="9779000" y="3111500"/>
            <a:ext cx="1778000" cy="762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b="0" i="0" u="none" strike="noStrike">
                <a:solidFill>
                  <a:srgbClr val="666666"/>
                </a:solidFill>
                <a:latin typeface="Noto Sans SC"/>
                <a:ea typeface="Noto Sans SC"/>
                <a:cs typeface="Noto Sans SC"/>
                <a:sym typeface="Noto Sans SC"/>
              </a:rPr>
              <a:t>右侧测试窗口</a:t>
            </a:r>
            <a:br>
              <a:rPr lang="en-US" sz="1400" b="0" i="0" u="none" strike="noStrike">
                <a:solidFill>
                  <a:srgbClr val="666666"/>
                </a:solidFill>
                <a:latin typeface="Noto Sans SC"/>
                <a:ea typeface="Noto Sans SC"/>
                <a:cs typeface="Noto Sans SC"/>
                <a:sym typeface="Noto Sans SC"/>
              </a:rPr>
            </a:br>
            <a:r>
              <a:rPr lang="en-US" sz="1400" b="0" i="0" u="none" strike="noStrike">
                <a:solidFill>
                  <a:srgbClr val="666666"/>
                </a:solidFill>
                <a:latin typeface="Noto Sans SC"/>
                <a:ea typeface="Noto Sans SC"/>
                <a:cs typeface="Noto Sans SC"/>
                <a:sym typeface="Noto Sans SC"/>
              </a:rPr>
              <a:t>实时验证效果</a:t>
            </a:r>
            <a:endParaRPr lang="en-US" sz="1100"/>
          </a:p>
        </p:txBody>
      </p:sp>
      <p:sp>
        <p:nvSpPr>
          <p:cNvPr id="24" name="AutoShape 24"/>
          <p:cNvSpPr/>
          <p:nvPr/>
        </p:nvSpPr>
        <p:spPr>
          <a:xfrm>
            <a:off x="0" y="6781800"/>
            <a:ext cx="12192000" cy="76200"/>
          </a:xfrm>
          <a:prstGeom prst="roundRect">
            <a:avLst>
              <a:gd name="adj" fmla="val 0"/>
            </a:avLst>
          </a:prstGeom>
          <a:gradFill rotWithShape="1">
            <a:gsLst>
              <a:gs pos="0">
                <a:srgbClr val="4A90E2">
                  <a:alpha val="100000"/>
                </a:srgbClr>
              </a:gs>
              <a:gs pos="50000">
                <a:srgbClr val="7ED321">
                  <a:alpha val="100000"/>
                </a:srgbClr>
              </a:gs>
              <a:gs pos="100000">
                <a:srgbClr val="F5A623">
                  <a:alpha val="100000"/>
                </a:srgbClr>
              </a:gs>
            </a:gsLst>
            <a:lin ang="0"/>
          </a:gra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6096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4A90E2"/>
                </a:solidFill>
                <a:latin typeface="Noto Sans SC"/>
                <a:ea typeface="Noto Sans SC"/>
                <a:cs typeface="Noto Sans SC"/>
                <a:sym typeface="Noto Sans SC"/>
              </a:rPr>
              <a:t>创建智能体的完整流程</a:t>
            </a:r>
            <a:endParaRPr lang="en-US" sz="1100"/>
          </a:p>
        </p:txBody>
      </p:sp>
      <p:sp>
        <p:nvSpPr>
          <p:cNvPr id="5" name="AutoShape 5"/>
          <p:cNvSpPr/>
          <p:nvPr/>
        </p:nvSpPr>
        <p:spPr>
          <a:xfrm>
            <a:off x="762000" y="2032000"/>
            <a:ext cx="2286000" cy="2794000"/>
          </a:xfrm>
          <a:prstGeom prst="roundRect">
            <a:avLst>
              <a:gd name="adj" fmla="val 5555"/>
            </a:avLst>
          </a:prstGeom>
          <a:solidFill>
            <a:srgbClr val="FFFFFF">
              <a:alpha val="100000"/>
            </a:srgbClr>
          </a:solidFill>
          <a:ln w="12700" cap="flat" cmpd="sng">
            <a:solidFill>
              <a:srgbClr val="4A90E2">
                <a:alpha val="30000"/>
              </a:srgbClr>
            </a:solidFill>
            <a:prstDash val="solid"/>
            <a:round/>
          </a:ln>
          <a:effectLst>
            <a:outerShdw blurRad="127000" dist="50800" dir="5400000" algn="tl" rotWithShape="0">
              <a:srgbClr val="4A90E2">
                <a:alpha val="15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srcRect/>
          <a:stretch>
            <a:fillRect/>
          </a:stretch>
        </p:blipFill>
        <p:spPr>
          <a:xfrm>
            <a:off x="1397000" y="2286000"/>
            <a:ext cx="1016000" cy="1016000"/>
          </a:xfrm>
          <a:prstGeom prst="ellipse">
            <a:avLst/>
          </a:prstGeom>
          <a:noFill/>
          <a:ln w="25400" cap="flat" cmpd="sng">
            <a:noFill/>
            <a:prstDash val="solid"/>
            <a:round/>
          </a:ln>
        </p:spPr>
      </p:pic>
      <p:sp>
        <p:nvSpPr>
          <p:cNvPr id="7" name="AutoShape 7"/>
          <p:cNvSpPr/>
          <p:nvPr/>
        </p:nvSpPr>
        <p:spPr>
          <a:xfrm>
            <a:off x="889000" y="3429000"/>
            <a:ext cx="203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4A90E2"/>
                </a:solidFill>
                <a:latin typeface="Noto Sans SC"/>
                <a:ea typeface="Noto Sans SC"/>
                <a:cs typeface="Noto Sans SC"/>
                <a:sym typeface="Noto Sans SC"/>
              </a:rPr>
              <a:t>01 命名</a:t>
            </a:r>
            <a:endParaRPr lang="en-US" sz="1100"/>
          </a:p>
        </p:txBody>
      </p:sp>
      <p:sp>
        <p:nvSpPr>
          <p:cNvPr id="8" name="AutoShape 8"/>
          <p:cNvSpPr/>
          <p:nvPr/>
        </p:nvSpPr>
        <p:spPr>
          <a:xfrm>
            <a:off x="889000" y="3937000"/>
            <a:ext cx="203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66666"/>
                </a:solidFill>
                <a:latin typeface="Noto Sans SC"/>
                <a:ea typeface="Noto Sans SC"/>
                <a:cs typeface="Noto Sans SC"/>
                <a:sym typeface="Noto Sans SC"/>
              </a:rPr>
              <a:t>为智能体起一个</a:t>
            </a:r>
            <a:br>
              <a:rPr lang="en-US" sz="1400" b="0" i="0" u="none" strike="noStrike">
                <a:solidFill>
                  <a:srgbClr val="666666"/>
                </a:solidFill>
                <a:latin typeface="Noto Sans SC"/>
                <a:ea typeface="Noto Sans SC"/>
                <a:cs typeface="Noto Sans SC"/>
                <a:sym typeface="Noto Sans SC"/>
              </a:rPr>
            </a:br>
            <a:r>
              <a:rPr lang="en-US" sz="1400" b="0" i="0" u="none" strike="noStrike">
                <a:solidFill>
                  <a:srgbClr val="666666"/>
                </a:solidFill>
                <a:latin typeface="Noto Sans SC"/>
                <a:ea typeface="Noto Sans SC"/>
                <a:cs typeface="Noto Sans SC"/>
                <a:sym typeface="Noto Sans SC"/>
              </a:rPr>
              <a:t>独特的名字</a:t>
            </a:r>
            <a:endParaRPr lang="en-US" sz="1100"/>
          </a:p>
        </p:txBody>
      </p:sp>
      <p:sp>
        <p:nvSpPr>
          <p:cNvPr id="9" name="AutoShape 9"/>
          <p:cNvSpPr/>
          <p:nvPr/>
        </p:nvSpPr>
        <p:spPr>
          <a:xfrm>
            <a:off x="3429000" y="2032000"/>
            <a:ext cx="2286000" cy="2794000"/>
          </a:xfrm>
          <a:prstGeom prst="roundRect">
            <a:avLst>
              <a:gd name="adj" fmla="val 5555"/>
            </a:avLst>
          </a:prstGeom>
          <a:solidFill>
            <a:srgbClr val="FFFFFF">
              <a:alpha val="100000"/>
            </a:srgbClr>
          </a:solidFill>
          <a:ln w="12700" cap="flat" cmpd="sng">
            <a:solidFill>
              <a:srgbClr val="F5A623">
                <a:alpha val="30000"/>
              </a:srgbClr>
            </a:solidFill>
            <a:prstDash val="solid"/>
            <a:round/>
          </a:ln>
          <a:effectLst>
            <a:outerShdw blurRad="127000" dist="50800" dir="5400000" algn="tl" rotWithShape="0">
              <a:srgbClr val="F5A623">
                <a:alpha val="1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srcRect/>
          <a:stretch>
            <a:fillRect/>
          </a:stretch>
        </p:blipFill>
        <p:spPr>
          <a:xfrm>
            <a:off x="4064000" y="2286000"/>
            <a:ext cx="1016000" cy="1016000"/>
          </a:xfrm>
          <a:prstGeom prst="ellipse">
            <a:avLst/>
          </a:prstGeom>
          <a:noFill/>
          <a:ln w="25400" cap="flat" cmpd="sng">
            <a:noFill/>
            <a:prstDash val="solid"/>
            <a:round/>
          </a:ln>
        </p:spPr>
      </p:pic>
      <p:sp>
        <p:nvSpPr>
          <p:cNvPr id="11" name="AutoShape 11"/>
          <p:cNvSpPr/>
          <p:nvPr/>
        </p:nvSpPr>
        <p:spPr>
          <a:xfrm>
            <a:off x="3556000" y="3429000"/>
            <a:ext cx="203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5A623"/>
                </a:solidFill>
                <a:latin typeface="Noto Sans SC"/>
                <a:ea typeface="Noto Sans SC"/>
                <a:cs typeface="Noto Sans SC"/>
                <a:sym typeface="Noto Sans SC"/>
              </a:rPr>
              <a:t>02 写人设</a:t>
            </a:r>
            <a:endParaRPr lang="en-US" sz="1100"/>
          </a:p>
        </p:txBody>
      </p:sp>
      <p:sp>
        <p:nvSpPr>
          <p:cNvPr id="12" name="AutoShape 12"/>
          <p:cNvSpPr/>
          <p:nvPr/>
        </p:nvSpPr>
        <p:spPr>
          <a:xfrm>
            <a:off x="3556000" y="3937000"/>
            <a:ext cx="203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66666"/>
                </a:solidFill>
                <a:latin typeface="Noto Sans SC"/>
                <a:ea typeface="Noto Sans SC"/>
                <a:cs typeface="Noto Sans SC"/>
                <a:sym typeface="Noto Sans SC"/>
              </a:rPr>
              <a:t>定义角色与能力</a:t>
            </a:r>
            <a:br>
              <a:rPr lang="en-US" sz="1400" b="0" i="0" u="none" strike="noStrike">
                <a:solidFill>
                  <a:srgbClr val="666666"/>
                </a:solidFill>
                <a:latin typeface="Noto Sans SC"/>
                <a:ea typeface="Noto Sans SC"/>
                <a:cs typeface="Noto Sans SC"/>
                <a:sym typeface="Noto Sans SC"/>
              </a:rPr>
            </a:br>
            <a:r>
              <a:rPr lang="en-US" sz="1400" b="0" i="0" u="none" strike="noStrike">
                <a:solidFill>
                  <a:srgbClr val="666666"/>
                </a:solidFill>
                <a:latin typeface="Noto Sans SC"/>
                <a:ea typeface="Noto Sans SC"/>
                <a:cs typeface="Noto Sans SC"/>
                <a:sym typeface="Noto Sans SC"/>
              </a:rPr>
              <a:t>明确身份定位</a:t>
            </a:r>
            <a:endParaRPr lang="en-US" sz="1100"/>
          </a:p>
        </p:txBody>
      </p:sp>
      <p:sp>
        <p:nvSpPr>
          <p:cNvPr id="13" name="AutoShape 13"/>
          <p:cNvSpPr/>
          <p:nvPr/>
        </p:nvSpPr>
        <p:spPr>
          <a:xfrm>
            <a:off x="6096000" y="2032000"/>
            <a:ext cx="2286000" cy="2794000"/>
          </a:xfrm>
          <a:prstGeom prst="roundRect">
            <a:avLst>
              <a:gd name="adj" fmla="val 5555"/>
            </a:avLst>
          </a:prstGeom>
          <a:solidFill>
            <a:srgbClr val="FFFFFF">
              <a:alpha val="100000"/>
            </a:srgbClr>
          </a:solidFill>
          <a:ln w="12700" cap="flat" cmpd="sng">
            <a:solidFill>
              <a:srgbClr val="7ED321">
                <a:alpha val="30000"/>
              </a:srgbClr>
            </a:solidFill>
            <a:prstDash val="solid"/>
            <a:round/>
          </a:ln>
          <a:effectLst>
            <a:outerShdw blurRad="127000" dist="50800" dir="5400000" algn="tl" rotWithShape="0">
              <a:srgbClr val="7ED321">
                <a:alpha val="1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4"/>
          <a:srcRect/>
          <a:stretch>
            <a:fillRect/>
          </a:stretch>
        </p:blipFill>
        <p:spPr>
          <a:xfrm>
            <a:off x="6731000" y="2286000"/>
            <a:ext cx="1016000" cy="1016000"/>
          </a:xfrm>
          <a:prstGeom prst="ellipse">
            <a:avLst/>
          </a:prstGeom>
          <a:noFill/>
          <a:ln w="25400" cap="flat" cmpd="sng">
            <a:noFill/>
            <a:prstDash val="solid"/>
            <a:round/>
          </a:ln>
        </p:spPr>
      </p:pic>
      <p:sp>
        <p:nvSpPr>
          <p:cNvPr id="15" name="AutoShape 15"/>
          <p:cNvSpPr/>
          <p:nvPr/>
        </p:nvSpPr>
        <p:spPr>
          <a:xfrm>
            <a:off x="6223000" y="3429000"/>
            <a:ext cx="203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7ED321"/>
                </a:solidFill>
                <a:latin typeface="Noto Sans SC"/>
                <a:ea typeface="Noto Sans SC"/>
                <a:cs typeface="Noto Sans SC"/>
                <a:sym typeface="Noto Sans SC"/>
              </a:rPr>
              <a:t>03 调试</a:t>
            </a:r>
            <a:endParaRPr lang="en-US" sz="1100"/>
          </a:p>
        </p:txBody>
      </p:sp>
      <p:sp>
        <p:nvSpPr>
          <p:cNvPr id="16" name="AutoShape 16"/>
          <p:cNvSpPr/>
          <p:nvPr/>
        </p:nvSpPr>
        <p:spPr>
          <a:xfrm>
            <a:off x="6223000" y="3937000"/>
            <a:ext cx="203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66666"/>
                </a:solidFill>
                <a:latin typeface="Noto Sans SC"/>
                <a:ea typeface="Noto Sans SC"/>
                <a:cs typeface="Noto Sans SC"/>
                <a:sym typeface="Noto Sans SC"/>
              </a:rPr>
              <a:t>在预览窗口测试</a:t>
            </a:r>
            <a:br>
              <a:rPr lang="en-US" sz="1400" b="0" i="0" u="none" strike="noStrike">
                <a:solidFill>
                  <a:srgbClr val="666666"/>
                </a:solidFill>
                <a:latin typeface="Noto Sans SC"/>
                <a:ea typeface="Noto Sans SC"/>
                <a:cs typeface="Noto Sans SC"/>
                <a:sym typeface="Noto Sans SC"/>
              </a:rPr>
            </a:br>
            <a:r>
              <a:rPr lang="en-US" sz="1400" b="0" i="0" u="none" strike="noStrike">
                <a:solidFill>
                  <a:srgbClr val="666666"/>
                </a:solidFill>
                <a:latin typeface="Noto Sans SC"/>
                <a:ea typeface="Noto Sans SC"/>
                <a:cs typeface="Noto Sans SC"/>
                <a:sym typeface="Noto Sans SC"/>
              </a:rPr>
              <a:t>优化回答效果</a:t>
            </a:r>
            <a:endParaRPr lang="en-US" sz="1100"/>
          </a:p>
        </p:txBody>
      </p:sp>
      <p:sp>
        <p:nvSpPr>
          <p:cNvPr id="17" name="AutoShape 17"/>
          <p:cNvSpPr/>
          <p:nvPr/>
        </p:nvSpPr>
        <p:spPr>
          <a:xfrm>
            <a:off x="8763000" y="2032000"/>
            <a:ext cx="2286000" cy="2794000"/>
          </a:xfrm>
          <a:prstGeom prst="roundRect">
            <a:avLst>
              <a:gd name="adj" fmla="val 5555"/>
            </a:avLst>
          </a:prstGeom>
          <a:solidFill>
            <a:srgbClr val="FFFFFF">
              <a:alpha val="100000"/>
            </a:srgbClr>
          </a:solidFill>
          <a:ln w="12700" cap="flat" cmpd="sng">
            <a:solidFill>
              <a:srgbClr val="4A90E2">
                <a:alpha val="30000"/>
              </a:srgbClr>
            </a:solidFill>
            <a:prstDash val="solid"/>
            <a:round/>
          </a:ln>
          <a:effectLst>
            <a:outerShdw blurRad="127000" dist="50800" dir="5400000" algn="tl" rotWithShape="0">
              <a:srgbClr val="4A90E2">
                <a:alpha val="15000"/>
              </a:srgbClr>
            </a:outerShdw>
          </a:effectLst>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5"/>
          <a:srcRect/>
          <a:stretch>
            <a:fillRect/>
          </a:stretch>
        </p:blipFill>
        <p:spPr>
          <a:xfrm>
            <a:off x="9398000" y="2286000"/>
            <a:ext cx="1016000" cy="1016000"/>
          </a:xfrm>
          <a:prstGeom prst="ellipse">
            <a:avLst/>
          </a:prstGeom>
          <a:noFill/>
          <a:ln w="25400" cap="flat" cmpd="sng">
            <a:noFill/>
            <a:prstDash val="solid"/>
            <a:round/>
          </a:ln>
        </p:spPr>
      </p:pic>
      <p:sp>
        <p:nvSpPr>
          <p:cNvPr id="19" name="AutoShape 19"/>
          <p:cNvSpPr/>
          <p:nvPr/>
        </p:nvSpPr>
        <p:spPr>
          <a:xfrm>
            <a:off x="8890000" y="3429000"/>
            <a:ext cx="203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4A90E2"/>
                </a:solidFill>
                <a:latin typeface="Noto Sans SC"/>
                <a:ea typeface="Noto Sans SC"/>
                <a:cs typeface="Noto Sans SC"/>
                <a:sym typeface="Noto Sans SC"/>
              </a:rPr>
              <a:t>04 发布</a:t>
            </a:r>
            <a:endParaRPr lang="en-US" sz="1100"/>
          </a:p>
        </p:txBody>
      </p:sp>
      <p:sp>
        <p:nvSpPr>
          <p:cNvPr id="20" name="AutoShape 20"/>
          <p:cNvSpPr/>
          <p:nvPr/>
        </p:nvSpPr>
        <p:spPr>
          <a:xfrm>
            <a:off x="8890000" y="3937000"/>
            <a:ext cx="203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66666"/>
                </a:solidFill>
                <a:latin typeface="Noto Sans SC"/>
                <a:ea typeface="Noto Sans SC"/>
                <a:cs typeface="Noto Sans SC"/>
                <a:sym typeface="Noto Sans SC"/>
              </a:rPr>
              <a:t>发布智能体</a:t>
            </a:r>
            <a:br>
              <a:rPr lang="en-US" sz="1400" b="0" i="0" u="none" strike="noStrike">
                <a:solidFill>
                  <a:srgbClr val="666666"/>
                </a:solidFill>
                <a:latin typeface="Noto Sans SC"/>
                <a:ea typeface="Noto Sans SC"/>
                <a:cs typeface="Noto Sans SC"/>
                <a:sym typeface="Noto Sans SC"/>
              </a:rPr>
            </a:br>
            <a:r>
              <a:rPr lang="en-US" sz="1400" b="0" i="0" u="none" strike="noStrike">
                <a:solidFill>
                  <a:srgbClr val="666666"/>
                </a:solidFill>
                <a:latin typeface="Noto Sans SC"/>
                <a:ea typeface="Noto Sans SC"/>
                <a:cs typeface="Noto Sans SC"/>
                <a:sym typeface="Noto Sans SC"/>
              </a:rPr>
              <a:t>分享给好友使用</a:t>
            </a:r>
            <a:endParaRPr lang="en-US" sz="1100"/>
          </a:p>
        </p:txBody>
      </p:sp>
      <p:sp>
        <p:nvSpPr>
          <p:cNvPr id="21" name="AutoShape 21"/>
          <p:cNvSpPr/>
          <p:nvPr/>
        </p:nvSpPr>
        <p:spPr>
          <a:xfrm>
            <a:off x="762000" y="5334000"/>
            <a:ext cx="10668000" cy="50800"/>
          </a:xfrm>
          <a:prstGeom prst="roundRect">
            <a:avLst>
              <a:gd name="adj" fmla="val 0"/>
            </a:avLst>
          </a:prstGeom>
          <a:gradFill rotWithShape="1">
            <a:gsLst>
              <a:gs pos="0">
                <a:srgbClr val="4A90E2">
                  <a:alpha val="100000"/>
                </a:srgbClr>
              </a:gs>
              <a:gs pos="100000">
                <a:srgbClr val="7ED321">
                  <a:alpha val="100000"/>
                </a:srgbClr>
              </a:gs>
            </a:gsLst>
            <a:lin ang="0"/>
          </a:gra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7543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4A90E2"/>
                </a:solidFill>
                <a:latin typeface="Noto Sans SC"/>
                <a:ea typeface="Noto Sans SC"/>
                <a:cs typeface="Noto Sans SC"/>
                <a:sym typeface="Noto Sans SC"/>
              </a:rPr>
              <a:t>项目目标——搭建“解忧小树洞”</a:t>
            </a:r>
            <a:endParaRPr lang="en-US" sz="1100"/>
          </a:p>
        </p:txBody>
      </p:sp>
      <p:pic>
        <p:nvPicPr>
          <p:cNvPr id="4" name="Picture 4"/>
          <p:cNvPicPr>
            <a:picLocks noChangeAspect="1"/>
          </p:cNvPicPr>
          <p:nvPr/>
        </p:nvPicPr>
        <p:blipFill>
          <a:blip r:embed="rId2"/>
          <a:srcRect/>
          <a:stretch>
            <a:fillRect/>
          </a:stretch>
        </p:blipFill>
        <p:spPr>
          <a:xfrm>
            <a:off x="762000" y="1778000"/>
            <a:ext cx="2794000" cy="2794000"/>
          </a:xfrm>
          <a:prstGeom prst="roundRect">
            <a:avLst>
              <a:gd name="adj" fmla="val 9090"/>
            </a:avLst>
          </a:prstGeom>
          <a:noFill/>
          <a:ln w="38100" cap="flat" cmpd="sng">
            <a:solidFill>
              <a:srgbClr val="FFFFFF">
                <a:alpha val="100000"/>
              </a:srgbClr>
            </a:solidFill>
            <a:prstDash val="solid"/>
            <a:round/>
          </a:ln>
          <a:effectLst>
            <a:outerShdw blurRad="127000" dist="50800" dir="2700000" algn="tl" rotWithShape="0">
              <a:srgbClr val="000000">
                <a:alpha val="10000"/>
              </a:srgbClr>
            </a:outerShdw>
          </a:effectLst>
        </p:spPr>
      </p:pic>
      <p:sp>
        <p:nvSpPr>
          <p:cNvPr id="5" name="AutoShape 5"/>
          <p:cNvSpPr/>
          <p:nvPr/>
        </p:nvSpPr>
        <p:spPr>
          <a:xfrm>
            <a:off x="4064000" y="1651000"/>
            <a:ext cx="7366000" cy="1016000"/>
          </a:xfrm>
          <a:prstGeom prst="roundRect">
            <a:avLst>
              <a:gd name="adj" fmla="val 12500"/>
            </a:avLst>
          </a:prstGeom>
          <a:solidFill>
            <a:srgbClr val="FFFFFF">
              <a:alpha val="90000"/>
            </a:srgbClr>
          </a:solidFill>
          <a:ln w="12700" cap="flat" cmpd="sng">
            <a:solidFill>
              <a:srgbClr val="4A90E2">
                <a:alpha val="30000"/>
              </a:srgbClr>
            </a:solidFill>
            <a:prstDash val="solid"/>
            <a:round/>
          </a:ln>
          <a:effectLst>
            <a:outerShdw blurRad="63500" dist="25400" dir="2700000" algn="tl" rotWithShape="0">
              <a:srgbClr val="4A90E2">
                <a:alpha val="10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54500" y="1955800"/>
            <a:ext cx="406400" cy="406400"/>
          </a:xfrm>
          <a:prstGeom prst="rect">
            <a:avLst/>
          </a:prstGeom>
        </p:spPr>
      </p:pic>
      <p:sp>
        <p:nvSpPr>
          <p:cNvPr id="7" name="AutoShape 7"/>
          <p:cNvSpPr/>
          <p:nvPr/>
        </p:nvSpPr>
        <p:spPr>
          <a:xfrm>
            <a:off x="4762500" y="1778000"/>
            <a:ext cx="6477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核心功能：</a:t>
            </a:r>
            <a:r>
              <a:rPr lang="en-US" sz="1800" b="0" i="0" u="none" strike="noStrike">
                <a:solidFill>
                  <a:srgbClr val="555555"/>
                </a:solidFill>
                <a:latin typeface="Noto Sans SC"/>
                <a:ea typeface="Noto Sans SC"/>
                <a:cs typeface="Noto Sans SC"/>
                <a:sym typeface="Noto Sans SC"/>
              </a:rPr>
              <a:t>解答初中生的学习压力、人际交往及情绪管理等成长困惑。</a:t>
            </a:r>
            <a:endParaRPr lang="en-US" sz="1100"/>
          </a:p>
        </p:txBody>
      </p:sp>
      <p:sp>
        <p:nvSpPr>
          <p:cNvPr id="8" name="AutoShape 8"/>
          <p:cNvSpPr/>
          <p:nvPr/>
        </p:nvSpPr>
        <p:spPr>
          <a:xfrm>
            <a:off x="4064000" y="2794000"/>
            <a:ext cx="7366000" cy="1016000"/>
          </a:xfrm>
          <a:prstGeom prst="roundRect">
            <a:avLst>
              <a:gd name="adj" fmla="val 12500"/>
            </a:avLst>
          </a:prstGeom>
          <a:solidFill>
            <a:srgbClr val="FFFFFF">
              <a:alpha val="90000"/>
            </a:srgbClr>
          </a:solidFill>
          <a:ln w="12700" cap="flat" cmpd="sng">
            <a:solidFill>
              <a:srgbClr val="F5A623">
                <a:alpha val="30000"/>
              </a:srgbClr>
            </a:solidFill>
            <a:prstDash val="solid"/>
            <a:round/>
          </a:ln>
          <a:effectLst>
            <a:outerShdw blurRad="63500" dist="25400" dir="2700000" algn="tl" rotWithShape="0">
              <a:srgbClr val="F5A623">
                <a:alpha val="1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54500" y="3098800"/>
            <a:ext cx="406400" cy="406400"/>
          </a:xfrm>
          <a:prstGeom prst="rect">
            <a:avLst/>
          </a:prstGeom>
        </p:spPr>
      </p:pic>
      <p:sp>
        <p:nvSpPr>
          <p:cNvPr id="10" name="AutoShape 10"/>
          <p:cNvSpPr/>
          <p:nvPr/>
        </p:nvSpPr>
        <p:spPr>
          <a:xfrm>
            <a:off x="4762500" y="2921000"/>
            <a:ext cx="6477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交互特点：</a:t>
            </a:r>
            <a:r>
              <a:rPr lang="en-US" sz="1800" b="0" i="0" u="none" strike="noStrike">
                <a:solidFill>
                  <a:srgbClr val="555555"/>
                </a:solidFill>
                <a:latin typeface="Noto Sans SC"/>
                <a:ea typeface="Noto Sans SC"/>
                <a:cs typeface="Noto Sans SC"/>
                <a:sym typeface="Noto Sans SC"/>
              </a:rPr>
              <a:t>化身知心学长/学姐，采用温和、包容、不评判的语气进行对话。</a:t>
            </a:r>
            <a:endParaRPr lang="en-US" sz="1100"/>
          </a:p>
        </p:txBody>
      </p:sp>
      <p:sp>
        <p:nvSpPr>
          <p:cNvPr id="11" name="AutoShape 11"/>
          <p:cNvSpPr/>
          <p:nvPr/>
        </p:nvSpPr>
        <p:spPr>
          <a:xfrm>
            <a:off x="4064000" y="3937000"/>
            <a:ext cx="7366000" cy="1016000"/>
          </a:xfrm>
          <a:prstGeom prst="roundRect">
            <a:avLst>
              <a:gd name="adj" fmla="val 12500"/>
            </a:avLst>
          </a:prstGeom>
          <a:solidFill>
            <a:srgbClr val="FFFFFF">
              <a:alpha val="90000"/>
            </a:srgbClr>
          </a:solidFill>
          <a:ln w="12700" cap="flat" cmpd="sng">
            <a:solidFill>
              <a:srgbClr val="7ED321">
                <a:alpha val="30000"/>
              </a:srgbClr>
            </a:solidFill>
            <a:prstDash val="solid"/>
            <a:round/>
          </a:ln>
          <a:effectLst>
            <a:outerShdw blurRad="63500" dist="25400" dir="2700000" algn="tl" rotWithShape="0">
              <a:srgbClr val="7ED321">
                <a:alpha val="10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254500" y="4241800"/>
            <a:ext cx="406400" cy="406400"/>
          </a:xfrm>
          <a:prstGeom prst="rect">
            <a:avLst/>
          </a:prstGeom>
        </p:spPr>
      </p:pic>
      <p:sp>
        <p:nvSpPr>
          <p:cNvPr id="13" name="AutoShape 13"/>
          <p:cNvSpPr/>
          <p:nvPr/>
        </p:nvSpPr>
        <p:spPr>
          <a:xfrm>
            <a:off x="4762500" y="4064000"/>
            <a:ext cx="6477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智能特色：</a:t>
            </a:r>
            <a:r>
              <a:rPr lang="en-US" sz="1800" b="0" i="0" u="none" strike="noStrike">
                <a:solidFill>
                  <a:srgbClr val="555555"/>
                </a:solidFill>
                <a:latin typeface="Noto Sans SC"/>
                <a:ea typeface="Noto Sans SC"/>
                <a:cs typeface="Noto Sans SC"/>
                <a:sym typeface="Noto Sans SC"/>
              </a:rPr>
              <a:t>能识别开心、焦虑、难过等基本情绪，并根据情绪状态动态切换回应语气。</a:t>
            </a:r>
            <a:endParaRPr lang="en-US" sz="1100"/>
          </a:p>
        </p:txBody>
      </p:sp>
      <p:sp>
        <p:nvSpPr>
          <p:cNvPr id="14" name="AutoShape 14"/>
          <p:cNvSpPr/>
          <p:nvPr/>
        </p:nvSpPr>
        <p:spPr>
          <a:xfrm>
            <a:off x="0" y="6781800"/>
            <a:ext cx="12192000" cy="76200"/>
          </a:xfrm>
          <a:prstGeom prst="roundRect">
            <a:avLst>
              <a:gd name="adj" fmla="val 0"/>
            </a:avLst>
          </a:prstGeom>
          <a:gradFill rotWithShape="1">
            <a:gsLst>
              <a:gs pos="0">
                <a:srgbClr val="4A90E2">
                  <a:alpha val="100000"/>
                </a:srgbClr>
              </a:gs>
              <a:gs pos="50000">
                <a:srgbClr val="7ED321">
                  <a:alpha val="100000"/>
                </a:srgbClr>
              </a:gs>
              <a:gs pos="100000">
                <a:srgbClr val="F5A623">
                  <a:alpha val="100000"/>
                </a:srgbClr>
              </a:gs>
            </a:gsLst>
            <a:lin ang="0"/>
          </a:gra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4572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4A90E2"/>
                </a:solidFill>
                <a:latin typeface="Noto Sans SC"/>
                <a:ea typeface="Noto Sans SC"/>
                <a:cs typeface="Noto Sans SC"/>
                <a:sym typeface="Noto Sans SC"/>
              </a:rPr>
              <a:t>步骤 1——创建与命名</a:t>
            </a:r>
            <a:endParaRPr lang="en-US" sz="1100"/>
          </a:p>
        </p:txBody>
      </p:sp>
      <p:sp>
        <p:nvSpPr>
          <p:cNvPr id="4" name="AutoShape 4"/>
          <p:cNvSpPr/>
          <p:nvPr/>
        </p:nvSpPr>
        <p:spPr>
          <a:xfrm>
            <a:off x="762000" y="1397000"/>
            <a:ext cx="10668000" cy="3810000"/>
          </a:xfrm>
          <a:prstGeom prst="roundRect">
            <a:avLst>
              <a:gd name="adj" fmla="val 3333"/>
            </a:avLst>
          </a:prstGeom>
          <a:solidFill>
            <a:srgbClr val="FFFFFF">
              <a:alpha val="92000"/>
            </a:srgbClr>
          </a:solidFill>
          <a:ln w="12700" cap="flat" cmpd="sng">
            <a:solidFill>
              <a:srgbClr val="4A90E2">
                <a:alpha val="30000"/>
              </a:srgbClr>
            </a:solidFill>
            <a:prstDash val="solid"/>
            <a:round/>
          </a:ln>
          <a:effectLst>
            <a:outerShdw blurRad="190500" dist="101600" dir="5400000" algn="tl" rotWithShape="0">
              <a:srgbClr val="4A90E2">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3000" y="1778000"/>
            <a:ext cx="406400" cy="406400"/>
          </a:xfrm>
          <a:prstGeom prst="rect">
            <a:avLst/>
          </a:prstGeom>
        </p:spPr>
      </p:pic>
      <p:sp>
        <p:nvSpPr>
          <p:cNvPr id="6" name="AutoShape 6"/>
          <p:cNvSpPr/>
          <p:nvPr/>
        </p:nvSpPr>
        <p:spPr>
          <a:xfrm>
            <a:off x="1651000" y="1752600"/>
            <a:ext cx="2667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点击“创建智能体”按钮</a:t>
            </a:r>
            <a:endParaRPr lang="en-US" sz="1100"/>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3000" y="2540000"/>
            <a:ext cx="406400" cy="406400"/>
          </a:xfrm>
          <a:prstGeom prst="rect">
            <a:avLst/>
          </a:prstGeom>
        </p:spPr>
      </p:pic>
      <p:sp>
        <p:nvSpPr>
          <p:cNvPr id="8" name="AutoShape 8"/>
          <p:cNvSpPr/>
          <p:nvPr/>
        </p:nvSpPr>
        <p:spPr>
          <a:xfrm>
            <a:off x="1651000" y="2514600"/>
            <a:ext cx="2667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填写智能体专属名称</a:t>
            </a:r>
            <a:endParaRPr lang="en-US" sz="1100"/>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43000" y="3302000"/>
            <a:ext cx="406400" cy="406400"/>
          </a:xfrm>
          <a:prstGeom prst="rect">
            <a:avLst/>
          </a:prstGeom>
        </p:spPr>
      </p:pic>
      <p:sp>
        <p:nvSpPr>
          <p:cNvPr id="10" name="AutoShape 10"/>
          <p:cNvSpPr/>
          <p:nvPr/>
        </p:nvSpPr>
        <p:spPr>
          <a:xfrm>
            <a:off x="1651000" y="3276600"/>
            <a:ext cx="2667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撰写核心功能介绍</a:t>
            </a:r>
            <a:endParaRPr lang="en-US" sz="1100"/>
          </a:p>
        </p:txBody>
      </p:sp>
      <p:cxnSp>
        <p:nvCxnSpPr>
          <p:cNvPr id="11" name="Connector 11"/>
          <p:cNvCxnSpPr/>
          <p:nvPr/>
        </p:nvCxnSpPr>
        <p:spPr>
          <a:xfrm rot="5385676">
            <a:off x="2794000" y="3295663"/>
            <a:ext cx="3048000" cy="12700"/>
          </a:xfrm>
          <a:prstGeom prst="line">
            <a:avLst/>
          </a:prstGeom>
          <a:solidFill>
            <a:srgbClr val="DEE0E3">
              <a:alpha val="100000"/>
            </a:srgbClr>
          </a:solidFill>
          <a:ln w="12700" cap="flat" cmpd="sng">
            <a:solidFill>
              <a:srgbClr val="C8C8C8">
                <a:alpha val="50000"/>
              </a:srgbClr>
            </a:solidFill>
            <a:prstDash val="dash"/>
            <a:round/>
            <a:headEnd type="none" w="med" len="med"/>
            <a:tailEnd type="none" w="med" len="med"/>
          </a:ln>
        </p:spPr>
      </p:cxnSp>
      <p:sp>
        <p:nvSpPr>
          <p:cNvPr id="12" name="AutoShape 12"/>
          <p:cNvSpPr/>
          <p:nvPr/>
        </p:nvSpPr>
        <p:spPr>
          <a:xfrm>
            <a:off x="4572000" y="1651000"/>
            <a:ext cx="6350000" cy="3302000"/>
          </a:xfrm>
          <a:prstGeom prst="roundRect">
            <a:avLst>
              <a:gd name="adj" fmla="val 1923"/>
            </a:avLst>
          </a:prstGeom>
          <a:solidFill>
            <a:srgbClr val="F7F9FC">
              <a:alpha val="100000"/>
            </a:srgbClr>
          </a:solidFill>
          <a:ln w="12700" cap="flat" cmpd="sng">
            <a:solidFill>
              <a:srgbClr val="DCE0E6">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4826000" y="1905000"/>
            <a:ext cx="1524000" cy="457200"/>
          </a:xfrm>
          <a:prstGeom prst="roundRect">
            <a:avLst>
              <a:gd name="adj" fmla="val 27777"/>
            </a:avLst>
          </a:prstGeom>
          <a:solidFill>
            <a:srgbClr val="F5A623">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创建智能体</a:t>
            </a:r>
            <a:endParaRPr lang="en-US" sz="1100"/>
          </a:p>
        </p:txBody>
      </p:sp>
      <p:sp>
        <p:nvSpPr>
          <p:cNvPr id="14" name="AutoShape 14"/>
          <p:cNvSpPr/>
          <p:nvPr/>
        </p:nvSpPr>
        <p:spPr>
          <a:xfrm>
            <a:off x="4826000" y="2540000"/>
            <a:ext cx="76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666666"/>
                </a:solidFill>
                <a:latin typeface="Noto Sans SC"/>
                <a:ea typeface="Noto Sans SC"/>
                <a:cs typeface="Noto Sans SC"/>
                <a:sym typeface="Noto Sans SC"/>
              </a:rPr>
              <a:t>名称：</a:t>
            </a:r>
            <a:endParaRPr lang="en-US" sz="1100"/>
          </a:p>
        </p:txBody>
      </p:sp>
      <p:sp>
        <p:nvSpPr>
          <p:cNvPr id="15" name="AutoShape 15"/>
          <p:cNvSpPr/>
          <p:nvPr/>
        </p:nvSpPr>
        <p:spPr>
          <a:xfrm>
            <a:off x="5715000" y="2489200"/>
            <a:ext cx="4826000" cy="406400"/>
          </a:xfrm>
          <a:prstGeom prst="roundRect">
            <a:avLst>
              <a:gd name="adj" fmla="val 15625"/>
            </a:avLst>
          </a:prstGeom>
          <a:solidFill>
            <a:srgbClr val="FFFFFF">
              <a:alpha val="100000"/>
            </a:srgbClr>
          </a:solidFill>
          <a:ln w="12700" cap="flat" cmpd="sng">
            <a:solidFill>
              <a:srgbClr val="4A90E2">
                <a:alpha val="40000"/>
              </a:srgbClr>
            </a:solidFill>
            <a:prstDash val="solid"/>
            <a:round/>
          </a:ln>
        </p:spPr>
        <p:txBody>
          <a:bodyPr vert="horz" wrap="square" lIns="127000" tIns="0" rIns="0" bIns="0" rtlCol="0" anchor="ctr" anchorCtr="0"/>
          <a:lstStyle/>
          <a:p>
            <a:pPr indent="0" algn="ctr">
              <a:lnSpc>
                <a:spcPct val="125000"/>
              </a:lnSpc>
              <a:defRPr/>
            </a:pPr>
            <a:r>
              <a:rPr lang="en-US" sz="1600" b="0" i="0" u="none" strike="noStrike">
                <a:solidFill>
                  <a:srgbClr val="333333"/>
                </a:solidFill>
                <a:latin typeface="Noto Sans SC"/>
                <a:ea typeface="Noto Sans SC"/>
                <a:cs typeface="Noto Sans SC"/>
                <a:sym typeface="Noto Sans SC"/>
              </a:rPr>
              <a:t>解忧小树洞</a:t>
            </a:r>
            <a:endParaRPr lang="en-US" sz="1100"/>
          </a:p>
        </p:txBody>
      </p:sp>
      <p:sp>
        <p:nvSpPr>
          <p:cNvPr id="16" name="AutoShape 16"/>
          <p:cNvSpPr/>
          <p:nvPr/>
        </p:nvSpPr>
        <p:spPr>
          <a:xfrm>
            <a:off x="4826000" y="3048000"/>
            <a:ext cx="76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666666"/>
                </a:solidFill>
                <a:latin typeface="Noto Sans SC"/>
                <a:ea typeface="Noto Sans SC"/>
                <a:cs typeface="Noto Sans SC"/>
                <a:sym typeface="Noto Sans SC"/>
              </a:rPr>
              <a:t>介绍：</a:t>
            </a:r>
            <a:endParaRPr lang="en-US" sz="1100"/>
          </a:p>
        </p:txBody>
      </p:sp>
      <p:sp>
        <p:nvSpPr>
          <p:cNvPr id="17" name="AutoShape 17"/>
          <p:cNvSpPr/>
          <p:nvPr/>
        </p:nvSpPr>
        <p:spPr>
          <a:xfrm>
            <a:off x="5715000" y="2997200"/>
            <a:ext cx="4826000" cy="1270000"/>
          </a:xfrm>
          <a:prstGeom prst="roundRect">
            <a:avLst>
              <a:gd name="adj" fmla="val 5000"/>
            </a:avLst>
          </a:prstGeom>
          <a:solidFill>
            <a:srgbClr val="FFFFFF">
              <a:alpha val="100000"/>
            </a:srgbClr>
          </a:solidFill>
          <a:ln w="12700" cap="flat" cmpd="sng">
            <a:solidFill>
              <a:srgbClr val="4A90E2">
                <a:alpha val="40000"/>
              </a:srgbClr>
            </a:solidFill>
            <a:prstDash val="solid"/>
            <a:round/>
          </a:ln>
        </p:spPr>
        <p:txBody>
          <a:bodyPr vert="horz" wrap="square" lIns="127000" tIns="127000" rIns="0" bIns="0" rtlCol="0" anchor="ctr" anchorCtr="0"/>
          <a:lstStyle/>
          <a:p>
            <a:pPr indent="0" algn="ctr">
              <a:lnSpc>
                <a:spcPct val="108000"/>
              </a:lnSpc>
              <a:defRPr/>
            </a:pPr>
            <a:r>
              <a:rPr lang="en-US" sz="1400" b="0" i="0" u="none" strike="noStrike">
                <a:solidFill>
                  <a:srgbClr val="555555"/>
                </a:solidFill>
                <a:latin typeface="Noto Sans SC"/>
                <a:ea typeface="Noto Sans SC"/>
                <a:cs typeface="Noto Sans SC"/>
                <a:sym typeface="Noto Sans SC"/>
              </a:rPr>
              <a:t>我是初中生的校园生活助手，可以帮你解答学习压力、人际交往、情绪管理等方面的问题。</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7543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4A90E2"/>
                </a:solidFill>
                <a:latin typeface="Noto Sans SC"/>
                <a:ea typeface="Noto Sans SC"/>
                <a:cs typeface="Noto Sans SC"/>
                <a:sym typeface="Noto Sans SC"/>
              </a:rPr>
              <a:t>步骤 2——编写提示词（核心）</a:t>
            </a:r>
            <a:endParaRPr lang="en-US" sz="1100"/>
          </a:p>
        </p:txBody>
      </p:sp>
      <p:sp>
        <p:nvSpPr>
          <p:cNvPr id="5" name="AutoShape 5"/>
          <p:cNvSpPr/>
          <p:nvPr/>
        </p:nvSpPr>
        <p:spPr>
          <a:xfrm>
            <a:off x="762000" y="1270000"/>
            <a:ext cx="10668000" cy="635000"/>
          </a:xfrm>
          <a:prstGeom prst="roundRect">
            <a:avLst>
              <a:gd name="adj" fmla="val 20000"/>
            </a:avLst>
          </a:prstGeom>
          <a:solidFill>
            <a:srgbClr val="EBF5FF">
              <a:alpha val="100000"/>
            </a:srgbClr>
          </a:solidFill>
          <a:ln w="12700" cap="flat" cmpd="sng">
            <a:solidFill>
              <a:srgbClr val="4A90E2">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435100"/>
            <a:ext cx="304800" cy="304800"/>
          </a:xfrm>
          <a:prstGeom prst="rect">
            <a:avLst/>
          </a:prstGeom>
        </p:spPr>
      </p:pic>
      <p:sp>
        <p:nvSpPr>
          <p:cNvPr id="7" name="AutoShape 7"/>
          <p:cNvSpPr/>
          <p:nvPr/>
        </p:nvSpPr>
        <p:spPr>
          <a:xfrm>
            <a:off x="1397000" y="1397000"/>
            <a:ext cx="177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角色 Role</a:t>
            </a:r>
            <a:endParaRPr lang="en-US" sz="1100"/>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75000" y="1460500"/>
            <a:ext cx="254000" cy="254000"/>
          </a:xfrm>
          <a:prstGeom prst="rect">
            <a:avLst/>
          </a:prstGeom>
        </p:spPr>
      </p:pic>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556000" y="1435100"/>
            <a:ext cx="304800" cy="304800"/>
          </a:xfrm>
          <a:prstGeom prst="rect">
            <a:avLst/>
          </a:prstGeom>
        </p:spPr>
      </p:pic>
      <p:sp>
        <p:nvSpPr>
          <p:cNvPr id="10" name="AutoShape 10"/>
          <p:cNvSpPr/>
          <p:nvPr/>
        </p:nvSpPr>
        <p:spPr>
          <a:xfrm>
            <a:off x="3937000" y="1397000"/>
            <a:ext cx="177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技能 Skills</a:t>
            </a:r>
            <a:endParaRPr lang="en-US" sz="1100"/>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15000" y="1460500"/>
            <a:ext cx="254000" cy="254000"/>
          </a:xfrm>
          <a:prstGeom prst="rect">
            <a:avLst/>
          </a:prstGeom>
        </p:spPr>
      </p:pic>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096000" y="1435100"/>
            <a:ext cx="304800" cy="304800"/>
          </a:xfrm>
          <a:prstGeom prst="rect">
            <a:avLst/>
          </a:prstGeom>
        </p:spPr>
      </p:pic>
      <p:sp>
        <p:nvSpPr>
          <p:cNvPr id="13" name="AutoShape 13"/>
          <p:cNvSpPr/>
          <p:nvPr/>
        </p:nvSpPr>
        <p:spPr>
          <a:xfrm>
            <a:off x="6477000" y="1397000"/>
            <a:ext cx="177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限制 Rules</a:t>
            </a:r>
            <a:endParaRPr lang="en-US" sz="1100"/>
          </a:p>
        </p:txBody>
      </p:sp>
      <p:pic>
        <p:nvPicPr>
          <p:cNvPr id="14" name="Picture 1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55000" y="1460500"/>
            <a:ext cx="254000" cy="254000"/>
          </a:xfrm>
          <a:prstGeom prst="rect">
            <a:avLst/>
          </a:prstGeom>
        </p:spPr>
      </p:pic>
      <p:pic>
        <p:nvPicPr>
          <p:cNvPr id="15" name="Picture 15"/>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636000" y="1435100"/>
            <a:ext cx="304800" cy="304800"/>
          </a:xfrm>
          <a:prstGeom prst="rect">
            <a:avLst/>
          </a:prstGeom>
        </p:spPr>
      </p:pic>
      <p:sp>
        <p:nvSpPr>
          <p:cNvPr id="16" name="AutoShape 16"/>
          <p:cNvSpPr/>
          <p:nvPr/>
        </p:nvSpPr>
        <p:spPr>
          <a:xfrm>
            <a:off x="9017000" y="1397000"/>
            <a:ext cx="177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目标 Goal</a:t>
            </a:r>
            <a:endParaRPr lang="en-US" sz="1100"/>
          </a:p>
        </p:txBody>
      </p:sp>
      <p:sp>
        <p:nvSpPr>
          <p:cNvPr id="17" name="AutoShape 17"/>
          <p:cNvSpPr/>
          <p:nvPr/>
        </p:nvSpPr>
        <p:spPr>
          <a:xfrm>
            <a:off x="762000" y="2159000"/>
            <a:ext cx="10668000" cy="3302000"/>
          </a:xfrm>
          <a:prstGeom prst="roundRect">
            <a:avLst>
              <a:gd name="adj" fmla="val 3846"/>
            </a:avLst>
          </a:prstGeom>
          <a:solidFill>
            <a:srgbClr val="F8F9FA">
              <a:alpha val="100000"/>
            </a:srgbClr>
          </a:solidFill>
          <a:ln w="12700" cap="flat" cmpd="sng">
            <a:solidFill>
              <a:srgbClr val="C8C8C8">
                <a:alpha val="100000"/>
              </a:srgbClr>
            </a:solid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sp>
        <p:nvSpPr>
          <p:cNvPr id="18" name="AutoShape 18"/>
          <p:cNvSpPr/>
          <p:nvPr/>
        </p:nvSpPr>
        <p:spPr>
          <a:xfrm>
            <a:off x="1016000" y="2349500"/>
            <a:ext cx="1016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A90E2"/>
                </a:solidFill>
                <a:latin typeface="Noto Sans SC"/>
                <a:ea typeface="Noto Sans SC"/>
                <a:cs typeface="Noto Sans SC"/>
                <a:sym typeface="Noto Sans SC"/>
              </a:rPr>
              <a:t># 角色 (Role)</a:t>
            </a:r>
            <a:endParaRPr lang="en-US" sz="1100"/>
          </a:p>
        </p:txBody>
      </p:sp>
      <p:sp>
        <p:nvSpPr>
          <p:cNvPr id="19" name="AutoShape 19"/>
          <p:cNvSpPr/>
          <p:nvPr/>
        </p:nvSpPr>
        <p:spPr>
          <a:xfrm>
            <a:off x="1016000" y="2667000"/>
            <a:ext cx="1016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505050"/>
                </a:solidFill>
                <a:latin typeface="Noto Sans SC"/>
                <a:ea typeface="Noto Sans SC"/>
                <a:cs typeface="Noto Sans SC"/>
                <a:sym typeface="Noto Sans SC"/>
              </a:rPr>
              <a:t>你是善解人意的初中校园生活助手“解忧小树洞”，说话温和亲切，像知心学长/学姐。</a:t>
            </a:r>
            <a:endParaRPr lang="en-US" sz="1100"/>
          </a:p>
        </p:txBody>
      </p:sp>
      <p:sp>
        <p:nvSpPr>
          <p:cNvPr id="20" name="AutoShape 20"/>
          <p:cNvSpPr/>
          <p:nvPr/>
        </p:nvSpPr>
        <p:spPr>
          <a:xfrm>
            <a:off x="1016000" y="3048000"/>
            <a:ext cx="1016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5A623"/>
                </a:solidFill>
                <a:latin typeface="Noto Sans SC"/>
                <a:ea typeface="Noto Sans SC"/>
                <a:cs typeface="Noto Sans SC"/>
                <a:sym typeface="Noto Sans SC"/>
              </a:rPr>
              <a:t># 技能 (Skills)</a:t>
            </a:r>
            <a:endParaRPr lang="en-US" sz="1100"/>
          </a:p>
        </p:txBody>
      </p:sp>
      <p:sp>
        <p:nvSpPr>
          <p:cNvPr id="21" name="AutoShape 21"/>
          <p:cNvSpPr/>
          <p:nvPr/>
        </p:nvSpPr>
        <p:spPr>
          <a:xfrm>
            <a:off x="1016000" y="3365500"/>
            <a:ext cx="10160000" cy="635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505050"/>
              </a:buClr>
              <a:buChar char="•"/>
              <a:defRPr/>
            </a:pPr>
            <a:r>
              <a:rPr lang="en-US" sz="1400" b="0" i="0" u="none" strike="noStrike">
                <a:solidFill>
                  <a:srgbClr val="505050"/>
                </a:solidFill>
                <a:latin typeface="Noto Sans SC"/>
                <a:ea typeface="Noto Sans SC"/>
                <a:cs typeface="Noto Sans SC"/>
                <a:sym typeface="Noto Sans SC"/>
              </a:rPr>
              <a:t>提供缓解学习压力、考试焦虑的具体方法；</a:t>
            </a:r>
            <a:endParaRPr lang="en-US" sz="1100"/>
          </a:p>
          <a:p>
            <a:pPr marL="177800" indent="-177800" algn="l">
              <a:lnSpc>
                <a:spcPct val="125000"/>
              </a:lnSpc>
              <a:buClr>
                <a:srgbClr val="505050"/>
              </a:buClr>
              <a:buChar char="•"/>
            </a:pPr>
            <a:r>
              <a:rPr lang="en-US" sz="1400" b="0" i="0" u="none" strike="noStrike">
                <a:solidFill>
                  <a:srgbClr val="505050"/>
                </a:solidFill>
                <a:latin typeface="Noto Sans SC"/>
                <a:ea typeface="Noto Sans SC"/>
                <a:cs typeface="Noto Sans SC"/>
                <a:sym typeface="Noto Sans SC"/>
              </a:rPr>
              <a:t>给予人际交往建议与实用的时间管理技巧；</a:t>
            </a:r>
            <a:endParaRPr lang="en-US" sz="1400" b="0" i="0" u="none" strike="noStrike">
              <a:solidFill>
                <a:srgbClr val="505050"/>
              </a:solidFill>
              <a:latin typeface="Noto Sans SC"/>
              <a:ea typeface="Noto Sans SC"/>
              <a:cs typeface="Noto Sans SC"/>
              <a:sym typeface="Noto Sans SC"/>
            </a:endParaRPr>
          </a:p>
          <a:p>
            <a:pPr marL="177800" indent="-177800" algn="l">
              <a:lnSpc>
                <a:spcPct val="125000"/>
              </a:lnSpc>
              <a:buClr>
                <a:srgbClr val="505050"/>
              </a:buClr>
              <a:buChar char="•"/>
            </a:pPr>
            <a:r>
              <a:rPr lang="en-US" sz="1400" b="0" i="0" u="none" strike="noStrike">
                <a:solidFill>
                  <a:srgbClr val="505050"/>
                </a:solidFill>
                <a:latin typeface="Noto Sans SC"/>
                <a:ea typeface="Noto Sans SC"/>
                <a:cs typeface="Noto Sans SC"/>
                <a:sym typeface="Noto Sans SC"/>
              </a:rPr>
              <a:t>能识别情绪关键词（如紧张、开心）并调整回复语气。</a:t>
            </a:r>
            <a:endParaRPr lang="en-US" sz="1400" b="0" i="0" u="none" strike="noStrike">
              <a:solidFill>
                <a:srgbClr val="505050"/>
              </a:solidFill>
              <a:latin typeface="Noto Sans SC"/>
              <a:ea typeface="Noto Sans SC"/>
              <a:cs typeface="Noto Sans SC"/>
              <a:sym typeface="Noto Sans SC"/>
            </a:endParaRPr>
          </a:p>
        </p:txBody>
      </p:sp>
      <p:sp>
        <p:nvSpPr>
          <p:cNvPr id="22" name="AutoShape 22"/>
          <p:cNvSpPr/>
          <p:nvPr/>
        </p:nvSpPr>
        <p:spPr>
          <a:xfrm>
            <a:off x="1016000" y="4064000"/>
            <a:ext cx="1016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E65100"/>
                </a:solidFill>
                <a:latin typeface="Noto Sans SC"/>
                <a:ea typeface="Noto Sans SC"/>
                <a:cs typeface="Noto Sans SC"/>
                <a:sym typeface="Noto Sans SC"/>
              </a:rPr>
              <a:t># 限制 (Constraints)</a:t>
            </a:r>
            <a:endParaRPr lang="en-US" sz="1100"/>
          </a:p>
        </p:txBody>
      </p:sp>
      <p:sp>
        <p:nvSpPr>
          <p:cNvPr id="23" name="AutoShape 23"/>
          <p:cNvSpPr/>
          <p:nvPr/>
        </p:nvSpPr>
        <p:spPr>
          <a:xfrm>
            <a:off x="1016000" y="4381500"/>
            <a:ext cx="10160000" cy="381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505050"/>
              </a:buClr>
              <a:buChar char="•"/>
              <a:defRPr/>
            </a:pPr>
            <a:r>
              <a:rPr lang="en-US" sz="1400" b="0" i="0" u="none" strike="noStrike">
                <a:solidFill>
                  <a:srgbClr val="505050"/>
                </a:solidFill>
                <a:latin typeface="Noto Sans SC"/>
                <a:ea typeface="Noto Sans SC"/>
                <a:cs typeface="Noto Sans SC"/>
                <a:sym typeface="Noto Sans SC"/>
              </a:rPr>
              <a:t>避免说教（多说“你可以试试”），不评判、不贴标签；</a:t>
            </a:r>
            <a:endParaRPr lang="en-US" sz="1100"/>
          </a:p>
          <a:p>
            <a:pPr marL="177800" indent="-177800" algn="l">
              <a:lnSpc>
                <a:spcPct val="125000"/>
              </a:lnSpc>
              <a:buClr>
                <a:srgbClr val="505050"/>
              </a:buClr>
              <a:buChar char="•"/>
            </a:pPr>
            <a:r>
              <a:rPr lang="en-US" sz="1400" b="0" i="0" u="none" strike="noStrike">
                <a:solidFill>
                  <a:srgbClr val="505050"/>
                </a:solidFill>
                <a:latin typeface="Noto Sans SC"/>
                <a:ea typeface="Noto Sans SC"/>
                <a:cs typeface="Noto Sans SC"/>
                <a:sym typeface="Noto Sans SC"/>
              </a:rPr>
              <a:t>遇到严重心理问题（如自伤），引导寻求专业帮助。</a:t>
            </a:r>
            <a:endParaRPr lang="en-US" sz="1400" b="0" i="0" u="none" strike="noStrike">
              <a:solidFill>
                <a:srgbClr val="505050"/>
              </a:solidFill>
              <a:latin typeface="Noto Sans SC"/>
              <a:ea typeface="Noto Sans SC"/>
              <a:cs typeface="Noto Sans SC"/>
              <a:sym typeface="Noto Sans SC"/>
            </a:endParaRPr>
          </a:p>
        </p:txBody>
      </p:sp>
      <p:sp>
        <p:nvSpPr>
          <p:cNvPr id="24" name="AutoShape 24"/>
          <p:cNvSpPr/>
          <p:nvPr/>
        </p:nvSpPr>
        <p:spPr>
          <a:xfrm>
            <a:off x="1016000" y="4889500"/>
            <a:ext cx="1016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ED321"/>
                </a:solidFill>
                <a:latin typeface="Noto Sans SC"/>
                <a:ea typeface="Noto Sans SC"/>
                <a:cs typeface="Noto Sans SC"/>
                <a:sym typeface="Noto Sans SC"/>
              </a:rPr>
              <a:t># 目标 (Goal)</a:t>
            </a:r>
            <a:endParaRPr lang="en-US" sz="1100"/>
          </a:p>
        </p:txBody>
      </p:sp>
      <p:sp>
        <p:nvSpPr>
          <p:cNvPr id="25" name="AutoShape 25"/>
          <p:cNvSpPr/>
          <p:nvPr/>
        </p:nvSpPr>
        <p:spPr>
          <a:xfrm>
            <a:off x="1016000" y="5207000"/>
            <a:ext cx="1016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505050"/>
                </a:solidFill>
                <a:latin typeface="Noto Sans SC"/>
                <a:ea typeface="Noto Sans SC"/>
                <a:cs typeface="Noto Sans SC"/>
                <a:sym typeface="Noto Sans SC"/>
              </a:rPr>
              <a:t>成为初中生最信任、最愿意倾诉的校园生活助手。</a:t>
            </a:r>
            <a:endParaRPr lang="en-US" sz="1100"/>
          </a:p>
        </p:txBody>
      </p:sp>
      <p:sp>
        <p:nvSpPr>
          <p:cNvPr id="26" name="AutoShape 26"/>
          <p:cNvSpPr/>
          <p:nvPr/>
        </p:nvSpPr>
        <p:spPr>
          <a:xfrm>
            <a:off x="762000" y="5842000"/>
            <a:ext cx="10668000" cy="50800"/>
          </a:xfrm>
          <a:prstGeom prst="roundRect">
            <a:avLst>
              <a:gd name="adj" fmla="val 0"/>
            </a:avLst>
          </a:prstGeom>
          <a:gradFill rotWithShape="1">
            <a:gsLst>
              <a:gs pos="0">
                <a:srgbClr val="4A90E2">
                  <a:alpha val="100000"/>
                </a:srgbClr>
              </a:gs>
              <a:gs pos="100000">
                <a:srgbClr val="7ED321">
                  <a:alpha val="10000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762000" y="59690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1" u="none" strike="noStrike">
                <a:solidFill>
                  <a:srgbClr val="646464"/>
                </a:solidFill>
                <a:latin typeface="Noto Sans SC"/>
                <a:ea typeface="Noto Sans SC"/>
                <a:cs typeface="Noto Sans SC"/>
                <a:sym typeface="Noto Sans SC"/>
              </a:rPr>
              <a:t>“提示词就是给AI的说明书，越清晰具体，AI表现越出色。”</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1778000"/>
            <a:ext cx="10668000" cy="4064000"/>
          </a:xfrm>
          <a:prstGeom prst="roundRect">
            <a:avLst>
              <a:gd name="adj" fmla="val 6250"/>
            </a:avLst>
          </a:prstGeom>
          <a:solidFill>
            <a:srgbClr val="FFFFFF">
              <a:alpha val="90000"/>
            </a:srgbClr>
          </a:solidFill>
          <a:ln cap="flat" cmpd="sng">
            <a:solidFill>
              <a:srgbClr val="E6CFCF">
                <a:alpha val="90000"/>
              </a:srgbClr>
            </a:solidFill>
            <a:prstDash val="solid"/>
            <a:round/>
          </a:ln>
          <a:effectLst>
            <a:outerShdw blurRad="254000" dist="127000" dir="5400000" algn="tl" rotWithShape="0">
              <a:srgbClr val="4A90E2">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2"/>
          <a:srcRect/>
          <a:stretch>
            <a:fillRect/>
          </a:stretch>
        </p:blipFill>
        <p:spPr>
          <a:xfrm>
            <a:off x="762000" y="508000"/>
            <a:ext cx="609600" cy="609600"/>
          </a:xfrm>
          <a:prstGeom prst="rect">
            <a:avLst/>
          </a:prstGeom>
          <a:noFill/>
          <a:ln w="25400" cap="flat" cmpd="sng">
            <a:noFill/>
            <a:prstDash val="solid"/>
            <a:round/>
          </a:ln>
        </p:spPr>
      </p:pic>
      <p:sp>
        <p:nvSpPr>
          <p:cNvPr id="5" name="AutoShape 5"/>
          <p:cNvSpPr/>
          <p:nvPr/>
        </p:nvSpPr>
        <p:spPr>
          <a:xfrm>
            <a:off x="1498600" y="558800"/>
            <a:ext cx="6045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4A90E2"/>
                </a:solidFill>
                <a:latin typeface="Noto Sans SC"/>
                <a:ea typeface="Noto Sans SC"/>
                <a:cs typeface="Noto Sans SC"/>
                <a:sym typeface="Noto Sans SC"/>
              </a:rPr>
              <a:t>步骤 2（续）——小技巧</a:t>
            </a:r>
            <a:endParaRPr lang="en-US" sz="1100"/>
          </a:p>
        </p:txBody>
      </p:sp>
      <p:pic>
        <p:nvPicPr>
          <p:cNvPr id="6"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000" y="2286000"/>
            <a:ext cx="406400" cy="406400"/>
          </a:xfrm>
          <a:prstGeom prst="rect">
            <a:avLst/>
          </a:prstGeom>
        </p:spPr>
      </p:pic>
      <p:sp>
        <p:nvSpPr>
          <p:cNvPr id="7" name="AutoShape 7"/>
          <p:cNvSpPr/>
          <p:nvPr/>
        </p:nvSpPr>
        <p:spPr>
          <a:xfrm>
            <a:off x="1841500" y="2260600"/>
            <a:ext cx="914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善用工具：</a:t>
            </a:r>
            <a:r>
              <a:rPr lang="en-US" sz="1800" b="0" i="0" u="none" strike="noStrike">
                <a:solidFill>
                  <a:srgbClr val="555555"/>
                </a:solidFill>
                <a:latin typeface="Noto Sans SC"/>
                <a:ea typeface="Noto Sans SC"/>
                <a:cs typeface="Noto Sans SC"/>
                <a:sym typeface="Noto Sans SC"/>
              </a:rPr>
              <a:t>点击“AI 优化”按钮，让系统智能润色你的提示词，事半功倍。</a:t>
            </a:r>
            <a:endParaRPr lang="en-US" sz="1100"/>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0000" y="3048000"/>
            <a:ext cx="406400" cy="406400"/>
          </a:xfrm>
          <a:prstGeom prst="rect">
            <a:avLst/>
          </a:prstGeom>
        </p:spPr>
      </p:pic>
      <p:sp>
        <p:nvSpPr>
          <p:cNvPr id="9" name="AutoShape 9"/>
          <p:cNvSpPr/>
          <p:nvPr/>
        </p:nvSpPr>
        <p:spPr>
          <a:xfrm>
            <a:off x="1841500" y="3022600"/>
            <a:ext cx="914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迭代思维：</a:t>
            </a:r>
            <a:r>
              <a:rPr lang="en-US" sz="1800" b="0" i="0" u="none" strike="noStrike">
                <a:solidFill>
                  <a:srgbClr val="555555"/>
                </a:solidFill>
                <a:latin typeface="Noto Sans SC"/>
                <a:ea typeface="Noto Sans SC"/>
                <a:cs typeface="Noto Sans SC"/>
                <a:sym typeface="Noto Sans SC"/>
              </a:rPr>
              <a:t>提示词并非一蹴而就，需要根据生成结果反复调试和修正。</a:t>
            </a:r>
            <a:endParaRPr lang="en-US" sz="1100"/>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70000" y="3810000"/>
            <a:ext cx="406400" cy="406400"/>
          </a:xfrm>
          <a:prstGeom prst="rect">
            <a:avLst/>
          </a:prstGeom>
        </p:spPr>
      </p:pic>
      <p:sp>
        <p:nvSpPr>
          <p:cNvPr id="11" name="AutoShape 11"/>
          <p:cNvSpPr/>
          <p:nvPr/>
        </p:nvSpPr>
        <p:spPr>
          <a:xfrm>
            <a:off x="1841500" y="3784600"/>
            <a:ext cx="914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耐心引导：</a:t>
            </a:r>
            <a:r>
              <a:rPr lang="en-US" sz="1800" b="0" i="0" u="none" strike="noStrike">
                <a:solidFill>
                  <a:srgbClr val="555555"/>
                </a:solidFill>
                <a:latin typeface="Noto Sans SC"/>
                <a:ea typeface="Noto Sans SC"/>
                <a:cs typeface="Noto Sans SC"/>
                <a:sym typeface="Noto Sans SC"/>
              </a:rPr>
              <a:t>就像教一个新朋友，通过不断沟通，慢慢告诉它具体该怎么做。</a:t>
            </a:r>
            <a:endParaRPr lang="en-US" sz="1100"/>
          </a:p>
        </p:txBody>
      </p:sp>
      <p:sp>
        <p:nvSpPr>
          <p:cNvPr id="12" name="AutoShape 12"/>
          <p:cNvSpPr/>
          <p:nvPr/>
        </p:nvSpPr>
        <p:spPr>
          <a:xfrm>
            <a:off x="762000" y="5791200"/>
            <a:ext cx="10668000" cy="50800"/>
          </a:xfrm>
          <a:prstGeom prst="roundRect">
            <a:avLst>
              <a:gd name="adj" fmla="val 0"/>
            </a:avLst>
          </a:prstGeom>
          <a:gradFill rotWithShape="1">
            <a:gsLst>
              <a:gs pos="0">
                <a:srgbClr val="4A90E2">
                  <a:alpha val="100000"/>
                </a:srgbClr>
              </a:gs>
              <a:gs pos="100000">
                <a:srgbClr val="7ED321">
                  <a:alpha val="100000"/>
                </a:srgbClr>
              </a:gs>
            </a:gsLst>
            <a:lin ang="0"/>
          </a:gra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7543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4A90E2"/>
                </a:solidFill>
                <a:latin typeface="Noto Sans SC"/>
                <a:ea typeface="Noto Sans SC"/>
                <a:cs typeface="Noto Sans SC"/>
                <a:sym typeface="Noto Sans SC"/>
              </a:rPr>
              <a:t>步骤 3——【延伸】添加知识库</a:t>
            </a:r>
            <a:endParaRPr lang="en-US" sz="1100"/>
          </a:p>
        </p:txBody>
      </p:sp>
      <p:sp>
        <p:nvSpPr>
          <p:cNvPr id="5" name="AutoShape 5"/>
          <p:cNvSpPr/>
          <p:nvPr/>
        </p:nvSpPr>
        <p:spPr>
          <a:xfrm>
            <a:off x="762000" y="1524000"/>
            <a:ext cx="5080000" cy="1651000"/>
          </a:xfrm>
          <a:prstGeom prst="roundRect">
            <a:avLst>
              <a:gd name="adj" fmla="val 7692"/>
            </a:avLst>
          </a:prstGeom>
          <a:solidFill>
            <a:srgbClr val="FFFFFF">
              <a:alpha val="100000"/>
            </a:srgbClr>
          </a:solidFill>
          <a:ln w="12700" cap="flat" cmpd="sng">
            <a:solidFill>
              <a:srgbClr val="4A90E2">
                <a:alpha val="30000"/>
              </a:srgbClr>
            </a:solidFill>
            <a:prstDash val="solid"/>
            <a:round/>
          </a:ln>
          <a:effectLst>
            <a:outerShdw blurRad="127000" dist="50800" dir="5400000" algn="tl" rotWithShape="0">
              <a:srgbClr val="4A90E2">
                <a:alpha val="15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778000"/>
            <a:ext cx="609600" cy="609600"/>
          </a:xfrm>
          <a:prstGeom prst="rect">
            <a:avLst/>
          </a:prstGeom>
        </p:spPr>
      </p:pic>
      <p:sp>
        <p:nvSpPr>
          <p:cNvPr id="7" name="AutoShape 7"/>
          <p:cNvSpPr/>
          <p:nvPr/>
        </p:nvSpPr>
        <p:spPr>
          <a:xfrm>
            <a:off x="1778000" y="17145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90E2"/>
                </a:solidFill>
                <a:latin typeface="Noto Sans SC"/>
                <a:ea typeface="Noto Sans SC"/>
                <a:cs typeface="Noto Sans SC"/>
                <a:sym typeface="Noto Sans SC"/>
              </a:rPr>
              <a:t>核心价值：专业赋能</a:t>
            </a:r>
            <a:endParaRPr lang="en-US" sz="1100"/>
          </a:p>
        </p:txBody>
      </p:sp>
      <p:sp>
        <p:nvSpPr>
          <p:cNvPr id="8" name="AutoShape 8"/>
          <p:cNvSpPr/>
          <p:nvPr/>
        </p:nvSpPr>
        <p:spPr>
          <a:xfrm>
            <a:off x="1778000" y="2095500"/>
            <a:ext cx="3683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0" i="0" u="none" strike="noStrike">
                <a:solidFill>
                  <a:srgbClr val="505050"/>
                </a:solidFill>
                <a:latin typeface="Noto Sans SC"/>
                <a:ea typeface="Noto Sans SC"/>
                <a:cs typeface="Noto Sans SC"/>
                <a:sym typeface="Noto Sans SC"/>
              </a:rPr>
              <a:t>知识库是智能体的“大脑图书馆”，让它拥有特定领域的“专业资料”，不再是泛泛而谈。</a:t>
            </a:r>
            <a:endParaRPr lang="en-US" sz="1100"/>
          </a:p>
        </p:txBody>
      </p:sp>
      <p:sp>
        <p:nvSpPr>
          <p:cNvPr id="9" name="AutoShape 9"/>
          <p:cNvSpPr/>
          <p:nvPr/>
        </p:nvSpPr>
        <p:spPr>
          <a:xfrm>
            <a:off x="6350000" y="1524000"/>
            <a:ext cx="5080000" cy="1651000"/>
          </a:xfrm>
          <a:prstGeom prst="roundRect">
            <a:avLst>
              <a:gd name="adj" fmla="val 7692"/>
            </a:avLst>
          </a:prstGeom>
          <a:solidFill>
            <a:srgbClr val="FFFFFF">
              <a:alpha val="100000"/>
            </a:srgbClr>
          </a:solidFill>
          <a:ln w="12700" cap="flat" cmpd="sng">
            <a:solidFill>
              <a:srgbClr val="F5A623">
                <a:alpha val="30000"/>
              </a:srgbClr>
            </a:solidFill>
            <a:prstDash val="solid"/>
            <a:round/>
          </a:ln>
          <a:effectLst>
            <a:outerShdw blurRad="127000" dist="50800" dir="5400000" algn="tl" rotWithShape="0">
              <a:srgbClr val="F5A623">
                <a:alpha val="1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04000" y="1778000"/>
            <a:ext cx="609600" cy="609600"/>
          </a:xfrm>
          <a:prstGeom prst="rect">
            <a:avLst/>
          </a:prstGeom>
        </p:spPr>
      </p:pic>
      <p:sp>
        <p:nvSpPr>
          <p:cNvPr id="11" name="AutoShape 11"/>
          <p:cNvSpPr/>
          <p:nvPr/>
        </p:nvSpPr>
        <p:spPr>
          <a:xfrm>
            <a:off x="7366000" y="17145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5A623"/>
                </a:solidFill>
                <a:latin typeface="Noto Sans SC"/>
                <a:ea typeface="Noto Sans SC"/>
                <a:cs typeface="Noto Sans SC"/>
                <a:sym typeface="Noto Sans SC"/>
              </a:rPr>
              <a:t>实际操作：三步上传</a:t>
            </a:r>
            <a:endParaRPr lang="en-US" sz="1100"/>
          </a:p>
        </p:txBody>
      </p:sp>
      <p:sp>
        <p:nvSpPr>
          <p:cNvPr id="12" name="AutoShape 12"/>
          <p:cNvSpPr/>
          <p:nvPr/>
        </p:nvSpPr>
        <p:spPr>
          <a:xfrm>
            <a:off x="7366000" y="2095500"/>
            <a:ext cx="3683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0" i="0" u="none" strike="noStrike">
                <a:solidFill>
                  <a:srgbClr val="505050"/>
                </a:solidFill>
                <a:latin typeface="Noto Sans SC"/>
                <a:ea typeface="Noto Sans SC"/>
                <a:cs typeface="Noto Sans SC"/>
                <a:sym typeface="Noto Sans SC"/>
              </a:rPr>
              <a:t>左侧菜单点击“知识库” → 点击“创建” → 上传文档（支持 TXT、PDF、Word 格式）。</a:t>
            </a:r>
            <a:endParaRPr lang="en-US" sz="1100"/>
          </a:p>
        </p:txBody>
      </p:sp>
      <p:sp>
        <p:nvSpPr>
          <p:cNvPr id="13" name="AutoShape 13"/>
          <p:cNvSpPr/>
          <p:nvPr/>
        </p:nvSpPr>
        <p:spPr>
          <a:xfrm>
            <a:off x="762000" y="3556000"/>
            <a:ext cx="5080000" cy="1651000"/>
          </a:xfrm>
          <a:prstGeom prst="roundRect">
            <a:avLst>
              <a:gd name="adj" fmla="val 7692"/>
            </a:avLst>
          </a:prstGeom>
          <a:solidFill>
            <a:srgbClr val="FFFFFF">
              <a:alpha val="100000"/>
            </a:srgbClr>
          </a:solidFill>
          <a:ln w="12700" cap="flat" cmpd="sng">
            <a:solidFill>
              <a:srgbClr val="4A90E2">
                <a:alpha val="30000"/>
              </a:srgbClr>
            </a:solidFill>
            <a:prstDash val="solid"/>
            <a:round/>
          </a:ln>
          <a:effectLst>
            <a:outerShdw blurRad="127000" dist="50800" dir="5400000" algn="tl" rotWithShape="0">
              <a:srgbClr val="4A90E2">
                <a:alpha val="1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810000"/>
            <a:ext cx="609600" cy="609600"/>
          </a:xfrm>
          <a:prstGeom prst="rect">
            <a:avLst/>
          </a:prstGeom>
        </p:spPr>
      </p:pic>
      <p:sp>
        <p:nvSpPr>
          <p:cNvPr id="15" name="AutoShape 15"/>
          <p:cNvSpPr/>
          <p:nvPr/>
        </p:nvSpPr>
        <p:spPr>
          <a:xfrm>
            <a:off x="1778000" y="37465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90E2"/>
                </a:solidFill>
                <a:latin typeface="Noto Sans SC"/>
                <a:ea typeface="Noto Sans SC"/>
                <a:cs typeface="Noto Sans SC"/>
                <a:sym typeface="Noto Sans SC"/>
              </a:rPr>
              <a:t>建议内容：场景适配</a:t>
            </a:r>
            <a:endParaRPr lang="en-US" sz="1100"/>
          </a:p>
        </p:txBody>
      </p:sp>
      <p:sp>
        <p:nvSpPr>
          <p:cNvPr id="16" name="AutoShape 16"/>
          <p:cNvSpPr/>
          <p:nvPr/>
        </p:nvSpPr>
        <p:spPr>
          <a:xfrm>
            <a:off x="1778000" y="4127500"/>
            <a:ext cx="3683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0" i="0" u="none" strike="noStrike">
                <a:solidFill>
                  <a:srgbClr val="505050"/>
                </a:solidFill>
                <a:latin typeface="Noto Sans SC"/>
                <a:ea typeface="Noto Sans SC"/>
                <a:cs typeface="Noto Sans SC"/>
                <a:sym typeface="Noto Sans SC"/>
              </a:rPr>
              <a:t>建议上传：学校心理老师提供的常见问答集、学习方法文章节选、心理健康科普手册。</a:t>
            </a:r>
            <a:endParaRPr lang="en-US" sz="1100"/>
          </a:p>
        </p:txBody>
      </p:sp>
      <p:sp>
        <p:nvSpPr>
          <p:cNvPr id="17" name="AutoShape 17"/>
          <p:cNvSpPr/>
          <p:nvPr/>
        </p:nvSpPr>
        <p:spPr>
          <a:xfrm>
            <a:off x="6350000" y="3556000"/>
            <a:ext cx="5080000" cy="1651000"/>
          </a:xfrm>
          <a:prstGeom prst="roundRect">
            <a:avLst>
              <a:gd name="adj" fmla="val 7692"/>
            </a:avLst>
          </a:prstGeom>
          <a:solidFill>
            <a:srgbClr val="FFFFFF">
              <a:alpha val="100000"/>
            </a:srgbClr>
          </a:solidFill>
          <a:ln w="12700" cap="flat" cmpd="sng">
            <a:solidFill>
              <a:srgbClr val="7ED321">
                <a:alpha val="30000"/>
              </a:srgbClr>
            </a:solidFill>
            <a:prstDash val="solid"/>
            <a:round/>
          </a:ln>
          <a:effectLst>
            <a:outerShdw blurRad="127000" dist="50800" dir="5400000" algn="tl" rotWithShape="0">
              <a:srgbClr val="7ED321">
                <a:alpha val="15000"/>
              </a:srgbClr>
            </a:outerShdw>
          </a:effectLst>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04000" y="3810000"/>
            <a:ext cx="609600" cy="609600"/>
          </a:xfrm>
          <a:prstGeom prst="rect">
            <a:avLst/>
          </a:prstGeom>
        </p:spPr>
      </p:pic>
      <p:sp>
        <p:nvSpPr>
          <p:cNvPr id="19" name="AutoShape 19"/>
          <p:cNvSpPr/>
          <p:nvPr/>
        </p:nvSpPr>
        <p:spPr>
          <a:xfrm>
            <a:off x="7366000" y="3746500"/>
            <a:ext cx="368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7ED321"/>
                </a:solidFill>
                <a:latin typeface="Noto Sans SC"/>
                <a:ea typeface="Noto Sans SC"/>
                <a:cs typeface="Noto Sans SC"/>
                <a:sym typeface="Noto Sans SC"/>
              </a:rPr>
              <a:t>应用效果：真实可靠</a:t>
            </a:r>
            <a:endParaRPr lang="en-US" sz="1100"/>
          </a:p>
        </p:txBody>
      </p:sp>
      <p:sp>
        <p:nvSpPr>
          <p:cNvPr id="20" name="AutoShape 20"/>
          <p:cNvSpPr/>
          <p:nvPr/>
        </p:nvSpPr>
        <p:spPr>
          <a:xfrm>
            <a:off x="7366000" y="4127500"/>
            <a:ext cx="3683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0" i="0" u="none" strike="noStrike">
                <a:solidFill>
                  <a:srgbClr val="505050"/>
                </a:solidFill>
                <a:latin typeface="Noto Sans SC"/>
                <a:ea typeface="Noto Sans SC"/>
                <a:cs typeface="Noto Sans SC"/>
                <a:sym typeface="Noto Sans SC"/>
              </a:rPr>
              <a:t>智能体回答将严格基于上传的资料，避免“一本正经地胡说八道”，回答更具参考价值。</a:t>
            </a:r>
            <a:endParaRPr lang="en-US" sz="1100"/>
          </a:p>
        </p:txBody>
      </p:sp>
      <p:sp>
        <p:nvSpPr>
          <p:cNvPr id="21" name="AutoShape 21"/>
          <p:cNvSpPr/>
          <p:nvPr/>
        </p:nvSpPr>
        <p:spPr>
          <a:xfrm>
            <a:off x="0" y="6756400"/>
            <a:ext cx="12192000" cy="101600"/>
          </a:xfrm>
          <a:prstGeom prst="roundRect">
            <a:avLst>
              <a:gd name="adj" fmla="val 0"/>
            </a:avLst>
          </a:prstGeom>
          <a:gradFill rotWithShape="1">
            <a:gsLst>
              <a:gs pos="0">
                <a:srgbClr val="4A90E2">
                  <a:alpha val="100000"/>
                </a:srgbClr>
              </a:gs>
              <a:gs pos="100000">
                <a:srgbClr val="7ED321">
                  <a:alpha val="100000"/>
                </a:srgbClr>
              </a:gs>
            </a:gsLst>
            <a:lin ang="0"/>
          </a:gra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100584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4000" b="1" i="0" u="none" strike="noStrike">
                <a:solidFill>
                  <a:srgbClr val="4A90E2"/>
                </a:solidFill>
                <a:latin typeface="Noto Sans SC"/>
                <a:ea typeface="Noto Sans SC"/>
                <a:cs typeface="Noto Sans SC"/>
                <a:sym typeface="Noto Sans SC"/>
              </a:rPr>
              <a:t>步骤 4——【延伸】添加简单插件（可选）</a:t>
            </a:r>
            <a:endParaRPr lang="en-US" sz="1100"/>
          </a:p>
        </p:txBody>
      </p:sp>
      <p:sp>
        <p:nvSpPr>
          <p:cNvPr id="4" name="AutoShape 4"/>
          <p:cNvSpPr/>
          <p:nvPr/>
        </p:nvSpPr>
        <p:spPr>
          <a:xfrm>
            <a:off x="762000" y="1524000"/>
            <a:ext cx="3302000" cy="3302000"/>
          </a:xfrm>
          <a:prstGeom prst="roundRect">
            <a:avLst>
              <a:gd name="adj" fmla="val 3846"/>
            </a:avLst>
          </a:prstGeom>
          <a:solidFill>
            <a:srgbClr val="FFFFFF">
              <a:alpha val="90000"/>
            </a:srgbClr>
          </a:solidFill>
          <a:ln w="25400" cap="flat" cmpd="sng">
            <a:noFill/>
            <a:prstDash val="solid"/>
            <a:round/>
          </a:ln>
          <a:effectLst>
            <a:outerShdw blurRad="127000" dist="50800" dir="5400000" algn="tl" rotWithShape="0">
              <a:srgbClr val="4A90E2">
                <a:alpha val="20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8200" y="1714500"/>
            <a:ext cx="609600" cy="609600"/>
          </a:xfrm>
          <a:prstGeom prst="rect">
            <a:avLst/>
          </a:prstGeom>
        </p:spPr>
      </p:pic>
      <p:sp>
        <p:nvSpPr>
          <p:cNvPr id="6" name="AutoShape 6"/>
          <p:cNvSpPr/>
          <p:nvPr/>
        </p:nvSpPr>
        <p:spPr>
          <a:xfrm>
            <a:off x="889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4A90E2"/>
                </a:solidFill>
                <a:latin typeface="Noto Sans SC"/>
                <a:ea typeface="Noto Sans SC"/>
                <a:cs typeface="Noto Sans SC"/>
                <a:sym typeface="Noto Sans SC"/>
              </a:rPr>
              <a:t>推荐插件：情绪识别</a:t>
            </a:r>
            <a:endParaRPr lang="en-US" sz="1100"/>
          </a:p>
        </p:txBody>
      </p:sp>
      <p:sp>
        <p:nvSpPr>
          <p:cNvPr id="7" name="AutoShape 7"/>
          <p:cNvSpPr/>
          <p:nvPr/>
        </p:nvSpPr>
        <p:spPr>
          <a:xfrm>
            <a:off x="889000" y="2921000"/>
            <a:ext cx="3048000" cy="1524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800" b="0" i="0" u="none" strike="noStrike">
                <a:solidFill>
                  <a:srgbClr val="333333"/>
                </a:solidFill>
                <a:latin typeface="Noto Sans SC"/>
                <a:ea typeface="Noto Sans SC"/>
                <a:cs typeface="Noto Sans SC"/>
                <a:sym typeface="Noto Sans SC"/>
              </a:rPr>
              <a:t>推荐使用“情绪识别”插件，或利用关键词触发机制，这种可视化配置方式对初中生来说更容易上手操作。</a:t>
            </a:r>
            <a:endParaRPr lang="en-US" sz="1100"/>
          </a:p>
        </p:txBody>
      </p:sp>
      <p:sp>
        <p:nvSpPr>
          <p:cNvPr id="8" name="AutoShape 8"/>
          <p:cNvSpPr/>
          <p:nvPr/>
        </p:nvSpPr>
        <p:spPr>
          <a:xfrm>
            <a:off x="4445000" y="1524000"/>
            <a:ext cx="3302000" cy="3302000"/>
          </a:xfrm>
          <a:prstGeom prst="roundRect">
            <a:avLst>
              <a:gd name="adj" fmla="val 3846"/>
            </a:avLst>
          </a:prstGeom>
          <a:solidFill>
            <a:srgbClr val="FFFFFF">
              <a:alpha val="90000"/>
            </a:srgbClr>
          </a:solidFill>
          <a:ln w="25400" cap="flat" cmpd="sng">
            <a:noFill/>
            <a:prstDash val="solid"/>
            <a:round/>
          </a:ln>
          <a:effectLst>
            <a:outerShdw blurRad="127000" dist="50800" dir="5400000" algn="tl" rotWithShape="0">
              <a:srgbClr val="F5A623">
                <a:alpha val="2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91200" y="1714500"/>
            <a:ext cx="609600" cy="609600"/>
          </a:xfrm>
          <a:prstGeom prst="rect">
            <a:avLst/>
          </a:prstGeom>
        </p:spPr>
      </p:pic>
      <p:sp>
        <p:nvSpPr>
          <p:cNvPr id="10" name="AutoShape 10"/>
          <p:cNvSpPr/>
          <p:nvPr/>
        </p:nvSpPr>
        <p:spPr>
          <a:xfrm>
            <a:off x="4572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F5A623"/>
                </a:solidFill>
                <a:latin typeface="Noto Sans SC"/>
                <a:ea typeface="Noto Sans SC"/>
                <a:cs typeface="Noto Sans SC"/>
                <a:sym typeface="Noto Sans SC"/>
              </a:rPr>
              <a:t>更简单的做法</a:t>
            </a:r>
            <a:endParaRPr lang="en-US" sz="1100"/>
          </a:p>
        </p:txBody>
      </p:sp>
      <p:sp>
        <p:nvSpPr>
          <p:cNvPr id="11" name="AutoShape 11"/>
          <p:cNvSpPr/>
          <p:nvPr/>
        </p:nvSpPr>
        <p:spPr>
          <a:xfrm>
            <a:off x="4572000" y="2921000"/>
            <a:ext cx="3048000" cy="1524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800" b="0" i="0" u="none" strike="noStrike">
                <a:solidFill>
                  <a:srgbClr val="333333"/>
                </a:solidFill>
                <a:latin typeface="Noto Sans SC"/>
                <a:ea typeface="Noto Sans SC"/>
                <a:cs typeface="Noto Sans SC"/>
                <a:sym typeface="Noto Sans SC"/>
              </a:rPr>
              <a:t>直接在提示词中预设规则：例如“如果学生说‘好烦’‘压力大’，请先进行情绪安慰，再给出具体建议”。</a:t>
            </a:r>
            <a:endParaRPr lang="en-US" sz="1100"/>
          </a:p>
        </p:txBody>
      </p:sp>
      <p:sp>
        <p:nvSpPr>
          <p:cNvPr id="12" name="AutoShape 12"/>
          <p:cNvSpPr/>
          <p:nvPr/>
        </p:nvSpPr>
        <p:spPr>
          <a:xfrm>
            <a:off x="8128000" y="1524000"/>
            <a:ext cx="3302000" cy="3302000"/>
          </a:xfrm>
          <a:prstGeom prst="roundRect">
            <a:avLst>
              <a:gd name="adj" fmla="val 3846"/>
            </a:avLst>
          </a:prstGeom>
          <a:solidFill>
            <a:srgbClr val="FFFFFF">
              <a:alpha val="90000"/>
            </a:srgbClr>
          </a:solidFill>
          <a:ln w="25400" cap="flat" cmpd="sng">
            <a:noFill/>
            <a:prstDash val="solid"/>
            <a:round/>
          </a:ln>
          <a:effectLst>
            <a:outerShdw blurRad="127000" dist="50800" dir="5400000" algn="tl" rotWithShape="0">
              <a:srgbClr val="7ED321">
                <a:alpha val="20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74200" y="1714500"/>
            <a:ext cx="609600" cy="609600"/>
          </a:xfrm>
          <a:prstGeom prst="rect">
            <a:avLst/>
          </a:prstGeom>
        </p:spPr>
      </p:pic>
      <p:sp>
        <p:nvSpPr>
          <p:cNvPr id="14" name="AutoShape 14"/>
          <p:cNvSpPr/>
          <p:nvPr/>
        </p:nvSpPr>
        <p:spPr>
          <a:xfrm>
            <a:off x="8255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7ED321"/>
                </a:solidFill>
                <a:latin typeface="Noto Sans SC"/>
                <a:ea typeface="Noto Sans SC"/>
                <a:cs typeface="Noto Sans SC"/>
                <a:sym typeface="Noto Sans SC"/>
              </a:rPr>
              <a:t>进阶：联网搜索</a:t>
            </a:r>
            <a:endParaRPr lang="en-US" sz="1100"/>
          </a:p>
        </p:txBody>
      </p:sp>
      <p:sp>
        <p:nvSpPr>
          <p:cNvPr id="15" name="AutoShape 15"/>
          <p:cNvSpPr/>
          <p:nvPr/>
        </p:nvSpPr>
        <p:spPr>
          <a:xfrm>
            <a:off x="8255000" y="2921000"/>
            <a:ext cx="3048000" cy="1524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800" b="0" i="0" u="none" strike="noStrike">
                <a:solidFill>
                  <a:srgbClr val="333333"/>
                </a:solidFill>
                <a:latin typeface="Noto Sans SC"/>
                <a:ea typeface="Noto Sans SC"/>
                <a:cs typeface="Noto Sans SC"/>
                <a:sym typeface="Noto Sans SC"/>
              </a:rPr>
              <a:t>添加“联网搜索”插件，突破知识截止日期限制，让智能体能获取实时信息，例如查询“今天学校有什么活动”。</a:t>
            </a:r>
            <a:endParaRPr lang="en-US" sz="1100"/>
          </a:p>
        </p:txBody>
      </p:sp>
      <p:sp>
        <p:nvSpPr>
          <p:cNvPr id="16" name="AutoShape 16"/>
          <p:cNvSpPr/>
          <p:nvPr/>
        </p:nvSpPr>
        <p:spPr>
          <a:xfrm>
            <a:off x="762000" y="5207000"/>
            <a:ext cx="10668000" cy="508000"/>
          </a:xfrm>
          <a:prstGeom prst="roundRect">
            <a:avLst>
              <a:gd name="adj" fmla="val 50000"/>
            </a:avLst>
          </a:prstGeom>
          <a:solidFill>
            <a:srgbClr val="4A90E2">
              <a:alpha val="1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762000" y="52705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4A90E2"/>
                </a:solidFill>
                <a:latin typeface="Noto Sans SC"/>
                <a:ea typeface="Noto Sans SC"/>
                <a:cs typeface="Noto Sans SC"/>
                <a:sym typeface="Noto Sans SC"/>
              </a:rPr>
              <a:t>💡 核心思路：从简单的提示词规则入手，逐步探索插件扩展能力，让智能体更懂你</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55372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4A90E2"/>
                </a:solidFill>
                <a:latin typeface="Noto Sans SC"/>
                <a:ea typeface="Noto Sans SC"/>
                <a:cs typeface="Noto Sans SC"/>
                <a:sym typeface="Noto Sans SC"/>
              </a:rPr>
              <a:t>步骤 5——预览与调试</a:t>
            </a:r>
            <a:endParaRPr lang="en-US" sz="1100"/>
          </a:p>
        </p:txBody>
      </p:sp>
      <p:sp>
        <p:nvSpPr>
          <p:cNvPr id="4" name="AutoShape 4"/>
          <p:cNvSpPr/>
          <p:nvPr/>
        </p:nvSpPr>
        <p:spPr>
          <a:xfrm>
            <a:off x="762000" y="1397000"/>
            <a:ext cx="10668000" cy="2540000"/>
          </a:xfrm>
          <a:prstGeom prst="roundRect">
            <a:avLst>
              <a:gd name="adj" fmla="val 5000"/>
            </a:avLst>
          </a:prstGeom>
          <a:solidFill>
            <a:srgbClr val="FFFFFF">
              <a:alpha val="85000"/>
            </a:srgbClr>
          </a:solidFill>
          <a:ln w="25400" cap="flat" cmpd="sng">
            <a:solidFill>
              <a:srgbClr val="4A90E2">
                <a:alpha val="100000"/>
              </a:srgbClr>
            </a:solidFill>
            <a:prstDash val="solid"/>
            <a:round/>
          </a:ln>
          <a:effectLst>
            <a:outerShdw blurRad="127000" dist="50800" dir="5400000" algn="tl" rotWithShape="0">
              <a:srgbClr val="4A90E2">
                <a:alpha val="20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6000" y="1587500"/>
            <a:ext cx="304800" cy="304800"/>
          </a:xfrm>
          <a:prstGeom prst="rect">
            <a:avLst/>
          </a:prstGeom>
        </p:spPr>
      </p:pic>
      <p:sp>
        <p:nvSpPr>
          <p:cNvPr id="6" name="AutoShape 6"/>
          <p:cNvSpPr/>
          <p:nvPr/>
        </p:nvSpPr>
        <p:spPr>
          <a:xfrm>
            <a:off x="1397000" y="15494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马上期中考试了，我好紧张怎么办？</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12000" y="1587500"/>
            <a:ext cx="304800" cy="304800"/>
          </a:xfrm>
          <a:prstGeom prst="rect">
            <a:avLst/>
          </a:prstGeom>
        </p:spPr>
      </p:pic>
      <p:sp>
        <p:nvSpPr>
          <p:cNvPr id="8" name="AutoShape 8"/>
          <p:cNvSpPr/>
          <p:nvPr/>
        </p:nvSpPr>
        <p:spPr>
          <a:xfrm>
            <a:off x="7493000" y="15494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别担心，我们可以一起制定复习计划，把大目标拆成小任务。</a:t>
            </a:r>
            <a:endParaRPr lang="en-US" sz="1100"/>
          </a:p>
        </p:txBody>
      </p:sp>
      <p:pic>
        <p:nvPicPr>
          <p:cNvPr id="9"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6000" y="2222500"/>
            <a:ext cx="304800" cy="304800"/>
          </a:xfrm>
          <a:prstGeom prst="rect">
            <a:avLst/>
          </a:prstGeom>
        </p:spPr>
      </p:pic>
      <p:sp>
        <p:nvSpPr>
          <p:cNvPr id="10" name="AutoShape 10"/>
          <p:cNvSpPr/>
          <p:nvPr/>
        </p:nvSpPr>
        <p:spPr>
          <a:xfrm>
            <a:off x="1397000" y="21844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同桌总是不经过我同意就拿我的笔，我该怎么和他说？</a:t>
            </a:r>
            <a:endParaRPr lang="en-US" sz="1100"/>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12000" y="2222500"/>
            <a:ext cx="304800" cy="304800"/>
          </a:xfrm>
          <a:prstGeom prst="rect">
            <a:avLst/>
          </a:prstGeom>
        </p:spPr>
      </p:pic>
      <p:sp>
        <p:nvSpPr>
          <p:cNvPr id="12" name="AutoShape 12"/>
          <p:cNvSpPr/>
          <p:nvPr/>
        </p:nvSpPr>
        <p:spPr>
          <a:xfrm>
            <a:off x="7493000" y="21844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试着温和地告诉他：“我需要用笔时找不到会有点着急，下次可以先问我吗？”</a:t>
            </a:r>
            <a:endParaRPr lang="en-US" sz="1100"/>
          </a:p>
        </p:txBody>
      </p:sp>
      <p:pic>
        <p:nvPicPr>
          <p:cNvPr id="13"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6000" y="2857500"/>
            <a:ext cx="304800" cy="304800"/>
          </a:xfrm>
          <a:prstGeom prst="rect">
            <a:avLst/>
          </a:prstGeom>
        </p:spPr>
      </p:pic>
      <p:sp>
        <p:nvSpPr>
          <p:cNvPr id="14" name="AutoShape 14"/>
          <p:cNvSpPr/>
          <p:nvPr/>
        </p:nvSpPr>
        <p:spPr>
          <a:xfrm>
            <a:off x="1397000" y="28194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今天被老师批评了，心情很差。</a:t>
            </a:r>
            <a:endParaRPr lang="en-US" sz="1100"/>
          </a:p>
        </p:txBody>
      </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12000" y="2857500"/>
            <a:ext cx="304800" cy="304800"/>
          </a:xfrm>
          <a:prstGeom prst="rect">
            <a:avLst/>
          </a:prstGeom>
        </p:spPr>
      </p:pic>
      <p:sp>
        <p:nvSpPr>
          <p:cNvPr id="16" name="AutoShape 16"/>
          <p:cNvSpPr/>
          <p:nvPr/>
        </p:nvSpPr>
        <p:spPr>
          <a:xfrm>
            <a:off x="7493000" y="28194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333333"/>
                </a:solidFill>
                <a:latin typeface="Noto Sans SC"/>
                <a:ea typeface="Noto Sans SC"/>
                <a:cs typeface="Noto Sans SC"/>
                <a:sym typeface="Noto Sans SC"/>
              </a:rPr>
              <a:t>被批评确实会难过，你愿意说说具体发生了什么吗？</a:t>
            </a:r>
            <a:endParaRPr lang="en-US" sz="1100"/>
          </a:p>
        </p:txBody>
      </p:sp>
      <p:sp>
        <p:nvSpPr>
          <p:cNvPr id="17" name="AutoShape 17"/>
          <p:cNvSpPr/>
          <p:nvPr/>
        </p:nvSpPr>
        <p:spPr>
          <a:xfrm>
            <a:off x="762000" y="41910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90E2"/>
                </a:solidFill>
                <a:latin typeface="Noto Sans SC"/>
                <a:ea typeface="Noto Sans SC"/>
                <a:cs typeface="Noto Sans SC"/>
                <a:sym typeface="Noto Sans SC"/>
              </a:rPr>
              <a:t>观察要点</a:t>
            </a:r>
            <a:endParaRPr lang="en-US" sz="1100"/>
          </a:p>
        </p:txBody>
      </p:sp>
      <p:sp>
        <p:nvSpPr>
          <p:cNvPr id="18" name="AutoShape 18"/>
          <p:cNvSpPr/>
          <p:nvPr/>
        </p:nvSpPr>
        <p:spPr>
          <a:xfrm>
            <a:off x="762000" y="4699000"/>
            <a:ext cx="3302000" cy="1270000"/>
          </a:xfrm>
          <a:prstGeom prst="roundRect">
            <a:avLst>
              <a:gd name="adj" fmla="val 10000"/>
            </a:avLst>
          </a:prstGeom>
          <a:solidFill>
            <a:srgbClr val="F0F8FF">
              <a:alpha val="90000"/>
            </a:srgbClr>
          </a:solidFill>
          <a:ln w="12700" cap="flat" cmpd="sng">
            <a:solidFill>
              <a:srgbClr val="4A90E2">
                <a:alpha val="100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4889500"/>
            <a:ext cx="355600" cy="355600"/>
          </a:xfrm>
          <a:prstGeom prst="rect">
            <a:avLst/>
          </a:prstGeom>
        </p:spPr>
      </p:pic>
      <p:sp>
        <p:nvSpPr>
          <p:cNvPr id="20" name="AutoShape 20"/>
          <p:cNvSpPr/>
          <p:nvPr/>
        </p:nvSpPr>
        <p:spPr>
          <a:xfrm>
            <a:off x="1397000" y="4851400"/>
            <a:ext cx="2540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语气温和</a:t>
            </a:r>
            <a:endParaRPr lang="en-US" sz="1100"/>
          </a:p>
          <a:p>
            <a:pPr indent="0" algn="l">
              <a:lnSpc>
                <a:spcPct val="125000"/>
              </a:lnSpc>
            </a:pPr>
            <a:r>
              <a:rPr lang="en-US" sz="1400" b="0" i="0" u="none" strike="noStrike">
                <a:solidFill>
                  <a:srgbClr val="666666"/>
                </a:solidFill>
                <a:latin typeface="Noto Sans SC"/>
                <a:ea typeface="Noto Sans SC"/>
                <a:cs typeface="Noto Sans SC"/>
                <a:sym typeface="Noto Sans SC"/>
              </a:rPr>
              <a:t>避免使用“你应该”等命令式语气，保持共情。</a:t>
            </a:r>
            <a:endParaRPr lang="en-US" sz="1400" b="0" i="0" u="none" strike="noStrike">
              <a:solidFill>
                <a:srgbClr val="666666"/>
              </a:solidFill>
              <a:latin typeface="Noto Sans SC"/>
              <a:ea typeface="Noto Sans SC"/>
              <a:cs typeface="Noto Sans SC"/>
              <a:sym typeface="Noto Sans SC"/>
            </a:endParaRPr>
          </a:p>
        </p:txBody>
      </p:sp>
      <p:sp>
        <p:nvSpPr>
          <p:cNvPr id="21" name="AutoShape 21"/>
          <p:cNvSpPr/>
          <p:nvPr/>
        </p:nvSpPr>
        <p:spPr>
          <a:xfrm>
            <a:off x="4445000" y="4699000"/>
            <a:ext cx="3302000" cy="1270000"/>
          </a:xfrm>
          <a:prstGeom prst="roundRect">
            <a:avLst>
              <a:gd name="adj" fmla="val 10000"/>
            </a:avLst>
          </a:prstGeom>
          <a:solidFill>
            <a:srgbClr val="F0F8FF">
              <a:alpha val="90000"/>
            </a:srgbClr>
          </a:solidFill>
          <a:ln w="12700" cap="flat" cmpd="sng">
            <a:solidFill>
              <a:srgbClr val="4A90E2">
                <a:alpha val="100000"/>
              </a:srgbClr>
            </a:solid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35500" y="4889500"/>
            <a:ext cx="355600" cy="355600"/>
          </a:xfrm>
          <a:prstGeom prst="rect">
            <a:avLst/>
          </a:prstGeom>
        </p:spPr>
      </p:pic>
      <p:sp>
        <p:nvSpPr>
          <p:cNvPr id="23" name="AutoShape 23"/>
          <p:cNvSpPr/>
          <p:nvPr/>
        </p:nvSpPr>
        <p:spPr>
          <a:xfrm>
            <a:off x="5080000" y="4851400"/>
            <a:ext cx="2540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建议具体</a:t>
            </a:r>
            <a:endParaRPr lang="en-US" sz="1100"/>
          </a:p>
          <a:p>
            <a:pPr indent="0" algn="l">
              <a:lnSpc>
                <a:spcPct val="125000"/>
              </a:lnSpc>
            </a:pPr>
            <a:r>
              <a:rPr lang="en-US" sz="1400" b="0" i="0" u="none" strike="noStrike">
                <a:solidFill>
                  <a:srgbClr val="666666"/>
                </a:solidFill>
                <a:latin typeface="Noto Sans SC"/>
                <a:ea typeface="Noto Sans SC"/>
                <a:cs typeface="Noto Sans SC"/>
                <a:sym typeface="Noto Sans SC"/>
              </a:rPr>
              <a:t>拒绝空话，提供可执行的小步骤或方法。</a:t>
            </a:r>
            <a:endParaRPr lang="en-US" sz="1400" b="0" i="0" u="none" strike="noStrike">
              <a:solidFill>
                <a:srgbClr val="666666"/>
              </a:solidFill>
              <a:latin typeface="Noto Sans SC"/>
              <a:ea typeface="Noto Sans SC"/>
              <a:cs typeface="Noto Sans SC"/>
              <a:sym typeface="Noto Sans SC"/>
            </a:endParaRPr>
          </a:p>
        </p:txBody>
      </p:sp>
      <p:sp>
        <p:nvSpPr>
          <p:cNvPr id="24" name="AutoShape 24"/>
          <p:cNvSpPr/>
          <p:nvPr/>
        </p:nvSpPr>
        <p:spPr>
          <a:xfrm>
            <a:off x="8128000" y="4699000"/>
            <a:ext cx="3302000" cy="1270000"/>
          </a:xfrm>
          <a:prstGeom prst="roundRect">
            <a:avLst>
              <a:gd name="adj" fmla="val 10000"/>
            </a:avLst>
          </a:prstGeom>
          <a:solidFill>
            <a:srgbClr val="F0F8FF">
              <a:alpha val="90000"/>
            </a:srgbClr>
          </a:solidFill>
          <a:ln w="12700" cap="flat" cmpd="sng">
            <a:solidFill>
              <a:srgbClr val="4A90E2">
                <a:alpha val="100000"/>
              </a:srgbClr>
            </a:solid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318500" y="4889500"/>
            <a:ext cx="355600" cy="355600"/>
          </a:xfrm>
          <a:prstGeom prst="rect">
            <a:avLst/>
          </a:prstGeom>
        </p:spPr>
      </p:pic>
      <p:sp>
        <p:nvSpPr>
          <p:cNvPr id="26" name="AutoShape 26"/>
          <p:cNvSpPr/>
          <p:nvPr/>
        </p:nvSpPr>
        <p:spPr>
          <a:xfrm>
            <a:off x="8763000" y="4851400"/>
            <a:ext cx="2540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识别情绪</a:t>
            </a:r>
            <a:endParaRPr lang="en-US" sz="1100"/>
          </a:p>
          <a:p>
            <a:pPr indent="0" algn="l">
              <a:lnSpc>
                <a:spcPct val="125000"/>
              </a:lnSpc>
            </a:pPr>
            <a:r>
              <a:rPr lang="en-US" sz="1400" b="0" i="0" u="none" strike="noStrike">
                <a:solidFill>
                  <a:srgbClr val="666666"/>
                </a:solidFill>
                <a:latin typeface="Noto Sans SC"/>
                <a:ea typeface="Noto Sans SC"/>
                <a:cs typeface="Noto Sans SC"/>
                <a:sym typeface="Noto Sans SC"/>
              </a:rPr>
              <a:t>敏锐捕捉用户的负面情绪并给予情感支持。</a:t>
            </a:r>
            <a:endParaRPr lang="en-US" sz="1400" b="0" i="0" u="none" strike="noStrike">
              <a:solidFill>
                <a:srgbClr val="666666"/>
              </a:solidFill>
              <a:latin typeface="Noto Sans SC"/>
              <a:ea typeface="Noto Sans SC"/>
              <a:cs typeface="Noto Sans SC"/>
              <a:sym typeface="Noto Sans SC"/>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5029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4A90E2"/>
                </a:solidFill>
                <a:latin typeface="Noto Sans SC"/>
                <a:ea typeface="Noto Sans SC"/>
                <a:cs typeface="Noto Sans SC"/>
                <a:sym typeface="Noto Sans SC"/>
              </a:rPr>
              <a:t>步骤 6——调试与迭代</a:t>
            </a:r>
            <a:endParaRPr lang="en-US" sz="1100"/>
          </a:p>
        </p:txBody>
      </p:sp>
      <p:sp>
        <p:nvSpPr>
          <p:cNvPr id="4" name="AutoShape 4"/>
          <p:cNvSpPr/>
          <p:nvPr/>
        </p:nvSpPr>
        <p:spPr>
          <a:xfrm>
            <a:off x="762000" y="1270000"/>
            <a:ext cx="10668000" cy="1397000"/>
          </a:xfrm>
          <a:prstGeom prst="roundRect">
            <a:avLst>
              <a:gd name="adj" fmla="val 9090"/>
            </a:avLst>
          </a:prstGeom>
          <a:solidFill>
            <a:srgbClr val="FFFFFF">
              <a:alpha val="90000"/>
            </a:srgbClr>
          </a:solidFill>
          <a:ln w="25400" cap="flat" cmpd="sng">
            <a:solidFill>
              <a:srgbClr val="4A90E2">
                <a:alpha val="100000"/>
              </a:srgbClr>
            </a:solidFill>
            <a:prstDash val="solid"/>
            <a:round/>
          </a:ln>
          <a:effectLst>
            <a:outerShdw blurRad="127000" dist="50800" dir="5400000" algn="tl" rotWithShape="0">
              <a:srgbClr val="4A90E2">
                <a:alpha val="20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srcRect/>
          <a:stretch>
            <a:fillRect/>
          </a:stretch>
        </p:blipFill>
        <p:spPr>
          <a:xfrm>
            <a:off x="1016000" y="1460500"/>
            <a:ext cx="1016000" cy="1016000"/>
          </a:xfrm>
          <a:prstGeom prst="rect">
            <a:avLst/>
          </a:prstGeom>
          <a:noFill/>
          <a:ln w="25400" cap="flat" cmpd="sng">
            <a:noFill/>
            <a:prstDash val="solid"/>
            <a:round/>
          </a:ln>
        </p:spPr>
      </p:pic>
      <p:sp>
        <p:nvSpPr>
          <p:cNvPr id="6" name="AutoShape 6"/>
          <p:cNvSpPr/>
          <p:nvPr/>
        </p:nvSpPr>
        <p:spPr>
          <a:xfrm>
            <a:off x="2286000" y="1460500"/>
            <a:ext cx="812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a:ea typeface="Noto Sans SC"/>
                <a:cs typeface="Noto Sans SC"/>
                <a:sym typeface="Noto Sans SC"/>
              </a:rPr>
              <a:t>迭代闭环流程：</a:t>
            </a:r>
            <a:endParaRPr lang="en-US" sz="1100"/>
          </a:p>
          <a:p>
            <a:pPr indent="0" algn="l">
              <a:lnSpc>
                <a:spcPct val="125000"/>
              </a:lnSpc>
            </a:pPr>
            <a:r>
              <a:rPr lang="en-US" sz="1800" b="0" i="0" u="none" strike="noStrike">
                <a:solidFill>
                  <a:srgbClr val="666666"/>
                </a:solidFill>
                <a:latin typeface="Noto Sans SC"/>
                <a:ea typeface="Noto Sans SC"/>
                <a:cs typeface="Noto Sans SC"/>
                <a:sym typeface="Noto Sans SC"/>
              </a:rPr>
              <a:t>发现回答不满意 ➔ 针对性修改提示词 ➔ 重新发布并测试效果</a:t>
            </a:r>
            <a:endParaRPr lang="en-US" sz="1800" b="0" i="0" u="none" strike="noStrike">
              <a:solidFill>
                <a:srgbClr val="666666"/>
              </a:solidFill>
              <a:latin typeface="Noto Sans SC"/>
              <a:ea typeface="Noto Sans SC"/>
              <a:cs typeface="Noto Sans SC"/>
              <a:sym typeface="Noto Sans SC"/>
            </a:endParaRPr>
          </a:p>
        </p:txBody>
      </p:sp>
      <p:sp>
        <p:nvSpPr>
          <p:cNvPr id="7" name="AutoShape 7"/>
          <p:cNvSpPr/>
          <p:nvPr/>
        </p:nvSpPr>
        <p:spPr>
          <a:xfrm>
            <a:off x="762000" y="2921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4A90E2"/>
                </a:solidFill>
                <a:latin typeface="Noto Sans SC"/>
                <a:ea typeface="Noto Sans SC"/>
                <a:cs typeface="Noto Sans SC"/>
                <a:sym typeface="Noto Sans SC"/>
              </a:rPr>
              <a:t>常见问题与优化策略</a:t>
            </a:r>
            <a:endParaRPr lang="en-US" sz="1100"/>
          </a:p>
        </p:txBody>
      </p:sp>
      <p:sp>
        <p:nvSpPr>
          <p:cNvPr id="8" name="AutoShape 8"/>
          <p:cNvSpPr/>
          <p:nvPr/>
        </p:nvSpPr>
        <p:spPr>
          <a:xfrm>
            <a:off x="762000" y="3429000"/>
            <a:ext cx="3378200" cy="1778000"/>
          </a:xfrm>
          <a:prstGeom prst="roundRect">
            <a:avLst>
              <a:gd name="adj" fmla="val 7142"/>
            </a:avLst>
          </a:prstGeom>
          <a:solidFill>
            <a:srgbClr val="FFFFFF">
              <a:alpha val="95000"/>
            </a:srgbClr>
          </a:solidFill>
          <a:ln w="12700" cap="flat" cmpd="sng">
            <a:solidFill>
              <a:srgbClr val="F5A623">
                <a:alpha val="3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619500"/>
            <a:ext cx="406400" cy="406400"/>
          </a:xfrm>
          <a:prstGeom prst="rect">
            <a:avLst/>
          </a:prstGeom>
        </p:spPr>
      </p:pic>
      <p:sp>
        <p:nvSpPr>
          <p:cNvPr id="10" name="AutoShape 10"/>
          <p:cNvSpPr/>
          <p:nvPr/>
        </p:nvSpPr>
        <p:spPr>
          <a:xfrm>
            <a:off x="1524000" y="35814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回答太啰嗦</a:t>
            </a:r>
            <a:endParaRPr lang="en-US" sz="1100"/>
          </a:p>
        </p:txBody>
      </p:sp>
      <p:sp>
        <p:nvSpPr>
          <p:cNvPr id="11" name="AutoShape 11"/>
          <p:cNvSpPr/>
          <p:nvPr/>
        </p:nvSpPr>
        <p:spPr>
          <a:xfrm>
            <a:off x="1016000" y="4127500"/>
            <a:ext cx="28702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666666"/>
                </a:solidFill>
                <a:latin typeface="Noto Sans SC"/>
                <a:ea typeface="Noto Sans SC"/>
                <a:cs typeface="Noto Sans SC"/>
                <a:sym typeface="Noto Sans SC"/>
              </a:rPr>
              <a:t>优化提示词：明确字数限制，例如添加“回复不超过 100 字”。</a:t>
            </a:r>
            <a:endParaRPr lang="en-US" sz="1100"/>
          </a:p>
        </p:txBody>
      </p:sp>
      <p:sp>
        <p:nvSpPr>
          <p:cNvPr id="12" name="AutoShape 12"/>
          <p:cNvSpPr/>
          <p:nvPr/>
        </p:nvSpPr>
        <p:spPr>
          <a:xfrm>
            <a:off x="4394200" y="3429000"/>
            <a:ext cx="3378200" cy="1778000"/>
          </a:xfrm>
          <a:prstGeom prst="roundRect">
            <a:avLst>
              <a:gd name="adj" fmla="val 7142"/>
            </a:avLst>
          </a:prstGeom>
          <a:solidFill>
            <a:srgbClr val="FFFFFF">
              <a:alpha val="95000"/>
            </a:srgbClr>
          </a:solidFill>
          <a:ln w="12700" cap="flat" cmpd="sng">
            <a:solidFill>
              <a:srgbClr val="7ED321">
                <a:alpha val="3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48200" y="3619500"/>
            <a:ext cx="406400" cy="406400"/>
          </a:xfrm>
          <a:prstGeom prst="rect">
            <a:avLst/>
          </a:prstGeom>
        </p:spPr>
      </p:pic>
      <p:sp>
        <p:nvSpPr>
          <p:cNvPr id="14" name="AutoShape 14"/>
          <p:cNvSpPr/>
          <p:nvPr/>
        </p:nvSpPr>
        <p:spPr>
          <a:xfrm>
            <a:off x="5156200" y="35814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回答太冷漠</a:t>
            </a:r>
            <a:endParaRPr lang="en-US" sz="1100"/>
          </a:p>
        </p:txBody>
      </p:sp>
      <p:sp>
        <p:nvSpPr>
          <p:cNvPr id="15" name="AutoShape 15"/>
          <p:cNvSpPr/>
          <p:nvPr/>
        </p:nvSpPr>
        <p:spPr>
          <a:xfrm>
            <a:off x="4648200" y="4127500"/>
            <a:ext cx="28702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666666"/>
                </a:solidFill>
                <a:latin typeface="Noto Sans SC"/>
                <a:ea typeface="Noto Sans SC"/>
                <a:cs typeface="Noto Sans SC"/>
                <a:sym typeface="Noto Sans SC"/>
              </a:rPr>
              <a:t>优化提示词：增加语气要求，例如“多用表情符号，语气像朋友”。</a:t>
            </a:r>
            <a:endParaRPr lang="en-US" sz="1100"/>
          </a:p>
        </p:txBody>
      </p:sp>
      <p:sp>
        <p:nvSpPr>
          <p:cNvPr id="16" name="AutoShape 16"/>
          <p:cNvSpPr/>
          <p:nvPr/>
        </p:nvSpPr>
        <p:spPr>
          <a:xfrm>
            <a:off x="8026400" y="3429000"/>
            <a:ext cx="3378200" cy="1778000"/>
          </a:xfrm>
          <a:prstGeom prst="roundRect">
            <a:avLst>
              <a:gd name="adj" fmla="val 7142"/>
            </a:avLst>
          </a:prstGeom>
          <a:solidFill>
            <a:srgbClr val="FFFFFF">
              <a:alpha val="95000"/>
            </a:srgbClr>
          </a:solidFill>
          <a:ln w="12700" cap="flat" cmpd="sng">
            <a:solidFill>
              <a:srgbClr val="4A90E2">
                <a:alpha val="3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80400" y="3619500"/>
            <a:ext cx="406400" cy="406400"/>
          </a:xfrm>
          <a:prstGeom prst="rect">
            <a:avLst/>
          </a:prstGeom>
        </p:spPr>
      </p:pic>
      <p:sp>
        <p:nvSpPr>
          <p:cNvPr id="18" name="AutoShape 18"/>
          <p:cNvSpPr/>
          <p:nvPr/>
        </p:nvSpPr>
        <p:spPr>
          <a:xfrm>
            <a:off x="8788400" y="35814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回答不准确</a:t>
            </a:r>
            <a:endParaRPr lang="en-US" sz="1100"/>
          </a:p>
        </p:txBody>
      </p:sp>
      <p:sp>
        <p:nvSpPr>
          <p:cNvPr id="19" name="AutoShape 19"/>
          <p:cNvSpPr/>
          <p:nvPr/>
        </p:nvSpPr>
        <p:spPr>
          <a:xfrm>
            <a:off x="8280400" y="4127500"/>
            <a:ext cx="28702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666666"/>
                </a:solidFill>
                <a:latin typeface="Noto Sans SC"/>
                <a:ea typeface="Noto Sans SC"/>
                <a:cs typeface="Noto Sans SC"/>
                <a:sym typeface="Noto Sans SC"/>
              </a:rPr>
              <a:t>检查知识库：确认文件是否成功上传，格式是否正确，内容是否相关。</a:t>
            </a:r>
            <a:endParaRPr lang="en-US" sz="1100"/>
          </a:p>
        </p:txBody>
      </p:sp>
      <p:sp>
        <p:nvSpPr>
          <p:cNvPr id="20" name="AutoShape 20"/>
          <p:cNvSpPr/>
          <p:nvPr/>
        </p:nvSpPr>
        <p:spPr>
          <a:xfrm>
            <a:off x="0" y="6781800"/>
            <a:ext cx="12192000" cy="76200"/>
          </a:xfrm>
          <a:prstGeom prst="roundRect">
            <a:avLst>
              <a:gd name="adj" fmla="val 0"/>
            </a:avLst>
          </a:prstGeom>
          <a:gradFill rotWithShape="1">
            <a:gsLst>
              <a:gs pos="0">
                <a:srgbClr val="4A90E2">
                  <a:alpha val="100000"/>
                </a:srgbClr>
              </a:gs>
              <a:gs pos="50000">
                <a:srgbClr val="7ED321">
                  <a:alpha val="100000"/>
                </a:srgbClr>
              </a:gs>
              <a:gs pos="100000">
                <a:srgbClr val="F5A623">
                  <a:alpha val="100000"/>
                </a:srgbClr>
              </a:gs>
            </a:gsLst>
            <a:lin ang="0"/>
          </a:gra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4064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4A90E2"/>
                </a:solidFill>
                <a:latin typeface="Noto Sans SC"/>
                <a:ea typeface="Noto Sans SC"/>
                <a:cs typeface="Noto Sans SC"/>
                <a:sym typeface="Noto Sans SC"/>
              </a:rPr>
              <a:t>步骤 7——发布</a:t>
            </a:r>
            <a:endParaRPr lang="en-US" sz="1100"/>
          </a:p>
        </p:txBody>
      </p:sp>
      <p:sp>
        <p:nvSpPr>
          <p:cNvPr id="5" name="AutoShape 5"/>
          <p:cNvSpPr/>
          <p:nvPr/>
        </p:nvSpPr>
        <p:spPr>
          <a:xfrm>
            <a:off x="762000" y="1524000"/>
            <a:ext cx="5334000" cy="1016000"/>
          </a:xfrm>
          <a:prstGeom prst="roundRect">
            <a:avLst>
              <a:gd name="adj" fmla="val 12500"/>
            </a:avLst>
          </a:prstGeom>
          <a:solidFill>
            <a:srgbClr val="FFFFFF">
              <a:alpha val="100000"/>
            </a:srgbClr>
          </a:solidFill>
          <a:ln w="25400" cap="flat" cmpd="sng">
            <a:noFill/>
            <a:prstDash val="solid"/>
            <a:round/>
          </a:ln>
          <a:effectLst>
            <a:outerShdw blurRad="127000" dist="50800" dir="5400000" algn="tl" rotWithShape="0">
              <a:srgbClr val="4A90E2">
                <a:alpha val="15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828800"/>
            <a:ext cx="406400" cy="406400"/>
          </a:xfrm>
          <a:prstGeom prst="rect">
            <a:avLst/>
          </a:prstGeom>
        </p:spPr>
      </p:pic>
      <p:sp>
        <p:nvSpPr>
          <p:cNvPr id="7" name="AutoShape 7"/>
          <p:cNvSpPr/>
          <p:nvPr/>
        </p:nvSpPr>
        <p:spPr>
          <a:xfrm>
            <a:off x="1524000" y="16510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a:ea typeface="Noto Sans SC"/>
                <a:cs typeface="Noto Sans SC"/>
                <a:sym typeface="Noto Sans SC"/>
              </a:rPr>
              <a:t>执行发布操作</a:t>
            </a:r>
            <a:endParaRPr lang="en-US" sz="1100"/>
          </a:p>
          <a:p>
            <a:pPr indent="0" algn="l">
              <a:lnSpc>
                <a:spcPct val="125000"/>
              </a:lnSpc>
            </a:pPr>
            <a:r>
              <a:rPr lang="en-US" sz="1600" b="0" i="0" u="none" strike="noStrike">
                <a:solidFill>
                  <a:srgbClr val="666666"/>
                </a:solidFill>
                <a:latin typeface="Noto Sans SC"/>
                <a:ea typeface="Noto Sans SC"/>
                <a:cs typeface="Noto Sans SC"/>
                <a:sym typeface="Noto Sans SC"/>
              </a:rPr>
              <a:t>确认智能体配置无误后，点击“发布”按钮完成上线。</a:t>
            </a:r>
            <a:endParaRPr lang="en-US" sz="1600" b="0" i="0" u="none" strike="noStrike">
              <a:solidFill>
                <a:srgbClr val="666666"/>
              </a:solidFill>
              <a:latin typeface="Noto Sans SC"/>
              <a:ea typeface="Noto Sans SC"/>
              <a:cs typeface="Noto Sans SC"/>
              <a:sym typeface="Noto Sans SC"/>
            </a:endParaRPr>
          </a:p>
        </p:txBody>
      </p:sp>
      <p:sp>
        <p:nvSpPr>
          <p:cNvPr id="8" name="AutoShape 8"/>
          <p:cNvSpPr/>
          <p:nvPr/>
        </p:nvSpPr>
        <p:spPr>
          <a:xfrm>
            <a:off x="762000" y="2794000"/>
            <a:ext cx="5334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4A90E2">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225800"/>
            <a:ext cx="406400" cy="406400"/>
          </a:xfrm>
          <a:prstGeom prst="rect">
            <a:avLst/>
          </a:prstGeom>
        </p:spPr>
      </p:pic>
      <p:sp>
        <p:nvSpPr>
          <p:cNvPr id="10" name="AutoShape 10"/>
          <p:cNvSpPr/>
          <p:nvPr/>
        </p:nvSpPr>
        <p:spPr>
          <a:xfrm>
            <a:off x="1524000" y="2921000"/>
            <a:ext cx="4318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a:ea typeface="Noto Sans SC"/>
                <a:cs typeface="Noto Sans SC"/>
                <a:sym typeface="Noto Sans SC"/>
              </a:rPr>
              <a:t>多渠道分发</a:t>
            </a:r>
            <a:endParaRPr lang="en-US" sz="1100"/>
          </a:p>
          <a:p>
            <a:pPr indent="0" algn="l">
              <a:lnSpc>
                <a:spcPct val="125000"/>
              </a:lnSpc>
            </a:pPr>
            <a:r>
              <a:rPr lang="en-US" sz="1600" b="0" i="0" u="none" strike="noStrike">
                <a:solidFill>
                  <a:srgbClr val="666666"/>
                </a:solidFill>
                <a:latin typeface="Noto Sans SC"/>
                <a:ea typeface="Noto Sans SC"/>
                <a:cs typeface="Noto Sans SC"/>
                <a:sym typeface="Noto Sans SC"/>
              </a:rPr>
              <a:t>支持发布至：豆包 APP、飞书、抖音（可选），覆盖主流平台。</a:t>
            </a:r>
            <a:endParaRPr lang="en-US" sz="1600" b="0" i="0" u="none" strike="noStrike">
              <a:solidFill>
                <a:srgbClr val="666666"/>
              </a:solidFill>
              <a:latin typeface="Noto Sans SC"/>
              <a:ea typeface="Noto Sans SC"/>
              <a:cs typeface="Noto Sans SC"/>
              <a:sym typeface="Noto Sans SC"/>
            </a:endParaRPr>
          </a:p>
        </p:txBody>
      </p:sp>
      <p:sp>
        <p:nvSpPr>
          <p:cNvPr id="11" name="AutoShape 11"/>
          <p:cNvSpPr/>
          <p:nvPr/>
        </p:nvSpPr>
        <p:spPr>
          <a:xfrm>
            <a:off x="762000" y="4318000"/>
            <a:ext cx="5334000" cy="1016000"/>
          </a:xfrm>
          <a:prstGeom prst="roundRect">
            <a:avLst>
              <a:gd name="adj" fmla="val 12500"/>
            </a:avLst>
          </a:prstGeom>
          <a:solidFill>
            <a:srgbClr val="FFFFFF">
              <a:alpha val="100000"/>
            </a:srgbClr>
          </a:solidFill>
          <a:ln w="25400" cap="flat" cmpd="sng">
            <a:noFill/>
            <a:prstDash val="solid"/>
            <a:round/>
          </a:ln>
          <a:effectLst>
            <a:outerShdw blurRad="127000" dist="50800" dir="5400000" algn="tl" rotWithShape="0">
              <a:srgbClr val="4A90E2">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622800"/>
            <a:ext cx="406400" cy="406400"/>
          </a:xfrm>
          <a:prstGeom prst="rect">
            <a:avLst/>
          </a:prstGeom>
        </p:spPr>
      </p:pic>
      <p:sp>
        <p:nvSpPr>
          <p:cNvPr id="13" name="AutoShape 13"/>
          <p:cNvSpPr/>
          <p:nvPr/>
        </p:nvSpPr>
        <p:spPr>
          <a:xfrm>
            <a:off x="1524000" y="44450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a:ea typeface="Noto Sans SC"/>
                <a:cs typeface="Noto Sans SC"/>
                <a:sym typeface="Noto Sans SC"/>
              </a:rPr>
              <a:t>便捷分享体验</a:t>
            </a:r>
            <a:endParaRPr lang="en-US" sz="1100"/>
          </a:p>
          <a:p>
            <a:pPr indent="0" algn="l">
              <a:lnSpc>
                <a:spcPct val="125000"/>
              </a:lnSpc>
            </a:pPr>
            <a:r>
              <a:rPr lang="en-US" sz="1600" b="0" i="0" u="none" strike="noStrike">
                <a:solidFill>
                  <a:srgbClr val="666666"/>
                </a:solidFill>
                <a:latin typeface="Noto Sans SC"/>
                <a:ea typeface="Noto Sans SC"/>
                <a:cs typeface="Noto Sans SC"/>
                <a:sym typeface="Noto Sans SC"/>
              </a:rPr>
              <a:t>生成专属链接或二维码，轻松分享给同学体验。</a:t>
            </a:r>
            <a:endParaRPr lang="en-US" sz="1600" b="0" i="0" u="none" strike="noStrike">
              <a:solidFill>
                <a:srgbClr val="666666"/>
              </a:solidFill>
              <a:latin typeface="Noto Sans SC"/>
              <a:ea typeface="Noto Sans SC"/>
              <a:cs typeface="Noto Sans SC"/>
              <a:sym typeface="Noto Sans SC"/>
            </a:endParaRPr>
          </a:p>
        </p:txBody>
      </p:sp>
      <p:sp>
        <p:nvSpPr>
          <p:cNvPr id="14" name="AutoShape 14"/>
          <p:cNvSpPr/>
          <p:nvPr/>
        </p:nvSpPr>
        <p:spPr>
          <a:xfrm>
            <a:off x="7366000" y="1651000"/>
            <a:ext cx="3302000" cy="3048000"/>
          </a:xfrm>
          <a:prstGeom prst="roundRect">
            <a:avLst>
              <a:gd name="adj" fmla="val 4166"/>
            </a:avLst>
          </a:prstGeom>
          <a:solidFill>
            <a:srgbClr val="FFFFFF">
              <a:alpha val="100000"/>
            </a:srgbClr>
          </a:solidFill>
          <a:ln w="12700" cap="flat" cmpd="sng">
            <a:solidFill>
              <a:srgbClr val="4A90E2">
                <a:alpha val="30000"/>
              </a:srgbClr>
            </a:solidFill>
            <a:prstDash val="solid"/>
            <a:round/>
          </a:ln>
          <a:effectLst>
            <a:outerShdw blurRad="190500" dist="63500" dir="5400000" algn="tl" rotWithShape="0">
              <a:srgbClr val="000000">
                <a:alpha val="5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8"/>
          <a:srcRect/>
          <a:stretch>
            <a:fillRect/>
          </a:stretch>
        </p:blipFill>
        <p:spPr>
          <a:xfrm>
            <a:off x="8001000" y="1905000"/>
            <a:ext cx="2032000" cy="2032000"/>
          </a:xfrm>
          <a:prstGeom prst="rect">
            <a:avLst/>
          </a:prstGeom>
          <a:noFill/>
          <a:ln w="25400" cap="flat" cmpd="sng">
            <a:noFill/>
            <a:prstDash val="solid"/>
            <a:round/>
          </a:ln>
        </p:spPr>
      </p:pic>
      <p:sp>
        <p:nvSpPr>
          <p:cNvPr id="16" name="AutoShape 16"/>
          <p:cNvSpPr/>
          <p:nvPr/>
        </p:nvSpPr>
        <p:spPr>
          <a:xfrm>
            <a:off x="7493000" y="406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A90E2"/>
                </a:solidFill>
                <a:latin typeface="Noto Sans SC"/>
                <a:ea typeface="Noto Sans SC"/>
                <a:cs typeface="Noto Sans SC"/>
                <a:sym typeface="Noto Sans SC"/>
              </a:rPr>
              <a:t>扫码体验你的智能体</a:t>
            </a:r>
            <a:endParaRPr lang="en-US" sz="1100"/>
          </a:p>
        </p:txBody>
      </p:sp>
      <p:sp>
        <p:nvSpPr>
          <p:cNvPr id="17" name="AutoShape 17"/>
          <p:cNvSpPr/>
          <p:nvPr/>
        </p:nvSpPr>
        <p:spPr>
          <a:xfrm>
            <a:off x="0" y="6781800"/>
            <a:ext cx="12192000" cy="76200"/>
          </a:xfrm>
          <a:prstGeom prst="roundRect">
            <a:avLst>
              <a:gd name="adj" fmla="val 0"/>
            </a:avLst>
          </a:prstGeom>
          <a:gradFill rotWithShape="1">
            <a:gsLst>
              <a:gs pos="0">
                <a:srgbClr val="4A90E2">
                  <a:alpha val="100000"/>
                </a:srgbClr>
              </a:gs>
              <a:gs pos="100000">
                <a:srgbClr val="7ED321">
                  <a:alpha val="100000"/>
                </a:srgbClr>
              </a:gs>
            </a:gsLst>
            <a:lin ang="0"/>
          </a:gra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55372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4A90E2"/>
                </a:solidFill>
                <a:latin typeface="Noto Sans SC"/>
                <a:ea typeface="Noto Sans SC"/>
                <a:cs typeface="Noto Sans SC"/>
                <a:sym typeface="Noto Sans SC"/>
              </a:rPr>
              <a:t>更多项目灵感（延伸版）</a:t>
            </a:r>
            <a:endParaRPr lang="en-US" sz="1100"/>
          </a:p>
        </p:txBody>
      </p:sp>
      <p:sp>
        <p:nvSpPr>
          <p:cNvPr id="5" name="AutoShape 5"/>
          <p:cNvSpPr/>
          <p:nvPr/>
        </p:nvSpPr>
        <p:spPr>
          <a:xfrm>
            <a:off x="762000" y="1651000"/>
            <a:ext cx="2032000" cy="3302000"/>
          </a:xfrm>
          <a:prstGeom prst="roundRect">
            <a:avLst>
              <a:gd name="adj" fmla="val 6250"/>
            </a:avLst>
          </a:prstGeom>
          <a:solidFill>
            <a:srgbClr val="FFFFFF">
              <a:alpha val="100000"/>
            </a:srgbClr>
          </a:solidFill>
          <a:ln w="12700" cap="flat" cmpd="sng">
            <a:solidFill>
              <a:srgbClr val="4A90E2">
                <a:alpha val="30000"/>
              </a:srgbClr>
            </a:solidFill>
            <a:prstDash val="solid"/>
            <a:round/>
          </a:ln>
          <a:effectLst>
            <a:outerShdw blurRad="101600" dist="50800" dir="5400000" algn="tl" rotWithShape="0">
              <a:srgbClr val="4A90E2">
                <a:alpha val="15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srcRect/>
          <a:stretch>
            <a:fillRect/>
          </a:stretch>
        </p:blipFill>
        <p:spPr>
          <a:xfrm>
            <a:off x="1270000" y="1841500"/>
            <a:ext cx="1016000" cy="1016000"/>
          </a:xfrm>
          <a:prstGeom prst="ellipse">
            <a:avLst/>
          </a:prstGeom>
          <a:noFill/>
          <a:ln w="25400" cap="flat" cmpd="sng">
            <a:noFill/>
            <a:prstDash val="solid"/>
            <a:round/>
          </a:ln>
        </p:spPr>
      </p:pic>
      <p:sp>
        <p:nvSpPr>
          <p:cNvPr id="7" name="AutoShape 7"/>
          <p:cNvSpPr/>
          <p:nvPr/>
        </p:nvSpPr>
        <p:spPr>
          <a:xfrm>
            <a:off x="889000" y="2921000"/>
            <a:ext cx="177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4A90E2"/>
                </a:solidFill>
                <a:latin typeface="Noto Sans SC"/>
                <a:ea typeface="Noto Sans SC"/>
                <a:cs typeface="Noto Sans SC"/>
                <a:sym typeface="Noto Sans SC"/>
              </a:rPr>
              <a:t>学科助教</a:t>
            </a:r>
            <a:endParaRPr lang="en-US" sz="1100"/>
          </a:p>
        </p:txBody>
      </p:sp>
      <p:sp>
        <p:nvSpPr>
          <p:cNvPr id="8" name="AutoShape 8"/>
          <p:cNvSpPr/>
          <p:nvPr/>
        </p:nvSpPr>
        <p:spPr>
          <a:xfrm>
            <a:off x="889000" y="3365500"/>
            <a:ext cx="1778000" cy="1270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b="0" i="0" u="none" strike="noStrike">
                <a:solidFill>
                  <a:srgbClr val="505050"/>
                </a:solidFill>
                <a:latin typeface="Noto Sans SC"/>
                <a:ea typeface="Noto Sans SC"/>
                <a:cs typeface="Noto Sans SC"/>
                <a:sym typeface="Noto Sans SC"/>
              </a:rPr>
              <a:t>上传数学公式或英语语法，智能体帮你出题讲解。</a:t>
            </a:r>
            <a:endParaRPr lang="en-US" sz="1100"/>
          </a:p>
        </p:txBody>
      </p:sp>
      <p:sp>
        <p:nvSpPr>
          <p:cNvPr id="9" name="AutoShape 9"/>
          <p:cNvSpPr/>
          <p:nvPr/>
        </p:nvSpPr>
        <p:spPr>
          <a:xfrm>
            <a:off x="2984500" y="1651000"/>
            <a:ext cx="2032000" cy="3302000"/>
          </a:xfrm>
          <a:prstGeom prst="roundRect">
            <a:avLst>
              <a:gd name="adj" fmla="val 6250"/>
            </a:avLst>
          </a:prstGeom>
          <a:solidFill>
            <a:srgbClr val="FFFFFF">
              <a:alpha val="100000"/>
            </a:srgbClr>
          </a:solidFill>
          <a:ln w="12700" cap="flat" cmpd="sng">
            <a:solidFill>
              <a:srgbClr val="F5A623">
                <a:alpha val="30000"/>
              </a:srgbClr>
            </a:solidFill>
            <a:prstDash val="solid"/>
            <a:round/>
          </a:ln>
          <a:effectLst>
            <a:outerShdw blurRad="101600" dist="50800" dir="5400000" algn="tl" rotWithShape="0">
              <a:srgbClr val="F5A623">
                <a:alpha val="1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srcRect/>
          <a:stretch>
            <a:fillRect/>
          </a:stretch>
        </p:blipFill>
        <p:spPr>
          <a:xfrm>
            <a:off x="3492500" y="1841500"/>
            <a:ext cx="1016000" cy="1016000"/>
          </a:xfrm>
          <a:prstGeom prst="ellipse">
            <a:avLst/>
          </a:prstGeom>
          <a:noFill/>
          <a:ln w="25400" cap="flat" cmpd="sng">
            <a:noFill/>
            <a:prstDash val="solid"/>
            <a:round/>
          </a:ln>
        </p:spPr>
      </p:pic>
      <p:sp>
        <p:nvSpPr>
          <p:cNvPr id="11" name="AutoShape 11"/>
          <p:cNvSpPr/>
          <p:nvPr/>
        </p:nvSpPr>
        <p:spPr>
          <a:xfrm>
            <a:off x="3111500" y="2921000"/>
            <a:ext cx="177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5A623"/>
                </a:solidFill>
                <a:latin typeface="Noto Sans SC"/>
                <a:ea typeface="Noto Sans SC"/>
                <a:cs typeface="Noto Sans SC"/>
                <a:sym typeface="Noto Sans SC"/>
              </a:rPr>
              <a:t>游戏搭子</a:t>
            </a:r>
            <a:endParaRPr lang="en-US" sz="1100"/>
          </a:p>
        </p:txBody>
      </p:sp>
      <p:sp>
        <p:nvSpPr>
          <p:cNvPr id="12" name="AutoShape 12"/>
          <p:cNvSpPr/>
          <p:nvPr/>
        </p:nvSpPr>
        <p:spPr>
          <a:xfrm>
            <a:off x="3111500" y="3365500"/>
            <a:ext cx="1778000" cy="1270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b="0" i="0" u="none" strike="noStrike">
                <a:solidFill>
                  <a:srgbClr val="505050"/>
                </a:solidFill>
                <a:latin typeface="Noto Sans SC"/>
                <a:ea typeface="Noto Sans SC"/>
                <a:cs typeface="Noto Sans SC"/>
                <a:sym typeface="Noto Sans SC"/>
              </a:rPr>
              <a:t>针对《原神》《蛋仔派对》等，提供攻略和角色搭配。</a:t>
            </a:r>
            <a:endParaRPr lang="en-US" sz="1100"/>
          </a:p>
        </p:txBody>
      </p:sp>
      <p:sp>
        <p:nvSpPr>
          <p:cNvPr id="13" name="AutoShape 13"/>
          <p:cNvSpPr/>
          <p:nvPr/>
        </p:nvSpPr>
        <p:spPr>
          <a:xfrm>
            <a:off x="5207000" y="1651000"/>
            <a:ext cx="2032000" cy="3302000"/>
          </a:xfrm>
          <a:prstGeom prst="roundRect">
            <a:avLst>
              <a:gd name="adj" fmla="val 6250"/>
            </a:avLst>
          </a:prstGeom>
          <a:solidFill>
            <a:srgbClr val="FFFFFF">
              <a:alpha val="100000"/>
            </a:srgbClr>
          </a:solidFill>
          <a:ln w="12700" cap="flat" cmpd="sng">
            <a:solidFill>
              <a:srgbClr val="7ED321">
                <a:alpha val="30000"/>
              </a:srgbClr>
            </a:solidFill>
            <a:prstDash val="solid"/>
            <a:round/>
          </a:ln>
          <a:effectLst>
            <a:outerShdw blurRad="101600" dist="50800" dir="5400000" algn="tl" rotWithShape="0">
              <a:srgbClr val="7ED321">
                <a:alpha val="1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4"/>
          <a:srcRect/>
          <a:stretch>
            <a:fillRect/>
          </a:stretch>
        </p:blipFill>
        <p:spPr>
          <a:xfrm>
            <a:off x="5715000" y="1841500"/>
            <a:ext cx="1016000" cy="1016000"/>
          </a:xfrm>
          <a:prstGeom prst="ellipse">
            <a:avLst/>
          </a:prstGeom>
          <a:noFill/>
          <a:ln w="25400" cap="flat" cmpd="sng">
            <a:noFill/>
            <a:prstDash val="solid"/>
            <a:round/>
          </a:ln>
        </p:spPr>
      </p:pic>
      <p:sp>
        <p:nvSpPr>
          <p:cNvPr id="15" name="AutoShape 15"/>
          <p:cNvSpPr/>
          <p:nvPr/>
        </p:nvSpPr>
        <p:spPr>
          <a:xfrm>
            <a:off x="5334000" y="2921000"/>
            <a:ext cx="177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7ED321"/>
                </a:solidFill>
                <a:latin typeface="Noto Sans SC"/>
                <a:ea typeface="Noto Sans SC"/>
                <a:cs typeface="Noto Sans SC"/>
                <a:sym typeface="Noto Sans SC"/>
              </a:rPr>
              <a:t>社团活动策划</a:t>
            </a:r>
            <a:endParaRPr lang="en-US" sz="1100"/>
          </a:p>
        </p:txBody>
      </p:sp>
      <p:sp>
        <p:nvSpPr>
          <p:cNvPr id="16" name="AutoShape 16"/>
          <p:cNvSpPr/>
          <p:nvPr/>
        </p:nvSpPr>
        <p:spPr>
          <a:xfrm>
            <a:off x="5334000" y="3365500"/>
            <a:ext cx="1778000" cy="1270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b="0" i="0" u="none" strike="noStrike">
                <a:solidFill>
                  <a:srgbClr val="505050"/>
                </a:solidFill>
                <a:latin typeface="Noto Sans SC"/>
                <a:ea typeface="Noto Sans SC"/>
                <a:cs typeface="Noto Sans SC"/>
                <a:sym typeface="Noto Sans SC"/>
              </a:rPr>
              <a:t>输入“我想办一次义卖”，智能体生成完整方案。</a:t>
            </a:r>
            <a:endParaRPr lang="en-US" sz="1100"/>
          </a:p>
        </p:txBody>
      </p:sp>
      <p:sp>
        <p:nvSpPr>
          <p:cNvPr id="17" name="AutoShape 17"/>
          <p:cNvSpPr/>
          <p:nvPr/>
        </p:nvSpPr>
        <p:spPr>
          <a:xfrm>
            <a:off x="7429500" y="1651000"/>
            <a:ext cx="2032000" cy="3302000"/>
          </a:xfrm>
          <a:prstGeom prst="roundRect">
            <a:avLst>
              <a:gd name="adj" fmla="val 6250"/>
            </a:avLst>
          </a:prstGeom>
          <a:solidFill>
            <a:srgbClr val="FFFFFF">
              <a:alpha val="100000"/>
            </a:srgbClr>
          </a:solidFill>
          <a:ln w="12700" cap="flat" cmpd="sng">
            <a:solidFill>
              <a:srgbClr val="4A90E2">
                <a:alpha val="30000"/>
              </a:srgbClr>
            </a:solidFill>
            <a:prstDash val="solid"/>
            <a:round/>
          </a:ln>
          <a:effectLst>
            <a:outerShdw blurRad="101600" dist="50800" dir="5400000" algn="tl" rotWithShape="0">
              <a:srgbClr val="4A90E2">
                <a:alpha val="15000"/>
              </a:srgbClr>
            </a:outerShdw>
          </a:effectLst>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5"/>
          <a:srcRect/>
          <a:stretch>
            <a:fillRect/>
          </a:stretch>
        </p:blipFill>
        <p:spPr>
          <a:xfrm>
            <a:off x="7937500" y="1841500"/>
            <a:ext cx="1016000" cy="1016000"/>
          </a:xfrm>
          <a:prstGeom prst="ellipse">
            <a:avLst/>
          </a:prstGeom>
          <a:noFill/>
          <a:ln w="25400" cap="flat" cmpd="sng">
            <a:noFill/>
            <a:prstDash val="solid"/>
            <a:round/>
          </a:ln>
        </p:spPr>
      </p:pic>
      <p:sp>
        <p:nvSpPr>
          <p:cNvPr id="19" name="AutoShape 19"/>
          <p:cNvSpPr/>
          <p:nvPr/>
        </p:nvSpPr>
        <p:spPr>
          <a:xfrm>
            <a:off x="7556500" y="2921000"/>
            <a:ext cx="177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4A90E2"/>
                </a:solidFill>
                <a:latin typeface="Noto Sans SC"/>
                <a:ea typeface="Noto Sans SC"/>
                <a:cs typeface="Noto Sans SC"/>
                <a:sym typeface="Noto Sans SC"/>
              </a:rPr>
              <a:t>广播稿生成器</a:t>
            </a:r>
            <a:endParaRPr lang="en-US" sz="1100"/>
          </a:p>
        </p:txBody>
      </p:sp>
      <p:sp>
        <p:nvSpPr>
          <p:cNvPr id="20" name="AutoShape 20"/>
          <p:cNvSpPr/>
          <p:nvPr/>
        </p:nvSpPr>
        <p:spPr>
          <a:xfrm>
            <a:off x="7556500" y="3365500"/>
            <a:ext cx="1778000" cy="1270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b="0" i="0" u="none" strike="noStrike">
                <a:solidFill>
                  <a:srgbClr val="505050"/>
                </a:solidFill>
                <a:latin typeface="Noto Sans SC"/>
                <a:ea typeface="Noto Sans SC"/>
                <a:cs typeface="Noto Sans SC"/>
                <a:sym typeface="Noto Sans SC"/>
              </a:rPr>
              <a:t>根据当天新闻和活动，自动生成播报稿。</a:t>
            </a:r>
            <a:endParaRPr lang="en-US" sz="1100"/>
          </a:p>
        </p:txBody>
      </p:sp>
      <p:sp>
        <p:nvSpPr>
          <p:cNvPr id="21" name="AutoShape 21"/>
          <p:cNvSpPr/>
          <p:nvPr/>
        </p:nvSpPr>
        <p:spPr>
          <a:xfrm>
            <a:off x="9652000" y="1651000"/>
            <a:ext cx="2032000" cy="3302000"/>
          </a:xfrm>
          <a:prstGeom prst="roundRect">
            <a:avLst>
              <a:gd name="adj" fmla="val 6250"/>
            </a:avLst>
          </a:prstGeom>
          <a:solidFill>
            <a:srgbClr val="FFFFFF">
              <a:alpha val="100000"/>
            </a:srgbClr>
          </a:solidFill>
          <a:ln w="12700" cap="flat" cmpd="sng">
            <a:solidFill>
              <a:srgbClr val="F5A623">
                <a:alpha val="30000"/>
              </a:srgbClr>
            </a:solidFill>
            <a:prstDash val="solid"/>
            <a:round/>
          </a:ln>
          <a:effectLst>
            <a:outerShdw blurRad="101600" dist="50800" dir="5400000" algn="tl" rotWithShape="0">
              <a:srgbClr val="F5A623">
                <a:alpha val="15000"/>
              </a:srgbClr>
            </a:outerShdw>
          </a:effectLst>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6"/>
          <a:srcRect/>
          <a:stretch>
            <a:fillRect/>
          </a:stretch>
        </p:blipFill>
        <p:spPr>
          <a:xfrm>
            <a:off x="10160000" y="1841500"/>
            <a:ext cx="1016000" cy="1016000"/>
          </a:xfrm>
          <a:prstGeom prst="ellipse">
            <a:avLst/>
          </a:prstGeom>
          <a:noFill/>
          <a:ln w="25400" cap="flat" cmpd="sng">
            <a:noFill/>
            <a:prstDash val="solid"/>
            <a:round/>
          </a:ln>
        </p:spPr>
      </p:pic>
      <p:sp>
        <p:nvSpPr>
          <p:cNvPr id="23" name="AutoShape 23"/>
          <p:cNvSpPr/>
          <p:nvPr/>
        </p:nvSpPr>
        <p:spPr>
          <a:xfrm>
            <a:off x="9779000" y="2921000"/>
            <a:ext cx="177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5A623"/>
                </a:solidFill>
                <a:latin typeface="Noto Sans SC"/>
                <a:ea typeface="Noto Sans SC"/>
                <a:cs typeface="Noto Sans SC"/>
                <a:sym typeface="Noto Sans SC"/>
              </a:rPr>
              <a:t>作业优先级助手</a:t>
            </a:r>
            <a:endParaRPr lang="en-US" sz="1100"/>
          </a:p>
        </p:txBody>
      </p:sp>
      <p:sp>
        <p:nvSpPr>
          <p:cNvPr id="24" name="AutoShape 24"/>
          <p:cNvSpPr/>
          <p:nvPr/>
        </p:nvSpPr>
        <p:spPr>
          <a:xfrm>
            <a:off x="9779000" y="3365500"/>
            <a:ext cx="1778000" cy="1270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b="0" i="0" u="none" strike="noStrike">
                <a:solidFill>
                  <a:srgbClr val="505050"/>
                </a:solidFill>
                <a:latin typeface="Noto Sans SC"/>
                <a:ea typeface="Noto Sans SC"/>
                <a:cs typeface="Noto Sans SC"/>
                <a:sym typeface="Noto Sans SC"/>
              </a:rPr>
              <a:t>输入所有作业，智能体帮你排出“先做哪个后做哪个”。</a:t>
            </a:r>
            <a:endParaRPr lang="en-US" sz="1100"/>
          </a:p>
        </p:txBody>
      </p:sp>
      <p:sp>
        <p:nvSpPr>
          <p:cNvPr id="25" name="AutoShape 25"/>
          <p:cNvSpPr/>
          <p:nvPr/>
        </p:nvSpPr>
        <p:spPr>
          <a:xfrm>
            <a:off x="635000" y="5461000"/>
            <a:ext cx="10922000" cy="25400"/>
          </a:xfrm>
          <a:prstGeom prst="roundRect">
            <a:avLst>
              <a:gd name="adj" fmla="val 0"/>
            </a:avLst>
          </a:prstGeom>
          <a:gradFill rotWithShape="1">
            <a:gsLst>
              <a:gs pos="0">
                <a:srgbClr val="4A90E2">
                  <a:alpha val="20000"/>
                </a:srgbClr>
              </a:gs>
              <a:gs pos="100000">
                <a:srgbClr val="7ED321">
                  <a:alpha val="2000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35000" y="5715000"/>
            <a:ext cx="1092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1" u="none" strike="noStrike">
                <a:solidFill>
                  <a:srgbClr val="646464"/>
                </a:solidFill>
                <a:latin typeface="Noto Sans SC"/>
                <a:ea typeface="Noto Sans SC"/>
                <a:cs typeface="Noto Sans SC"/>
                <a:sym typeface="Noto Sans SC"/>
              </a:rPr>
              <a:t>“技术赋能创意，让AI成为我们学习与生活的得力助手”</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6350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4A90E2"/>
                </a:solidFill>
                <a:latin typeface="Noto Sans SC"/>
                <a:ea typeface="Noto Sans SC"/>
                <a:cs typeface="Noto Sans SC"/>
                <a:sym typeface="Noto Sans SC"/>
              </a:rPr>
              <a:t>如何让智能体变得更强大？</a:t>
            </a:r>
            <a:endParaRPr lang="en-US" sz="1100"/>
          </a:p>
        </p:txBody>
      </p:sp>
      <p:pic>
        <p:nvPicPr>
          <p:cNvPr id="5" name="Picture 5"/>
          <p:cNvPicPr>
            <a:picLocks noChangeAspect="1"/>
          </p:cNvPicPr>
          <p:nvPr/>
        </p:nvPicPr>
        <p:blipFill>
          <a:blip r:embed="rId2"/>
          <a:srcRect/>
          <a:stretch>
            <a:fillRect/>
          </a:stretch>
        </p:blipFill>
        <p:spPr>
          <a:xfrm>
            <a:off x="10414000" y="317500"/>
            <a:ext cx="1016000" cy="1016000"/>
          </a:xfrm>
          <a:prstGeom prst="rect">
            <a:avLst/>
          </a:prstGeom>
          <a:noFill/>
          <a:ln w="25400" cap="flat" cmpd="sng">
            <a:noFill/>
            <a:prstDash val="solid"/>
            <a:round/>
          </a:ln>
        </p:spPr>
      </p:pic>
      <p:sp>
        <p:nvSpPr>
          <p:cNvPr id="6" name="AutoShape 6"/>
          <p:cNvSpPr/>
          <p:nvPr/>
        </p:nvSpPr>
        <p:spPr>
          <a:xfrm>
            <a:off x="762000" y="1651000"/>
            <a:ext cx="3302000" cy="2032000"/>
          </a:xfrm>
          <a:prstGeom prst="roundRect">
            <a:avLst>
              <a:gd name="adj" fmla="val 6250"/>
            </a:avLst>
          </a:prstGeom>
          <a:solidFill>
            <a:srgbClr val="EBF5FF">
              <a:alpha val="100000"/>
            </a:srgbClr>
          </a:solidFill>
          <a:ln w="12700" cap="flat" cmpd="sng">
            <a:solidFill>
              <a:srgbClr val="4A90E2">
                <a:alpha val="30000"/>
              </a:srgbClr>
            </a:solidFill>
            <a:prstDash val="solid"/>
            <a:round/>
          </a:ln>
          <a:effectLst>
            <a:outerShdw blurRad="127000" dist="50800" dir="5400000" algn="tl" rotWithShape="0">
              <a:srgbClr val="4A90E2">
                <a:alpha val="1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000" y="1841500"/>
            <a:ext cx="406400" cy="406400"/>
          </a:xfrm>
          <a:prstGeom prst="rect">
            <a:avLst/>
          </a:prstGeom>
        </p:spPr>
      </p:pic>
      <p:sp>
        <p:nvSpPr>
          <p:cNvPr id="8" name="AutoShape 8"/>
          <p:cNvSpPr/>
          <p:nvPr/>
        </p:nvSpPr>
        <p:spPr>
          <a:xfrm>
            <a:off x="1524000" y="18034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90E2"/>
                </a:solidFill>
                <a:latin typeface="Noto Sans SC"/>
                <a:ea typeface="Noto Sans SC"/>
                <a:cs typeface="Noto Sans SC"/>
                <a:sym typeface="Noto Sans SC"/>
              </a:rPr>
              <a:t>加插件 (Plugins)</a:t>
            </a:r>
            <a:endParaRPr lang="en-US" sz="1100"/>
          </a:p>
        </p:txBody>
      </p:sp>
      <p:sp>
        <p:nvSpPr>
          <p:cNvPr id="9" name="AutoShape 9"/>
          <p:cNvSpPr/>
          <p:nvPr/>
        </p:nvSpPr>
        <p:spPr>
          <a:xfrm>
            <a:off x="1016000" y="2286000"/>
            <a:ext cx="2794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505050"/>
                </a:solidFill>
                <a:latin typeface="Noto Sans SC"/>
                <a:ea typeface="Noto Sans SC"/>
                <a:cs typeface="Noto Sans SC"/>
                <a:sym typeface="Noto Sans SC"/>
              </a:rPr>
              <a:t>扩展基础能力，赋予智能体新技能：</a:t>
            </a:r>
            <a:endParaRPr lang="en-US" sz="1100"/>
          </a:p>
          <a:p>
            <a:pPr marL="190500" indent="-190500" algn="l">
              <a:lnSpc>
                <a:spcPct val="125000"/>
              </a:lnSpc>
              <a:buClr>
                <a:srgbClr val="646464"/>
              </a:buClr>
              <a:buChar char="•"/>
            </a:pPr>
            <a:r>
              <a:rPr lang="en-US" sz="1500" b="0" i="0" u="none" strike="noStrike">
                <a:solidFill>
                  <a:srgbClr val="646464"/>
                </a:solidFill>
                <a:latin typeface="Noto Sans SC"/>
                <a:ea typeface="Noto Sans SC"/>
                <a:cs typeface="Noto Sans SC"/>
                <a:sym typeface="Noto Sans SC"/>
              </a:rPr>
              <a:t>联网搜索实时信息</a:t>
            </a:r>
            <a:endParaRPr lang="en-US" sz="1500" b="0" i="0" u="none" strike="noStrike">
              <a:solidFill>
                <a:srgbClr val="646464"/>
              </a:solidFill>
              <a:latin typeface="Noto Sans SC"/>
              <a:ea typeface="Noto Sans SC"/>
              <a:cs typeface="Noto Sans SC"/>
              <a:sym typeface="Noto Sans SC"/>
            </a:endParaRPr>
          </a:p>
          <a:p>
            <a:pPr marL="190500" indent="-190500" algn="l">
              <a:lnSpc>
                <a:spcPct val="125000"/>
              </a:lnSpc>
              <a:buClr>
                <a:srgbClr val="646464"/>
              </a:buClr>
              <a:buChar char="•"/>
            </a:pPr>
            <a:r>
              <a:rPr lang="en-US" sz="1500" b="0" i="0" u="none" strike="noStrike">
                <a:solidFill>
                  <a:srgbClr val="646464"/>
                </a:solidFill>
                <a:latin typeface="Noto Sans SC"/>
                <a:ea typeface="Noto Sans SC"/>
                <a:cs typeface="Noto Sans SC"/>
                <a:sym typeface="Noto Sans SC"/>
              </a:rPr>
              <a:t>图片识别与分析</a:t>
            </a:r>
            <a:endParaRPr lang="en-US" sz="1500" b="0" i="0" u="none" strike="noStrike">
              <a:solidFill>
                <a:srgbClr val="646464"/>
              </a:solidFill>
              <a:latin typeface="Noto Sans SC"/>
              <a:ea typeface="Noto Sans SC"/>
              <a:cs typeface="Noto Sans SC"/>
              <a:sym typeface="Noto Sans SC"/>
            </a:endParaRPr>
          </a:p>
          <a:p>
            <a:pPr marL="190500" indent="-190500" algn="l">
              <a:lnSpc>
                <a:spcPct val="125000"/>
              </a:lnSpc>
              <a:buClr>
                <a:srgbClr val="646464"/>
              </a:buClr>
              <a:buChar char="•"/>
            </a:pPr>
            <a:r>
              <a:rPr lang="en-US" sz="1500" b="0" i="0" u="none" strike="noStrike">
                <a:solidFill>
                  <a:srgbClr val="646464"/>
                </a:solidFill>
                <a:latin typeface="Noto Sans SC"/>
                <a:ea typeface="Noto Sans SC"/>
                <a:cs typeface="Noto Sans SC"/>
                <a:sym typeface="Noto Sans SC"/>
              </a:rPr>
              <a:t>语音合成与识别</a:t>
            </a:r>
            <a:endParaRPr lang="en-US" sz="1500" b="0" i="0" u="none" strike="noStrike">
              <a:solidFill>
                <a:srgbClr val="646464"/>
              </a:solidFill>
              <a:latin typeface="Noto Sans SC"/>
              <a:ea typeface="Noto Sans SC"/>
              <a:cs typeface="Noto Sans SC"/>
              <a:sym typeface="Noto Sans SC"/>
            </a:endParaRPr>
          </a:p>
        </p:txBody>
      </p:sp>
      <p:sp>
        <p:nvSpPr>
          <p:cNvPr id="10" name="AutoShape 10"/>
          <p:cNvSpPr/>
          <p:nvPr/>
        </p:nvSpPr>
        <p:spPr>
          <a:xfrm>
            <a:off x="4445000" y="1651000"/>
            <a:ext cx="3302000" cy="2032000"/>
          </a:xfrm>
          <a:prstGeom prst="roundRect">
            <a:avLst>
              <a:gd name="adj" fmla="val 6250"/>
            </a:avLst>
          </a:prstGeom>
          <a:solidFill>
            <a:srgbClr val="FFF8EB">
              <a:alpha val="100000"/>
            </a:srgbClr>
          </a:solidFill>
          <a:ln w="12700" cap="flat" cmpd="sng">
            <a:solidFill>
              <a:srgbClr val="F5A623">
                <a:alpha val="30000"/>
              </a:srgbClr>
            </a:solidFill>
            <a:prstDash val="solid"/>
            <a:round/>
          </a:ln>
          <a:effectLst>
            <a:outerShdw blurRad="127000" dist="50800" dir="5400000" algn="tl" rotWithShape="0">
              <a:srgbClr val="F5A623">
                <a:alpha val="1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1841500"/>
            <a:ext cx="406400" cy="406400"/>
          </a:xfrm>
          <a:prstGeom prst="rect">
            <a:avLst/>
          </a:prstGeom>
        </p:spPr>
      </p:pic>
      <p:sp>
        <p:nvSpPr>
          <p:cNvPr id="12" name="AutoShape 12"/>
          <p:cNvSpPr/>
          <p:nvPr/>
        </p:nvSpPr>
        <p:spPr>
          <a:xfrm>
            <a:off x="5207000" y="18034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5A623"/>
                </a:solidFill>
                <a:latin typeface="Noto Sans SC"/>
                <a:ea typeface="Noto Sans SC"/>
                <a:cs typeface="Noto Sans SC"/>
                <a:sym typeface="Noto Sans SC"/>
              </a:rPr>
              <a:t>加知识库 (RAG)</a:t>
            </a:r>
            <a:endParaRPr lang="en-US" sz="1100"/>
          </a:p>
        </p:txBody>
      </p:sp>
      <p:sp>
        <p:nvSpPr>
          <p:cNvPr id="13" name="AutoShape 13"/>
          <p:cNvSpPr/>
          <p:nvPr/>
        </p:nvSpPr>
        <p:spPr>
          <a:xfrm>
            <a:off x="4699000" y="2286000"/>
            <a:ext cx="2794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505050"/>
                </a:solidFill>
                <a:latin typeface="Noto Sans SC"/>
                <a:ea typeface="Noto Sans SC"/>
                <a:cs typeface="Noto Sans SC"/>
                <a:sym typeface="Noto Sans SC"/>
              </a:rPr>
              <a:t>投喂私有数据，让它更博学：</a:t>
            </a:r>
            <a:endParaRPr lang="en-US" sz="1100"/>
          </a:p>
          <a:p>
            <a:pPr marL="190500" indent="-190500" algn="l">
              <a:lnSpc>
                <a:spcPct val="125000"/>
              </a:lnSpc>
              <a:buClr>
                <a:srgbClr val="646464"/>
              </a:buClr>
              <a:buChar char="•"/>
            </a:pPr>
            <a:r>
              <a:rPr lang="en-US" sz="1500" b="0" i="0" u="none" strike="noStrike">
                <a:solidFill>
                  <a:srgbClr val="646464"/>
                </a:solidFill>
                <a:latin typeface="Noto Sans SC"/>
                <a:ea typeface="Noto Sans SC"/>
                <a:cs typeface="Noto Sans SC"/>
                <a:sym typeface="Noto Sans SC"/>
              </a:rPr>
              <a:t>上传企业文档 (PDF/PPT)</a:t>
            </a:r>
            <a:endParaRPr lang="en-US" sz="1500" b="0" i="0" u="none" strike="noStrike">
              <a:solidFill>
                <a:srgbClr val="646464"/>
              </a:solidFill>
              <a:latin typeface="Noto Sans SC"/>
              <a:ea typeface="Noto Sans SC"/>
              <a:cs typeface="Noto Sans SC"/>
              <a:sym typeface="Noto Sans SC"/>
            </a:endParaRPr>
          </a:p>
          <a:p>
            <a:pPr marL="190500" indent="-190500" algn="l">
              <a:lnSpc>
                <a:spcPct val="125000"/>
              </a:lnSpc>
              <a:buClr>
                <a:srgbClr val="646464"/>
              </a:buClr>
              <a:buChar char="•"/>
            </a:pPr>
            <a:r>
              <a:rPr lang="en-US" sz="1500" b="0" i="0" u="none" strike="noStrike">
                <a:solidFill>
                  <a:srgbClr val="646464"/>
                </a:solidFill>
                <a:latin typeface="Noto Sans SC"/>
                <a:ea typeface="Noto Sans SC"/>
                <a:cs typeface="Noto Sans SC"/>
                <a:sym typeface="Noto Sans SC"/>
              </a:rPr>
              <a:t>接入指定网页链接</a:t>
            </a:r>
            <a:endParaRPr lang="en-US" sz="1500" b="0" i="0" u="none" strike="noStrike">
              <a:solidFill>
                <a:srgbClr val="646464"/>
              </a:solidFill>
              <a:latin typeface="Noto Sans SC"/>
              <a:ea typeface="Noto Sans SC"/>
              <a:cs typeface="Noto Sans SC"/>
              <a:sym typeface="Noto Sans SC"/>
            </a:endParaRPr>
          </a:p>
          <a:p>
            <a:pPr marL="190500" indent="-190500" algn="l">
              <a:lnSpc>
                <a:spcPct val="125000"/>
              </a:lnSpc>
              <a:buClr>
                <a:srgbClr val="646464"/>
              </a:buClr>
              <a:buChar char="•"/>
            </a:pPr>
            <a:r>
              <a:rPr lang="en-US" sz="1500" b="0" i="0" u="none" strike="noStrike">
                <a:solidFill>
                  <a:srgbClr val="646464"/>
                </a:solidFill>
                <a:latin typeface="Noto Sans SC"/>
                <a:ea typeface="Noto Sans SC"/>
                <a:cs typeface="Noto Sans SC"/>
                <a:sym typeface="Noto Sans SC"/>
              </a:rPr>
              <a:t>构建垂直领域专家库</a:t>
            </a:r>
            <a:endParaRPr lang="en-US" sz="1500" b="0" i="0" u="none" strike="noStrike">
              <a:solidFill>
                <a:srgbClr val="646464"/>
              </a:solidFill>
              <a:latin typeface="Noto Sans SC"/>
              <a:ea typeface="Noto Sans SC"/>
              <a:cs typeface="Noto Sans SC"/>
              <a:sym typeface="Noto Sans SC"/>
            </a:endParaRPr>
          </a:p>
        </p:txBody>
      </p:sp>
      <p:sp>
        <p:nvSpPr>
          <p:cNvPr id="14" name="AutoShape 14"/>
          <p:cNvSpPr/>
          <p:nvPr/>
        </p:nvSpPr>
        <p:spPr>
          <a:xfrm>
            <a:off x="8128000" y="1651000"/>
            <a:ext cx="3302000" cy="2032000"/>
          </a:xfrm>
          <a:prstGeom prst="roundRect">
            <a:avLst>
              <a:gd name="adj" fmla="val 6250"/>
            </a:avLst>
          </a:prstGeom>
          <a:solidFill>
            <a:srgbClr val="F0FAEB">
              <a:alpha val="100000"/>
            </a:srgbClr>
          </a:solidFill>
          <a:ln w="12700" cap="flat" cmpd="sng">
            <a:solidFill>
              <a:srgbClr val="7ED321">
                <a:alpha val="30000"/>
              </a:srgbClr>
            </a:solidFill>
            <a:prstDash val="solid"/>
            <a:round/>
          </a:ln>
          <a:effectLst>
            <a:outerShdw blurRad="127000" dist="50800" dir="5400000" algn="tl" rotWithShape="0">
              <a:srgbClr val="7ED321">
                <a:alpha val="15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82000" y="1841500"/>
            <a:ext cx="406400" cy="406400"/>
          </a:xfrm>
          <a:prstGeom prst="rect">
            <a:avLst/>
          </a:prstGeom>
        </p:spPr>
      </p:pic>
      <p:sp>
        <p:nvSpPr>
          <p:cNvPr id="16" name="AutoShape 16"/>
          <p:cNvSpPr/>
          <p:nvPr/>
        </p:nvSpPr>
        <p:spPr>
          <a:xfrm>
            <a:off x="8890000" y="18034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7ED321"/>
                </a:solidFill>
                <a:latin typeface="Noto Sans SC"/>
                <a:ea typeface="Noto Sans SC"/>
                <a:cs typeface="Noto Sans SC"/>
                <a:sym typeface="Noto Sans SC"/>
              </a:rPr>
              <a:t>加工作流 (Workflow)</a:t>
            </a:r>
            <a:endParaRPr lang="en-US" sz="1100"/>
          </a:p>
        </p:txBody>
      </p:sp>
      <p:sp>
        <p:nvSpPr>
          <p:cNvPr id="17" name="AutoShape 17"/>
          <p:cNvSpPr/>
          <p:nvPr/>
        </p:nvSpPr>
        <p:spPr>
          <a:xfrm>
            <a:off x="8382000" y="2286000"/>
            <a:ext cx="2794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505050"/>
                </a:solidFill>
                <a:latin typeface="Noto Sans SC"/>
                <a:ea typeface="Noto Sans SC"/>
                <a:cs typeface="Noto Sans SC"/>
                <a:sym typeface="Noto Sans SC"/>
              </a:rPr>
              <a:t>串联多步操作，处理复杂任务：</a:t>
            </a:r>
            <a:endParaRPr lang="en-US" sz="1100"/>
          </a:p>
          <a:p>
            <a:pPr marL="190500" indent="-190500" algn="l">
              <a:lnSpc>
                <a:spcPct val="125000"/>
              </a:lnSpc>
              <a:buClr>
                <a:srgbClr val="646464"/>
              </a:buClr>
              <a:buChar char="•"/>
            </a:pPr>
            <a:r>
              <a:rPr lang="en-US" sz="1500" b="0" i="0" u="none" strike="noStrike">
                <a:solidFill>
                  <a:srgbClr val="646464"/>
                </a:solidFill>
                <a:latin typeface="Noto Sans SC"/>
                <a:ea typeface="Noto Sans SC"/>
                <a:cs typeface="Noto Sans SC"/>
                <a:sym typeface="Noto Sans SC"/>
              </a:rPr>
              <a:t>自动化执行预设动作</a:t>
            </a:r>
            <a:endParaRPr lang="en-US" sz="1500" b="0" i="0" u="none" strike="noStrike">
              <a:solidFill>
                <a:srgbClr val="646464"/>
              </a:solidFill>
              <a:latin typeface="Noto Sans SC"/>
              <a:ea typeface="Noto Sans SC"/>
              <a:cs typeface="Noto Sans SC"/>
              <a:sym typeface="Noto Sans SC"/>
            </a:endParaRPr>
          </a:p>
          <a:p>
            <a:pPr marL="190500" indent="-190500" algn="l">
              <a:lnSpc>
                <a:spcPct val="125000"/>
              </a:lnSpc>
              <a:buClr>
                <a:srgbClr val="646464"/>
              </a:buClr>
              <a:buChar char="•"/>
            </a:pPr>
            <a:r>
              <a:rPr lang="en-US" sz="1500" b="0" i="0" u="none" strike="noStrike">
                <a:solidFill>
                  <a:srgbClr val="646464"/>
                </a:solidFill>
                <a:latin typeface="Noto Sans SC"/>
                <a:ea typeface="Noto Sans SC"/>
                <a:cs typeface="Noto Sans SC"/>
                <a:sym typeface="Noto Sans SC"/>
              </a:rPr>
              <a:t>逻辑判断与条件分支</a:t>
            </a:r>
            <a:endParaRPr lang="en-US" sz="1500" b="0" i="0" u="none" strike="noStrike">
              <a:solidFill>
                <a:srgbClr val="646464"/>
              </a:solidFill>
              <a:latin typeface="Noto Sans SC"/>
              <a:ea typeface="Noto Sans SC"/>
              <a:cs typeface="Noto Sans SC"/>
              <a:sym typeface="Noto Sans SC"/>
            </a:endParaRPr>
          </a:p>
          <a:p>
            <a:pPr marL="190500" indent="-190500" algn="l">
              <a:lnSpc>
                <a:spcPct val="125000"/>
              </a:lnSpc>
              <a:buClr>
                <a:srgbClr val="646464"/>
              </a:buClr>
              <a:buChar char="•"/>
            </a:pPr>
            <a:r>
              <a:rPr lang="en-US" sz="1500" b="0" i="0" u="none" strike="noStrike">
                <a:solidFill>
                  <a:srgbClr val="646464"/>
                </a:solidFill>
                <a:latin typeface="Noto Sans SC"/>
                <a:ea typeface="Noto Sans SC"/>
                <a:cs typeface="Noto Sans SC"/>
                <a:sym typeface="Noto Sans SC"/>
              </a:rPr>
              <a:t>结果多格式输出</a:t>
            </a:r>
            <a:endParaRPr lang="en-US" sz="1500" b="0" i="0" u="none" strike="noStrike">
              <a:solidFill>
                <a:srgbClr val="646464"/>
              </a:solidFill>
              <a:latin typeface="Noto Sans SC"/>
              <a:ea typeface="Noto Sans SC"/>
              <a:cs typeface="Noto Sans SC"/>
              <a:sym typeface="Noto Sans SC"/>
            </a:endParaRPr>
          </a:p>
        </p:txBody>
      </p:sp>
      <p:sp>
        <p:nvSpPr>
          <p:cNvPr id="18" name="AutoShape 18"/>
          <p:cNvSpPr/>
          <p:nvPr/>
        </p:nvSpPr>
        <p:spPr>
          <a:xfrm>
            <a:off x="762000" y="4191000"/>
            <a:ext cx="10668000" cy="1270000"/>
          </a:xfrm>
          <a:prstGeom prst="roundRect">
            <a:avLst>
              <a:gd name="adj" fmla="val 10000"/>
            </a:avLst>
          </a:prstGeom>
          <a:solidFill>
            <a:srgbClr val="F5F7FA">
              <a:alpha val="100000"/>
            </a:srgbClr>
          </a:solidFill>
          <a:ln w="12700" cap="flat" cmpd="sng">
            <a:solidFill>
              <a:srgbClr val="C8C8C8">
                <a:alpha val="50000"/>
              </a:srgbClr>
            </a:solidFill>
            <a:prstDash val="dash"/>
            <a:round/>
          </a:ln>
        </p:spPr>
        <p:txBody>
          <a:bodyPr vert="horz" wrap="square" lIns="63500" tIns="63500" rIns="63500" bIns="63500" rtlCol="0" anchor="ctr"/>
          <a:lstStyle/>
          <a:p>
            <a:pPr algn="ctr">
              <a:defRPr/>
            </a:pPr>
          </a:p>
        </p:txBody>
      </p:sp>
      <p:sp>
        <p:nvSpPr>
          <p:cNvPr id="19" name="AutoShape 19"/>
          <p:cNvSpPr/>
          <p:nvPr/>
        </p:nvSpPr>
        <p:spPr>
          <a:xfrm>
            <a:off x="1016000" y="43815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A90E2"/>
                </a:solidFill>
                <a:latin typeface="Noto Sans SC"/>
                <a:ea typeface="Noto Sans SC"/>
                <a:cs typeface="Noto Sans SC"/>
                <a:sym typeface="Noto Sans SC"/>
              </a:rPr>
              <a:t>工作流实战示例：</a:t>
            </a:r>
            <a:endParaRPr lang="en-US" sz="1100"/>
          </a:p>
        </p:txBody>
      </p:sp>
      <p:pic>
        <p:nvPicPr>
          <p:cNvPr id="20" name="Picture 2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826000"/>
            <a:ext cx="304800" cy="304800"/>
          </a:xfrm>
          <a:prstGeom prst="rect">
            <a:avLst/>
          </a:prstGeom>
        </p:spPr>
      </p:pic>
      <p:sp>
        <p:nvSpPr>
          <p:cNvPr id="21" name="AutoShape 21"/>
          <p:cNvSpPr/>
          <p:nvPr/>
        </p:nvSpPr>
        <p:spPr>
          <a:xfrm>
            <a:off x="1397000" y="4826000"/>
            <a:ext cx="152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505050"/>
                </a:solidFill>
                <a:latin typeface="Noto Sans SC"/>
                <a:ea typeface="Noto Sans SC"/>
                <a:cs typeface="Noto Sans SC"/>
                <a:sym typeface="Noto Sans SC"/>
              </a:rPr>
              <a:t>用户提问</a:t>
            </a:r>
            <a:endParaRPr lang="en-US" sz="1100"/>
          </a:p>
        </p:txBody>
      </p:sp>
      <p:pic>
        <p:nvPicPr>
          <p:cNvPr id="22" name="Picture 22"/>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794000" y="4851400"/>
            <a:ext cx="254000" cy="254000"/>
          </a:xfrm>
          <a:prstGeom prst="rect">
            <a:avLst/>
          </a:prstGeom>
        </p:spPr>
      </p:pic>
      <p:pic>
        <p:nvPicPr>
          <p:cNvPr id="23" name="Picture 23"/>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175000" y="4826000"/>
            <a:ext cx="304800" cy="304800"/>
          </a:xfrm>
          <a:prstGeom prst="rect">
            <a:avLst/>
          </a:prstGeom>
        </p:spPr>
      </p:pic>
      <p:sp>
        <p:nvSpPr>
          <p:cNvPr id="24" name="AutoShape 24"/>
          <p:cNvSpPr/>
          <p:nvPr/>
        </p:nvSpPr>
        <p:spPr>
          <a:xfrm>
            <a:off x="3556000" y="4826000"/>
            <a:ext cx="152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505050"/>
                </a:solidFill>
                <a:latin typeface="Noto Sans SC"/>
                <a:ea typeface="Noto Sans SC"/>
                <a:cs typeface="Noto Sans SC"/>
                <a:sym typeface="Noto Sans SC"/>
              </a:rPr>
              <a:t>联网搜索信息</a:t>
            </a:r>
            <a:endParaRPr lang="en-US" sz="1100"/>
          </a:p>
        </p:txBody>
      </p:sp>
      <p:pic>
        <p:nvPicPr>
          <p:cNvPr id="25" name="Picture 25"/>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080000" y="4851400"/>
            <a:ext cx="254000" cy="254000"/>
          </a:xfrm>
          <a:prstGeom prst="rect">
            <a:avLst/>
          </a:prstGeom>
        </p:spPr>
      </p:pic>
      <p:pic>
        <p:nvPicPr>
          <p:cNvPr id="26" name="Picture 26"/>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461000" y="4826000"/>
            <a:ext cx="304800" cy="304800"/>
          </a:xfrm>
          <a:prstGeom prst="rect">
            <a:avLst/>
          </a:prstGeom>
        </p:spPr>
      </p:pic>
      <p:sp>
        <p:nvSpPr>
          <p:cNvPr id="27" name="AutoShape 27"/>
          <p:cNvSpPr/>
          <p:nvPr/>
        </p:nvSpPr>
        <p:spPr>
          <a:xfrm>
            <a:off x="5842000" y="4826000"/>
            <a:ext cx="152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505050"/>
                </a:solidFill>
                <a:latin typeface="Noto Sans SC"/>
                <a:ea typeface="Noto Sans SC"/>
                <a:cs typeface="Noto Sans SC"/>
                <a:sym typeface="Noto Sans SC"/>
              </a:rPr>
              <a:t>提取核心结果</a:t>
            </a:r>
            <a:endParaRPr lang="en-US" sz="1100"/>
          </a:p>
        </p:txBody>
      </p:sp>
      <p:pic>
        <p:nvPicPr>
          <p:cNvPr id="28" name="Picture 2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366000" y="4851400"/>
            <a:ext cx="254000" cy="254000"/>
          </a:xfrm>
          <a:prstGeom prst="rect">
            <a:avLst/>
          </a:prstGeom>
        </p:spPr>
      </p:pic>
      <p:pic>
        <p:nvPicPr>
          <p:cNvPr id="29" name="Picture 29"/>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747000" y="4826000"/>
            <a:ext cx="304800" cy="304800"/>
          </a:xfrm>
          <a:prstGeom prst="rect">
            <a:avLst/>
          </a:prstGeom>
        </p:spPr>
      </p:pic>
      <p:sp>
        <p:nvSpPr>
          <p:cNvPr id="30" name="AutoShape 30"/>
          <p:cNvSpPr/>
          <p:nvPr/>
        </p:nvSpPr>
        <p:spPr>
          <a:xfrm>
            <a:off x="8128000" y="4826000"/>
            <a:ext cx="228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505050"/>
                </a:solidFill>
                <a:latin typeface="Noto Sans SC"/>
                <a:ea typeface="Noto Sans SC"/>
                <a:cs typeface="Noto Sans SC"/>
                <a:sym typeface="Noto Sans SC"/>
              </a:rPr>
              <a:t>初中生语言总结输出</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704088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4A90E2"/>
                </a:solidFill>
                <a:latin typeface="Noto Sans SC"/>
                <a:ea typeface="Noto Sans SC"/>
                <a:cs typeface="Noto Sans SC"/>
                <a:sym typeface="Noto Sans SC"/>
              </a:rPr>
              <a:t>课程总结——你学会了什么？</a:t>
            </a:r>
            <a:endParaRPr lang="en-US" sz="1100"/>
          </a:p>
        </p:txBody>
      </p:sp>
      <p:sp>
        <p:nvSpPr>
          <p:cNvPr id="4" name="AutoShape 4"/>
          <p:cNvSpPr/>
          <p:nvPr/>
        </p:nvSpPr>
        <p:spPr>
          <a:xfrm>
            <a:off x="762000" y="1651000"/>
            <a:ext cx="3302000" cy="1397000"/>
          </a:xfrm>
          <a:prstGeom prst="roundRect">
            <a:avLst>
              <a:gd name="adj" fmla="val 9090"/>
            </a:avLst>
          </a:prstGeom>
          <a:solidFill>
            <a:srgbClr val="FFFFFF">
              <a:alpha val="90000"/>
            </a:srgbClr>
          </a:solidFill>
          <a:ln w="25400" cap="flat" cmpd="sng">
            <a:noFill/>
            <a:prstDash val="solid"/>
            <a:round/>
          </a:ln>
          <a:effectLst>
            <a:outerShdw blurRad="127000" dist="50800" dir="5400000" algn="tl" rotWithShape="0">
              <a:srgbClr val="4A90E2">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6000" y="1905000"/>
            <a:ext cx="406400" cy="406400"/>
          </a:xfrm>
          <a:prstGeom prst="rect">
            <a:avLst/>
          </a:prstGeom>
        </p:spPr>
      </p:pic>
      <p:sp>
        <p:nvSpPr>
          <p:cNvPr id="6" name="AutoShape 6"/>
          <p:cNvSpPr/>
          <p:nvPr/>
        </p:nvSpPr>
        <p:spPr>
          <a:xfrm>
            <a:off x="1524000" y="18796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90E2"/>
                </a:solidFill>
                <a:latin typeface="Noto Sans SC"/>
                <a:ea typeface="Noto Sans SC"/>
                <a:cs typeface="Noto Sans SC"/>
                <a:sym typeface="Noto Sans SC"/>
              </a:rPr>
              <a:t>智能体是什么</a:t>
            </a:r>
            <a:endParaRPr lang="en-US" sz="1100"/>
          </a:p>
        </p:txBody>
      </p:sp>
      <p:sp>
        <p:nvSpPr>
          <p:cNvPr id="7" name="AutoShape 7"/>
          <p:cNvSpPr/>
          <p:nvPr/>
        </p:nvSpPr>
        <p:spPr>
          <a:xfrm>
            <a:off x="1016000" y="23495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505050"/>
                </a:solidFill>
                <a:latin typeface="Noto Sans SC"/>
                <a:ea typeface="Noto Sans SC"/>
                <a:cs typeface="Noto Sans SC"/>
                <a:sym typeface="Noto Sans SC"/>
              </a:rPr>
              <a:t>具备感知与行动能力，会听、会想、会做的AI助手</a:t>
            </a:r>
            <a:endParaRPr lang="en-US" sz="1100"/>
          </a:p>
        </p:txBody>
      </p:sp>
      <p:sp>
        <p:nvSpPr>
          <p:cNvPr id="8" name="AutoShape 8"/>
          <p:cNvSpPr/>
          <p:nvPr/>
        </p:nvSpPr>
        <p:spPr>
          <a:xfrm>
            <a:off x="4445000" y="1651000"/>
            <a:ext cx="3302000" cy="1397000"/>
          </a:xfrm>
          <a:prstGeom prst="roundRect">
            <a:avLst>
              <a:gd name="adj" fmla="val 9090"/>
            </a:avLst>
          </a:prstGeom>
          <a:solidFill>
            <a:srgbClr val="FFFFFF">
              <a:alpha val="90000"/>
            </a:srgbClr>
          </a:solidFill>
          <a:ln w="25400" cap="flat" cmpd="sng">
            <a:noFill/>
            <a:prstDash val="solid"/>
            <a:round/>
          </a:ln>
          <a:effectLst>
            <a:outerShdw blurRad="127000" dist="50800" dir="5400000" algn="tl" rotWithShape="0">
              <a:srgbClr val="F5A623">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905000"/>
            <a:ext cx="406400" cy="406400"/>
          </a:xfrm>
          <a:prstGeom prst="rect">
            <a:avLst/>
          </a:prstGeom>
        </p:spPr>
      </p:pic>
      <p:sp>
        <p:nvSpPr>
          <p:cNvPr id="10" name="AutoShape 10"/>
          <p:cNvSpPr/>
          <p:nvPr/>
        </p:nvSpPr>
        <p:spPr>
          <a:xfrm>
            <a:off x="5207000" y="18796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5A623"/>
                </a:solidFill>
                <a:latin typeface="Noto Sans SC"/>
                <a:ea typeface="Noto Sans SC"/>
                <a:cs typeface="Noto Sans SC"/>
                <a:sym typeface="Noto Sans SC"/>
              </a:rPr>
              <a:t>扣子平台怎么用</a:t>
            </a:r>
            <a:endParaRPr lang="en-US" sz="1100"/>
          </a:p>
        </p:txBody>
      </p:sp>
      <p:sp>
        <p:nvSpPr>
          <p:cNvPr id="11" name="AutoShape 11"/>
          <p:cNvSpPr/>
          <p:nvPr/>
        </p:nvSpPr>
        <p:spPr>
          <a:xfrm>
            <a:off x="4699000" y="23495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505050"/>
                </a:solidFill>
                <a:latin typeface="Noto Sans SC"/>
                <a:ea typeface="Noto Sans SC"/>
                <a:cs typeface="Noto Sans SC"/>
                <a:sym typeface="Noto Sans SC"/>
              </a:rPr>
              <a:t>无需编写代码，通过简单配置即可快速搭建智能应用</a:t>
            </a:r>
            <a:endParaRPr lang="en-US" sz="1100"/>
          </a:p>
        </p:txBody>
      </p:sp>
      <p:sp>
        <p:nvSpPr>
          <p:cNvPr id="12" name="AutoShape 12"/>
          <p:cNvSpPr/>
          <p:nvPr/>
        </p:nvSpPr>
        <p:spPr>
          <a:xfrm>
            <a:off x="8128000" y="1651000"/>
            <a:ext cx="3302000" cy="1397000"/>
          </a:xfrm>
          <a:prstGeom prst="roundRect">
            <a:avLst>
              <a:gd name="adj" fmla="val 9090"/>
            </a:avLst>
          </a:prstGeom>
          <a:solidFill>
            <a:srgbClr val="FFFFFF">
              <a:alpha val="90000"/>
            </a:srgbClr>
          </a:solidFill>
          <a:ln w="25400" cap="flat" cmpd="sng">
            <a:noFill/>
            <a:prstDash val="solid"/>
            <a:round/>
          </a:ln>
          <a:effectLst>
            <a:outerShdw blurRad="127000" dist="50800" dir="5400000" algn="tl" rotWithShape="0">
              <a:srgbClr val="7ED321">
                <a:alpha val="1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905000"/>
            <a:ext cx="406400" cy="406400"/>
          </a:xfrm>
          <a:prstGeom prst="rect">
            <a:avLst/>
          </a:prstGeom>
        </p:spPr>
      </p:pic>
      <p:sp>
        <p:nvSpPr>
          <p:cNvPr id="14" name="AutoShape 14"/>
          <p:cNvSpPr/>
          <p:nvPr/>
        </p:nvSpPr>
        <p:spPr>
          <a:xfrm>
            <a:off x="8890000" y="18796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7ED321"/>
                </a:solidFill>
                <a:latin typeface="Noto Sans SC"/>
                <a:ea typeface="Noto Sans SC"/>
                <a:cs typeface="Noto Sans SC"/>
                <a:sym typeface="Noto Sans SC"/>
              </a:rPr>
              <a:t>创建四步法</a:t>
            </a:r>
            <a:endParaRPr lang="en-US" sz="1100"/>
          </a:p>
        </p:txBody>
      </p:sp>
      <p:sp>
        <p:nvSpPr>
          <p:cNvPr id="15" name="AutoShape 15"/>
          <p:cNvSpPr/>
          <p:nvPr/>
        </p:nvSpPr>
        <p:spPr>
          <a:xfrm>
            <a:off x="8382000" y="23495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505050"/>
                </a:solidFill>
                <a:latin typeface="Noto Sans SC"/>
                <a:ea typeface="Noto Sans SC"/>
                <a:cs typeface="Noto Sans SC"/>
                <a:sym typeface="Noto Sans SC"/>
              </a:rPr>
              <a:t>命名 → 人设 → 调试 → 发布，标准化流程</a:t>
            </a:r>
            <a:endParaRPr lang="en-US" sz="1100"/>
          </a:p>
        </p:txBody>
      </p:sp>
      <p:sp>
        <p:nvSpPr>
          <p:cNvPr id="16" name="AutoShape 16"/>
          <p:cNvSpPr/>
          <p:nvPr/>
        </p:nvSpPr>
        <p:spPr>
          <a:xfrm>
            <a:off x="762000" y="3429000"/>
            <a:ext cx="3302000" cy="1397000"/>
          </a:xfrm>
          <a:prstGeom prst="roundRect">
            <a:avLst>
              <a:gd name="adj" fmla="val 9090"/>
            </a:avLst>
          </a:prstGeom>
          <a:solidFill>
            <a:srgbClr val="FFFFFF">
              <a:alpha val="90000"/>
            </a:srgbClr>
          </a:solidFill>
          <a:ln w="25400" cap="flat" cmpd="sng">
            <a:noFill/>
            <a:prstDash val="solid"/>
            <a:round/>
          </a:ln>
          <a:effectLst>
            <a:outerShdw blurRad="127000" dist="50800" dir="5400000" algn="tl" rotWithShape="0">
              <a:srgbClr val="4A90E2">
                <a:alpha val="15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683000"/>
            <a:ext cx="406400" cy="406400"/>
          </a:xfrm>
          <a:prstGeom prst="rect">
            <a:avLst/>
          </a:prstGeom>
        </p:spPr>
      </p:pic>
      <p:sp>
        <p:nvSpPr>
          <p:cNvPr id="18" name="AutoShape 18"/>
          <p:cNvSpPr/>
          <p:nvPr/>
        </p:nvSpPr>
        <p:spPr>
          <a:xfrm>
            <a:off x="1524000" y="36576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90E2"/>
                </a:solidFill>
                <a:latin typeface="Noto Sans SC"/>
                <a:ea typeface="Noto Sans SC"/>
                <a:cs typeface="Noto Sans SC"/>
                <a:sym typeface="Noto Sans SC"/>
              </a:rPr>
              <a:t>提示词公式</a:t>
            </a:r>
            <a:endParaRPr lang="en-US" sz="1100"/>
          </a:p>
        </p:txBody>
      </p:sp>
      <p:sp>
        <p:nvSpPr>
          <p:cNvPr id="19" name="AutoShape 19"/>
          <p:cNvSpPr/>
          <p:nvPr/>
        </p:nvSpPr>
        <p:spPr>
          <a:xfrm>
            <a:off x="1016000" y="41275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505050"/>
                </a:solidFill>
                <a:latin typeface="Noto Sans SC"/>
                <a:ea typeface="Noto Sans SC"/>
                <a:cs typeface="Noto Sans SC"/>
                <a:sym typeface="Noto Sans SC"/>
              </a:rPr>
              <a:t>角色 + 技能 + 限制 + 目标 = 精准指令</a:t>
            </a:r>
            <a:endParaRPr lang="en-US" sz="1100"/>
          </a:p>
        </p:txBody>
      </p:sp>
      <p:sp>
        <p:nvSpPr>
          <p:cNvPr id="20" name="AutoShape 20"/>
          <p:cNvSpPr/>
          <p:nvPr/>
        </p:nvSpPr>
        <p:spPr>
          <a:xfrm>
            <a:off x="4445000" y="3429000"/>
            <a:ext cx="3302000" cy="1397000"/>
          </a:xfrm>
          <a:prstGeom prst="roundRect">
            <a:avLst>
              <a:gd name="adj" fmla="val 9090"/>
            </a:avLst>
          </a:prstGeom>
          <a:solidFill>
            <a:srgbClr val="FFFFFF">
              <a:alpha val="90000"/>
            </a:srgbClr>
          </a:solidFill>
          <a:ln w="25400" cap="flat" cmpd="sng">
            <a:noFill/>
            <a:prstDash val="solid"/>
            <a:round/>
          </a:ln>
          <a:effectLst>
            <a:outerShdw blurRad="127000" dist="50800" dir="5400000" algn="tl" rotWithShape="0">
              <a:srgbClr val="F5A623">
                <a:alpha val="15000"/>
              </a:srgbClr>
            </a:outerShdw>
          </a:effectLst>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99000" y="3683000"/>
            <a:ext cx="406400" cy="406400"/>
          </a:xfrm>
          <a:prstGeom prst="rect">
            <a:avLst/>
          </a:prstGeom>
        </p:spPr>
      </p:pic>
      <p:sp>
        <p:nvSpPr>
          <p:cNvPr id="22" name="AutoShape 22"/>
          <p:cNvSpPr/>
          <p:nvPr/>
        </p:nvSpPr>
        <p:spPr>
          <a:xfrm>
            <a:off x="5207000" y="36576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5A623"/>
                </a:solidFill>
                <a:latin typeface="Noto Sans SC"/>
                <a:ea typeface="Noto Sans SC"/>
                <a:cs typeface="Noto Sans SC"/>
                <a:sym typeface="Noto Sans SC"/>
              </a:rPr>
              <a:t>延伸能力</a:t>
            </a:r>
            <a:endParaRPr lang="en-US" sz="1100"/>
          </a:p>
        </p:txBody>
      </p:sp>
      <p:sp>
        <p:nvSpPr>
          <p:cNvPr id="23" name="AutoShape 23"/>
          <p:cNvSpPr/>
          <p:nvPr/>
        </p:nvSpPr>
        <p:spPr>
          <a:xfrm>
            <a:off x="4699000" y="41275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505050"/>
                </a:solidFill>
                <a:latin typeface="Noto Sans SC"/>
                <a:ea typeface="Noto Sans SC"/>
                <a:cs typeface="Noto Sans SC"/>
                <a:sym typeface="Noto Sans SC"/>
              </a:rPr>
              <a:t>知识库、插件扩展、工作流自动化</a:t>
            </a:r>
            <a:endParaRPr lang="en-US" sz="1100"/>
          </a:p>
        </p:txBody>
      </p:sp>
      <p:sp>
        <p:nvSpPr>
          <p:cNvPr id="24" name="AutoShape 24"/>
          <p:cNvSpPr/>
          <p:nvPr/>
        </p:nvSpPr>
        <p:spPr>
          <a:xfrm>
            <a:off x="8128000" y="3429000"/>
            <a:ext cx="3302000" cy="1397000"/>
          </a:xfrm>
          <a:prstGeom prst="roundRect">
            <a:avLst>
              <a:gd name="adj" fmla="val 9090"/>
            </a:avLst>
          </a:prstGeom>
          <a:solidFill>
            <a:srgbClr val="FFFFFF">
              <a:alpha val="90000"/>
            </a:srgbClr>
          </a:solidFill>
          <a:ln w="25400" cap="flat" cmpd="sng">
            <a:noFill/>
            <a:prstDash val="solid"/>
            <a:round/>
          </a:ln>
          <a:effectLst>
            <a:outerShdw blurRad="127000" dist="50800" dir="5400000" algn="tl" rotWithShape="0">
              <a:srgbClr val="7ED321">
                <a:alpha val="15000"/>
              </a:srgbClr>
            </a:outerShdw>
          </a:effectLst>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382000" y="3683000"/>
            <a:ext cx="406400" cy="406400"/>
          </a:xfrm>
          <a:prstGeom prst="rect">
            <a:avLst/>
          </a:prstGeom>
        </p:spPr>
      </p:pic>
      <p:sp>
        <p:nvSpPr>
          <p:cNvPr id="26" name="AutoShape 26"/>
          <p:cNvSpPr/>
          <p:nvPr/>
        </p:nvSpPr>
        <p:spPr>
          <a:xfrm>
            <a:off x="8890000" y="36576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7ED321"/>
                </a:solidFill>
                <a:latin typeface="Noto Sans SC"/>
                <a:ea typeface="Noto Sans SC"/>
                <a:cs typeface="Noto Sans SC"/>
                <a:sym typeface="Noto Sans SC"/>
              </a:rPr>
              <a:t>学以致用</a:t>
            </a:r>
            <a:endParaRPr lang="en-US" sz="1100"/>
          </a:p>
        </p:txBody>
      </p:sp>
      <p:sp>
        <p:nvSpPr>
          <p:cNvPr id="27" name="AutoShape 27"/>
          <p:cNvSpPr/>
          <p:nvPr/>
        </p:nvSpPr>
        <p:spPr>
          <a:xfrm>
            <a:off x="8382000" y="41275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505050"/>
                </a:solidFill>
                <a:latin typeface="Noto Sans SC"/>
                <a:ea typeface="Noto Sans SC"/>
                <a:cs typeface="Noto Sans SC"/>
                <a:sym typeface="Noto Sans SC"/>
              </a:rPr>
              <a:t>掌握AI工具，提升工作效率与创造力</a:t>
            </a:r>
            <a:endParaRPr lang="en-US" sz="1100"/>
          </a:p>
        </p:txBody>
      </p:sp>
      <p:sp>
        <p:nvSpPr>
          <p:cNvPr id="28" name="AutoShape 28"/>
          <p:cNvSpPr/>
          <p:nvPr/>
        </p:nvSpPr>
        <p:spPr>
          <a:xfrm>
            <a:off x="0" y="6756400"/>
            <a:ext cx="12192000" cy="101600"/>
          </a:xfrm>
          <a:prstGeom prst="roundRect">
            <a:avLst>
              <a:gd name="adj" fmla="val 0"/>
            </a:avLst>
          </a:prstGeom>
          <a:gradFill rotWithShape="1">
            <a:gsLst>
              <a:gs pos="0">
                <a:srgbClr val="4A90E2">
                  <a:alpha val="100000"/>
                </a:srgbClr>
              </a:gs>
              <a:gs pos="100000">
                <a:srgbClr val="7ED321">
                  <a:alpha val="100000"/>
                </a:srgbClr>
              </a:gs>
            </a:gsLst>
            <a:lin ang="0"/>
          </a:gra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2032000" cy="5842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4A90E2"/>
                </a:solidFill>
                <a:latin typeface="Noto Sans SC"/>
                <a:ea typeface="Noto Sans SC"/>
                <a:cs typeface="Noto Sans SC"/>
                <a:sym typeface="Noto Sans SC"/>
              </a:rPr>
              <a:t>课后挑战</a:t>
            </a:r>
            <a:endParaRPr lang="en-US" sz="1100"/>
          </a:p>
        </p:txBody>
      </p:sp>
      <p:sp>
        <p:nvSpPr>
          <p:cNvPr id="4" name="AutoShape 4"/>
          <p:cNvSpPr/>
          <p:nvPr/>
        </p:nvSpPr>
        <p:spPr>
          <a:xfrm>
            <a:off x="762000" y="1397000"/>
            <a:ext cx="6350000" cy="1143000"/>
          </a:xfrm>
          <a:prstGeom prst="roundRect">
            <a:avLst>
              <a:gd name="adj" fmla="val 11111"/>
            </a:avLst>
          </a:prstGeom>
          <a:solidFill>
            <a:srgbClr val="FFFFFF">
              <a:alpha val="90000"/>
            </a:srgbClr>
          </a:solidFill>
          <a:ln w="25400" cap="flat" cmpd="sng">
            <a:solidFill>
              <a:srgbClr val="7ED321">
                <a:alpha val="100000"/>
              </a:srgbClr>
            </a:solidFill>
            <a:prstDash val="solid"/>
            <a:round/>
          </a:ln>
          <a:effectLst>
            <a:outerShdw blurRad="101600" dist="50800" dir="5400000" algn="tl" rotWithShape="0">
              <a:srgbClr val="7ED321">
                <a:alpha val="20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765300"/>
            <a:ext cx="406400" cy="406400"/>
          </a:xfrm>
          <a:prstGeom prst="rect">
            <a:avLst/>
          </a:prstGeom>
        </p:spPr>
      </p:pic>
      <p:sp>
        <p:nvSpPr>
          <p:cNvPr id="6" name="AutoShape 6"/>
          <p:cNvSpPr/>
          <p:nvPr/>
        </p:nvSpPr>
        <p:spPr>
          <a:xfrm>
            <a:off x="1524000" y="1524000"/>
            <a:ext cx="5334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7ED321"/>
                </a:solidFill>
                <a:latin typeface="Noto Sans SC"/>
                <a:ea typeface="Noto Sans SC"/>
                <a:cs typeface="Noto Sans SC"/>
                <a:sym typeface="Noto Sans SC"/>
              </a:rPr>
              <a:t>初级：数学答疑小老师</a:t>
            </a:r>
            <a:endParaRPr lang="en-US" sz="1100"/>
          </a:p>
          <a:p>
            <a:pPr indent="0" algn="l">
              <a:lnSpc>
                <a:spcPct val="125000"/>
              </a:lnSpc>
            </a:pPr>
            <a:r>
              <a:rPr lang="en-US" sz="1600" b="0" i="0" u="none" strike="noStrike">
                <a:solidFill>
                  <a:srgbClr val="505050"/>
                </a:solidFill>
                <a:latin typeface="Noto Sans SC"/>
                <a:ea typeface="Noto Sans SC"/>
                <a:cs typeface="Noto Sans SC"/>
                <a:sym typeface="Noto Sans SC"/>
              </a:rPr>
              <a:t>修改“解忧小树洞”的提示词，让它具备解答数学问题的能力。</a:t>
            </a:r>
            <a:endParaRPr lang="en-US" sz="1600" b="0" i="0" u="none" strike="noStrike">
              <a:solidFill>
                <a:srgbClr val="505050"/>
              </a:solidFill>
              <a:latin typeface="Noto Sans SC"/>
              <a:ea typeface="Noto Sans SC"/>
              <a:cs typeface="Noto Sans SC"/>
              <a:sym typeface="Noto Sans SC"/>
            </a:endParaRPr>
          </a:p>
        </p:txBody>
      </p:sp>
      <p:sp>
        <p:nvSpPr>
          <p:cNvPr id="7" name="AutoShape 7"/>
          <p:cNvSpPr/>
          <p:nvPr/>
        </p:nvSpPr>
        <p:spPr>
          <a:xfrm>
            <a:off x="762000" y="2794000"/>
            <a:ext cx="6350000" cy="1143000"/>
          </a:xfrm>
          <a:prstGeom prst="roundRect">
            <a:avLst>
              <a:gd name="adj" fmla="val 11111"/>
            </a:avLst>
          </a:prstGeom>
          <a:solidFill>
            <a:srgbClr val="FFFFFF">
              <a:alpha val="90000"/>
            </a:srgbClr>
          </a:solidFill>
          <a:ln w="25400" cap="flat" cmpd="sng">
            <a:solidFill>
              <a:srgbClr val="F5A623">
                <a:alpha val="100000"/>
              </a:srgbClr>
            </a:solidFill>
            <a:prstDash val="solid"/>
            <a:round/>
          </a:ln>
          <a:effectLst>
            <a:outerShdw blurRad="101600" dist="50800" dir="5400000" algn="tl" rotWithShape="0">
              <a:srgbClr val="F5A623">
                <a:alpha val="20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162300"/>
            <a:ext cx="406400" cy="406400"/>
          </a:xfrm>
          <a:prstGeom prst="rect">
            <a:avLst/>
          </a:prstGeom>
        </p:spPr>
      </p:pic>
      <p:sp>
        <p:nvSpPr>
          <p:cNvPr id="9" name="AutoShape 9"/>
          <p:cNvSpPr/>
          <p:nvPr/>
        </p:nvSpPr>
        <p:spPr>
          <a:xfrm>
            <a:off x="1524000" y="2921000"/>
            <a:ext cx="5334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5A623"/>
                </a:solidFill>
                <a:latin typeface="Noto Sans SC"/>
                <a:ea typeface="Noto Sans SC"/>
                <a:cs typeface="Noto Sans SC"/>
                <a:sym typeface="Noto Sans SC"/>
              </a:rPr>
              <a:t>中级：专属知识库</a:t>
            </a:r>
            <a:endParaRPr lang="en-US" sz="1100"/>
          </a:p>
          <a:p>
            <a:pPr indent="0" algn="l">
              <a:lnSpc>
                <a:spcPct val="125000"/>
              </a:lnSpc>
            </a:pPr>
            <a:r>
              <a:rPr lang="en-US" sz="1600" b="0" i="0" u="none" strike="noStrike">
                <a:solidFill>
                  <a:srgbClr val="505050"/>
                </a:solidFill>
                <a:latin typeface="Noto Sans SC"/>
                <a:ea typeface="Noto Sans SC"/>
                <a:cs typeface="Noto Sans SC"/>
                <a:sym typeface="Noto Sans SC"/>
              </a:rPr>
              <a:t>上传一篇文言文翻译作为知识库，让智能体能基于此回答相关问题。</a:t>
            </a:r>
            <a:endParaRPr lang="en-US" sz="1600" b="0" i="0" u="none" strike="noStrike">
              <a:solidFill>
                <a:srgbClr val="505050"/>
              </a:solidFill>
              <a:latin typeface="Noto Sans SC"/>
              <a:ea typeface="Noto Sans SC"/>
              <a:cs typeface="Noto Sans SC"/>
              <a:sym typeface="Noto Sans SC"/>
            </a:endParaRPr>
          </a:p>
        </p:txBody>
      </p:sp>
      <p:sp>
        <p:nvSpPr>
          <p:cNvPr id="10" name="AutoShape 10"/>
          <p:cNvSpPr/>
          <p:nvPr/>
        </p:nvSpPr>
        <p:spPr>
          <a:xfrm>
            <a:off x="762000" y="4191000"/>
            <a:ext cx="6350000" cy="1143000"/>
          </a:xfrm>
          <a:prstGeom prst="roundRect">
            <a:avLst>
              <a:gd name="adj" fmla="val 11111"/>
            </a:avLst>
          </a:prstGeom>
          <a:solidFill>
            <a:srgbClr val="FFFFFF">
              <a:alpha val="90000"/>
            </a:srgbClr>
          </a:solidFill>
          <a:ln w="25400" cap="flat" cmpd="sng">
            <a:solidFill>
              <a:srgbClr val="4A90E2">
                <a:alpha val="100000"/>
              </a:srgbClr>
            </a:solidFill>
            <a:prstDash val="solid"/>
            <a:round/>
          </a:ln>
          <a:effectLst>
            <a:outerShdw blurRad="101600" dist="50800" dir="5400000" algn="tl" rotWithShape="0">
              <a:srgbClr val="4A90E2">
                <a:alpha val="20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559300"/>
            <a:ext cx="406400" cy="406400"/>
          </a:xfrm>
          <a:prstGeom prst="rect">
            <a:avLst/>
          </a:prstGeom>
        </p:spPr>
      </p:pic>
      <p:sp>
        <p:nvSpPr>
          <p:cNvPr id="12" name="AutoShape 12"/>
          <p:cNvSpPr/>
          <p:nvPr/>
        </p:nvSpPr>
        <p:spPr>
          <a:xfrm>
            <a:off x="1524000" y="4318000"/>
            <a:ext cx="5334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90E2"/>
                </a:solidFill>
                <a:latin typeface="Noto Sans SC"/>
                <a:ea typeface="Noto Sans SC"/>
                <a:cs typeface="Noto Sans SC"/>
                <a:sym typeface="Noto Sans SC"/>
              </a:rPr>
              <a:t>高级：联网搜索插件</a:t>
            </a:r>
            <a:endParaRPr lang="en-US" sz="1100"/>
          </a:p>
          <a:p>
            <a:pPr indent="0" algn="l">
              <a:lnSpc>
                <a:spcPct val="125000"/>
              </a:lnSpc>
            </a:pPr>
            <a:r>
              <a:rPr lang="en-US" sz="1600" b="0" i="0" u="none" strike="noStrike">
                <a:solidFill>
                  <a:srgbClr val="505050"/>
                </a:solidFill>
                <a:latin typeface="Noto Sans SC"/>
                <a:ea typeface="Noto Sans SC"/>
                <a:cs typeface="Noto Sans SC"/>
                <a:sym typeface="Noto Sans SC"/>
              </a:rPr>
              <a:t>添加“联网搜索”功能，让智能体能回答天气、新闻等实时信息。</a:t>
            </a:r>
            <a:endParaRPr lang="en-US" sz="1600" b="0" i="0" u="none" strike="noStrike">
              <a:solidFill>
                <a:srgbClr val="505050"/>
              </a:solidFill>
              <a:latin typeface="Noto Sans SC"/>
              <a:ea typeface="Noto Sans SC"/>
              <a:cs typeface="Noto Sans SC"/>
              <a:sym typeface="Noto Sans SC"/>
            </a:endParaRPr>
          </a:p>
        </p:txBody>
      </p:sp>
      <p:pic>
        <p:nvPicPr>
          <p:cNvPr id="13" name="Picture 13"/>
          <p:cNvPicPr>
            <a:picLocks noChangeAspect="1"/>
          </p:cNvPicPr>
          <p:nvPr/>
        </p:nvPicPr>
        <p:blipFill>
          <a:blip r:embed="rId8"/>
          <a:srcRect/>
          <a:stretch>
            <a:fillRect/>
          </a:stretch>
        </p:blipFill>
        <p:spPr>
          <a:xfrm>
            <a:off x="8382000" y="1905000"/>
            <a:ext cx="2540000" cy="2540000"/>
          </a:xfrm>
          <a:prstGeom prst="roundRect">
            <a:avLst>
              <a:gd name="adj" fmla="val 10000"/>
            </a:avLst>
          </a:prstGeom>
          <a:noFill/>
          <a:ln w="25400" cap="flat" cmpd="sng">
            <a:noFill/>
            <a:prstDash val="solid"/>
            <a:round/>
          </a:ln>
          <a:effectLst>
            <a:outerShdw blurRad="127000" dist="63500" dir="2700000" algn="tl" rotWithShape="0">
              <a:srgbClr val="000000">
                <a:alpha val="10000"/>
              </a:srgbClr>
            </a:outerShdw>
          </a:effectLst>
        </p:spPr>
      </p:pic>
      <p:sp>
        <p:nvSpPr>
          <p:cNvPr id="14" name="AutoShape 14"/>
          <p:cNvSpPr/>
          <p:nvPr/>
        </p:nvSpPr>
        <p:spPr>
          <a:xfrm>
            <a:off x="762000" y="55880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1" u="none" strike="noStrike">
                <a:solidFill>
                  <a:srgbClr val="646464"/>
                </a:solidFill>
                <a:latin typeface="Noto Sans SC"/>
                <a:ea typeface="Noto Sans SC"/>
                <a:cs typeface="Noto Sans SC"/>
                <a:sym typeface="Noto Sans SC"/>
              </a:rPr>
              <a:t>“不断挑战，解锁 AI 更多潜能！”</a:t>
            </a:r>
            <a:endParaRPr lang="en-US" sz="1100"/>
          </a:p>
        </p:txBody>
      </p:sp>
    </p:spTree>
  </p:cSld>
  <p:clrMapOvr>
    <a:masterClrMapping/>
  </p:clrMapOvr>
</p:sld>
</file>

<file path=ppt/tags/tag1.xml><?xml version="1.0" encoding="utf-8"?>
<p:tagLst xmlns:p="http://schemas.openxmlformats.org/presentationml/2006/main">
  <p:tag name="commondata" val="eyJoZGlkIjoiN2QzODcyNGFhZmEzNjVhZTY5ZjNiMTM1MDZiMzE4OWMifQ=="/>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3240</Words>
  <Application>WPS 演示</Application>
  <PresentationFormat/>
  <Paragraphs>385</Paragraphs>
  <Slides>22</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22</vt:i4>
      </vt:variant>
    </vt:vector>
  </HeadingPairs>
  <TitlesOfParts>
    <vt:vector size="36" baseType="lpstr">
      <vt:lpstr>Arial</vt:lpstr>
      <vt:lpstr>宋体</vt:lpstr>
      <vt:lpstr>Wingdings</vt:lpstr>
      <vt:lpstr>Arial</vt:lpstr>
      <vt:lpstr>Noto Sans SC</vt:lpstr>
      <vt:lpstr>Thonburi</vt:lpstr>
      <vt:lpstr>宋体</vt:lpstr>
      <vt:lpstr>汉仪书宋二KW</vt:lpstr>
      <vt:lpstr>微软雅黑</vt:lpstr>
      <vt:lpstr>汉仪旗黑</vt:lpstr>
      <vt:lpstr>Arial Unicode MS</vt:lpstr>
      <vt:lpstr>Apple Color Emoji</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周磊</cp:lastModifiedBy>
  <cp:revision>3</cp:revision>
  <dcterms:created xsi:type="dcterms:W3CDTF">2026-03-31T02:32:54Z</dcterms:created>
  <dcterms:modified xsi:type="dcterms:W3CDTF">2026-03-31T02:32:54Z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F024DB6673698582B02DCB69A06765E3_42</vt:lpwstr>
  </property>
  <property fmtid="{D5CDD505-2E9C-101B-9397-08002B2CF9AE}" pid="3" name="KSOProductBuildVer">
    <vt:lpwstr>2052-6.9.0.8865</vt:lpwstr>
  </property>
</Properties>
</file>