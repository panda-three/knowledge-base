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3.svg" ContentType="image/svg+xml"/>
  <Override PartName="/ppt/media/image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7" r:id="rId6"/>
    <p:sldMasterId id="2147483659" r:id="rId7"/>
    <p:sldMasterId id="2147483678" r:id="rId8"/>
    <p:sldMasterId id="2147483680" r:id="rId9"/>
    <p:sldMasterId id="2147483682" r:id="rId10"/>
    <p:sldMasterId id="2147483684" r:id="rId11"/>
    <p:sldMasterId id="2147483686" r:id="rId12"/>
    <p:sldMasterId id="2147483688" r:id="rId13"/>
    <p:sldMasterId id="2147483691" r:id="rId14"/>
    <p:sldMasterId id="2147483693" r:id="rId15"/>
    <p:sldMasterId id="2147483695" r:id="rId16"/>
    <p:sldMasterId id="2147483697" r:id="rId17"/>
    <p:sldMasterId id="2147483716" r:id="rId18"/>
    <p:sldMasterId id="2147483735" r:id="rId19"/>
    <p:sldMasterId id="2147483754" r:id="rId20"/>
    <p:sldMasterId id="2147483773" r:id="rId21"/>
    <p:sldMasterId id="2147483792" r:id="rId22"/>
    <p:sldMasterId id="2147483811" r:id="rId23"/>
    <p:sldMasterId id="2147483830" r:id="rId24"/>
    <p:sldMasterId id="2147483849" r:id="rId25"/>
    <p:sldMasterId id="2147483868" r:id="rId26"/>
    <p:sldMasterId id="2147483887" r:id="rId27"/>
    <p:sldMasterId id="2147483906" r:id="rId28"/>
    <p:sldMasterId id="2147483925" r:id="rId29"/>
    <p:sldMasterId id="2147483927" r:id="rId30"/>
    <p:sldMasterId id="2147483948" r:id="rId31"/>
    <p:sldMasterId id="2147483969" r:id="rId32"/>
    <p:sldMasterId id="2147483990" r:id="rId33"/>
    <p:sldMasterId id="2147484003" r:id="rId34"/>
    <p:sldMasterId id="2147484005" r:id="rId35"/>
    <p:sldMasterId id="2147484026" r:id="rId36"/>
    <p:sldMasterId id="2147484028" r:id="rId37"/>
    <p:sldMasterId id="2147484030" r:id="rId38"/>
    <p:sldMasterId id="2147484032" r:id="rId39"/>
    <p:sldMasterId id="2147484051" r:id="rId40"/>
    <p:sldMasterId id="2147484053" r:id="rId41"/>
    <p:sldMasterId id="2147484055" r:id="rId42"/>
    <p:sldMasterId id="2147484057" r:id="rId43"/>
    <p:sldMasterId id="2147484078" r:id="rId44"/>
  </p:sldMasterIdLst>
  <p:notesMasterIdLst>
    <p:notesMasterId r:id="rId46"/>
  </p:notesMasterIdLst>
  <p:handoutMasterIdLst>
    <p:handoutMasterId r:id="rId168"/>
  </p:handoutMasterIdLst>
  <p:sldIdLst>
    <p:sldId id="462" r:id="rId45"/>
    <p:sldId id="463" r:id="rId47"/>
    <p:sldId id="1538" r:id="rId48"/>
    <p:sldId id="1539" r:id="rId49"/>
    <p:sldId id="1540" r:id="rId50"/>
    <p:sldId id="1541" r:id="rId51"/>
    <p:sldId id="1542" r:id="rId52"/>
    <p:sldId id="1543" r:id="rId53"/>
    <p:sldId id="1740" r:id="rId54"/>
    <p:sldId id="1741" r:id="rId55"/>
    <p:sldId id="1742" r:id="rId56"/>
    <p:sldId id="1545" r:id="rId57"/>
    <p:sldId id="466" r:id="rId58"/>
    <p:sldId id="724" r:id="rId59"/>
    <p:sldId id="1642" r:id="rId60"/>
    <p:sldId id="860" r:id="rId61"/>
    <p:sldId id="849" r:id="rId62"/>
    <p:sldId id="852" r:id="rId63"/>
    <p:sldId id="854" r:id="rId64"/>
    <p:sldId id="856" r:id="rId65"/>
    <p:sldId id="2020" r:id="rId66"/>
    <p:sldId id="589" r:id="rId67"/>
    <p:sldId id="592" r:id="rId68"/>
    <p:sldId id="731" r:id="rId69"/>
    <p:sldId id="1643" r:id="rId70"/>
    <p:sldId id="1036" r:id="rId71"/>
    <p:sldId id="1103" r:id="rId72"/>
    <p:sldId id="1037" r:id="rId73"/>
    <p:sldId id="1102" r:id="rId74"/>
    <p:sldId id="1038" r:id="rId75"/>
    <p:sldId id="1039" r:id="rId76"/>
    <p:sldId id="1040" r:id="rId77"/>
    <p:sldId id="1743" r:id="rId78"/>
    <p:sldId id="560" r:id="rId79"/>
    <p:sldId id="1397" r:id="rId80"/>
    <p:sldId id="603" r:id="rId81"/>
    <p:sldId id="732" r:id="rId82"/>
    <p:sldId id="1644" r:id="rId83"/>
    <p:sldId id="604" r:id="rId84"/>
    <p:sldId id="862" r:id="rId85"/>
    <p:sldId id="863" r:id="rId86"/>
    <p:sldId id="606" r:id="rId87"/>
    <p:sldId id="1138" r:id="rId88"/>
    <p:sldId id="619" r:id="rId89"/>
    <p:sldId id="733" r:id="rId90"/>
    <p:sldId id="1646" r:id="rId91"/>
    <p:sldId id="1647" r:id="rId92"/>
    <p:sldId id="1645" r:id="rId93"/>
    <p:sldId id="974" r:id="rId94"/>
    <p:sldId id="975" r:id="rId95"/>
    <p:sldId id="976" r:id="rId96"/>
    <p:sldId id="624" r:id="rId97"/>
    <p:sldId id="1094" r:id="rId98"/>
    <p:sldId id="979" r:id="rId99"/>
    <p:sldId id="1093" r:id="rId100"/>
    <p:sldId id="625" r:id="rId101"/>
    <p:sldId id="1745" r:id="rId102"/>
    <p:sldId id="632" r:id="rId103"/>
    <p:sldId id="1400" r:id="rId104"/>
    <p:sldId id="1146" r:id="rId105"/>
    <p:sldId id="1143" r:id="rId106"/>
    <p:sldId id="810" r:id="rId107"/>
    <p:sldId id="657" r:id="rId108"/>
    <p:sldId id="1049" r:id="rId109"/>
    <p:sldId id="1050" r:id="rId110"/>
    <p:sldId id="1051" r:id="rId111"/>
    <p:sldId id="1401" r:id="rId112"/>
    <p:sldId id="1403" r:id="rId113"/>
    <p:sldId id="1404" r:id="rId114"/>
    <p:sldId id="1746" r:id="rId115"/>
    <p:sldId id="1747" r:id="rId116"/>
    <p:sldId id="671" r:id="rId117"/>
    <p:sldId id="1405" r:id="rId118"/>
    <p:sldId id="1266" r:id="rId119"/>
    <p:sldId id="1406" r:id="rId120"/>
    <p:sldId id="1408" r:id="rId121"/>
    <p:sldId id="1409" r:id="rId122"/>
    <p:sldId id="1410" r:id="rId123"/>
    <p:sldId id="1412" r:id="rId124"/>
    <p:sldId id="1413" r:id="rId125"/>
    <p:sldId id="1414" r:id="rId126"/>
    <p:sldId id="1949" r:id="rId127"/>
    <p:sldId id="1416" r:id="rId128"/>
    <p:sldId id="1417" r:id="rId129"/>
    <p:sldId id="1418" r:id="rId130"/>
    <p:sldId id="1419" r:id="rId131"/>
    <p:sldId id="1420" r:id="rId132"/>
    <p:sldId id="1748" r:id="rId133"/>
    <p:sldId id="1986" r:id="rId134"/>
    <p:sldId id="1851" r:id="rId135"/>
    <p:sldId id="1985" r:id="rId136"/>
    <p:sldId id="1984" r:id="rId137"/>
    <p:sldId id="1421" r:id="rId138"/>
    <p:sldId id="1422" r:id="rId139"/>
    <p:sldId id="1423" r:id="rId140"/>
    <p:sldId id="1424" r:id="rId141"/>
    <p:sldId id="1425" r:id="rId142"/>
    <p:sldId id="1749" r:id="rId143"/>
    <p:sldId id="2022" r:id="rId144"/>
    <p:sldId id="1426" r:id="rId145"/>
    <p:sldId id="1429" r:id="rId146"/>
    <p:sldId id="672" r:id="rId147"/>
    <p:sldId id="1488" r:id="rId148"/>
    <p:sldId id="1489" r:id="rId149"/>
    <p:sldId id="1503" r:id="rId150"/>
    <p:sldId id="2021" r:id="rId151"/>
    <p:sldId id="1490" r:id="rId152"/>
    <p:sldId id="1267" r:id="rId153"/>
    <p:sldId id="693" r:id="rId154"/>
    <p:sldId id="737" r:id="rId155"/>
    <p:sldId id="694" r:id="rId156"/>
    <p:sldId id="695" r:id="rId157"/>
    <p:sldId id="696" r:id="rId158"/>
    <p:sldId id="697" r:id="rId159"/>
    <p:sldId id="702" r:id="rId160"/>
    <p:sldId id="703" r:id="rId161"/>
    <p:sldId id="704" r:id="rId162"/>
    <p:sldId id="1987" r:id="rId163"/>
    <p:sldId id="2023" r:id="rId164"/>
    <p:sldId id="1122" r:id="rId165"/>
    <p:sldId id="1268" r:id="rId166"/>
    <p:sldId id="264" r:id="rId167"/>
  </p:sldIdLst>
  <p:sldSz cx="12192000" cy="6858000"/>
  <p:notesSz cx="6858000" cy="9144000"/>
  <p:custDataLst>
    <p:tags r:id="rId1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大上 高" initials="大上"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E1"/>
    <a:srgbClr val="FF0000"/>
    <a:srgbClr val="FFFFFF"/>
    <a:srgbClr val="6C7979"/>
    <a:srgbClr val="FFF4D2"/>
    <a:srgbClr val="B2A68F"/>
    <a:srgbClr val="3F3F3F"/>
    <a:srgbClr val="DE0014"/>
    <a:srgbClr val="919191"/>
    <a:srgbClr val="E7F0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06" autoAdjust="0"/>
    <p:restoredTop sz="94809" autoAdjust="0"/>
  </p:normalViewPr>
  <p:slideViewPr>
    <p:cSldViewPr snapToGrid="0">
      <p:cViewPr varScale="1">
        <p:scale>
          <a:sx n="75" d="100"/>
          <a:sy n="75" d="100"/>
        </p:scale>
        <p:origin x="1008" y="48"/>
      </p:cViewPr>
      <p:guideLst/>
    </p:cSldViewPr>
  </p:slideViewPr>
  <p:notesTextViewPr>
    <p:cViewPr>
      <p:scale>
        <a:sx n="125" d="100"/>
        <a:sy n="125" d="100"/>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54.xml"/><Relationship Id="rId98" Type="http://schemas.openxmlformats.org/officeDocument/2006/relationships/slide" Target="slides/slide53.xml"/><Relationship Id="rId97" Type="http://schemas.openxmlformats.org/officeDocument/2006/relationships/slide" Target="slides/slide52.xml"/><Relationship Id="rId96" Type="http://schemas.openxmlformats.org/officeDocument/2006/relationships/slide" Target="slides/slide51.xml"/><Relationship Id="rId95" Type="http://schemas.openxmlformats.org/officeDocument/2006/relationships/slide" Target="slides/slide50.xml"/><Relationship Id="rId94" Type="http://schemas.openxmlformats.org/officeDocument/2006/relationships/slide" Target="slides/slide49.xml"/><Relationship Id="rId93" Type="http://schemas.openxmlformats.org/officeDocument/2006/relationships/slide" Target="slides/slide48.xml"/><Relationship Id="rId92" Type="http://schemas.openxmlformats.org/officeDocument/2006/relationships/slide" Target="slides/slide47.xml"/><Relationship Id="rId91" Type="http://schemas.openxmlformats.org/officeDocument/2006/relationships/slide" Target="slides/slide46.xml"/><Relationship Id="rId90" Type="http://schemas.openxmlformats.org/officeDocument/2006/relationships/slide" Target="slides/slide45.xml"/><Relationship Id="rId9" Type="http://schemas.openxmlformats.org/officeDocument/2006/relationships/slideMaster" Target="slideMasters/slideMaster8.xml"/><Relationship Id="rId89" Type="http://schemas.openxmlformats.org/officeDocument/2006/relationships/slide" Target="slides/slide44.xml"/><Relationship Id="rId88" Type="http://schemas.openxmlformats.org/officeDocument/2006/relationships/slide" Target="slides/slide43.xml"/><Relationship Id="rId87" Type="http://schemas.openxmlformats.org/officeDocument/2006/relationships/slide" Target="slides/slide42.xml"/><Relationship Id="rId86" Type="http://schemas.openxmlformats.org/officeDocument/2006/relationships/slide" Target="slides/slide41.xml"/><Relationship Id="rId85" Type="http://schemas.openxmlformats.org/officeDocument/2006/relationships/slide" Target="slides/slide40.xml"/><Relationship Id="rId84" Type="http://schemas.openxmlformats.org/officeDocument/2006/relationships/slide" Target="slides/slide39.xml"/><Relationship Id="rId83" Type="http://schemas.openxmlformats.org/officeDocument/2006/relationships/slide" Target="slides/slide38.xml"/><Relationship Id="rId82" Type="http://schemas.openxmlformats.org/officeDocument/2006/relationships/slide" Target="slides/slide37.xml"/><Relationship Id="rId81" Type="http://schemas.openxmlformats.org/officeDocument/2006/relationships/slide" Target="slides/slide36.xml"/><Relationship Id="rId80" Type="http://schemas.openxmlformats.org/officeDocument/2006/relationships/slide" Target="slides/slide35.xml"/><Relationship Id="rId8" Type="http://schemas.openxmlformats.org/officeDocument/2006/relationships/slideMaster" Target="slideMasters/slideMaster7.xml"/><Relationship Id="rId79" Type="http://schemas.openxmlformats.org/officeDocument/2006/relationships/slide" Target="slides/slide34.xml"/><Relationship Id="rId78" Type="http://schemas.openxmlformats.org/officeDocument/2006/relationships/slide" Target="slides/slide33.xml"/><Relationship Id="rId77" Type="http://schemas.openxmlformats.org/officeDocument/2006/relationships/slide" Target="slides/slide32.xml"/><Relationship Id="rId76" Type="http://schemas.openxmlformats.org/officeDocument/2006/relationships/slide" Target="slides/slide31.xml"/><Relationship Id="rId75" Type="http://schemas.openxmlformats.org/officeDocument/2006/relationships/slide" Target="slides/slide30.xml"/><Relationship Id="rId74" Type="http://schemas.openxmlformats.org/officeDocument/2006/relationships/slide" Target="slides/slide29.xml"/><Relationship Id="rId73" Type="http://schemas.openxmlformats.org/officeDocument/2006/relationships/slide" Target="slides/slide28.xml"/><Relationship Id="rId72" Type="http://schemas.openxmlformats.org/officeDocument/2006/relationships/slide" Target="slides/slide27.xml"/><Relationship Id="rId71" Type="http://schemas.openxmlformats.org/officeDocument/2006/relationships/slide" Target="slides/slide26.xml"/><Relationship Id="rId70" Type="http://schemas.openxmlformats.org/officeDocument/2006/relationships/slide" Target="slides/slide25.xml"/><Relationship Id="rId7" Type="http://schemas.openxmlformats.org/officeDocument/2006/relationships/slideMaster" Target="slideMasters/slideMaster6.xml"/><Relationship Id="rId69" Type="http://schemas.openxmlformats.org/officeDocument/2006/relationships/slide" Target="slides/slide24.xml"/><Relationship Id="rId68" Type="http://schemas.openxmlformats.org/officeDocument/2006/relationships/slide" Target="slides/slide23.xml"/><Relationship Id="rId67" Type="http://schemas.openxmlformats.org/officeDocument/2006/relationships/slide" Target="slides/slide22.xml"/><Relationship Id="rId66" Type="http://schemas.openxmlformats.org/officeDocument/2006/relationships/slide" Target="slides/slide21.xml"/><Relationship Id="rId65" Type="http://schemas.openxmlformats.org/officeDocument/2006/relationships/slide" Target="slides/slide20.xml"/><Relationship Id="rId64" Type="http://schemas.openxmlformats.org/officeDocument/2006/relationships/slide" Target="slides/slide19.xml"/><Relationship Id="rId63" Type="http://schemas.openxmlformats.org/officeDocument/2006/relationships/slide" Target="slides/slide18.xml"/><Relationship Id="rId62" Type="http://schemas.openxmlformats.org/officeDocument/2006/relationships/slide" Target="slides/slide17.xml"/><Relationship Id="rId61" Type="http://schemas.openxmlformats.org/officeDocument/2006/relationships/slide" Target="slides/slide16.xml"/><Relationship Id="rId60" Type="http://schemas.openxmlformats.org/officeDocument/2006/relationships/slide" Target="slides/slide15.xml"/><Relationship Id="rId6" Type="http://schemas.openxmlformats.org/officeDocument/2006/relationships/slideMaster" Target="slideMasters/slideMaster5.xml"/><Relationship Id="rId59" Type="http://schemas.openxmlformats.org/officeDocument/2006/relationships/slide" Target="slides/slide14.xml"/><Relationship Id="rId58" Type="http://schemas.openxmlformats.org/officeDocument/2006/relationships/slide" Target="slides/slide13.xml"/><Relationship Id="rId57" Type="http://schemas.openxmlformats.org/officeDocument/2006/relationships/slide" Target="slides/slide12.xml"/><Relationship Id="rId56" Type="http://schemas.openxmlformats.org/officeDocument/2006/relationships/slide" Target="slides/slide11.xml"/><Relationship Id="rId55" Type="http://schemas.openxmlformats.org/officeDocument/2006/relationships/slide" Target="slides/slide10.xml"/><Relationship Id="rId54" Type="http://schemas.openxmlformats.org/officeDocument/2006/relationships/slide" Target="slides/slide9.xml"/><Relationship Id="rId53" Type="http://schemas.openxmlformats.org/officeDocument/2006/relationships/slide" Target="slides/slide8.xml"/><Relationship Id="rId52" Type="http://schemas.openxmlformats.org/officeDocument/2006/relationships/slide" Target="slides/slide7.xml"/><Relationship Id="rId51" Type="http://schemas.openxmlformats.org/officeDocument/2006/relationships/slide" Target="slides/slide6.xml"/><Relationship Id="rId50" Type="http://schemas.openxmlformats.org/officeDocument/2006/relationships/slide" Target="slides/slide5.xml"/><Relationship Id="rId5" Type="http://schemas.openxmlformats.org/officeDocument/2006/relationships/slideMaster" Target="slideMasters/slideMaster4.xml"/><Relationship Id="rId49" Type="http://schemas.openxmlformats.org/officeDocument/2006/relationships/slide" Target="slides/slide4.xml"/><Relationship Id="rId48" Type="http://schemas.openxmlformats.org/officeDocument/2006/relationships/slide" Target="slides/slide3.xml"/><Relationship Id="rId47" Type="http://schemas.openxmlformats.org/officeDocument/2006/relationships/slide" Target="slides/slide2.xml"/><Relationship Id="rId46" Type="http://schemas.openxmlformats.org/officeDocument/2006/relationships/notesMaster" Target="notesMasters/notesMaster1.xml"/><Relationship Id="rId45" Type="http://schemas.openxmlformats.org/officeDocument/2006/relationships/slide" Target="slides/slide1.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5" Type="http://schemas.openxmlformats.org/officeDocument/2006/relationships/tags" Target="tags/tag13.xml"/><Relationship Id="rId174" Type="http://schemas.openxmlformats.org/officeDocument/2006/relationships/customXml" Target="../customXml/item1.xml"/><Relationship Id="rId173" Type="http://schemas.openxmlformats.org/officeDocument/2006/relationships/customXmlProps" Target="../customXml/itemProps12.xml"/><Relationship Id="rId172" Type="http://schemas.openxmlformats.org/officeDocument/2006/relationships/commentAuthors" Target="commentAuthors.xml"/><Relationship Id="rId171" Type="http://schemas.openxmlformats.org/officeDocument/2006/relationships/tableStyles" Target="tableStyles.xml"/><Relationship Id="rId170" Type="http://schemas.openxmlformats.org/officeDocument/2006/relationships/viewProps" Target="viewProps.xml"/><Relationship Id="rId17" Type="http://schemas.openxmlformats.org/officeDocument/2006/relationships/slideMaster" Target="slideMasters/slideMaster16.xml"/><Relationship Id="rId169" Type="http://schemas.openxmlformats.org/officeDocument/2006/relationships/presProps" Target="presProps.xml"/><Relationship Id="rId168" Type="http://schemas.openxmlformats.org/officeDocument/2006/relationships/handoutMaster" Target="handoutMasters/handoutMaster1.xml"/><Relationship Id="rId167" Type="http://schemas.openxmlformats.org/officeDocument/2006/relationships/slide" Target="slides/slide122.xml"/><Relationship Id="rId166" Type="http://schemas.openxmlformats.org/officeDocument/2006/relationships/slide" Target="slides/slide121.xml"/><Relationship Id="rId165" Type="http://schemas.openxmlformats.org/officeDocument/2006/relationships/slide" Target="slides/slide120.xml"/><Relationship Id="rId164" Type="http://schemas.openxmlformats.org/officeDocument/2006/relationships/slide" Target="slides/slide119.xml"/><Relationship Id="rId163" Type="http://schemas.openxmlformats.org/officeDocument/2006/relationships/slide" Target="slides/slide118.xml"/><Relationship Id="rId162" Type="http://schemas.openxmlformats.org/officeDocument/2006/relationships/slide" Target="slides/slide117.xml"/><Relationship Id="rId161" Type="http://schemas.openxmlformats.org/officeDocument/2006/relationships/slide" Target="slides/slide116.xml"/><Relationship Id="rId160" Type="http://schemas.openxmlformats.org/officeDocument/2006/relationships/slide" Target="slides/slide115.xml"/><Relationship Id="rId16" Type="http://schemas.openxmlformats.org/officeDocument/2006/relationships/slideMaster" Target="slideMasters/slideMaster15.xml"/><Relationship Id="rId159" Type="http://schemas.openxmlformats.org/officeDocument/2006/relationships/slide" Target="slides/slide114.xml"/><Relationship Id="rId158" Type="http://schemas.openxmlformats.org/officeDocument/2006/relationships/slide" Target="slides/slide113.xml"/><Relationship Id="rId157" Type="http://schemas.openxmlformats.org/officeDocument/2006/relationships/slide" Target="slides/slide112.xml"/><Relationship Id="rId156" Type="http://schemas.openxmlformats.org/officeDocument/2006/relationships/slide" Target="slides/slide111.xml"/><Relationship Id="rId155" Type="http://schemas.openxmlformats.org/officeDocument/2006/relationships/slide" Target="slides/slide110.xml"/><Relationship Id="rId154" Type="http://schemas.openxmlformats.org/officeDocument/2006/relationships/slide" Target="slides/slide109.xml"/><Relationship Id="rId153" Type="http://schemas.openxmlformats.org/officeDocument/2006/relationships/slide" Target="slides/slide108.xml"/><Relationship Id="rId152" Type="http://schemas.openxmlformats.org/officeDocument/2006/relationships/slide" Target="slides/slide107.xml"/><Relationship Id="rId151" Type="http://schemas.openxmlformats.org/officeDocument/2006/relationships/slide" Target="slides/slide106.xml"/><Relationship Id="rId150" Type="http://schemas.openxmlformats.org/officeDocument/2006/relationships/slide" Target="slides/slide105.xml"/><Relationship Id="rId15" Type="http://schemas.openxmlformats.org/officeDocument/2006/relationships/slideMaster" Target="slideMasters/slideMaster14.xml"/><Relationship Id="rId149" Type="http://schemas.openxmlformats.org/officeDocument/2006/relationships/slide" Target="slides/slide104.xml"/><Relationship Id="rId148" Type="http://schemas.openxmlformats.org/officeDocument/2006/relationships/slide" Target="slides/slide103.xml"/><Relationship Id="rId147" Type="http://schemas.openxmlformats.org/officeDocument/2006/relationships/slide" Target="slides/slide102.xml"/><Relationship Id="rId146" Type="http://schemas.openxmlformats.org/officeDocument/2006/relationships/slide" Target="slides/slide101.xml"/><Relationship Id="rId145" Type="http://schemas.openxmlformats.org/officeDocument/2006/relationships/slide" Target="slides/slide100.xml"/><Relationship Id="rId144" Type="http://schemas.openxmlformats.org/officeDocument/2006/relationships/slide" Target="slides/slide99.xml"/><Relationship Id="rId143" Type="http://schemas.openxmlformats.org/officeDocument/2006/relationships/slide" Target="slides/slide98.xml"/><Relationship Id="rId142" Type="http://schemas.openxmlformats.org/officeDocument/2006/relationships/slide" Target="slides/slide97.xml"/><Relationship Id="rId141" Type="http://schemas.openxmlformats.org/officeDocument/2006/relationships/slide" Target="slides/slide96.xml"/><Relationship Id="rId140" Type="http://schemas.openxmlformats.org/officeDocument/2006/relationships/slide" Target="slides/slide95.xml"/><Relationship Id="rId14" Type="http://schemas.openxmlformats.org/officeDocument/2006/relationships/slideMaster" Target="slideMasters/slideMaster13.xml"/><Relationship Id="rId139" Type="http://schemas.openxmlformats.org/officeDocument/2006/relationships/slide" Target="slides/slide94.xml"/><Relationship Id="rId138" Type="http://schemas.openxmlformats.org/officeDocument/2006/relationships/slide" Target="slides/slide93.xml"/><Relationship Id="rId137" Type="http://schemas.openxmlformats.org/officeDocument/2006/relationships/slide" Target="slides/slide92.xml"/><Relationship Id="rId136" Type="http://schemas.openxmlformats.org/officeDocument/2006/relationships/slide" Target="slides/slide91.xml"/><Relationship Id="rId135" Type="http://schemas.openxmlformats.org/officeDocument/2006/relationships/slide" Target="slides/slide90.xml"/><Relationship Id="rId134" Type="http://schemas.openxmlformats.org/officeDocument/2006/relationships/slide" Target="slides/slide89.xml"/><Relationship Id="rId133" Type="http://schemas.openxmlformats.org/officeDocument/2006/relationships/slide" Target="slides/slide88.xml"/><Relationship Id="rId132" Type="http://schemas.openxmlformats.org/officeDocument/2006/relationships/slide" Target="slides/slide87.xml"/><Relationship Id="rId131" Type="http://schemas.openxmlformats.org/officeDocument/2006/relationships/slide" Target="slides/slide86.xml"/><Relationship Id="rId130" Type="http://schemas.openxmlformats.org/officeDocument/2006/relationships/slide" Target="slides/slide85.xml"/><Relationship Id="rId13" Type="http://schemas.openxmlformats.org/officeDocument/2006/relationships/slideMaster" Target="slideMasters/slideMaster12.xml"/><Relationship Id="rId129" Type="http://schemas.openxmlformats.org/officeDocument/2006/relationships/slide" Target="slides/slide84.xml"/><Relationship Id="rId128" Type="http://schemas.openxmlformats.org/officeDocument/2006/relationships/slide" Target="slides/slide83.xml"/><Relationship Id="rId127" Type="http://schemas.openxmlformats.org/officeDocument/2006/relationships/slide" Target="slides/slide82.xml"/><Relationship Id="rId126" Type="http://schemas.openxmlformats.org/officeDocument/2006/relationships/slide" Target="slides/slide81.xml"/><Relationship Id="rId125" Type="http://schemas.openxmlformats.org/officeDocument/2006/relationships/slide" Target="slides/slide80.xml"/><Relationship Id="rId124" Type="http://schemas.openxmlformats.org/officeDocument/2006/relationships/slide" Target="slides/slide79.xml"/><Relationship Id="rId123" Type="http://schemas.openxmlformats.org/officeDocument/2006/relationships/slide" Target="slides/slide78.xml"/><Relationship Id="rId122" Type="http://schemas.openxmlformats.org/officeDocument/2006/relationships/slide" Target="slides/slide77.xml"/><Relationship Id="rId121" Type="http://schemas.openxmlformats.org/officeDocument/2006/relationships/slide" Target="slides/slide76.xml"/><Relationship Id="rId120" Type="http://schemas.openxmlformats.org/officeDocument/2006/relationships/slide" Target="slides/slide75.xml"/><Relationship Id="rId12" Type="http://schemas.openxmlformats.org/officeDocument/2006/relationships/slideMaster" Target="slideMasters/slideMaster11.xml"/><Relationship Id="rId119" Type="http://schemas.openxmlformats.org/officeDocument/2006/relationships/slide" Target="slides/slide74.xml"/><Relationship Id="rId118" Type="http://schemas.openxmlformats.org/officeDocument/2006/relationships/slide" Target="slides/slide73.xml"/><Relationship Id="rId117" Type="http://schemas.openxmlformats.org/officeDocument/2006/relationships/slide" Target="slides/slide72.xml"/><Relationship Id="rId116" Type="http://schemas.openxmlformats.org/officeDocument/2006/relationships/slide" Target="slides/slide71.xml"/><Relationship Id="rId115" Type="http://schemas.openxmlformats.org/officeDocument/2006/relationships/slide" Target="slides/slide70.xml"/><Relationship Id="rId114" Type="http://schemas.openxmlformats.org/officeDocument/2006/relationships/slide" Target="slides/slide69.xml"/><Relationship Id="rId113" Type="http://schemas.openxmlformats.org/officeDocument/2006/relationships/slide" Target="slides/slide68.xml"/><Relationship Id="rId112" Type="http://schemas.openxmlformats.org/officeDocument/2006/relationships/slide" Target="slides/slide67.xml"/><Relationship Id="rId111" Type="http://schemas.openxmlformats.org/officeDocument/2006/relationships/slide" Target="slides/slide66.xml"/><Relationship Id="rId110" Type="http://schemas.openxmlformats.org/officeDocument/2006/relationships/slide" Target="slides/slide65.xml"/><Relationship Id="rId11" Type="http://schemas.openxmlformats.org/officeDocument/2006/relationships/slideMaster" Target="slideMasters/slideMaster10.xml"/><Relationship Id="rId109" Type="http://schemas.openxmlformats.org/officeDocument/2006/relationships/slide" Target="slides/slide64.xml"/><Relationship Id="rId108" Type="http://schemas.openxmlformats.org/officeDocument/2006/relationships/slide" Target="slides/slide63.xml"/><Relationship Id="rId107" Type="http://schemas.openxmlformats.org/officeDocument/2006/relationships/slide" Target="slides/slide62.xml"/><Relationship Id="rId106" Type="http://schemas.openxmlformats.org/officeDocument/2006/relationships/slide" Target="slides/slide61.xml"/><Relationship Id="rId105" Type="http://schemas.openxmlformats.org/officeDocument/2006/relationships/slide" Target="slides/slide60.xml"/><Relationship Id="rId104" Type="http://schemas.openxmlformats.org/officeDocument/2006/relationships/slide" Target="slides/slide59.xml"/><Relationship Id="rId103" Type="http://schemas.openxmlformats.org/officeDocument/2006/relationships/slide" Target="slides/slide58.xml"/><Relationship Id="rId102" Type="http://schemas.openxmlformats.org/officeDocument/2006/relationships/slide" Target="slides/slide57.xml"/><Relationship Id="rId101" Type="http://schemas.openxmlformats.org/officeDocument/2006/relationships/slide" Target="slides/slide56.xml"/><Relationship Id="rId100" Type="http://schemas.openxmlformats.org/officeDocument/2006/relationships/slide" Target="slides/slide55.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ea typeface="阿里巴巴普惠体" panose="00020600040101010101" pitchFamily="18" charset="-122"/>
              </a:rPr>
            </a:fld>
            <a:endParaRPr kumimoji="1" lang="zh-CN" altLang="en-US" dirty="0">
              <a:ea typeface="阿里巴巴普惠体"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ea typeface="阿里巴巴普惠体" panose="00020600040101010101" pitchFamily="18" charset="-122"/>
              </a:rPr>
            </a:fld>
            <a:endParaRPr kumimoji="1" lang="zh-CN" altLang="en-US" dirty="0">
              <a:ea typeface="阿里巴巴普惠体"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fld id="{AEE7ACF5-0677-4CC5-89ED-AE83D3F5859D}"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fld id="{3CC63F50-FC71-46DD-9BDC-11F985EF414C}"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457200" algn="l" defTabSz="914400" rtl="0" eaLnBrk="1" latinLnBrk="0" hangingPunct="1">
      <a:defRPr sz="12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914400" algn="l" defTabSz="914400" rtl="0" eaLnBrk="1" latinLnBrk="0" hangingPunct="1">
      <a:defRPr sz="12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vl4pPr marL="1371600" algn="l" defTabSz="914400" rtl="0" eaLnBrk="1" latinLnBrk="0" hangingPunct="1">
      <a:defRPr sz="12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4pPr>
    <a:lvl5pPr marL="1828800" algn="l" defTabSz="914400" rtl="0" eaLnBrk="1" latinLnBrk="0" hangingPunct="1">
      <a:defRPr sz="12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200" b="0" kern="1200" dirty="0">
              <a:solidFill>
                <a:schemeClr val="tx1"/>
              </a:solidFill>
              <a:latin typeface="阿里巴巴普惠体 R" panose="00020600040101010101" charset="-122"/>
              <a:cs typeface="+mn-cs"/>
            </a:endParaRPr>
          </a:p>
        </p:txBody>
      </p:sp>
      <p:sp>
        <p:nvSpPr>
          <p:cNvPr id="4" name="灯片编号占位符 3"/>
          <p:cNvSpPr>
            <a:spLocks noGrp="1"/>
          </p:cNvSpPr>
          <p:nvPr>
            <p:ph type="sldNum" sz="quarter" idx="10"/>
          </p:nvPr>
        </p:nvSpPr>
        <p:spPr/>
        <p:txBody>
          <a:bodyPr/>
          <a:lstStyle/>
          <a:p>
            <a:fld id="{09A06D26-EB15-4881-94CD-B86EEBA9904A}"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en-US" altLang="zh-CN" sz="2400" dirty="0">
              <a:solidFill>
                <a:srgbClr val="0067E1"/>
              </a:solidFill>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262626"/>
                </a:solidFill>
                <a:latin typeface="微软雅黑" panose="020B0503020204020204" pitchFamily="34" charset="-122"/>
                <a:ea typeface="阿里巴巴普惠体 R" panose="00020600040101010101" charset="-122"/>
                <a:sym typeface="+mn-ea"/>
              </a:rPr>
              <a:t>掌握活动背景的撰写方法</a:t>
            </a:r>
            <a:endParaRPr lang="zh-CN" altLang="en-US" dirty="0">
              <a:solidFill>
                <a:srgbClr val="262626"/>
              </a:solidFill>
              <a:latin typeface="微软雅黑" panose="020B0503020204020204" pitchFamily="34" charset="-122"/>
              <a:ea typeface="阿里巴巴普惠体 R" panose="00020600040101010101" charset="-122"/>
            </a:endParaRPr>
          </a:p>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en-US" altLang="zh-CN" dirty="0"/>
          </a:p>
        </p:txBody>
      </p:sp>
      <p:sp>
        <p:nvSpPr>
          <p:cNvPr id="4" name="灯片编号占位符 3"/>
          <p:cNvSpPr>
            <a:spLocks noGrp="1"/>
          </p:cNvSpPr>
          <p:nvPr>
            <p:ph type="sldNum" sz="quarter" idx="5"/>
          </p:nvPr>
        </p:nvSpPr>
        <p:spPr/>
        <p:txBody>
          <a:bodyPr/>
          <a:lstStyle/>
          <a:p>
            <a:fld id="{EABC6025-7630-4E64-B0D4-80570E65B718}" type="slidenum">
              <a:rPr lang="zh-CN" altLang="en-US" smtClean="0"/>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0" i="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投入</a:t>
            </a:r>
            <a:r>
              <a:rPr lang="en-US" altLang="zh-CN" dirty="0"/>
              <a:t>1000</a:t>
            </a:r>
            <a:endParaRPr lang="en-US" altLang="zh-CN" dirty="0"/>
          </a:p>
          <a:p>
            <a:r>
              <a:rPr lang="zh-CN" altLang="en-US" dirty="0"/>
              <a:t>营收</a:t>
            </a:r>
            <a:r>
              <a:rPr lang="en-US" altLang="zh-CN" dirty="0"/>
              <a:t>5000</a:t>
            </a:r>
            <a:endParaRPr lang="en-US" altLang="zh-CN" dirty="0"/>
          </a:p>
          <a:p>
            <a:r>
              <a:rPr lang="en-US" altLang="zh-CN" dirty="0"/>
              <a:t>ROI=5</a:t>
            </a:r>
            <a:endParaRPr lang="en-US" altLang="zh-CN" dirty="0"/>
          </a:p>
          <a:p>
            <a:endParaRPr lang="en-US" altLang="zh-CN" dirty="0"/>
          </a:p>
          <a:p>
            <a:r>
              <a:rPr lang="en-US" altLang="zh-CN" dirty="0"/>
              <a:t>5.1——5.5</a:t>
            </a:r>
            <a:endParaRPr lang="en-US" altLang="zh-CN" dirty="0"/>
          </a:p>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en-US" altLang="zh-CN" dirty="0"/>
          </a:p>
        </p:txBody>
      </p:sp>
      <p:sp>
        <p:nvSpPr>
          <p:cNvPr id="4" name="灯片编号占位符 3"/>
          <p:cNvSpPr>
            <a:spLocks noGrp="1"/>
          </p:cNvSpPr>
          <p:nvPr>
            <p:ph type="sldNum" sz="quarter" idx="5"/>
          </p:nvPr>
        </p:nvSpPr>
        <p:spPr/>
        <p:txBody>
          <a:bodyPr/>
          <a:lstStyle/>
          <a:p>
            <a:fld id="{EABC6025-7630-4E64-B0D4-80570E65B718}" type="slidenum">
              <a:rPr lang="zh-CN" altLang="en-US" smtClean="0"/>
            </a:fld>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87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A4D21665-2F01-463A-BC0F-A5119B5A4CA9}"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fld id="{395B2AAA-0A43-4C41-B126-AF10B23F2928}"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en-US" altLang="zh-CN" dirty="0"/>
          </a:p>
        </p:txBody>
      </p:sp>
      <p:sp>
        <p:nvSpPr>
          <p:cNvPr id="4" name="灯片编号占位符 3"/>
          <p:cNvSpPr>
            <a:spLocks noGrp="1"/>
          </p:cNvSpPr>
          <p:nvPr>
            <p:ph type="sldNum" sz="quarter" idx="5"/>
          </p:nvPr>
        </p:nvSpPr>
        <p:spPr/>
        <p:txBody>
          <a:bodyPr/>
          <a:lstStyle/>
          <a:p>
            <a:fld id="{EABC6025-7630-4E64-B0D4-80570E65B718}" type="slidenum">
              <a:rPr lang="zh-CN" altLang="en-US" smtClean="0"/>
            </a:fld>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i="0" dirty="0"/>
          </a:p>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9CBFC36-0E5A-4B40-A248-F88E4D0F9B81}" type="slidenum">
              <a:rPr lang="zh-CN" altLang="en-US" smtClean="0"/>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r>
              <a:rPr lang="zh-CN" altLang="en-US" b="0" dirty="0"/>
              <a:t>样本：汽车行业，豆奶行业，</a:t>
            </a:r>
            <a:endParaRPr lang="en-US" altLang="zh-CN" b="0" dirty="0"/>
          </a:p>
          <a:p>
            <a:endParaRPr lang="en-US" altLang="zh-CN" b="0" dirty="0"/>
          </a:p>
          <a:p>
            <a:r>
              <a:rPr lang="zh-CN" altLang="en-US" b="0" dirty="0"/>
              <a:t>第一步：他们是谁</a:t>
            </a:r>
            <a:endParaRPr lang="en-US" altLang="zh-CN" b="0" dirty="0"/>
          </a:p>
          <a:p>
            <a:endParaRPr lang="en-US" altLang="zh-CN" b="0" dirty="0"/>
          </a:p>
          <a:p>
            <a:r>
              <a:rPr lang="zh-CN" altLang="en-US" b="0" dirty="0"/>
              <a:t>第二步：他们在哪？</a:t>
            </a:r>
            <a:endParaRPr lang="en-US" altLang="zh-CN" b="0" dirty="0"/>
          </a:p>
          <a:p>
            <a:r>
              <a:rPr lang="zh-CN" altLang="en-US" b="0" dirty="0"/>
              <a:t>线上：汽车类</a:t>
            </a:r>
            <a:r>
              <a:rPr lang="en-US" altLang="zh-CN" b="0" dirty="0"/>
              <a:t>APP</a:t>
            </a:r>
            <a:r>
              <a:rPr lang="zh-CN" altLang="en-US" b="0" dirty="0"/>
              <a:t>，车友类微信群，汽车类的社区，汽车垂直资讯网站（汽车之家、懂车帝、门户网站的汽车频道），短视频平台汽车类大</a:t>
            </a:r>
            <a:r>
              <a:rPr lang="en-US" altLang="zh-CN" b="0" dirty="0"/>
              <a:t>V</a:t>
            </a:r>
            <a:r>
              <a:rPr lang="zh-CN" altLang="en-US" b="0" dirty="0"/>
              <a:t>，微信公众号汽车类大</a:t>
            </a:r>
            <a:r>
              <a:rPr lang="en-US" altLang="zh-CN" b="0" dirty="0"/>
              <a:t>V</a:t>
            </a:r>
            <a:r>
              <a:rPr lang="zh-CN" altLang="en-US" b="0" dirty="0"/>
              <a:t>，微博汽车类大</a:t>
            </a:r>
            <a:r>
              <a:rPr lang="en-US" altLang="zh-CN" b="0" dirty="0"/>
              <a:t>V</a:t>
            </a:r>
            <a:r>
              <a:rPr lang="zh-CN" altLang="en-US" b="0" dirty="0"/>
              <a:t>，</a:t>
            </a:r>
            <a:r>
              <a:rPr lang="en-US" altLang="zh-CN" b="0" dirty="0"/>
              <a:t>…..</a:t>
            </a:r>
            <a:endParaRPr lang="en-US" altLang="zh-CN" b="0" dirty="0"/>
          </a:p>
          <a:p>
            <a:r>
              <a:rPr lang="zh-CN" altLang="en-US" b="0" dirty="0"/>
              <a:t>线下：车友会，车展，驾校，大型商场的汽车展位，汽车城，二手车汽车交易市场？，汽车租赁公司？，公交车站（广告位），户外广告，电梯广告，</a:t>
            </a:r>
            <a:r>
              <a:rPr lang="en-US" altLang="zh-CN" b="0" dirty="0"/>
              <a:t>…….</a:t>
            </a:r>
            <a:endParaRPr lang="en-US" altLang="zh-CN" b="0" dirty="0"/>
          </a:p>
          <a:p>
            <a:endParaRPr lang="en-US" altLang="zh-CN" b="0" dirty="0"/>
          </a:p>
          <a:p>
            <a:r>
              <a:rPr lang="zh-CN" altLang="en-US" b="0" dirty="0"/>
              <a:t>第三步：吸引他们</a:t>
            </a:r>
            <a:endParaRPr lang="en-US" altLang="zh-CN" b="0" dirty="0"/>
          </a:p>
          <a:p>
            <a:r>
              <a:rPr lang="zh-CN" altLang="en-US" b="0" dirty="0"/>
              <a:t>线上：车友类微信群推送干货内容，汽车类的社区联合搞活动，微信公众号汽车类大</a:t>
            </a:r>
            <a:r>
              <a:rPr lang="en-US" altLang="zh-CN" b="0" dirty="0"/>
              <a:t>V</a:t>
            </a:r>
            <a:r>
              <a:rPr lang="zh-CN" altLang="en-US" b="0" dirty="0"/>
              <a:t>发软文或者联合搞活动，公众号</a:t>
            </a:r>
            <a:r>
              <a:rPr lang="en-US" altLang="zh-CN" b="0" dirty="0"/>
              <a:t>/</a:t>
            </a:r>
            <a:r>
              <a:rPr lang="zh-CN" altLang="en-US" b="0" dirty="0"/>
              <a:t>朋友圈的广告，</a:t>
            </a:r>
            <a:r>
              <a:rPr lang="en-US" altLang="zh-CN" b="0" dirty="0"/>
              <a:t>…….</a:t>
            </a:r>
            <a:endParaRPr lang="en-US" altLang="zh-CN" b="0" dirty="0"/>
          </a:p>
          <a:p>
            <a:r>
              <a:rPr lang="zh-CN" altLang="en-US" b="0" dirty="0"/>
              <a:t>线下：驾校合作（硬广），公交车站（广告位）</a:t>
            </a:r>
            <a:r>
              <a:rPr lang="en-US" altLang="zh-CN" b="0" dirty="0"/>
              <a:t>/</a:t>
            </a:r>
            <a:r>
              <a:rPr lang="zh-CN" altLang="en-US" b="0" dirty="0"/>
              <a:t>户外广告硬广，车友会联合搞活动，汽车城搞促销活动</a:t>
            </a:r>
            <a:r>
              <a:rPr lang="en-US" altLang="zh-CN" b="0" dirty="0"/>
              <a:t>/</a:t>
            </a:r>
            <a:r>
              <a:rPr lang="zh-CN" altLang="en-US" b="0" dirty="0"/>
              <a:t>硬广，</a:t>
            </a:r>
            <a:r>
              <a:rPr lang="en-US" altLang="zh-CN" b="0" dirty="0"/>
              <a:t>………</a:t>
            </a:r>
            <a:endParaRPr lang="en-US" altLang="zh-CN" b="0" dirty="0"/>
          </a:p>
        </p:txBody>
      </p:sp>
      <p:sp>
        <p:nvSpPr>
          <p:cNvPr id="4" name="灯片编号占位符 3"/>
          <p:cNvSpPr>
            <a:spLocks noGrp="1"/>
          </p:cNvSpPr>
          <p:nvPr>
            <p:ph type="sldNum" sz="quarter" idx="10"/>
          </p:nvPr>
        </p:nvSpPr>
        <p:spPr/>
        <p:txBody>
          <a:bodyPr/>
          <a:lstStyle/>
          <a:p>
            <a:fld id="{09A06D26-EB15-4881-94CD-B86EEBA9904A}" type="slidenum">
              <a:rPr lang="zh-CN" altLang="en-US" smtClean="0"/>
            </a:fld>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r>
              <a:rPr lang="zh-CN" altLang="en-US" b="0" dirty="0"/>
              <a:t>样本：汽车行业</a:t>
            </a:r>
            <a:r>
              <a:rPr lang="en-US" altLang="zh-CN" b="0" dirty="0"/>
              <a:t>  </a:t>
            </a:r>
            <a:endParaRPr lang="en-US" altLang="zh-CN" b="0" dirty="0"/>
          </a:p>
          <a:p>
            <a:endParaRPr lang="en-US" altLang="zh-CN" b="0" dirty="0"/>
          </a:p>
          <a:p>
            <a:r>
              <a:rPr lang="zh-CN" altLang="en-US" b="0" dirty="0"/>
              <a:t>第一步：他们是谁</a:t>
            </a:r>
            <a:endParaRPr lang="en-US" altLang="zh-CN" b="0" dirty="0"/>
          </a:p>
          <a:p>
            <a:endParaRPr lang="en-US" altLang="zh-CN" b="0" dirty="0"/>
          </a:p>
          <a:p>
            <a:r>
              <a:rPr lang="zh-CN" altLang="en-US" b="0" dirty="0"/>
              <a:t>第二步：他们在哪？</a:t>
            </a:r>
            <a:endParaRPr lang="en-US" altLang="zh-CN" b="0" dirty="0"/>
          </a:p>
          <a:p>
            <a:r>
              <a:rPr lang="zh-CN" altLang="en-US" b="0" dirty="0"/>
              <a:t>线上：汽车类</a:t>
            </a:r>
            <a:r>
              <a:rPr lang="en-US" altLang="zh-CN" b="0" dirty="0"/>
              <a:t>APP</a:t>
            </a:r>
            <a:r>
              <a:rPr lang="zh-CN" altLang="en-US" b="0" dirty="0"/>
              <a:t>，车友类微信群，汽车类的社区，汽车垂直资讯网站（汽车之家、懂车帝、门户网站的汽车频道），短视频平台汽车类大</a:t>
            </a:r>
            <a:r>
              <a:rPr lang="en-US" altLang="zh-CN" b="0" dirty="0"/>
              <a:t>V</a:t>
            </a:r>
            <a:r>
              <a:rPr lang="zh-CN" altLang="en-US" b="0" dirty="0"/>
              <a:t>，微信公众号汽车类大</a:t>
            </a:r>
            <a:r>
              <a:rPr lang="en-US" altLang="zh-CN" b="0" dirty="0"/>
              <a:t>V</a:t>
            </a:r>
            <a:r>
              <a:rPr lang="zh-CN" altLang="en-US" b="0" dirty="0"/>
              <a:t>，微博汽车类大</a:t>
            </a:r>
            <a:r>
              <a:rPr lang="en-US" altLang="zh-CN" b="0" dirty="0"/>
              <a:t>V</a:t>
            </a:r>
            <a:r>
              <a:rPr lang="zh-CN" altLang="en-US" b="0" dirty="0"/>
              <a:t>，</a:t>
            </a:r>
            <a:r>
              <a:rPr lang="en-US" altLang="zh-CN" b="0" dirty="0"/>
              <a:t>…..</a:t>
            </a:r>
            <a:endParaRPr lang="en-US" altLang="zh-CN" b="0" dirty="0"/>
          </a:p>
          <a:p>
            <a:r>
              <a:rPr lang="zh-CN" altLang="en-US" b="0" dirty="0"/>
              <a:t>线下：车友会，车展，驾校，大型商场的汽车展位，汽车城，二手车汽车交易市场？，汽车租赁公司？，公交车站（广告位），户外广告，电梯广告，</a:t>
            </a:r>
            <a:r>
              <a:rPr lang="en-US" altLang="zh-CN" b="0" dirty="0"/>
              <a:t>…….</a:t>
            </a:r>
            <a:endParaRPr lang="en-US" altLang="zh-CN" b="0" dirty="0"/>
          </a:p>
          <a:p>
            <a:endParaRPr lang="en-US" altLang="zh-CN" b="0" dirty="0"/>
          </a:p>
          <a:p>
            <a:r>
              <a:rPr lang="zh-CN" altLang="en-US" b="0" dirty="0"/>
              <a:t>第三步：吸引他们</a:t>
            </a:r>
            <a:endParaRPr lang="en-US" altLang="zh-CN" b="0" dirty="0"/>
          </a:p>
          <a:p>
            <a:r>
              <a:rPr lang="zh-CN" altLang="en-US" b="0" dirty="0"/>
              <a:t>线上：车友类微信群推送干货内容，汽车类的社区联合搞活动，微信公众号汽车类大</a:t>
            </a:r>
            <a:r>
              <a:rPr lang="en-US" altLang="zh-CN" b="0" dirty="0"/>
              <a:t>V</a:t>
            </a:r>
            <a:r>
              <a:rPr lang="zh-CN" altLang="en-US" b="0" dirty="0"/>
              <a:t>发软文或者联合搞活动，公众号</a:t>
            </a:r>
            <a:r>
              <a:rPr lang="en-US" altLang="zh-CN" b="0" dirty="0"/>
              <a:t>/</a:t>
            </a:r>
            <a:r>
              <a:rPr lang="zh-CN" altLang="en-US" b="0" dirty="0"/>
              <a:t>朋友圈的广告，</a:t>
            </a:r>
            <a:r>
              <a:rPr lang="en-US" altLang="zh-CN" b="0" dirty="0"/>
              <a:t>…….</a:t>
            </a:r>
            <a:endParaRPr lang="en-US" altLang="zh-CN" b="0" dirty="0"/>
          </a:p>
          <a:p>
            <a:r>
              <a:rPr lang="zh-CN" altLang="en-US" b="0" dirty="0"/>
              <a:t>线下：驾校合作（硬广），公交车站（广告位）</a:t>
            </a:r>
            <a:r>
              <a:rPr lang="en-US" altLang="zh-CN" b="0" dirty="0"/>
              <a:t>/</a:t>
            </a:r>
            <a:r>
              <a:rPr lang="zh-CN" altLang="en-US" b="0" dirty="0"/>
              <a:t>户外广告硬广，车友会联合搞活动，汽车城搞促销活动</a:t>
            </a:r>
            <a:r>
              <a:rPr lang="en-US" altLang="zh-CN" b="0" dirty="0"/>
              <a:t>/</a:t>
            </a:r>
            <a:r>
              <a:rPr lang="zh-CN" altLang="en-US" b="0" dirty="0"/>
              <a:t>硬广，</a:t>
            </a:r>
            <a:r>
              <a:rPr lang="en-US" altLang="zh-CN" b="0" dirty="0"/>
              <a:t>………</a:t>
            </a:r>
            <a:endParaRPr lang="en-US" altLang="zh-CN" b="0" dirty="0"/>
          </a:p>
        </p:txBody>
      </p:sp>
      <p:sp>
        <p:nvSpPr>
          <p:cNvPr id="4" name="灯片编号占位符 3"/>
          <p:cNvSpPr>
            <a:spLocks noGrp="1"/>
          </p:cNvSpPr>
          <p:nvPr>
            <p:ph type="sldNum" sz="quarter" idx="10"/>
          </p:nvPr>
        </p:nvSpPr>
        <p:spPr/>
        <p:txBody>
          <a:bodyPr/>
          <a:lstStyle/>
          <a:p>
            <a:fld id="{09A06D26-EB15-4881-94CD-B86EEBA9904A}" type="slidenum">
              <a:rPr lang="zh-CN" altLang="en-US" smtClean="0"/>
            </a:fld>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en-US" altLang="zh-CN" dirty="0"/>
          </a:p>
        </p:txBody>
      </p:sp>
      <p:sp>
        <p:nvSpPr>
          <p:cNvPr id="4" name="灯片编号占位符 3"/>
          <p:cNvSpPr>
            <a:spLocks noGrp="1"/>
          </p:cNvSpPr>
          <p:nvPr>
            <p:ph type="sldNum" sz="quarter" idx="5"/>
          </p:nvPr>
        </p:nvSpPr>
        <p:spPr/>
        <p:txBody>
          <a:bodyPr/>
          <a:lstStyle/>
          <a:p>
            <a:fld id="{EABC6025-7630-4E64-B0D4-80570E65B718}" type="slidenum">
              <a:rPr lang="zh-CN" altLang="en-US" smtClean="0"/>
            </a:fld>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en-US" altLang="zh-CN" dirty="0"/>
          </a:p>
        </p:txBody>
      </p:sp>
      <p:sp>
        <p:nvSpPr>
          <p:cNvPr id="4" name="灯片编号占位符 3"/>
          <p:cNvSpPr>
            <a:spLocks noGrp="1"/>
          </p:cNvSpPr>
          <p:nvPr>
            <p:ph type="sldNum" sz="quarter" idx="5"/>
          </p:nvPr>
        </p:nvSpPr>
        <p:spPr/>
        <p:txBody>
          <a:bodyPr/>
          <a:lstStyle/>
          <a:p>
            <a:fld id="{EABC6025-7630-4E64-B0D4-80570E65B718}"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1.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2.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3.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4.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5.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6.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7.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9.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9.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0.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0.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1.xml"/></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1.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1.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4.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4.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4.xml"/></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4.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3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2.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2.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2.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9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3.xml"/></Relationships>
</file>

<file path=ppt/slideLayouts/_rels/slideLayout39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3.xml"/></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9" y="1"/>
            <a:ext cx="6298881" cy="5326603"/>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mj-ea"/>
              <a:buAutoNum type="circleNumDbPlain"/>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b="0" i="0">
                <a:latin typeface="阿里巴巴普惠体 R" panose="00020600040101010101" charset="-122"/>
                <a:ea typeface="阿里巴巴普惠体 R" panose="00020600040101010101" charset="-122"/>
                <a:cs typeface="阿里巴巴普惠体 R" panose="00020600040101010101" charset="-122"/>
              </a:defRPr>
            </a:lvl2pPr>
            <a:lvl3pPr>
              <a:defRPr b="0" i="0">
                <a:latin typeface="阿里巴巴普惠体 R" panose="00020600040101010101" charset="-122"/>
                <a:ea typeface="阿里巴巴普惠体 R" panose="00020600040101010101" charset="-122"/>
                <a:cs typeface="阿里巴巴普惠体 R" panose="00020600040101010101" charset="-122"/>
              </a:defRPr>
            </a:lvl3pPr>
            <a:lvl4pPr>
              <a:defRPr b="0" i="0">
                <a:latin typeface="阿里巴巴普惠体 R" panose="00020600040101010101" charset="-122"/>
                <a:ea typeface="阿里巴巴普惠体 R" panose="00020600040101010101" charset="-122"/>
                <a:cs typeface="阿里巴巴普惠体 R" panose="00020600040101010101" charset="-122"/>
              </a:defRPr>
            </a:lvl4pPr>
            <a:lvl5pPr>
              <a:defRPr b="0" i="0">
                <a:latin typeface="阿里巴巴普惠体 R" panose="00020600040101010101" charset="-122"/>
                <a:ea typeface="阿里巴巴普惠体 R" panose="00020600040101010101" charset="-122"/>
                <a:cs typeface="阿里巴巴普惠体 R" panose="00020600040101010101"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9" y="1"/>
            <a:ext cx="6298881" cy="5326603"/>
          </a:xfrm>
          <a:prstGeom prst="rect">
            <a:avLst/>
          </a:prstGeom>
        </p:spPr>
        <p:txBody>
          <a:bodyPr anchor="ctr"/>
          <a:lstStyle>
            <a:lvl1pPr>
              <a:lnSpc>
                <a:spcPct val="200000"/>
              </a:lnSpc>
              <a:buFont typeface="+mj-lt"/>
              <a:buAutoNum type="arabicPeriod"/>
              <a:defRPr sz="180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2"/>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1"/>
            <a:ext cx="9845675" cy="1934987"/>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1" y="945094"/>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6" y="3612019"/>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9"/>
            <a:ext cx="1944551"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7"/>
            <a:ext cx="5760539"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1" y="2987771"/>
            <a:ext cx="1567543"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3" y="2254205"/>
            <a:ext cx="566611"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7" y="4231537"/>
            <a:ext cx="298935" cy="25770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7"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2" y="1820151"/>
            <a:ext cx="854975"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4"/>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5"/>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9"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3" y="4247863"/>
            <a:ext cx="494751" cy="494751"/>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2" y="2161714"/>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8" y="2466441"/>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7" y="3583987"/>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1" y="4003338"/>
            <a:ext cx="695927" cy="695927"/>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9" cy="1913639"/>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1" y="2080300"/>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6" y="3948334"/>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7" y="2597311"/>
            <a:ext cx="302531" cy="302531"/>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5" y="3264493"/>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1" cy="2017951"/>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4" y="4089234"/>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9" y="2051118"/>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1" cy="562211"/>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30"/>
            <a:ext cx="8771021" cy="517191"/>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2"/>
            <a:ext cx="10698800"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2" y="1646134"/>
            <a:ext cx="10749599"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2" y="940082"/>
            <a:ext cx="10749599"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矩形 7"/>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15413" y="-123395"/>
            <a:ext cx="10515600" cy="1248139"/>
          </a:xfrm>
          <a:prstGeom prst="rect">
            <a:avLst/>
          </a:prstGeom>
        </p:spPr>
        <p:txBody>
          <a:bodyPr anchor="ctr"/>
          <a:lstStyle>
            <a:lvl1pPr>
              <a:defRPr>
                <a:solidFill>
                  <a:srgbClr val="595959"/>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2"/>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1"/>
            <a:ext cx="9845675" cy="1934987"/>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1" y="945094"/>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6" y="3612019"/>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9"/>
            <a:ext cx="1944551"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7"/>
            <a:ext cx="5760539"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1" y="2987771"/>
            <a:ext cx="1567543"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3" y="2254205"/>
            <a:ext cx="566611"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7" y="4231537"/>
            <a:ext cx="298935" cy="25770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7"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2" y="1820151"/>
            <a:ext cx="854975"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4"/>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5"/>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9"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3" y="4247863"/>
            <a:ext cx="494751" cy="494751"/>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2" y="2161714"/>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8" y="2466441"/>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7" y="3583987"/>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1" y="4003338"/>
            <a:ext cx="695927" cy="695927"/>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9" cy="1913639"/>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1" y="2080300"/>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6" y="3948334"/>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7" y="2597311"/>
            <a:ext cx="302531" cy="302531"/>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5" y="3264493"/>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1" cy="2017951"/>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4" y="4089234"/>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9" y="2051118"/>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1" cy="562211"/>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30"/>
            <a:ext cx="8771021" cy="517191"/>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2"/>
            <a:ext cx="10698800"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2" y="1646134"/>
            <a:ext cx="10749599"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2" y="940082"/>
            <a:ext cx="10749599"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矩形 7"/>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15413" y="-123395"/>
            <a:ext cx="10515600" cy="1248139"/>
          </a:xfrm>
          <a:prstGeom prst="rect">
            <a:avLst/>
          </a:prstGeom>
        </p:spPr>
        <p:txBody>
          <a:bodyPr anchor="ctr"/>
          <a:lstStyle>
            <a:lvl1pPr>
              <a:defRPr>
                <a:solidFill>
                  <a:srgbClr val="595959"/>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2"/>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1"/>
            <a:ext cx="9845675" cy="1934987"/>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1" y="945094"/>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6" y="3612019"/>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9"/>
            <a:ext cx="1944551"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7"/>
            <a:ext cx="5760539"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1" y="2987771"/>
            <a:ext cx="1567543"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3" y="2254205"/>
            <a:ext cx="566611"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7" y="4231537"/>
            <a:ext cx="298935" cy="25770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7"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2" y="1820151"/>
            <a:ext cx="854975"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4"/>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5"/>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9"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3" y="4247863"/>
            <a:ext cx="494751" cy="494751"/>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2" y="2161714"/>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8" y="2466441"/>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7" y="3583987"/>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1" y="4003338"/>
            <a:ext cx="695927" cy="695927"/>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9" cy="1913639"/>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1" y="2080300"/>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6" y="3948334"/>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7" y="2597311"/>
            <a:ext cx="302531" cy="302531"/>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5" y="3264493"/>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1" cy="2017951"/>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4" y="4089234"/>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9" y="2051118"/>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1" cy="562211"/>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30"/>
            <a:ext cx="8771021" cy="517191"/>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2"/>
            <a:ext cx="10698800"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2" y="1646134"/>
            <a:ext cx="10749599"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2" y="940082"/>
            <a:ext cx="10749599"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矩形 7"/>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15413" y="-123395"/>
            <a:ext cx="10515600" cy="1248139"/>
          </a:xfrm>
          <a:prstGeom prst="rect">
            <a:avLst/>
          </a:prstGeom>
        </p:spPr>
        <p:txBody>
          <a:bodyPr anchor="ctr"/>
          <a:lstStyle>
            <a:lvl1pPr>
              <a:defRPr>
                <a:solidFill>
                  <a:srgbClr val="595959"/>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9"/>
            <a:ext cx="6654800" cy="1325563"/>
          </a:xfrm>
          <a:prstGeom prst="rect">
            <a:avLst/>
          </a:prstGeom>
        </p:spPr>
        <p:txBody>
          <a:bodyPr/>
          <a:lstStyle>
            <a:lvl1pPr>
              <a:defRPr sz="3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p:nvPr>
        </p:nvSpPr>
        <p:spPr>
          <a:xfrm>
            <a:off x="3881756"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endParaRPr kumimoji="1" lang="zh-CN" altLang="en-US" dirty="0"/>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9" y="1"/>
            <a:ext cx="6298881" cy="5326603"/>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2"/>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1"/>
            <a:ext cx="9845675" cy="1934987"/>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7" name="矩形 6"/>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R" panose="00020600040101010101" charset="-122"/>
                <a:ea typeface="阿里巴巴普惠体 R" panose="00020600040101010101" charset="-122"/>
                <a:cs typeface="阿里巴巴普惠体 R" panose="00020600040101010101" charset="-122"/>
              </a:rPr>
              <a:t>栗 子</a:t>
            </a:r>
            <a:endParaRPr kumimoji="1" lang="zh-CN" altLang="en-US" sz="1400" dirty="0">
              <a:latin typeface="阿里巴巴普惠体 R" panose="00020600040101010101" charset="-122"/>
              <a:ea typeface="阿里巴巴普惠体 R" panose="00020600040101010101" charset="-122"/>
              <a:cs typeface="阿里巴巴普惠体 R" panose="00020600040101010101" charset="-122"/>
            </a:endParaRPr>
          </a:p>
        </p:txBody>
      </p:sp>
      <p:sp>
        <p:nvSpPr>
          <p:cNvPr id="8"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rPr>
              <a:t>i</a:t>
            </a:r>
            <a:endParaRPr lang="en-US" altLang="zh-CN" sz="1600" dirty="0">
              <a:solidFill>
                <a:srgbClr val="262626"/>
              </a:solidFill>
            </a:endParaRPr>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1" y="945094"/>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718820"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sz="2000"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6" y="3612019"/>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23" name="六边形 22"/>
          <p:cNvSpPr/>
          <p:nvPr userDrawn="1"/>
        </p:nvSpPr>
        <p:spPr>
          <a:xfrm rot="5400000">
            <a:off x="1484022" y="2632539"/>
            <a:ext cx="1944551"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11" name="文本占位符 3"/>
          <p:cNvSpPr>
            <a:spLocks noGrp="1"/>
          </p:cNvSpPr>
          <p:nvPr>
            <p:ph type="body" sz="quarter" idx="10" hasCustomPrompt="1"/>
          </p:nvPr>
        </p:nvSpPr>
        <p:spPr>
          <a:xfrm>
            <a:off x="5126584" y="1436557"/>
            <a:ext cx="5760539"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1" y="2987771"/>
            <a:ext cx="1567543"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3" y="2254205"/>
            <a:ext cx="566611"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25" name="六边形 24"/>
          <p:cNvSpPr/>
          <p:nvPr userDrawn="1"/>
        </p:nvSpPr>
        <p:spPr>
          <a:xfrm rot="5400000">
            <a:off x="1198357" y="4231537"/>
            <a:ext cx="298935" cy="25770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26" name="六边形 25"/>
          <p:cNvSpPr/>
          <p:nvPr userDrawn="1"/>
        </p:nvSpPr>
        <p:spPr>
          <a:xfrm rot="5400000">
            <a:off x="3642477"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30" name="六边形 29"/>
          <p:cNvSpPr/>
          <p:nvPr userDrawn="1"/>
        </p:nvSpPr>
        <p:spPr>
          <a:xfrm rot="5400000">
            <a:off x="1190642" y="1820151"/>
            <a:ext cx="854975"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R" panose="00020600040101010101"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4"/>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R" panose="00020600040101010101"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39" name="矩形 38"/>
          <p:cNvSpPr/>
          <p:nvPr userDrawn="1"/>
        </p:nvSpPr>
        <p:spPr>
          <a:xfrm rot="2700000">
            <a:off x="3711024" y="4032815"/>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41" name="矩形 40"/>
          <p:cNvSpPr/>
          <p:nvPr userDrawn="1"/>
        </p:nvSpPr>
        <p:spPr>
          <a:xfrm rot="2700000">
            <a:off x="1595909"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42" name="矩形 41"/>
          <p:cNvSpPr/>
          <p:nvPr userDrawn="1"/>
        </p:nvSpPr>
        <p:spPr>
          <a:xfrm rot="2700000">
            <a:off x="1559313" y="4247863"/>
            <a:ext cx="494751" cy="494751"/>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44" name="矩形 43"/>
          <p:cNvSpPr/>
          <p:nvPr userDrawn="1"/>
        </p:nvSpPr>
        <p:spPr>
          <a:xfrm rot="2700000">
            <a:off x="986542" y="2161714"/>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R" panose="00020600040101010101"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45" name="矩形 44"/>
          <p:cNvSpPr/>
          <p:nvPr userDrawn="1"/>
        </p:nvSpPr>
        <p:spPr>
          <a:xfrm rot="2700000">
            <a:off x="4273428" y="2466441"/>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7" y="3583987"/>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15" name="圆角矩形 14"/>
          <p:cNvSpPr/>
          <p:nvPr userDrawn="1"/>
        </p:nvSpPr>
        <p:spPr>
          <a:xfrm rot="2700000">
            <a:off x="1758681" y="4003338"/>
            <a:ext cx="695927" cy="695927"/>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4" name="圆角矩形 3"/>
          <p:cNvSpPr/>
          <p:nvPr userDrawn="1"/>
        </p:nvSpPr>
        <p:spPr>
          <a:xfrm rot="2700000">
            <a:off x="1779783" y="2463674"/>
            <a:ext cx="1913639" cy="1913639"/>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16" name="圆角矩形 15"/>
          <p:cNvSpPr/>
          <p:nvPr userDrawn="1"/>
        </p:nvSpPr>
        <p:spPr>
          <a:xfrm rot="2700000">
            <a:off x="1336621" y="2080300"/>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18" name="圆角矩形 17"/>
          <p:cNvSpPr/>
          <p:nvPr userDrawn="1"/>
        </p:nvSpPr>
        <p:spPr>
          <a:xfrm rot="2700000">
            <a:off x="963076" y="3948334"/>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20" name="圆角矩形 19"/>
          <p:cNvSpPr/>
          <p:nvPr userDrawn="1"/>
        </p:nvSpPr>
        <p:spPr>
          <a:xfrm rot="2700000">
            <a:off x="3738937" y="2597311"/>
            <a:ext cx="302531" cy="302531"/>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5" y="3264493"/>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2" name="泪珠形 1"/>
          <p:cNvSpPr/>
          <p:nvPr userDrawn="1"/>
        </p:nvSpPr>
        <p:spPr>
          <a:xfrm>
            <a:off x="1645363" y="2434299"/>
            <a:ext cx="2017951" cy="2017951"/>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R" panose="00020600040101010101"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13" name="泪珠形 12"/>
          <p:cNvSpPr/>
          <p:nvPr userDrawn="1"/>
        </p:nvSpPr>
        <p:spPr>
          <a:xfrm>
            <a:off x="3663314" y="4089234"/>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16" name="泪珠形 15"/>
          <p:cNvSpPr/>
          <p:nvPr userDrawn="1"/>
        </p:nvSpPr>
        <p:spPr>
          <a:xfrm>
            <a:off x="2152489" y="2051118"/>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
        <p:nvSpPr>
          <p:cNvPr id="15" name="泪珠形 14"/>
          <p:cNvSpPr/>
          <p:nvPr userDrawn="1"/>
        </p:nvSpPr>
        <p:spPr>
          <a:xfrm>
            <a:off x="844996" y="3381144"/>
            <a:ext cx="562211" cy="562211"/>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R" panose="00020600040101010101" charset="-122"/>
              <a:ea typeface="阿里巴巴普惠体 R" panose="00020600040101010101" charset="-122"/>
            </a:endParaRPr>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30"/>
            <a:ext cx="8771021" cy="517191"/>
          </a:xfrm>
          <a:prstGeom prst="rect">
            <a:avLst/>
          </a:prstGeom>
        </p:spPr>
        <p:txBody>
          <a:bodyPr anchor="ctr" anchorCtr="0"/>
          <a:lstStyle>
            <a:lvl1pPr>
              <a:defRPr sz="2400" b="1" i="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2"/>
            <a:ext cx="10698800"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2" y="1646134"/>
            <a:ext cx="10749599"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718820" indent="-358775">
              <a:lnSpc>
                <a:spcPct val="150000"/>
              </a:lnSpc>
              <a:buFont typeface="Wingdings" panose="05000000000000000000" pitchFamily="2" charset="2"/>
              <a:buChar char="l"/>
              <a:defRPr lang="en-US" altLang="zh-CN" sz="1400" b="0" i="0" dirty="0">
                <a:latin typeface="阿里巴巴普惠体 R" panose="00020600040101010101" charset="-122"/>
                <a:ea typeface="阿里巴巴普惠体 R" panose="00020600040101010101" charset="-122"/>
                <a:cs typeface="阿里巴巴普惠体 R" panose="00020600040101010101"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R" panose="00020600040101010101"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2" y="940082"/>
            <a:ext cx="10749599"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8" name="矩形 7"/>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R" panose="00020600040101010101" charset="-122"/>
                <a:ea typeface="阿里巴巴普惠体 R" panose="00020600040101010101" charset="-122"/>
                <a:cs typeface="阿里巴巴普惠体 R" panose="00020600040101010101" charset="-122"/>
              </a:rPr>
              <a:t>栗 子</a:t>
            </a:r>
            <a:endParaRPr kumimoji="1" lang="zh-CN" altLang="en-US" sz="1400" dirty="0">
              <a:latin typeface="阿里巴巴普惠体 R" panose="00020600040101010101" charset="-122"/>
              <a:ea typeface="阿里巴巴普惠体 R" panose="00020600040101010101" charset="-122"/>
              <a:cs typeface="阿里巴巴普惠体 R" panose="00020600040101010101" charset="-122"/>
            </a:endParaRPr>
          </a:p>
        </p:txBody>
      </p:sp>
      <p:sp>
        <p:nvSpPr>
          <p:cNvPr id="9"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rPr>
              <a:t>i</a:t>
            </a:r>
            <a:endParaRPr lang="en-US" altLang="zh-CN" sz="1600" dirty="0">
              <a:solidFill>
                <a:srgbClr val="262626"/>
              </a:solidFill>
            </a:endParaRPr>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15413" y="-123395"/>
            <a:ext cx="10515600" cy="1248139"/>
          </a:xfrm>
          <a:prstGeom prst="rect">
            <a:avLst/>
          </a:prstGeom>
        </p:spPr>
        <p:txBody>
          <a:bodyPr anchor="ctr"/>
          <a:lstStyle>
            <a:lvl1pPr>
              <a:defRPr>
                <a:solidFill>
                  <a:srgbClr val="595959"/>
                </a:solidFill>
                <a:latin typeface="阿里巴巴普惠体" panose="00020600040101010101" pitchFamily="18" charset="-122"/>
                <a:ea typeface="阿里巴巴普惠体 R" panose="00020600040101010101"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a:latin typeface="微软雅黑" panose="020B0503020204020204" pitchFamily="34" charset="-122"/>
                <a:ea typeface="阿里巴巴普惠体 R" panose="00020600040101010101"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
            <a:ext cx="5973761" cy="542425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endParaRPr kumimoji="1" lang="zh-CN" altLang="en-US" dirty="0"/>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
            <a:ext cx="6298881" cy="5326602"/>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2" name="文本占位符 11"/>
          <p:cNvSpPr>
            <a:spLocks noGrp="1"/>
          </p:cNvSpPr>
          <p:nvPr>
            <p:ph type="body" sz="quarter" idx="11" hasCustomPrompt="1"/>
          </p:nvPr>
        </p:nvSpPr>
        <p:spPr>
          <a:xfrm>
            <a:off x="2195450" y="101616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2" name="文本占位符 11"/>
          <p:cNvSpPr>
            <a:spLocks noGrp="1"/>
          </p:cNvSpPr>
          <p:nvPr>
            <p:ph type="body" sz="quarter" idx="11" hasCustomPrompt="1"/>
          </p:nvPr>
        </p:nvSpPr>
        <p:spPr>
          <a:xfrm>
            <a:off x="2195450" y="101616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2"/>
            <a:ext cx="9845675" cy="1934986"/>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1"/>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7" name="矩形 6"/>
          <p:cNvSpPr/>
          <p:nvPr userDrawn="1"/>
        </p:nvSpPr>
        <p:spPr>
          <a:xfrm>
            <a:off x="844952" y="3232230"/>
            <a:ext cx="1053296" cy="300942"/>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R" panose="00020600040101010101" charset="-122"/>
                <a:ea typeface="阿里巴巴普惠体 R" panose="00020600040101010101" charset="-122"/>
                <a:cs typeface="阿里巴巴普惠体 R" panose="00020600040101010101" charset="-122"/>
              </a:rPr>
              <a:t>栗 子</a:t>
            </a:r>
            <a:endParaRPr kumimoji="1" lang="zh-CN" altLang="en-US" sz="1400" dirty="0">
              <a:latin typeface="阿里巴巴普惠体 R" panose="00020600040101010101" charset="-122"/>
              <a:ea typeface="阿里巴巴普惠体 R" panose="00020600040101010101" charset="-122"/>
              <a:cs typeface="阿里巴巴普惠体 R" panose="00020600040101010101" charset="-122"/>
            </a:endParaRPr>
          </a:p>
        </p:txBody>
      </p:sp>
      <p:sp>
        <p:nvSpPr>
          <p:cNvPr id="8" name="文本占位符 1"/>
          <p:cNvSpPr txBox="1"/>
          <p:nvPr userDrawn="1"/>
        </p:nvSpPr>
        <p:spPr>
          <a:xfrm>
            <a:off x="1141907" y="3605642"/>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dirty="0" err="1">
                <a:solidFill>
                  <a:srgbClr val="262626"/>
                </a:solidFill>
              </a:rPr>
              <a:t>i</a:t>
            </a:r>
            <a:endParaRPr lang="en-US" altLang="zh-CN" dirty="0">
              <a:solidFill>
                <a:srgbClr val="262626"/>
              </a:solidFill>
            </a:endParaRPr>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0067E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0067E1"/>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25" name="六边形 24"/>
          <p:cNvSpPr/>
          <p:nvPr userDrawn="1"/>
        </p:nvSpPr>
        <p:spPr>
          <a:xfrm rot="5400000">
            <a:off x="1198356" y="4231536"/>
            <a:ext cx="298934" cy="257702"/>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26" name="六边形 25"/>
          <p:cNvSpPr/>
          <p:nvPr userDrawn="1"/>
        </p:nvSpPr>
        <p:spPr>
          <a:xfrm rot="5400000">
            <a:off x="3642476"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R" panose="00020600040101010101"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05400" y="1290033"/>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R" panose="00020600040101010101"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44" name="矩形 43"/>
          <p:cNvSpPr/>
          <p:nvPr userDrawn="1"/>
        </p:nvSpPr>
        <p:spPr>
          <a:xfrm rot="2700000">
            <a:off x="986540" y="2161712"/>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R" panose="00020600040101010101"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6" y="3583986"/>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15" name="圆角矩形 14"/>
          <p:cNvSpPr/>
          <p:nvPr userDrawn="1"/>
        </p:nvSpPr>
        <p:spPr>
          <a:xfrm rot="2700000">
            <a:off x="1758680" y="4003337"/>
            <a:ext cx="695926" cy="695926"/>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4" name="圆角矩形 3"/>
          <p:cNvSpPr/>
          <p:nvPr userDrawn="1"/>
        </p:nvSpPr>
        <p:spPr>
          <a:xfrm rot="2700000">
            <a:off x="1779783" y="2463674"/>
            <a:ext cx="1913638" cy="1913638"/>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16" name="圆角矩形 15"/>
          <p:cNvSpPr/>
          <p:nvPr userDrawn="1"/>
        </p:nvSpPr>
        <p:spPr>
          <a:xfrm rot="2700000">
            <a:off x="1336620" y="2080298"/>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18" name="圆角矩形 17"/>
          <p:cNvSpPr/>
          <p:nvPr userDrawn="1"/>
        </p:nvSpPr>
        <p:spPr>
          <a:xfrm rot="2700000">
            <a:off x="963074" y="3948333"/>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20" name="圆角矩形 19"/>
          <p:cNvSpPr/>
          <p:nvPr userDrawn="1"/>
        </p:nvSpPr>
        <p:spPr>
          <a:xfrm rot="2700000">
            <a:off x="3738938" y="2597311"/>
            <a:ext cx="302530" cy="302530"/>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2" name="泪珠形 1"/>
          <p:cNvSpPr/>
          <p:nvPr userDrawn="1"/>
        </p:nvSpPr>
        <p:spPr>
          <a:xfrm>
            <a:off x="1645363" y="2434299"/>
            <a:ext cx="2017950" cy="2017950"/>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R" panose="00020600040101010101"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R" panose="00020600040101010101"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R" panose="00020600040101010101" charset="-122"/>
              <a:cs typeface="阿里巴巴普惠体" panose="00020600040101010101" pitchFamily="18" charset="-122"/>
            </a:endParaRPr>
          </a:p>
        </p:txBody>
      </p:sp>
      <p:sp>
        <p:nvSpPr>
          <p:cNvPr id="13" name="泪珠形 12"/>
          <p:cNvSpPr/>
          <p:nvPr userDrawn="1"/>
        </p:nvSpPr>
        <p:spPr>
          <a:xfrm>
            <a:off x="3663313" y="4089233"/>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16" name="泪珠形 15"/>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
        <p:nvSpPr>
          <p:cNvPr id="15" name="泪珠形 1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ea typeface="阿里巴巴普惠体 R" panose="00020600040101010101" charset="-122"/>
            </a:endParaRPr>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charset="-122"/>
                <a:ea typeface="阿里巴巴普惠体 R" panose="00020600040101010101" charset="-122"/>
                <a:cs typeface="阿里巴巴普惠体 R" panose="00020600040101010101"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R" panose="00020600040101010101"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1"/>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8" name="矩形 7"/>
          <p:cNvSpPr/>
          <p:nvPr userDrawn="1"/>
        </p:nvSpPr>
        <p:spPr>
          <a:xfrm>
            <a:off x="844952" y="3232230"/>
            <a:ext cx="1053296" cy="300942"/>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R" panose="00020600040101010101" charset="-122"/>
                <a:ea typeface="阿里巴巴普惠体 R" panose="00020600040101010101" charset="-122"/>
                <a:cs typeface="阿里巴巴普惠体 R" panose="00020600040101010101" charset="-122"/>
              </a:rPr>
              <a:t>栗 子</a:t>
            </a:r>
            <a:endParaRPr kumimoji="1" lang="zh-CN" altLang="en-US" sz="1400" dirty="0">
              <a:latin typeface="阿里巴巴普惠体 R" panose="00020600040101010101" charset="-122"/>
              <a:ea typeface="阿里巴巴普惠体 R" panose="00020600040101010101" charset="-122"/>
              <a:cs typeface="阿里巴巴普惠体 R" panose="00020600040101010101" charset="-122"/>
            </a:endParaRPr>
          </a:p>
        </p:txBody>
      </p:sp>
      <p:sp>
        <p:nvSpPr>
          <p:cNvPr id="9" name="文本占位符 1"/>
          <p:cNvSpPr txBox="1"/>
          <p:nvPr userDrawn="1"/>
        </p:nvSpPr>
        <p:spPr>
          <a:xfrm>
            <a:off x="1141907" y="3605642"/>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dirty="0" err="1">
                <a:solidFill>
                  <a:srgbClr val="262626"/>
                </a:solidFill>
              </a:rPr>
              <a:t>i</a:t>
            </a:r>
            <a:endParaRPr lang="en-US" altLang="zh-CN" dirty="0">
              <a:solidFill>
                <a:srgbClr val="262626"/>
              </a:solidFill>
            </a:endParaRPr>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
            <a:ext cx="6298881" cy="5326602"/>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9" y="1"/>
            <a:ext cx="6298881" cy="5326603"/>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9" y="1"/>
            <a:ext cx="6298881" cy="5326603"/>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2"/>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1"/>
            <a:ext cx="9845675" cy="1934987"/>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1" y="945094"/>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6" y="3612019"/>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9"/>
            <a:ext cx="1944551"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7"/>
            <a:ext cx="5760539"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1" y="2987771"/>
            <a:ext cx="1567543"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3" y="2254205"/>
            <a:ext cx="566611"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7" y="4231537"/>
            <a:ext cx="298935" cy="25770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7"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2" y="1820151"/>
            <a:ext cx="854975"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4"/>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5"/>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9"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3" y="4247863"/>
            <a:ext cx="494751" cy="494751"/>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2" y="2161714"/>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8" y="2466441"/>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7" y="3583987"/>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1" y="4003338"/>
            <a:ext cx="695927" cy="695927"/>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9" cy="1913639"/>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1" y="2080300"/>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6" y="3948334"/>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7" y="2597311"/>
            <a:ext cx="302531" cy="302531"/>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5" y="3264493"/>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1" cy="2017951"/>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4" y="4089234"/>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9" y="2051118"/>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1" cy="562211"/>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30"/>
            <a:ext cx="8771021" cy="517191"/>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2"/>
            <a:ext cx="10698800"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2" y="1646134"/>
            <a:ext cx="10749599"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2" y="940082"/>
            <a:ext cx="10749599"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矩形 7"/>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15413" y="-123395"/>
            <a:ext cx="10515600" cy="1248139"/>
          </a:xfrm>
          <a:prstGeom prst="rect">
            <a:avLst/>
          </a:prstGeom>
        </p:spPr>
        <p:txBody>
          <a:bodyPr anchor="ctr"/>
          <a:lstStyle>
            <a:lvl1pPr>
              <a:defRPr>
                <a:solidFill>
                  <a:srgbClr val="595959"/>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2"/>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1" hasCustomPrompt="1"/>
          </p:nvPr>
        </p:nvSpPr>
        <p:spPr>
          <a:xfrm>
            <a:off x="2195450" y="1016162"/>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正文内容+“栗子”">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1" y="940081"/>
            <a:ext cx="9845675" cy="1934987"/>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矩形 5"/>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1" y="945094"/>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案例+案例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练习+练习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7"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p:nvSpPr>
          <p:spPr>
            <a:xfrm rot="5400000">
              <a:off x="821086" y="1126435"/>
              <a:ext cx="461175" cy="397565"/>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itchFamily="2" charset="-122"/>
                </a:defRPr>
              </a:lvl2pPr>
              <a:lvl3pPr marL="1143000" indent="-228600">
                <a:defRPr>
                  <a:latin typeface="Calibri" panose="020F0502020204030204" pitchFamily="34" charset="0"/>
                  <a:ea typeface="宋体" pitchFamily="2" charset="-122"/>
                </a:defRPr>
              </a:lvl3pPr>
              <a:lvl4pPr marL="1600200" indent="-228600">
                <a:defRPr>
                  <a:latin typeface="Calibri" panose="020F0502020204030204" pitchFamily="34" charset="0"/>
                  <a:ea typeface="宋体" pitchFamily="2" charset="-122"/>
                </a:defRPr>
              </a:lvl4pPr>
              <a:lvl5pPr marL="2057400" indent="-22860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sz="20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1" name="文本占位符 9"/>
          <p:cNvSpPr>
            <a:spLocks noGrp="1"/>
          </p:cNvSpPr>
          <p:nvPr>
            <p:ph type="body" sz="quarter" idx="10" hasCustomPrompt="1"/>
          </p:nvPr>
        </p:nvSpPr>
        <p:spPr>
          <a:xfrm>
            <a:off x="2195450" y="1016161"/>
            <a:ext cx="9214231" cy="517191"/>
          </a:xfrm>
          <a:prstGeom prst="rect">
            <a:avLst/>
          </a:prstGeom>
        </p:spPr>
        <p:txBody>
          <a:bodyPr anchor="ctr" anchorCtr="0"/>
          <a:lstStyle>
            <a:lvl1pPr marL="0" indent="0">
              <a:buNone/>
              <a:defRPr lang="zh-CN" altLang="en-US" sz="2400" kern="1200" dirty="0">
                <a:solidFill>
                  <a:srgbClr val="0067E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1"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28" name="六边形 27"/>
          <p:cNvSpPr/>
          <p:nvPr userDrawn="1"/>
        </p:nvSpPr>
        <p:spPr>
          <a:xfrm rot="5400000">
            <a:off x="941356" y="3612019"/>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六边形 22"/>
          <p:cNvSpPr/>
          <p:nvPr userDrawn="1"/>
        </p:nvSpPr>
        <p:spPr>
          <a:xfrm rot="5400000">
            <a:off x="1484022" y="2632539"/>
            <a:ext cx="1944551" cy="1676336"/>
          </a:xfrm>
          <a:prstGeom prst="hexagon">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文本占位符 3"/>
          <p:cNvSpPr>
            <a:spLocks noGrp="1"/>
          </p:cNvSpPr>
          <p:nvPr>
            <p:ph type="body" sz="quarter" idx="10" hasCustomPrompt="1"/>
          </p:nvPr>
        </p:nvSpPr>
        <p:spPr>
          <a:xfrm>
            <a:off x="5126584" y="1436557"/>
            <a:ext cx="5760539"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1" y="2987771"/>
            <a:ext cx="1567543"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3" y="2254205"/>
            <a:ext cx="566611" cy="488457"/>
          </a:xfrm>
          <a:prstGeom prst="hexagon">
            <a:avLst/>
          </a:prstGeom>
          <a:solidFill>
            <a:srgbClr val="0067E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六边形 24"/>
          <p:cNvSpPr/>
          <p:nvPr userDrawn="1"/>
        </p:nvSpPr>
        <p:spPr>
          <a:xfrm rot="5400000">
            <a:off x="1198357" y="4231537"/>
            <a:ext cx="298935" cy="25770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六边形 25"/>
          <p:cNvSpPr/>
          <p:nvPr userDrawn="1"/>
        </p:nvSpPr>
        <p:spPr>
          <a:xfrm rot="5400000">
            <a:off x="3642477" y="4490365"/>
            <a:ext cx="566612" cy="488459"/>
          </a:xfrm>
          <a:prstGeom prst="hexagon">
            <a:avLst/>
          </a:prstGeom>
          <a:noFill/>
          <a:ln w="19050">
            <a:solidFill>
              <a:srgbClr val="DE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六边形 29"/>
          <p:cNvSpPr/>
          <p:nvPr userDrawn="1"/>
        </p:nvSpPr>
        <p:spPr>
          <a:xfrm rot="5400000">
            <a:off x="1190642" y="1820151"/>
            <a:ext cx="854975"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4"/>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642355" y="2871191"/>
              <a:ext cx="1924945" cy="1895739"/>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257550" y="2352674"/>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课程小结">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9" cy="4511040"/>
          </a:xfrm>
          <a:prstGeom prst="rect">
            <a:avLst/>
          </a:prstGeom>
        </p:spPr>
        <p:txBody>
          <a:bodyPr anchor="ctr"/>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1"/>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821000" y="2270979"/>
            <a:ext cx="3512229" cy="2883000"/>
            <a:chOff x="974255" y="2588572"/>
            <a:chExt cx="3512229" cy="2883000"/>
          </a:xfrm>
        </p:grpSpPr>
        <p:sp>
          <p:nvSpPr>
            <p:cNvPr id="12" name="椭圆 11"/>
            <p:cNvSpPr/>
            <p:nvPr userDrawn="1"/>
          </p:nvSpPr>
          <p:spPr>
            <a:xfrm>
              <a:off x="3372155" y="4718547"/>
              <a:ext cx="753025" cy="753025"/>
            </a:xfrm>
            <a:prstGeom prst="ellipse">
              <a:avLst/>
            </a:prstGeom>
            <a:noFill/>
            <a:ln w="12700">
              <a:solidFill>
                <a:srgbClr val="DE001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椭圆 12"/>
            <p:cNvSpPr/>
            <p:nvPr userDrawn="1"/>
          </p:nvSpPr>
          <p:spPr>
            <a:xfrm>
              <a:off x="1211929" y="4106554"/>
              <a:ext cx="592684" cy="592684"/>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椭圆 13"/>
            <p:cNvSpPr/>
            <p:nvPr userDrawn="1"/>
          </p:nvSpPr>
          <p:spPr>
            <a:xfrm>
              <a:off x="974255" y="2692113"/>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椭圆 18"/>
            <p:cNvSpPr/>
            <p:nvPr userDrawn="1"/>
          </p:nvSpPr>
          <p:spPr>
            <a:xfrm>
              <a:off x="1556915" y="2830523"/>
              <a:ext cx="2097063" cy="2065246"/>
            </a:xfrm>
            <a:prstGeom prst="ellipse">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椭圆 15"/>
            <p:cNvSpPr/>
            <p:nvPr userDrawn="1"/>
          </p:nvSpPr>
          <p:spPr>
            <a:xfrm>
              <a:off x="3682146" y="2588572"/>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椭圆 16"/>
            <p:cNvSpPr/>
            <p:nvPr userDrawn="1"/>
          </p:nvSpPr>
          <p:spPr>
            <a:xfrm>
              <a:off x="3467561" y="2778561"/>
              <a:ext cx="314325" cy="314325"/>
            </a:xfrm>
            <a:prstGeom prst="ellipse">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标题占位符 1"/>
            <p:cNvSpPr txBox="1">
              <a:spLocks noChangeArrowheads="1"/>
            </p:cNvSpPr>
            <p:nvPr userDrawn="1"/>
          </p:nvSpPr>
          <p:spPr bwMode="auto">
            <a:xfrm>
              <a:off x="1804613" y="3323396"/>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课程小结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矩形 38"/>
          <p:cNvSpPr/>
          <p:nvPr userDrawn="1"/>
        </p:nvSpPr>
        <p:spPr>
          <a:xfrm rot="2700000">
            <a:off x="3711024" y="4032815"/>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矩形 40"/>
          <p:cNvSpPr/>
          <p:nvPr userDrawn="1"/>
        </p:nvSpPr>
        <p:spPr>
          <a:xfrm rot="2700000">
            <a:off x="1595909"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2" name="矩形 41"/>
          <p:cNvSpPr/>
          <p:nvPr userDrawn="1"/>
        </p:nvSpPr>
        <p:spPr>
          <a:xfrm rot="2700000">
            <a:off x="1559313" y="4247863"/>
            <a:ext cx="494751" cy="494751"/>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矩形 43"/>
          <p:cNvSpPr/>
          <p:nvPr userDrawn="1"/>
        </p:nvSpPr>
        <p:spPr>
          <a:xfrm rot="2700000">
            <a:off x="986542" y="2161714"/>
            <a:ext cx="361655" cy="361655"/>
          </a:xfrm>
          <a:prstGeom prst="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矩形 39"/>
          <p:cNvSpPr/>
          <p:nvPr userDrawn="1"/>
        </p:nvSpPr>
        <p:spPr>
          <a:xfrm rot="2700000">
            <a:off x="1815645" y="2537749"/>
            <a:ext cx="1828800" cy="1828800"/>
          </a:xfrm>
          <a:prstGeom prst="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8" y="2466441"/>
            <a:ext cx="263657" cy="263657"/>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演示">
    <p:spTree>
      <p:nvGrpSpPr>
        <p:cNvPr id="1" name=""/>
        <p:cNvGrpSpPr/>
        <p:nvPr/>
      </p:nvGrpSpPr>
      <p:grpSpPr>
        <a:xfrm>
          <a:off x="0" y="0"/>
          <a:ext cx="0" cy="0"/>
          <a:chOff x="0" y="0"/>
          <a:chExt cx="0" cy="0"/>
        </a:xfrm>
      </p:grpSpPr>
      <p:sp>
        <p:nvSpPr>
          <p:cNvPr id="17" name="圆角矩形 16"/>
          <p:cNvSpPr/>
          <p:nvPr userDrawn="1"/>
        </p:nvSpPr>
        <p:spPr>
          <a:xfrm rot="2700000">
            <a:off x="3511537" y="3583987"/>
            <a:ext cx="515265" cy="515265"/>
          </a:xfrm>
          <a:prstGeom prst="roundRect">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圆角矩形 14"/>
          <p:cNvSpPr/>
          <p:nvPr userDrawn="1"/>
        </p:nvSpPr>
        <p:spPr>
          <a:xfrm rot="2700000">
            <a:off x="1758681" y="4003338"/>
            <a:ext cx="695927" cy="695927"/>
          </a:xfrm>
          <a:prstGeom prst="round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圆角矩形 3"/>
          <p:cNvSpPr/>
          <p:nvPr userDrawn="1"/>
        </p:nvSpPr>
        <p:spPr>
          <a:xfrm rot="2700000">
            <a:off x="1779783" y="2463674"/>
            <a:ext cx="1913639" cy="1913639"/>
          </a:xfrm>
          <a:prstGeom prst="roundRect">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演示</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圆角矩形 15"/>
          <p:cNvSpPr/>
          <p:nvPr userDrawn="1"/>
        </p:nvSpPr>
        <p:spPr>
          <a:xfrm rot="2700000">
            <a:off x="1336621" y="2080300"/>
            <a:ext cx="515265" cy="515265"/>
          </a:xfrm>
          <a:prstGeom prst="round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圆角矩形 17"/>
          <p:cNvSpPr/>
          <p:nvPr userDrawn="1"/>
        </p:nvSpPr>
        <p:spPr>
          <a:xfrm rot="2700000">
            <a:off x="963076" y="3948334"/>
            <a:ext cx="515265" cy="515265"/>
          </a:xfrm>
          <a:prstGeom prst="round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圆角矩形 18"/>
          <p:cNvSpPr/>
          <p:nvPr userDrawn="1"/>
        </p:nvSpPr>
        <p:spPr>
          <a:xfrm rot="2700000">
            <a:off x="3237304" y="4752093"/>
            <a:ext cx="391216" cy="391216"/>
          </a:xfrm>
          <a:prstGeom prst="round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圆角矩形 19"/>
          <p:cNvSpPr/>
          <p:nvPr userDrawn="1"/>
        </p:nvSpPr>
        <p:spPr>
          <a:xfrm rot="2700000">
            <a:off x="3738937" y="2597311"/>
            <a:ext cx="302531" cy="302531"/>
          </a:xfrm>
          <a:prstGeom prst="round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昨日复习">
    <p:spTree>
      <p:nvGrpSpPr>
        <p:cNvPr id="1" name=""/>
        <p:cNvGrpSpPr/>
        <p:nvPr/>
      </p:nvGrpSpPr>
      <p:grpSpPr>
        <a:xfrm>
          <a:off x="0" y="0"/>
          <a:ext cx="0" cy="0"/>
          <a:chOff x="0" y="0"/>
          <a:chExt cx="0" cy="0"/>
        </a:xfrm>
      </p:grpSpPr>
      <p:sp>
        <p:nvSpPr>
          <p:cNvPr id="14" name="泪珠形 13"/>
          <p:cNvSpPr/>
          <p:nvPr userDrawn="1"/>
        </p:nvSpPr>
        <p:spPr>
          <a:xfrm>
            <a:off x="1013945" y="3264493"/>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泪珠形 1"/>
          <p:cNvSpPr/>
          <p:nvPr userDrawn="1"/>
        </p:nvSpPr>
        <p:spPr>
          <a:xfrm>
            <a:off x="1645363" y="2434299"/>
            <a:ext cx="2017951" cy="2017951"/>
          </a:xfrm>
          <a:prstGeom prst="teardrop">
            <a:avLst/>
          </a:prstGeom>
          <a:solidFill>
            <a:schemeClr val="bg1"/>
          </a:solidFill>
          <a:ln w="114300">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占位符 3"/>
          <p:cNvSpPr>
            <a:spLocks noGrp="1"/>
          </p:cNvSpPr>
          <p:nvPr>
            <p:ph type="body" sz="quarter" idx="10" hasCustomPrompt="1"/>
          </p:nvPr>
        </p:nvSpPr>
        <p:spPr>
          <a:xfrm>
            <a:off x="5126584" y="1371600"/>
            <a:ext cx="5760539"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4" y="2679748"/>
            <a:ext cx="1567543" cy="1546571"/>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昨日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复习</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泪珠形 12"/>
          <p:cNvSpPr/>
          <p:nvPr userDrawn="1"/>
        </p:nvSpPr>
        <p:spPr>
          <a:xfrm>
            <a:off x="3663314" y="4089234"/>
            <a:ext cx="439924" cy="439924"/>
          </a:xfrm>
          <a:prstGeom prst="teardrop">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泪珠形 15"/>
          <p:cNvSpPr/>
          <p:nvPr userDrawn="1"/>
        </p:nvSpPr>
        <p:spPr>
          <a:xfrm>
            <a:off x="2152489" y="2051118"/>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844996" y="3381144"/>
            <a:ext cx="562211" cy="562211"/>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30"/>
            <a:ext cx="8771021" cy="517191"/>
          </a:xfrm>
          <a:prstGeom prst="rect">
            <a:avLst/>
          </a:prstGeom>
        </p:spPr>
        <p:txBody>
          <a:bodyPr anchor="ctr" anchorCtr="0"/>
          <a:lstStyle>
            <a:lvl1pPr>
              <a:defRPr sz="2400" b="1" i="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2"/>
            <a:ext cx="10698800"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2" y="1646134"/>
            <a:ext cx="10749599"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18820" indent="-358775">
              <a:lnSpc>
                <a:spcPct val="150000"/>
              </a:lnSpc>
              <a:buFont typeface="Wingdings" panose="05000000000000000000" pitchFamily="2" charset="2"/>
              <a:buChar char="l"/>
              <a:defRPr lang="en-US" altLang="zh-CN"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2pPr>
            <a:lvl3pPr marL="1079500" indent="-358775">
              <a:lnSpc>
                <a:spcPct val="150000"/>
              </a:lnSpc>
              <a:buFont typeface="Arial" panose="020B0604020202090204" pitchFamily="34" charset="0"/>
              <a:buChar char="•"/>
              <a:defRPr lang="zh-CN" altLang="en-US" sz="1400" b="0" i="0" dirty="0">
                <a:latin typeface="阿里巴巴普惠体" panose="00020600040101010101" pitchFamily="18" charset="-122"/>
                <a:ea typeface="阿里巴巴普惠体" panose="00020600040101010101" pitchFamily="18" charset="-122"/>
                <a:cs typeface="阿里巴巴普惠体" panose="00020600040101010101" pitchFamily="18" charset="-122"/>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5311"/>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2" y="940082"/>
            <a:ext cx="10749599" cy="517191"/>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二级标题+“栗子”">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2"/>
            <a:ext cx="10748056" cy="517191"/>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三角形 5"/>
          <p:cNvSpPr/>
          <p:nvPr userDrawn="1"/>
        </p:nvSpPr>
        <p:spPr>
          <a:xfrm rot="2651319">
            <a:off x="851567" y="35156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p:cNvSpPr/>
          <p:nvPr userDrawn="1"/>
        </p:nvSpPr>
        <p:spPr>
          <a:xfrm>
            <a:off x="944880" y="3159760"/>
            <a:ext cx="10302240" cy="233680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矩形 7"/>
          <p:cNvSpPr/>
          <p:nvPr userDrawn="1"/>
        </p:nvSpPr>
        <p:spPr>
          <a:xfrm>
            <a:off x="844952" y="3232230"/>
            <a:ext cx="1053296" cy="300943"/>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栗 子</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占位符 1"/>
          <p:cNvSpPr txBox="1"/>
          <p:nvPr userDrawn="1"/>
        </p:nvSpPr>
        <p:spPr>
          <a:xfrm>
            <a:off x="1141908" y="3605644"/>
            <a:ext cx="9887453" cy="1606225"/>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defRPr lang="zh-CN" altLang="en-US" sz="160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1pPr>
            <a:lvl2pPr marL="719455" indent="-358775" algn="l" rtl="0" eaLnBrk="0" fontAlgn="base" hangingPunct="0">
              <a:spcBef>
                <a:spcPct val="20000"/>
              </a:spcBef>
              <a:spcAft>
                <a:spcPct val="0"/>
              </a:spcAft>
              <a:buFont typeface="Wingdings" panose="05000000000000000000" pitchFamily="2" charset="2"/>
              <a:buChar char="p"/>
              <a:defRPr lang="en-US" altLang="zh-CN" sz="1600" b="0" kern="1200" dirty="0">
                <a:solidFill>
                  <a:srgbClr val="404040"/>
                </a:solidFill>
                <a:latin typeface="阿里巴巴普惠体 R" panose="00020600040101010101" charset="-122"/>
                <a:ea typeface="阿里巴巴普惠体 R" panose="00020600040101010101" charset="-122"/>
                <a:cs typeface="阿里巴巴普惠体 R" panose="00020600040101010101" charset="-122"/>
              </a:defRPr>
            </a:lvl2pPr>
            <a:lvl3pPr marL="1079500" indent="-358775" algn="l" rtl="0" eaLnBrk="0" fontAlgn="base" hangingPunct="0">
              <a:spcBef>
                <a:spcPct val="20000"/>
              </a:spcBef>
              <a:spcAft>
                <a:spcPct val="0"/>
              </a:spcAft>
              <a:buFont typeface="Wingdings" panose="05000000000000000000" pitchFamily="2" charset="2"/>
              <a:buChar char="p"/>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None/>
            </a:pPr>
            <a:r>
              <a:rPr lang="en-US" altLang="zh-CN" sz="1600" dirty="0" err="1">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a:t>
            </a:r>
            <a:endParaRPr lang="en-US" altLang="zh-CN" sz="1600" dirty="0">
              <a:solidFill>
                <a:srgbClr val="26262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30"/>
            <a:ext cx="8771021" cy="517191"/>
          </a:xfrm>
          <a:prstGeom prst="rect">
            <a:avLst/>
          </a:prstGeom>
        </p:spPr>
        <p:txBody>
          <a:bodyPr anchor="ctr" anchorCtr="0"/>
          <a:lstStyle>
            <a:lvl1pPr>
              <a:defRPr lang="zh-CN" altLang="en-US" sz="2400" b="1" i="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15413" y="-123395"/>
            <a:ext cx="10515600" cy="1248139"/>
          </a:xfrm>
          <a:prstGeom prst="rect">
            <a:avLst/>
          </a:prstGeom>
        </p:spPr>
        <p:txBody>
          <a:bodyPr anchor="ctr"/>
          <a:lstStyle>
            <a:lvl1pPr>
              <a:defRPr>
                <a:solidFill>
                  <a:srgbClr val="595959"/>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r>
              <a:rPr lang="zh-CN" altLang="en-US" dirty="0"/>
              <a:t>单击此处编辑母版标题样式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0" Type="http://schemas.openxmlformats.org/officeDocument/2006/relationships/theme" Target="../theme/theme6.xml"/><Relationship Id="rId2" Type="http://schemas.openxmlformats.org/officeDocument/2006/relationships/slideLayout" Target="../slideLayouts/slideLayout8.xml"/><Relationship Id="rId19" Type="http://schemas.openxmlformats.org/officeDocument/2006/relationships/image" Target="../media/image6.png"/><Relationship Id="rId18" Type="http://schemas.openxmlformats.org/officeDocument/2006/relationships/slideLayout" Target="../slideLayouts/slideLayout24.xml"/><Relationship Id="rId17" Type="http://schemas.openxmlformats.org/officeDocument/2006/relationships/slideLayout" Target="../slideLayouts/slideLayout23.xml"/><Relationship Id="rId16" Type="http://schemas.openxmlformats.org/officeDocument/2006/relationships/slideLayout" Target="../slideLayouts/slideLayout22.xml"/><Relationship Id="rId15" Type="http://schemas.openxmlformats.org/officeDocument/2006/relationships/slideLayout" Target="../slideLayouts/slideLayout21.xml"/><Relationship Id="rId14" Type="http://schemas.openxmlformats.org/officeDocument/2006/relationships/slideLayout" Target="../slideLayouts/slideLayout20.xml"/><Relationship Id="rId13" Type="http://schemas.openxmlformats.org/officeDocument/2006/relationships/slideLayout" Target="../slideLayouts/slideLayout19.xml"/><Relationship Id="rId12" Type="http://schemas.openxmlformats.org/officeDocument/2006/relationships/slideLayout" Target="../slideLayouts/slideLayout18.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7.png"/><Relationship Id="rId1" Type="http://schemas.openxmlformats.org/officeDocument/2006/relationships/slideLayout" Target="../slideLayouts/slideLayout25.xml"/></Relationships>
</file>

<file path=ppt/slideMasters/_rels/slideMaster8.xml.rels><?xml version="1.0" encoding="UTF-8" standalone="yes"?>
<Relationships xmlns="http://schemas.openxmlformats.org/package/2006/relationships"><Relationship Id="rId4" Type="http://schemas.openxmlformats.org/officeDocument/2006/relationships/theme" Target="../theme/theme8.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6.xml"/></Relationships>
</file>

<file path=ppt/slideMasters/_rels/slideMaster9.xml.rels><?xml version="1.0" encoding="UTF-8" standalone="yes"?>
<Relationships xmlns="http://schemas.openxmlformats.org/package/2006/relationships"><Relationship Id="rId4" Type="http://schemas.openxmlformats.org/officeDocument/2006/relationships/theme" Target="../theme/theme9.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7.xml"/></Relationships>
</file>

<file path=ppt/slideMasters/_rels/slideMaster10.xml.rels><?xml version="1.0" encoding="UTF-8" standalone="yes"?>
<Relationships xmlns="http://schemas.openxmlformats.org/package/2006/relationships"><Relationship Id="rId4" Type="http://schemas.openxmlformats.org/officeDocument/2006/relationships/theme" Target="../theme/theme10.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8.xml"/></Relationships>
</file>

<file path=ppt/slideMasters/_rels/slideMaster11.xml.rels><?xml version="1.0" encoding="UTF-8" standalone="yes"?>
<Relationships xmlns="http://schemas.openxmlformats.org/package/2006/relationships"><Relationship Id="rId4" Type="http://schemas.openxmlformats.org/officeDocument/2006/relationships/theme" Target="../theme/theme11.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9.xml"/></Relationships>
</file>

<file path=ppt/slideMasters/_rels/slideMaster12.xml.rels><?xml version="1.0" encoding="UTF-8" standalone="yes"?>
<Relationships xmlns="http://schemas.openxmlformats.org/package/2006/relationships"><Relationship Id="rId5" Type="http://schemas.openxmlformats.org/officeDocument/2006/relationships/theme" Target="../theme/theme12.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_rels/slideMaster13.xml.rels><?xml version="1.0" encoding="UTF-8" standalone="yes"?>
<Relationships xmlns="http://schemas.openxmlformats.org/package/2006/relationships"><Relationship Id="rId4" Type="http://schemas.openxmlformats.org/officeDocument/2006/relationships/theme" Target="../theme/theme1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4" Type="http://schemas.openxmlformats.org/officeDocument/2006/relationships/theme" Target="../theme/theme14.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4" Type="http://schemas.openxmlformats.org/officeDocument/2006/relationships/theme" Target="../theme/theme15.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4.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0" Type="http://schemas.openxmlformats.org/officeDocument/2006/relationships/theme" Target="../theme/theme16.xml"/><Relationship Id="rId2" Type="http://schemas.openxmlformats.org/officeDocument/2006/relationships/slideLayout" Target="../slideLayouts/slideLayout36.xml"/><Relationship Id="rId19" Type="http://schemas.openxmlformats.org/officeDocument/2006/relationships/image" Target="../media/image6.png"/><Relationship Id="rId18" Type="http://schemas.openxmlformats.org/officeDocument/2006/relationships/slideLayout" Target="../slideLayouts/slideLayout52.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0" Type="http://schemas.openxmlformats.org/officeDocument/2006/relationships/theme" Target="../theme/theme17.xml"/><Relationship Id="rId2" Type="http://schemas.openxmlformats.org/officeDocument/2006/relationships/slideLayout" Target="../slideLayouts/slideLayout54.xml"/><Relationship Id="rId19" Type="http://schemas.openxmlformats.org/officeDocument/2006/relationships/image" Target="../media/image6.png"/><Relationship Id="rId18" Type="http://schemas.openxmlformats.org/officeDocument/2006/relationships/slideLayout" Target="../slideLayouts/slideLayout70.xml"/><Relationship Id="rId17" Type="http://schemas.openxmlformats.org/officeDocument/2006/relationships/slideLayout" Target="../slideLayouts/slideLayout69.xml"/><Relationship Id="rId16" Type="http://schemas.openxmlformats.org/officeDocument/2006/relationships/slideLayout" Target="../slideLayouts/slideLayout68.xml"/><Relationship Id="rId15" Type="http://schemas.openxmlformats.org/officeDocument/2006/relationships/slideLayout" Target="../slideLayouts/slideLayout67.xml"/><Relationship Id="rId14" Type="http://schemas.openxmlformats.org/officeDocument/2006/relationships/slideLayout" Target="../slideLayouts/slideLayout66.xml"/><Relationship Id="rId13" Type="http://schemas.openxmlformats.org/officeDocument/2006/relationships/slideLayout" Target="../slideLayouts/slideLayout65.xml"/><Relationship Id="rId12" Type="http://schemas.openxmlformats.org/officeDocument/2006/relationships/slideLayout" Target="../slideLayouts/slideLayout6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79.xml"/><Relationship Id="rId8" Type="http://schemas.openxmlformats.org/officeDocument/2006/relationships/slideLayout" Target="../slideLayouts/slideLayout78.xml"/><Relationship Id="rId7" Type="http://schemas.openxmlformats.org/officeDocument/2006/relationships/slideLayout" Target="../slideLayouts/slideLayout77.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0" Type="http://schemas.openxmlformats.org/officeDocument/2006/relationships/theme" Target="../theme/theme18.xml"/><Relationship Id="rId2" Type="http://schemas.openxmlformats.org/officeDocument/2006/relationships/slideLayout" Target="../slideLayouts/slideLayout72.xml"/><Relationship Id="rId19" Type="http://schemas.openxmlformats.org/officeDocument/2006/relationships/image" Target="../media/image6.png"/><Relationship Id="rId18" Type="http://schemas.openxmlformats.org/officeDocument/2006/relationships/slideLayout" Target="../slideLayouts/slideLayout88.xml"/><Relationship Id="rId17" Type="http://schemas.openxmlformats.org/officeDocument/2006/relationships/slideLayout" Target="../slideLayouts/slideLayout87.xml"/><Relationship Id="rId16" Type="http://schemas.openxmlformats.org/officeDocument/2006/relationships/slideLayout" Target="../slideLayouts/slideLayout86.xml"/><Relationship Id="rId15" Type="http://schemas.openxmlformats.org/officeDocument/2006/relationships/slideLayout" Target="../slideLayouts/slideLayout85.xml"/><Relationship Id="rId14" Type="http://schemas.openxmlformats.org/officeDocument/2006/relationships/slideLayout" Target="../slideLayouts/slideLayout84.xml"/><Relationship Id="rId13" Type="http://schemas.openxmlformats.org/officeDocument/2006/relationships/slideLayout" Target="../slideLayouts/slideLayout83.xml"/><Relationship Id="rId12" Type="http://schemas.openxmlformats.org/officeDocument/2006/relationships/slideLayout" Target="../slideLayouts/slideLayout82.xml"/><Relationship Id="rId11" Type="http://schemas.openxmlformats.org/officeDocument/2006/relationships/slideLayout" Target="../slideLayouts/slideLayout81.xml"/><Relationship Id="rId10" Type="http://schemas.openxmlformats.org/officeDocument/2006/relationships/slideLayout" Target="../slideLayouts/slideLayout80.xml"/><Relationship Id="rId1" Type="http://schemas.openxmlformats.org/officeDocument/2006/relationships/slideLayout" Target="../slideLayouts/slideLayout71.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0" Type="http://schemas.openxmlformats.org/officeDocument/2006/relationships/theme" Target="../theme/theme19.xml"/><Relationship Id="rId2" Type="http://schemas.openxmlformats.org/officeDocument/2006/relationships/slideLayout" Target="../slideLayouts/slideLayout90.xml"/><Relationship Id="rId19" Type="http://schemas.openxmlformats.org/officeDocument/2006/relationships/image" Target="../media/image6.png"/><Relationship Id="rId18" Type="http://schemas.openxmlformats.org/officeDocument/2006/relationships/slideLayout" Target="../slideLayouts/slideLayout106.xml"/><Relationship Id="rId17" Type="http://schemas.openxmlformats.org/officeDocument/2006/relationships/slideLayout" Target="../slideLayouts/slideLayout105.xml"/><Relationship Id="rId16" Type="http://schemas.openxmlformats.org/officeDocument/2006/relationships/slideLayout" Target="../slideLayouts/slideLayout104.xml"/><Relationship Id="rId15" Type="http://schemas.openxmlformats.org/officeDocument/2006/relationships/slideLayout" Target="../slideLayouts/slideLayout103.xml"/><Relationship Id="rId14" Type="http://schemas.openxmlformats.org/officeDocument/2006/relationships/slideLayout" Target="../slideLayouts/slideLayout102.xml"/><Relationship Id="rId13" Type="http://schemas.openxmlformats.org/officeDocument/2006/relationships/slideLayout" Target="../slideLayouts/slideLayout101.xml"/><Relationship Id="rId12" Type="http://schemas.openxmlformats.org/officeDocument/2006/relationships/slideLayout" Target="../slideLayouts/slideLayout100.xml"/><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115.xml"/><Relationship Id="rId8" Type="http://schemas.openxmlformats.org/officeDocument/2006/relationships/slideLayout" Target="../slideLayouts/slideLayout114.xml"/><Relationship Id="rId7" Type="http://schemas.openxmlformats.org/officeDocument/2006/relationships/slideLayout" Target="../slideLayouts/slideLayout113.xml"/><Relationship Id="rId6" Type="http://schemas.openxmlformats.org/officeDocument/2006/relationships/slideLayout" Target="../slideLayouts/slideLayout112.xml"/><Relationship Id="rId5" Type="http://schemas.openxmlformats.org/officeDocument/2006/relationships/slideLayout" Target="../slideLayouts/slideLayout111.xml"/><Relationship Id="rId4" Type="http://schemas.openxmlformats.org/officeDocument/2006/relationships/slideLayout" Target="../slideLayouts/slideLayout110.xml"/><Relationship Id="rId3" Type="http://schemas.openxmlformats.org/officeDocument/2006/relationships/slideLayout" Target="../slideLayouts/slideLayout109.xml"/><Relationship Id="rId20" Type="http://schemas.openxmlformats.org/officeDocument/2006/relationships/theme" Target="../theme/theme20.xml"/><Relationship Id="rId2" Type="http://schemas.openxmlformats.org/officeDocument/2006/relationships/slideLayout" Target="../slideLayouts/slideLayout108.xml"/><Relationship Id="rId19" Type="http://schemas.openxmlformats.org/officeDocument/2006/relationships/image" Target="../media/image6.png"/><Relationship Id="rId18" Type="http://schemas.openxmlformats.org/officeDocument/2006/relationships/slideLayout" Target="../slideLayouts/slideLayout124.xml"/><Relationship Id="rId17" Type="http://schemas.openxmlformats.org/officeDocument/2006/relationships/slideLayout" Target="../slideLayouts/slideLayout123.xml"/><Relationship Id="rId16" Type="http://schemas.openxmlformats.org/officeDocument/2006/relationships/slideLayout" Target="../slideLayouts/slideLayout122.xml"/><Relationship Id="rId15" Type="http://schemas.openxmlformats.org/officeDocument/2006/relationships/slideLayout" Target="../slideLayouts/slideLayout121.xml"/><Relationship Id="rId14" Type="http://schemas.openxmlformats.org/officeDocument/2006/relationships/slideLayout" Target="../slideLayouts/slideLayout120.xml"/><Relationship Id="rId13" Type="http://schemas.openxmlformats.org/officeDocument/2006/relationships/slideLayout" Target="../slideLayouts/slideLayout119.xml"/><Relationship Id="rId12" Type="http://schemas.openxmlformats.org/officeDocument/2006/relationships/slideLayout" Target="../slideLayouts/slideLayout118.xml"/><Relationship Id="rId11" Type="http://schemas.openxmlformats.org/officeDocument/2006/relationships/slideLayout" Target="../slideLayouts/slideLayout117.xml"/><Relationship Id="rId10" Type="http://schemas.openxmlformats.org/officeDocument/2006/relationships/slideLayout" Target="../slideLayouts/slideLayout116.xml"/><Relationship Id="rId1" Type="http://schemas.openxmlformats.org/officeDocument/2006/relationships/slideLayout" Target="../slideLayouts/slideLayout107.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0" Type="http://schemas.openxmlformats.org/officeDocument/2006/relationships/theme" Target="../theme/theme21.xml"/><Relationship Id="rId2" Type="http://schemas.openxmlformats.org/officeDocument/2006/relationships/slideLayout" Target="../slideLayouts/slideLayout126.xml"/><Relationship Id="rId19" Type="http://schemas.openxmlformats.org/officeDocument/2006/relationships/image" Target="../media/image6.png"/><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151.xml"/><Relationship Id="rId8" Type="http://schemas.openxmlformats.org/officeDocument/2006/relationships/slideLayout" Target="../slideLayouts/slideLayout150.xml"/><Relationship Id="rId7" Type="http://schemas.openxmlformats.org/officeDocument/2006/relationships/slideLayout" Target="../slideLayouts/slideLayout149.xml"/><Relationship Id="rId6" Type="http://schemas.openxmlformats.org/officeDocument/2006/relationships/slideLayout" Target="../slideLayouts/slideLayout148.xml"/><Relationship Id="rId5" Type="http://schemas.openxmlformats.org/officeDocument/2006/relationships/slideLayout" Target="../slideLayouts/slideLayout147.xml"/><Relationship Id="rId4" Type="http://schemas.openxmlformats.org/officeDocument/2006/relationships/slideLayout" Target="../slideLayouts/slideLayout146.xml"/><Relationship Id="rId3" Type="http://schemas.openxmlformats.org/officeDocument/2006/relationships/slideLayout" Target="../slideLayouts/slideLayout145.xml"/><Relationship Id="rId20" Type="http://schemas.openxmlformats.org/officeDocument/2006/relationships/theme" Target="../theme/theme22.xml"/><Relationship Id="rId2" Type="http://schemas.openxmlformats.org/officeDocument/2006/relationships/slideLayout" Target="../slideLayouts/slideLayout144.xml"/><Relationship Id="rId19" Type="http://schemas.openxmlformats.org/officeDocument/2006/relationships/image" Target="../media/image6.png"/><Relationship Id="rId18" Type="http://schemas.openxmlformats.org/officeDocument/2006/relationships/slideLayout" Target="../slideLayouts/slideLayout160.xml"/><Relationship Id="rId17" Type="http://schemas.openxmlformats.org/officeDocument/2006/relationships/slideLayout" Target="../slideLayouts/slideLayout159.xml"/><Relationship Id="rId16" Type="http://schemas.openxmlformats.org/officeDocument/2006/relationships/slideLayout" Target="../slideLayouts/slideLayout158.xml"/><Relationship Id="rId15" Type="http://schemas.openxmlformats.org/officeDocument/2006/relationships/slideLayout" Target="../slideLayouts/slideLayout157.xml"/><Relationship Id="rId14" Type="http://schemas.openxmlformats.org/officeDocument/2006/relationships/slideLayout" Target="../slideLayouts/slideLayout156.xml"/><Relationship Id="rId13" Type="http://schemas.openxmlformats.org/officeDocument/2006/relationships/slideLayout" Target="../slideLayouts/slideLayout155.xml"/><Relationship Id="rId12" Type="http://schemas.openxmlformats.org/officeDocument/2006/relationships/slideLayout" Target="../slideLayouts/slideLayout154.xml"/><Relationship Id="rId11" Type="http://schemas.openxmlformats.org/officeDocument/2006/relationships/slideLayout" Target="../slideLayouts/slideLayout153.xml"/><Relationship Id="rId10" Type="http://schemas.openxmlformats.org/officeDocument/2006/relationships/slideLayout" Target="../slideLayouts/slideLayout152.xml"/><Relationship Id="rId1" Type="http://schemas.openxmlformats.org/officeDocument/2006/relationships/slideLayout" Target="../slideLayouts/slideLayout143.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169.xml"/><Relationship Id="rId8" Type="http://schemas.openxmlformats.org/officeDocument/2006/relationships/slideLayout" Target="../slideLayouts/slideLayout168.xml"/><Relationship Id="rId7" Type="http://schemas.openxmlformats.org/officeDocument/2006/relationships/slideLayout" Target="../slideLayouts/slideLayout167.xml"/><Relationship Id="rId6" Type="http://schemas.openxmlformats.org/officeDocument/2006/relationships/slideLayout" Target="../slideLayouts/slideLayout166.xml"/><Relationship Id="rId5" Type="http://schemas.openxmlformats.org/officeDocument/2006/relationships/slideLayout" Target="../slideLayouts/slideLayout165.xml"/><Relationship Id="rId4" Type="http://schemas.openxmlformats.org/officeDocument/2006/relationships/slideLayout" Target="../slideLayouts/slideLayout164.xml"/><Relationship Id="rId3" Type="http://schemas.openxmlformats.org/officeDocument/2006/relationships/slideLayout" Target="../slideLayouts/slideLayout163.xml"/><Relationship Id="rId20" Type="http://schemas.openxmlformats.org/officeDocument/2006/relationships/theme" Target="../theme/theme23.xml"/><Relationship Id="rId2" Type="http://schemas.openxmlformats.org/officeDocument/2006/relationships/slideLayout" Target="../slideLayouts/slideLayout162.xml"/><Relationship Id="rId19" Type="http://schemas.openxmlformats.org/officeDocument/2006/relationships/image" Target="../media/image6.png"/><Relationship Id="rId18" Type="http://schemas.openxmlformats.org/officeDocument/2006/relationships/slideLayout" Target="../slideLayouts/slideLayout178.xml"/><Relationship Id="rId17" Type="http://schemas.openxmlformats.org/officeDocument/2006/relationships/slideLayout" Target="../slideLayouts/slideLayout177.xml"/><Relationship Id="rId16" Type="http://schemas.openxmlformats.org/officeDocument/2006/relationships/slideLayout" Target="../slideLayouts/slideLayout176.xml"/><Relationship Id="rId15" Type="http://schemas.openxmlformats.org/officeDocument/2006/relationships/slideLayout" Target="../slideLayouts/slideLayout175.xml"/><Relationship Id="rId14" Type="http://schemas.openxmlformats.org/officeDocument/2006/relationships/slideLayout" Target="../slideLayouts/slideLayout174.xml"/><Relationship Id="rId13" Type="http://schemas.openxmlformats.org/officeDocument/2006/relationships/slideLayout" Target="../slideLayouts/slideLayout173.xml"/><Relationship Id="rId12" Type="http://schemas.openxmlformats.org/officeDocument/2006/relationships/slideLayout" Target="../slideLayouts/slideLayout172.xml"/><Relationship Id="rId11" Type="http://schemas.openxmlformats.org/officeDocument/2006/relationships/slideLayout" Target="../slideLayouts/slideLayout171.xml"/><Relationship Id="rId10" Type="http://schemas.openxmlformats.org/officeDocument/2006/relationships/slideLayout" Target="../slideLayouts/slideLayout170.xml"/><Relationship Id="rId1" Type="http://schemas.openxmlformats.org/officeDocument/2006/relationships/slideLayout" Target="../slideLayouts/slideLayout161.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187.xml"/><Relationship Id="rId8" Type="http://schemas.openxmlformats.org/officeDocument/2006/relationships/slideLayout" Target="../slideLayouts/slideLayout186.xml"/><Relationship Id="rId7" Type="http://schemas.openxmlformats.org/officeDocument/2006/relationships/slideLayout" Target="../slideLayouts/slideLayout185.xml"/><Relationship Id="rId6" Type="http://schemas.openxmlformats.org/officeDocument/2006/relationships/slideLayout" Target="../slideLayouts/slideLayout184.xml"/><Relationship Id="rId5" Type="http://schemas.openxmlformats.org/officeDocument/2006/relationships/slideLayout" Target="../slideLayouts/slideLayout183.xml"/><Relationship Id="rId4" Type="http://schemas.openxmlformats.org/officeDocument/2006/relationships/slideLayout" Target="../slideLayouts/slideLayout182.xml"/><Relationship Id="rId3" Type="http://schemas.openxmlformats.org/officeDocument/2006/relationships/slideLayout" Target="../slideLayouts/slideLayout181.xml"/><Relationship Id="rId20" Type="http://schemas.openxmlformats.org/officeDocument/2006/relationships/theme" Target="../theme/theme24.xml"/><Relationship Id="rId2" Type="http://schemas.openxmlformats.org/officeDocument/2006/relationships/slideLayout" Target="../slideLayouts/slideLayout180.xml"/><Relationship Id="rId19" Type="http://schemas.openxmlformats.org/officeDocument/2006/relationships/image" Target="../media/image6.png"/><Relationship Id="rId18" Type="http://schemas.openxmlformats.org/officeDocument/2006/relationships/slideLayout" Target="../slideLayouts/slideLayout196.xml"/><Relationship Id="rId17" Type="http://schemas.openxmlformats.org/officeDocument/2006/relationships/slideLayout" Target="../slideLayouts/slideLayout195.xml"/><Relationship Id="rId16" Type="http://schemas.openxmlformats.org/officeDocument/2006/relationships/slideLayout" Target="../slideLayouts/slideLayout194.xml"/><Relationship Id="rId15" Type="http://schemas.openxmlformats.org/officeDocument/2006/relationships/slideLayout" Target="../slideLayouts/slideLayout193.xml"/><Relationship Id="rId14" Type="http://schemas.openxmlformats.org/officeDocument/2006/relationships/slideLayout" Target="../slideLayouts/slideLayout192.xml"/><Relationship Id="rId13" Type="http://schemas.openxmlformats.org/officeDocument/2006/relationships/slideLayout" Target="../slideLayouts/slideLayout191.xml"/><Relationship Id="rId12" Type="http://schemas.openxmlformats.org/officeDocument/2006/relationships/slideLayout" Target="../slideLayouts/slideLayout190.xml"/><Relationship Id="rId11" Type="http://schemas.openxmlformats.org/officeDocument/2006/relationships/slideLayout" Target="../slideLayouts/slideLayout189.xml"/><Relationship Id="rId10" Type="http://schemas.openxmlformats.org/officeDocument/2006/relationships/slideLayout" Target="../slideLayouts/slideLayout188.xml"/><Relationship Id="rId1" Type="http://schemas.openxmlformats.org/officeDocument/2006/relationships/slideLayout" Target="../slideLayouts/slideLayout179.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05.xml"/><Relationship Id="rId8" Type="http://schemas.openxmlformats.org/officeDocument/2006/relationships/slideLayout" Target="../slideLayouts/slideLayout204.xml"/><Relationship Id="rId7" Type="http://schemas.openxmlformats.org/officeDocument/2006/relationships/slideLayout" Target="../slideLayouts/slideLayout203.xml"/><Relationship Id="rId6" Type="http://schemas.openxmlformats.org/officeDocument/2006/relationships/slideLayout" Target="../slideLayouts/slideLayout202.xml"/><Relationship Id="rId5" Type="http://schemas.openxmlformats.org/officeDocument/2006/relationships/slideLayout" Target="../slideLayouts/slideLayout201.xml"/><Relationship Id="rId4" Type="http://schemas.openxmlformats.org/officeDocument/2006/relationships/slideLayout" Target="../slideLayouts/slideLayout200.xml"/><Relationship Id="rId3" Type="http://schemas.openxmlformats.org/officeDocument/2006/relationships/slideLayout" Target="../slideLayouts/slideLayout199.xml"/><Relationship Id="rId20" Type="http://schemas.openxmlformats.org/officeDocument/2006/relationships/theme" Target="../theme/theme25.xml"/><Relationship Id="rId2" Type="http://schemas.openxmlformats.org/officeDocument/2006/relationships/slideLayout" Target="../slideLayouts/slideLayout198.xml"/><Relationship Id="rId19" Type="http://schemas.openxmlformats.org/officeDocument/2006/relationships/image" Target="../media/image6.png"/><Relationship Id="rId18" Type="http://schemas.openxmlformats.org/officeDocument/2006/relationships/slideLayout" Target="../slideLayouts/slideLayout214.xml"/><Relationship Id="rId17" Type="http://schemas.openxmlformats.org/officeDocument/2006/relationships/slideLayout" Target="../slideLayouts/slideLayout213.xml"/><Relationship Id="rId16" Type="http://schemas.openxmlformats.org/officeDocument/2006/relationships/slideLayout" Target="../slideLayouts/slideLayout212.xml"/><Relationship Id="rId15" Type="http://schemas.openxmlformats.org/officeDocument/2006/relationships/slideLayout" Target="../slideLayouts/slideLayout211.xml"/><Relationship Id="rId14" Type="http://schemas.openxmlformats.org/officeDocument/2006/relationships/slideLayout" Target="../slideLayouts/slideLayout210.xml"/><Relationship Id="rId13" Type="http://schemas.openxmlformats.org/officeDocument/2006/relationships/slideLayout" Target="../slideLayouts/slideLayout209.xml"/><Relationship Id="rId12" Type="http://schemas.openxmlformats.org/officeDocument/2006/relationships/slideLayout" Target="../slideLayouts/slideLayout208.xml"/><Relationship Id="rId11" Type="http://schemas.openxmlformats.org/officeDocument/2006/relationships/slideLayout" Target="../slideLayouts/slideLayout207.xml"/><Relationship Id="rId10" Type="http://schemas.openxmlformats.org/officeDocument/2006/relationships/slideLayout" Target="../slideLayouts/slideLayout206.xml"/><Relationship Id="rId1" Type="http://schemas.openxmlformats.org/officeDocument/2006/relationships/slideLayout" Target="../slideLayouts/slideLayout197.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23.xml"/><Relationship Id="rId8" Type="http://schemas.openxmlformats.org/officeDocument/2006/relationships/slideLayout" Target="../slideLayouts/slideLayout222.xml"/><Relationship Id="rId7" Type="http://schemas.openxmlformats.org/officeDocument/2006/relationships/slideLayout" Target="../slideLayouts/slideLayout221.xml"/><Relationship Id="rId6" Type="http://schemas.openxmlformats.org/officeDocument/2006/relationships/slideLayout" Target="../slideLayouts/slideLayout220.xml"/><Relationship Id="rId5" Type="http://schemas.openxmlformats.org/officeDocument/2006/relationships/slideLayout" Target="../slideLayouts/slideLayout219.xml"/><Relationship Id="rId4" Type="http://schemas.openxmlformats.org/officeDocument/2006/relationships/slideLayout" Target="../slideLayouts/slideLayout218.xml"/><Relationship Id="rId3" Type="http://schemas.openxmlformats.org/officeDocument/2006/relationships/slideLayout" Target="../slideLayouts/slideLayout217.xml"/><Relationship Id="rId20" Type="http://schemas.openxmlformats.org/officeDocument/2006/relationships/theme" Target="../theme/theme26.xml"/><Relationship Id="rId2" Type="http://schemas.openxmlformats.org/officeDocument/2006/relationships/slideLayout" Target="../slideLayouts/slideLayout216.xml"/><Relationship Id="rId19" Type="http://schemas.openxmlformats.org/officeDocument/2006/relationships/image" Target="../media/image6.png"/><Relationship Id="rId18" Type="http://schemas.openxmlformats.org/officeDocument/2006/relationships/slideLayout" Target="../slideLayouts/slideLayout232.xml"/><Relationship Id="rId17" Type="http://schemas.openxmlformats.org/officeDocument/2006/relationships/slideLayout" Target="../slideLayouts/slideLayout231.xml"/><Relationship Id="rId16" Type="http://schemas.openxmlformats.org/officeDocument/2006/relationships/slideLayout" Target="../slideLayouts/slideLayout230.xml"/><Relationship Id="rId15" Type="http://schemas.openxmlformats.org/officeDocument/2006/relationships/slideLayout" Target="../slideLayouts/slideLayout229.xml"/><Relationship Id="rId14" Type="http://schemas.openxmlformats.org/officeDocument/2006/relationships/slideLayout" Target="../slideLayouts/slideLayout228.xml"/><Relationship Id="rId13" Type="http://schemas.openxmlformats.org/officeDocument/2006/relationships/slideLayout" Target="../slideLayouts/slideLayout227.xml"/><Relationship Id="rId12" Type="http://schemas.openxmlformats.org/officeDocument/2006/relationships/slideLayout" Target="../slideLayouts/slideLayout226.xml"/><Relationship Id="rId11" Type="http://schemas.openxmlformats.org/officeDocument/2006/relationships/slideLayout" Target="../slideLayouts/slideLayout225.xml"/><Relationship Id="rId10" Type="http://schemas.openxmlformats.org/officeDocument/2006/relationships/slideLayout" Target="../slideLayouts/slideLayout224.xml"/><Relationship Id="rId1" Type="http://schemas.openxmlformats.org/officeDocument/2006/relationships/slideLayout" Target="../slideLayouts/slideLayout215.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41.xml"/><Relationship Id="rId8" Type="http://schemas.openxmlformats.org/officeDocument/2006/relationships/slideLayout" Target="../slideLayouts/slideLayout240.xml"/><Relationship Id="rId7" Type="http://schemas.openxmlformats.org/officeDocument/2006/relationships/slideLayout" Target="../slideLayouts/slideLayout239.xml"/><Relationship Id="rId6" Type="http://schemas.openxmlformats.org/officeDocument/2006/relationships/slideLayout" Target="../slideLayouts/slideLayout238.xml"/><Relationship Id="rId5" Type="http://schemas.openxmlformats.org/officeDocument/2006/relationships/slideLayout" Target="../slideLayouts/slideLayout237.xml"/><Relationship Id="rId4" Type="http://schemas.openxmlformats.org/officeDocument/2006/relationships/slideLayout" Target="../slideLayouts/slideLayout236.xml"/><Relationship Id="rId3" Type="http://schemas.openxmlformats.org/officeDocument/2006/relationships/slideLayout" Target="../slideLayouts/slideLayout235.xml"/><Relationship Id="rId20" Type="http://schemas.openxmlformats.org/officeDocument/2006/relationships/theme" Target="../theme/theme27.xml"/><Relationship Id="rId2" Type="http://schemas.openxmlformats.org/officeDocument/2006/relationships/slideLayout" Target="../slideLayouts/slideLayout234.xml"/><Relationship Id="rId19" Type="http://schemas.openxmlformats.org/officeDocument/2006/relationships/image" Target="../media/image6.png"/><Relationship Id="rId18" Type="http://schemas.openxmlformats.org/officeDocument/2006/relationships/slideLayout" Target="../slideLayouts/slideLayout250.xml"/><Relationship Id="rId17" Type="http://schemas.openxmlformats.org/officeDocument/2006/relationships/slideLayout" Target="../slideLayouts/slideLayout249.xml"/><Relationship Id="rId16" Type="http://schemas.openxmlformats.org/officeDocument/2006/relationships/slideLayout" Target="../slideLayouts/slideLayout248.xml"/><Relationship Id="rId15" Type="http://schemas.openxmlformats.org/officeDocument/2006/relationships/slideLayout" Target="../slideLayouts/slideLayout247.xml"/><Relationship Id="rId14" Type="http://schemas.openxmlformats.org/officeDocument/2006/relationships/slideLayout" Target="../slideLayouts/slideLayout246.xml"/><Relationship Id="rId13" Type="http://schemas.openxmlformats.org/officeDocument/2006/relationships/slideLayout" Target="../slideLayouts/slideLayout245.xml"/><Relationship Id="rId12" Type="http://schemas.openxmlformats.org/officeDocument/2006/relationships/slideLayout" Target="../slideLayouts/slideLayout244.xml"/><Relationship Id="rId11" Type="http://schemas.openxmlformats.org/officeDocument/2006/relationships/slideLayout" Target="../slideLayouts/slideLayout243.xml"/><Relationship Id="rId10" Type="http://schemas.openxmlformats.org/officeDocument/2006/relationships/slideLayout" Target="../slideLayouts/slideLayout242.xml"/><Relationship Id="rId1" Type="http://schemas.openxmlformats.org/officeDocument/2006/relationships/slideLayout" Target="../slideLayouts/slideLayout233.xml"/></Relationships>
</file>

<file path=ppt/slideMasters/_rels/slideMaster28.xml.rels><?xml version="1.0" encoding="UTF-8" standalone="yes"?>
<Relationships xmlns="http://schemas.openxmlformats.org/package/2006/relationships"><Relationship Id="rId4" Type="http://schemas.openxmlformats.org/officeDocument/2006/relationships/theme" Target="../theme/theme28.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51.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260.xml"/><Relationship Id="rId8" Type="http://schemas.openxmlformats.org/officeDocument/2006/relationships/slideLayout" Target="../slideLayouts/slideLayout259.xml"/><Relationship Id="rId7" Type="http://schemas.openxmlformats.org/officeDocument/2006/relationships/slideLayout" Target="../slideLayouts/slideLayout258.xml"/><Relationship Id="rId6" Type="http://schemas.openxmlformats.org/officeDocument/2006/relationships/slideLayout" Target="../slideLayouts/slideLayout257.xml"/><Relationship Id="rId5" Type="http://schemas.openxmlformats.org/officeDocument/2006/relationships/slideLayout" Target="../slideLayouts/slideLayout256.xml"/><Relationship Id="rId4" Type="http://schemas.openxmlformats.org/officeDocument/2006/relationships/slideLayout" Target="../slideLayouts/slideLayout255.xml"/><Relationship Id="rId3" Type="http://schemas.openxmlformats.org/officeDocument/2006/relationships/slideLayout" Target="../slideLayouts/slideLayout254.xml"/><Relationship Id="rId22" Type="http://schemas.openxmlformats.org/officeDocument/2006/relationships/theme" Target="../theme/theme29.xml"/><Relationship Id="rId21" Type="http://schemas.openxmlformats.org/officeDocument/2006/relationships/image" Target="../media/image6.png"/><Relationship Id="rId20" Type="http://schemas.openxmlformats.org/officeDocument/2006/relationships/slideLayout" Target="../slideLayouts/slideLayout271.xml"/><Relationship Id="rId2" Type="http://schemas.openxmlformats.org/officeDocument/2006/relationships/slideLayout" Target="../slideLayouts/slideLayout253.xml"/><Relationship Id="rId19" Type="http://schemas.openxmlformats.org/officeDocument/2006/relationships/slideLayout" Target="../slideLayouts/slideLayout270.xml"/><Relationship Id="rId18" Type="http://schemas.openxmlformats.org/officeDocument/2006/relationships/slideLayout" Target="../slideLayouts/slideLayout269.xml"/><Relationship Id="rId17" Type="http://schemas.openxmlformats.org/officeDocument/2006/relationships/slideLayout" Target="../slideLayouts/slideLayout268.xml"/><Relationship Id="rId16" Type="http://schemas.openxmlformats.org/officeDocument/2006/relationships/slideLayout" Target="../slideLayouts/slideLayout267.xml"/><Relationship Id="rId15" Type="http://schemas.openxmlformats.org/officeDocument/2006/relationships/slideLayout" Target="../slideLayouts/slideLayout266.xml"/><Relationship Id="rId14" Type="http://schemas.openxmlformats.org/officeDocument/2006/relationships/slideLayout" Target="../slideLayouts/slideLayout265.xml"/><Relationship Id="rId13" Type="http://schemas.openxmlformats.org/officeDocument/2006/relationships/slideLayout" Target="../slideLayouts/slideLayout264.xml"/><Relationship Id="rId12" Type="http://schemas.openxmlformats.org/officeDocument/2006/relationships/slideLayout" Target="../slideLayouts/slideLayout263.xml"/><Relationship Id="rId11" Type="http://schemas.openxmlformats.org/officeDocument/2006/relationships/slideLayout" Target="../slideLayouts/slideLayout262.xml"/><Relationship Id="rId10" Type="http://schemas.openxmlformats.org/officeDocument/2006/relationships/slideLayout" Target="../slideLayouts/slideLayout261.xml"/><Relationship Id="rId1" Type="http://schemas.openxmlformats.org/officeDocument/2006/relationships/slideLayout" Target="../slideLayouts/slideLayout252.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280.xml"/><Relationship Id="rId8" Type="http://schemas.openxmlformats.org/officeDocument/2006/relationships/slideLayout" Target="../slideLayouts/slideLayout279.xml"/><Relationship Id="rId7" Type="http://schemas.openxmlformats.org/officeDocument/2006/relationships/slideLayout" Target="../slideLayouts/slideLayout278.xml"/><Relationship Id="rId6" Type="http://schemas.openxmlformats.org/officeDocument/2006/relationships/slideLayout" Target="../slideLayouts/slideLayout277.xml"/><Relationship Id="rId5" Type="http://schemas.openxmlformats.org/officeDocument/2006/relationships/slideLayout" Target="../slideLayouts/slideLayout276.xml"/><Relationship Id="rId4" Type="http://schemas.openxmlformats.org/officeDocument/2006/relationships/slideLayout" Target="../slideLayouts/slideLayout275.xml"/><Relationship Id="rId3" Type="http://schemas.openxmlformats.org/officeDocument/2006/relationships/slideLayout" Target="../slideLayouts/slideLayout274.xml"/><Relationship Id="rId22" Type="http://schemas.openxmlformats.org/officeDocument/2006/relationships/theme" Target="../theme/theme30.xml"/><Relationship Id="rId21" Type="http://schemas.openxmlformats.org/officeDocument/2006/relationships/image" Target="../media/image6.png"/><Relationship Id="rId20" Type="http://schemas.openxmlformats.org/officeDocument/2006/relationships/slideLayout" Target="../slideLayouts/slideLayout291.xml"/><Relationship Id="rId2" Type="http://schemas.openxmlformats.org/officeDocument/2006/relationships/slideLayout" Target="../slideLayouts/slideLayout273.xml"/><Relationship Id="rId19" Type="http://schemas.openxmlformats.org/officeDocument/2006/relationships/slideLayout" Target="../slideLayouts/slideLayout290.xml"/><Relationship Id="rId18" Type="http://schemas.openxmlformats.org/officeDocument/2006/relationships/slideLayout" Target="../slideLayouts/slideLayout289.xml"/><Relationship Id="rId17" Type="http://schemas.openxmlformats.org/officeDocument/2006/relationships/slideLayout" Target="../slideLayouts/slideLayout288.xml"/><Relationship Id="rId16" Type="http://schemas.openxmlformats.org/officeDocument/2006/relationships/slideLayout" Target="../slideLayouts/slideLayout287.xml"/><Relationship Id="rId15" Type="http://schemas.openxmlformats.org/officeDocument/2006/relationships/slideLayout" Target="../slideLayouts/slideLayout286.xml"/><Relationship Id="rId14" Type="http://schemas.openxmlformats.org/officeDocument/2006/relationships/slideLayout" Target="../slideLayouts/slideLayout285.xml"/><Relationship Id="rId13" Type="http://schemas.openxmlformats.org/officeDocument/2006/relationships/slideLayout" Target="../slideLayouts/slideLayout284.xml"/><Relationship Id="rId12" Type="http://schemas.openxmlformats.org/officeDocument/2006/relationships/slideLayout" Target="../slideLayouts/slideLayout283.xml"/><Relationship Id="rId11" Type="http://schemas.openxmlformats.org/officeDocument/2006/relationships/slideLayout" Target="../slideLayouts/slideLayout282.xml"/><Relationship Id="rId10" Type="http://schemas.openxmlformats.org/officeDocument/2006/relationships/slideLayout" Target="../slideLayouts/slideLayout281.xml"/><Relationship Id="rId1" Type="http://schemas.openxmlformats.org/officeDocument/2006/relationships/slideLayout" Target="../slideLayouts/slideLayout272.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00.xml"/><Relationship Id="rId8" Type="http://schemas.openxmlformats.org/officeDocument/2006/relationships/slideLayout" Target="../slideLayouts/slideLayout299.xml"/><Relationship Id="rId7" Type="http://schemas.openxmlformats.org/officeDocument/2006/relationships/slideLayout" Target="../slideLayouts/slideLayout298.xml"/><Relationship Id="rId6" Type="http://schemas.openxmlformats.org/officeDocument/2006/relationships/slideLayout" Target="../slideLayouts/slideLayout297.xml"/><Relationship Id="rId5" Type="http://schemas.openxmlformats.org/officeDocument/2006/relationships/slideLayout" Target="../slideLayouts/slideLayout296.xml"/><Relationship Id="rId4" Type="http://schemas.openxmlformats.org/officeDocument/2006/relationships/slideLayout" Target="../slideLayouts/slideLayout295.xml"/><Relationship Id="rId3" Type="http://schemas.openxmlformats.org/officeDocument/2006/relationships/slideLayout" Target="../slideLayouts/slideLayout294.xml"/><Relationship Id="rId22" Type="http://schemas.openxmlformats.org/officeDocument/2006/relationships/theme" Target="../theme/theme31.xml"/><Relationship Id="rId21" Type="http://schemas.openxmlformats.org/officeDocument/2006/relationships/image" Target="../media/image6.png"/><Relationship Id="rId20" Type="http://schemas.openxmlformats.org/officeDocument/2006/relationships/slideLayout" Target="../slideLayouts/slideLayout311.xml"/><Relationship Id="rId2" Type="http://schemas.openxmlformats.org/officeDocument/2006/relationships/slideLayout" Target="../slideLayouts/slideLayout293.xml"/><Relationship Id="rId19" Type="http://schemas.openxmlformats.org/officeDocument/2006/relationships/slideLayout" Target="../slideLayouts/slideLayout310.xml"/><Relationship Id="rId18" Type="http://schemas.openxmlformats.org/officeDocument/2006/relationships/slideLayout" Target="../slideLayouts/slideLayout309.xml"/><Relationship Id="rId17" Type="http://schemas.openxmlformats.org/officeDocument/2006/relationships/slideLayout" Target="../slideLayouts/slideLayout308.xml"/><Relationship Id="rId16" Type="http://schemas.openxmlformats.org/officeDocument/2006/relationships/slideLayout" Target="../slideLayouts/slideLayout307.xml"/><Relationship Id="rId15" Type="http://schemas.openxmlformats.org/officeDocument/2006/relationships/slideLayout" Target="../slideLayouts/slideLayout306.xml"/><Relationship Id="rId14" Type="http://schemas.openxmlformats.org/officeDocument/2006/relationships/slideLayout" Target="../slideLayouts/slideLayout305.xml"/><Relationship Id="rId13" Type="http://schemas.openxmlformats.org/officeDocument/2006/relationships/slideLayout" Target="../slideLayouts/slideLayout304.xml"/><Relationship Id="rId12" Type="http://schemas.openxmlformats.org/officeDocument/2006/relationships/slideLayout" Target="../slideLayouts/slideLayout303.xml"/><Relationship Id="rId11" Type="http://schemas.openxmlformats.org/officeDocument/2006/relationships/slideLayout" Target="../slideLayouts/slideLayout302.xml"/><Relationship Id="rId10" Type="http://schemas.openxmlformats.org/officeDocument/2006/relationships/slideLayout" Target="../slideLayouts/slideLayout301.xml"/><Relationship Id="rId1" Type="http://schemas.openxmlformats.org/officeDocument/2006/relationships/slideLayout" Target="../slideLayouts/slideLayout292.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20.xml"/><Relationship Id="rId8" Type="http://schemas.openxmlformats.org/officeDocument/2006/relationships/slideLayout" Target="../slideLayouts/slideLayout319.xml"/><Relationship Id="rId7" Type="http://schemas.openxmlformats.org/officeDocument/2006/relationships/slideLayout" Target="../slideLayouts/slideLayout318.xml"/><Relationship Id="rId6" Type="http://schemas.openxmlformats.org/officeDocument/2006/relationships/slideLayout" Target="../slideLayouts/slideLayout317.xml"/><Relationship Id="rId5" Type="http://schemas.openxmlformats.org/officeDocument/2006/relationships/slideLayout" Target="../slideLayouts/slideLayout316.xml"/><Relationship Id="rId4" Type="http://schemas.openxmlformats.org/officeDocument/2006/relationships/slideLayout" Target="../slideLayouts/slideLayout315.xml"/><Relationship Id="rId3" Type="http://schemas.openxmlformats.org/officeDocument/2006/relationships/slideLayout" Target="../slideLayouts/slideLayout314.xml"/><Relationship Id="rId2" Type="http://schemas.openxmlformats.org/officeDocument/2006/relationships/slideLayout" Target="../slideLayouts/slideLayout313.xml"/><Relationship Id="rId13" Type="http://schemas.openxmlformats.org/officeDocument/2006/relationships/theme" Target="../theme/theme32.xml"/><Relationship Id="rId12" Type="http://schemas.openxmlformats.org/officeDocument/2006/relationships/slideLayout" Target="../slideLayouts/slideLayout323.xml"/><Relationship Id="rId11" Type="http://schemas.openxmlformats.org/officeDocument/2006/relationships/slideLayout" Target="../slideLayouts/slideLayout322.xml"/><Relationship Id="rId10" Type="http://schemas.openxmlformats.org/officeDocument/2006/relationships/slideLayout" Target="../slideLayouts/slideLayout321.xml"/><Relationship Id="rId1" Type="http://schemas.openxmlformats.org/officeDocument/2006/relationships/slideLayout" Target="../slideLayouts/slideLayout312.xml"/></Relationships>
</file>

<file path=ppt/slideMasters/_rels/slideMaster33.xml.rels><?xml version="1.0" encoding="UTF-8" standalone="yes"?>
<Relationships xmlns="http://schemas.openxmlformats.org/package/2006/relationships"><Relationship Id="rId4" Type="http://schemas.openxmlformats.org/officeDocument/2006/relationships/theme" Target="../theme/theme33.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324.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33.xml"/><Relationship Id="rId8" Type="http://schemas.openxmlformats.org/officeDocument/2006/relationships/slideLayout" Target="../slideLayouts/slideLayout332.xml"/><Relationship Id="rId7" Type="http://schemas.openxmlformats.org/officeDocument/2006/relationships/slideLayout" Target="../slideLayouts/slideLayout331.xml"/><Relationship Id="rId6" Type="http://schemas.openxmlformats.org/officeDocument/2006/relationships/slideLayout" Target="../slideLayouts/slideLayout330.xml"/><Relationship Id="rId5" Type="http://schemas.openxmlformats.org/officeDocument/2006/relationships/slideLayout" Target="../slideLayouts/slideLayout329.xml"/><Relationship Id="rId4" Type="http://schemas.openxmlformats.org/officeDocument/2006/relationships/slideLayout" Target="../slideLayouts/slideLayout328.xml"/><Relationship Id="rId3" Type="http://schemas.openxmlformats.org/officeDocument/2006/relationships/slideLayout" Target="../slideLayouts/slideLayout327.xml"/><Relationship Id="rId22" Type="http://schemas.openxmlformats.org/officeDocument/2006/relationships/theme" Target="../theme/theme34.xml"/><Relationship Id="rId21" Type="http://schemas.openxmlformats.org/officeDocument/2006/relationships/image" Target="../media/image6.png"/><Relationship Id="rId20" Type="http://schemas.openxmlformats.org/officeDocument/2006/relationships/slideLayout" Target="../slideLayouts/slideLayout344.xml"/><Relationship Id="rId2" Type="http://schemas.openxmlformats.org/officeDocument/2006/relationships/slideLayout" Target="../slideLayouts/slideLayout326.xml"/><Relationship Id="rId19" Type="http://schemas.openxmlformats.org/officeDocument/2006/relationships/slideLayout" Target="../slideLayouts/slideLayout343.xml"/><Relationship Id="rId18" Type="http://schemas.openxmlformats.org/officeDocument/2006/relationships/slideLayout" Target="../slideLayouts/slideLayout342.xml"/><Relationship Id="rId17" Type="http://schemas.openxmlformats.org/officeDocument/2006/relationships/slideLayout" Target="../slideLayouts/slideLayout341.xml"/><Relationship Id="rId16" Type="http://schemas.openxmlformats.org/officeDocument/2006/relationships/slideLayout" Target="../slideLayouts/slideLayout340.xml"/><Relationship Id="rId15" Type="http://schemas.openxmlformats.org/officeDocument/2006/relationships/slideLayout" Target="../slideLayouts/slideLayout339.xml"/><Relationship Id="rId14" Type="http://schemas.openxmlformats.org/officeDocument/2006/relationships/slideLayout" Target="../slideLayouts/slideLayout338.xml"/><Relationship Id="rId13" Type="http://schemas.openxmlformats.org/officeDocument/2006/relationships/slideLayout" Target="../slideLayouts/slideLayout337.xml"/><Relationship Id="rId12" Type="http://schemas.openxmlformats.org/officeDocument/2006/relationships/slideLayout" Target="../slideLayouts/slideLayout336.xml"/><Relationship Id="rId11" Type="http://schemas.openxmlformats.org/officeDocument/2006/relationships/slideLayout" Target="../slideLayouts/slideLayout335.xml"/><Relationship Id="rId10" Type="http://schemas.openxmlformats.org/officeDocument/2006/relationships/slideLayout" Target="../slideLayouts/slideLayout334.xml"/><Relationship Id="rId1" Type="http://schemas.openxmlformats.org/officeDocument/2006/relationships/slideLayout" Target="../slideLayouts/slideLayout325.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345.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346.xml"/></Relationships>
</file>

<file path=ppt/slideMasters/_rels/slideMaster37.xml.rels><?xml version="1.0" encoding="UTF-8" standalone="yes"?>
<Relationships xmlns="http://schemas.openxmlformats.org/package/2006/relationships"><Relationship Id="rId4" Type="http://schemas.openxmlformats.org/officeDocument/2006/relationships/theme" Target="../theme/theme3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4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356.xml"/><Relationship Id="rId8" Type="http://schemas.openxmlformats.org/officeDocument/2006/relationships/slideLayout" Target="../slideLayouts/slideLayout355.xml"/><Relationship Id="rId7" Type="http://schemas.openxmlformats.org/officeDocument/2006/relationships/slideLayout" Target="../slideLayouts/slideLayout354.xml"/><Relationship Id="rId6" Type="http://schemas.openxmlformats.org/officeDocument/2006/relationships/slideLayout" Target="../slideLayouts/slideLayout353.xml"/><Relationship Id="rId5" Type="http://schemas.openxmlformats.org/officeDocument/2006/relationships/slideLayout" Target="../slideLayouts/slideLayout352.xml"/><Relationship Id="rId4" Type="http://schemas.openxmlformats.org/officeDocument/2006/relationships/slideLayout" Target="../slideLayouts/slideLayout351.xml"/><Relationship Id="rId3" Type="http://schemas.openxmlformats.org/officeDocument/2006/relationships/slideLayout" Target="../slideLayouts/slideLayout350.xml"/><Relationship Id="rId20" Type="http://schemas.openxmlformats.org/officeDocument/2006/relationships/theme" Target="../theme/theme38.xml"/><Relationship Id="rId2" Type="http://schemas.openxmlformats.org/officeDocument/2006/relationships/slideLayout" Target="../slideLayouts/slideLayout349.xml"/><Relationship Id="rId19" Type="http://schemas.openxmlformats.org/officeDocument/2006/relationships/image" Target="../media/image6.png"/><Relationship Id="rId18" Type="http://schemas.openxmlformats.org/officeDocument/2006/relationships/slideLayout" Target="../slideLayouts/slideLayout365.xml"/><Relationship Id="rId17" Type="http://schemas.openxmlformats.org/officeDocument/2006/relationships/slideLayout" Target="../slideLayouts/slideLayout364.xml"/><Relationship Id="rId16" Type="http://schemas.openxmlformats.org/officeDocument/2006/relationships/slideLayout" Target="../slideLayouts/slideLayout363.xml"/><Relationship Id="rId15" Type="http://schemas.openxmlformats.org/officeDocument/2006/relationships/slideLayout" Target="../slideLayouts/slideLayout362.xml"/><Relationship Id="rId14" Type="http://schemas.openxmlformats.org/officeDocument/2006/relationships/slideLayout" Target="../slideLayouts/slideLayout361.xml"/><Relationship Id="rId13" Type="http://schemas.openxmlformats.org/officeDocument/2006/relationships/slideLayout" Target="../slideLayouts/slideLayout360.xml"/><Relationship Id="rId12" Type="http://schemas.openxmlformats.org/officeDocument/2006/relationships/slideLayout" Target="../slideLayouts/slideLayout359.xml"/><Relationship Id="rId11" Type="http://schemas.openxmlformats.org/officeDocument/2006/relationships/slideLayout" Target="../slideLayouts/slideLayout358.xml"/><Relationship Id="rId10" Type="http://schemas.openxmlformats.org/officeDocument/2006/relationships/slideLayout" Target="../slideLayouts/slideLayout357.xml"/><Relationship Id="rId1" Type="http://schemas.openxmlformats.org/officeDocument/2006/relationships/slideLayout" Target="../slideLayouts/slideLayout348.xml"/></Relationships>
</file>

<file path=ppt/slideMasters/_rels/slideMaster39.xml.rels><?xml version="1.0" encoding="UTF-8" standalone="yes"?>
<Relationships xmlns="http://schemas.openxmlformats.org/package/2006/relationships"><Relationship Id="rId4" Type="http://schemas.openxmlformats.org/officeDocument/2006/relationships/theme" Target="../theme/theme39.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66.xml"/></Relationships>
</file>

<file path=ppt/slideMasters/_rels/slideMaster40.xml.rels><?xml version="1.0" encoding="UTF-8" standalone="yes"?>
<Relationships xmlns="http://schemas.openxmlformats.org/package/2006/relationships"><Relationship Id="rId4" Type="http://schemas.openxmlformats.org/officeDocument/2006/relationships/theme" Target="../theme/theme40.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367.xml"/></Relationships>
</file>

<file path=ppt/slideMasters/_rels/slideMaster41.xml.rels><?xml version="1.0" encoding="UTF-8" standalone="yes"?>
<Relationships xmlns="http://schemas.openxmlformats.org/package/2006/relationships"><Relationship Id="rId4" Type="http://schemas.openxmlformats.org/officeDocument/2006/relationships/theme" Target="../theme/theme41.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368.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377.xml"/><Relationship Id="rId8" Type="http://schemas.openxmlformats.org/officeDocument/2006/relationships/slideLayout" Target="../slideLayouts/slideLayout376.xml"/><Relationship Id="rId7" Type="http://schemas.openxmlformats.org/officeDocument/2006/relationships/slideLayout" Target="../slideLayouts/slideLayout375.xml"/><Relationship Id="rId6" Type="http://schemas.openxmlformats.org/officeDocument/2006/relationships/slideLayout" Target="../slideLayouts/slideLayout374.xml"/><Relationship Id="rId5" Type="http://schemas.openxmlformats.org/officeDocument/2006/relationships/slideLayout" Target="../slideLayouts/slideLayout373.xml"/><Relationship Id="rId4" Type="http://schemas.openxmlformats.org/officeDocument/2006/relationships/slideLayout" Target="../slideLayouts/slideLayout372.xml"/><Relationship Id="rId3" Type="http://schemas.openxmlformats.org/officeDocument/2006/relationships/slideLayout" Target="../slideLayouts/slideLayout371.xml"/><Relationship Id="rId22" Type="http://schemas.openxmlformats.org/officeDocument/2006/relationships/theme" Target="../theme/theme42.xml"/><Relationship Id="rId21" Type="http://schemas.openxmlformats.org/officeDocument/2006/relationships/image" Target="../media/image6.png"/><Relationship Id="rId20" Type="http://schemas.openxmlformats.org/officeDocument/2006/relationships/slideLayout" Target="../slideLayouts/slideLayout388.xml"/><Relationship Id="rId2" Type="http://schemas.openxmlformats.org/officeDocument/2006/relationships/slideLayout" Target="../slideLayouts/slideLayout370.xml"/><Relationship Id="rId19" Type="http://schemas.openxmlformats.org/officeDocument/2006/relationships/slideLayout" Target="../slideLayouts/slideLayout387.xml"/><Relationship Id="rId18" Type="http://schemas.openxmlformats.org/officeDocument/2006/relationships/slideLayout" Target="../slideLayouts/slideLayout386.xml"/><Relationship Id="rId17" Type="http://schemas.openxmlformats.org/officeDocument/2006/relationships/slideLayout" Target="../slideLayouts/slideLayout385.xml"/><Relationship Id="rId16" Type="http://schemas.openxmlformats.org/officeDocument/2006/relationships/slideLayout" Target="../slideLayouts/slideLayout384.xml"/><Relationship Id="rId15" Type="http://schemas.openxmlformats.org/officeDocument/2006/relationships/slideLayout" Target="../slideLayouts/slideLayout383.xml"/><Relationship Id="rId14" Type="http://schemas.openxmlformats.org/officeDocument/2006/relationships/slideLayout" Target="../slideLayouts/slideLayout382.xml"/><Relationship Id="rId13" Type="http://schemas.openxmlformats.org/officeDocument/2006/relationships/slideLayout" Target="../slideLayouts/slideLayout381.xml"/><Relationship Id="rId12" Type="http://schemas.openxmlformats.org/officeDocument/2006/relationships/slideLayout" Target="../slideLayouts/slideLayout380.xml"/><Relationship Id="rId11" Type="http://schemas.openxmlformats.org/officeDocument/2006/relationships/slideLayout" Target="../slideLayouts/slideLayout379.xml"/><Relationship Id="rId10" Type="http://schemas.openxmlformats.org/officeDocument/2006/relationships/slideLayout" Target="../slideLayouts/slideLayout378.xml"/><Relationship Id="rId1" Type="http://schemas.openxmlformats.org/officeDocument/2006/relationships/slideLayout" Target="../slideLayouts/slideLayout369.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397.xml"/><Relationship Id="rId8" Type="http://schemas.openxmlformats.org/officeDocument/2006/relationships/slideLayout" Target="../slideLayouts/slideLayout396.xml"/><Relationship Id="rId7" Type="http://schemas.openxmlformats.org/officeDocument/2006/relationships/slideLayout" Target="../slideLayouts/slideLayout395.xml"/><Relationship Id="rId6" Type="http://schemas.openxmlformats.org/officeDocument/2006/relationships/slideLayout" Target="../slideLayouts/slideLayout394.xml"/><Relationship Id="rId5" Type="http://schemas.openxmlformats.org/officeDocument/2006/relationships/slideLayout" Target="../slideLayouts/slideLayout393.xml"/><Relationship Id="rId4" Type="http://schemas.openxmlformats.org/officeDocument/2006/relationships/slideLayout" Target="../slideLayouts/slideLayout392.xml"/><Relationship Id="rId3" Type="http://schemas.openxmlformats.org/officeDocument/2006/relationships/slideLayout" Target="../slideLayouts/slideLayout391.xml"/><Relationship Id="rId22" Type="http://schemas.openxmlformats.org/officeDocument/2006/relationships/theme" Target="../theme/theme43.xml"/><Relationship Id="rId21" Type="http://schemas.openxmlformats.org/officeDocument/2006/relationships/image" Target="../media/image6.png"/><Relationship Id="rId20" Type="http://schemas.openxmlformats.org/officeDocument/2006/relationships/slideLayout" Target="../slideLayouts/slideLayout408.xml"/><Relationship Id="rId2" Type="http://schemas.openxmlformats.org/officeDocument/2006/relationships/slideLayout" Target="../slideLayouts/slideLayout390.xml"/><Relationship Id="rId19" Type="http://schemas.openxmlformats.org/officeDocument/2006/relationships/slideLayout" Target="../slideLayouts/slideLayout407.xml"/><Relationship Id="rId18" Type="http://schemas.openxmlformats.org/officeDocument/2006/relationships/slideLayout" Target="../slideLayouts/slideLayout406.xml"/><Relationship Id="rId17" Type="http://schemas.openxmlformats.org/officeDocument/2006/relationships/slideLayout" Target="../slideLayouts/slideLayout405.xml"/><Relationship Id="rId16" Type="http://schemas.openxmlformats.org/officeDocument/2006/relationships/slideLayout" Target="../slideLayouts/slideLayout404.xml"/><Relationship Id="rId15" Type="http://schemas.openxmlformats.org/officeDocument/2006/relationships/slideLayout" Target="../slideLayouts/slideLayout403.xml"/><Relationship Id="rId14" Type="http://schemas.openxmlformats.org/officeDocument/2006/relationships/slideLayout" Target="../slideLayouts/slideLayout402.xml"/><Relationship Id="rId13" Type="http://schemas.openxmlformats.org/officeDocument/2006/relationships/slideLayout" Target="../slideLayouts/slideLayout401.xml"/><Relationship Id="rId12" Type="http://schemas.openxmlformats.org/officeDocument/2006/relationships/slideLayout" Target="../slideLayouts/slideLayout400.xml"/><Relationship Id="rId11" Type="http://schemas.openxmlformats.org/officeDocument/2006/relationships/slideLayout" Target="../slideLayouts/slideLayout399.xml"/><Relationship Id="rId10" Type="http://schemas.openxmlformats.org/officeDocument/2006/relationships/slideLayout" Target="../slideLayouts/slideLayout398.xml"/><Relationship Id="rId1" Type="http://schemas.openxmlformats.org/officeDocument/2006/relationships/slideLayout" Target="../slideLayouts/slideLayout3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p:cNvSpPr/>
          <p:nvPr userDrawn="1"/>
        </p:nvSpPr>
        <p:spPr>
          <a:xfrm rot="5400000">
            <a:off x="8672367"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1" name="六边形 30"/>
          <p:cNvSpPr/>
          <p:nvPr userDrawn="1"/>
        </p:nvSpPr>
        <p:spPr>
          <a:xfrm rot="5400000">
            <a:off x="9521078" y="753888"/>
            <a:ext cx="523072" cy="450925"/>
          </a:xfrm>
          <a:prstGeom prst="hexagon">
            <a:avLst/>
          </a:prstGeom>
          <a:solidFill>
            <a:srgbClr val="3F3F3F">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3" name="六边形 32"/>
          <p:cNvSpPr/>
          <p:nvPr userDrawn="1"/>
        </p:nvSpPr>
        <p:spPr>
          <a:xfrm rot="5400000">
            <a:off x="10287577" y="140894"/>
            <a:ext cx="196767" cy="169627"/>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4" name="六边形 33"/>
          <p:cNvSpPr/>
          <p:nvPr userDrawn="1"/>
        </p:nvSpPr>
        <p:spPr>
          <a:xfrm rot="5400000">
            <a:off x="3684719" y="893697"/>
            <a:ext cx="886529" cy="764250"/>
          </a:xfrm>
          <a:prstGeom prst="hexagon">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六边形 34"/>
          <p:cNvSpPr/>
          <p:nvPr userDrawn="1"/>
        </p:nvSpPr>
        <p:spPr>
          <a:xfrm rot="5400000">
            <a:off x="11266257" y="1225116"/>
            <a:ext cx="206955" cy="178410"/>
          </a:xfrm>
          <a:prstGeom prst="hexagon">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6" name="六边形 35"/>
          <p:cNvSpPr/>
          <p:nvPr userDrawn="1"/>
        </p:nvSpPr>
        <p:spPr>
          <a:xfrm rot="5400000">
            <a:off x="918490" y="676500"/>
            <a:ext cx="206955" cy="178410"/>
          </a:xfrm>
          <a:prstGeom prst="hexagon">
            <a:avLst/>
          </a:prstGeom>
          <a:solidFill>
            <a:srgbClr val="0067E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图形用户界面, 文本&#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60746" y="5656882"/>
            <a:ext cx="3270508" cy="69585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目录</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Contents</a:t>
              </a:r>
              <a:endParaRPr lang="zh-CN" altLang="en-US" sz="28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六边形 25"/>
            <p:cNvSpPr/>
            <p:nvPr/>
          </p:nvSpPr>
          <p:spPr>
            <a:xfrm rot="5400000">
              <a:off x="2037082" y="1610051"/>
              <a:ext cx="246109" cy="21216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六边形 7"/>
          <p:cNvSpPr/>
          <p:nvPr userDrawn="1"/>
        </p:nvSpPr>
        <p:spPr>
          <a:xfrm rot="5400000">
            <a:off x="3567036" y="3257393"/>
            <a:ext cx="429253" cy="370046"/>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六边形 10"/>
          <p:cNvSpPr/>
          <p:nvPr userDrawn="1"/>
        </p:nvSpPr>
        <p:spPr>
          <a:xfrm rot="5400000">
            <a:off x="3567036" y="3257393"/>
            <a:ext cx="429253" cy="370046"/>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descr="徽标, 公司名称&#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62786" y="2077549"/>
            <a:ext cx="2466428" cy="2010139"/>
          </a:xfrm>
          <a:prstGeom prst="rect">
            <a:avLst/>
          </a:prstGeom>
        </p:spPr>
      </p:pic>
    </p:spTree>
  </p:cSld>
  <p:clrMap bg1="lt1" tx1="dk1" bg2="lt2" tx2="dk2" accent1="accent1" accent2="accent2" accent3="accent3" accent4="accent4" accent5="accent5" accent6="accent6" hlink="hlink" folHlink="folHlink"/>
  <p:sldLayoutIdLst>
    <p:sldLayoutId id="214748367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8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89" r:id="rId1"/>
    <p:sldLayoutId id="2147483690"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2"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6"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 id="2147483791"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 id="2147483848"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 id="2147483867"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 id="2147483885" r:id="rId17"/>
    <p:sldLayoutId id="2147483886"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30" y="2458685"/>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矩形 10"/>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716810" y="2333176"/>
            <a:ext cx="2339102" cy="738664"/>
          </a:xfrm>
          <a:prstGeom prst="rect">
            <a:avLst/>
          </a:prstGeom>
          <a:noFill/>
          <a:ln>
            <a:noFill/>
          </a:ln>
        </p:spPr>
        <p:txBody>
          <a:bodyPr wrap="none" rtlCol="0">
            <a:spAutoFit/>
          </a:bodyPr>
          <a:lstStyle/>
          <a:p>
            <a:pPr algn="ctr"/>
            <a:r>
              <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rPr>
              <a:t>学习目标</a:t>
            </a:r>
            <a:endParaRPr lang="zh-CN" altLang="en-US" sz="4200" b="1" i="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702993" y="2983480"/>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Learning</a:t>
            </a:r>
            <a:r>
              <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Objectives</a:t>
            </a:r>
            <a:endParaRPr lang="zh-CN" altLang="en-US" sz="2100" dirty="0">
              <a:solidFill>
                <a:schemeClr val="bg1">
                  <a:lumMod val="8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2"/>
            <a:ext cx="406391" cy="406391"/>
          </a:xfrm>
          <a:prstGeom prst="rect">
            <a:avLst/>
          </a:prstGeom>
        </p:spPr>
      </p:pic>
    </p:spTree>
  </p:cSld>
  <p:clrMap bg1="lt1" tx1="dk1" bg2="lt2" tx2="dk2" accent1="accent1" accent2="accent2" accent3="accent3" accent4="accent4" accent5="accent5" accent6="accent6" hlink="hlink" folHlink="folHlink"/>
  <p:sldLayoutIdLst>
    <p:sldLayoutId id="2147483926"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1"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 y="420997"/>
            <a:ext cx="224591"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438492" y="150228"/>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 id="2147483940" r:id="rId13"/>
    <p:sldLayoutId id="2147483941" r:id="rId14"/>
    <p:sldLayoutId id="2147483942" r:id="rId15"/>
    <p:sldLayoutId id="2147483943" r:id="rId16"/>
    <p:sldLayoutId id="2147483944" r:id="rId17"/>
    <p:sldLayoutId id="2147483945" r:id="rId18"/>
    <p:sldLayoutId id="2147483946" r:id="rId19"/>
    <p:sldLayoutId id="2147483947"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1"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 y="420997"/>
            <a:ext cx="224591"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438492" y="150228"/>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 id="2147483965" r:id="rId17"/>
    <p:sldLayoutId id="2147483966" r:id="rId18"/>
    <p:sldLayoutId id="2147483967" r:id="rId19"/>
    <p:sldLayoutId id="2147483968"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1"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 y="420997"/>
            <a:ext cx="224591"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438492" y="150228"/>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3970"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5" r:id="rId16"/>
    <p:sldLayoutId id="2147483986" r:id="rId17"/>
    <p:sldLayoutId id="2147483987" r:id="rId18"/>
    <p:sldLayoutId id="2147483988" r:id="rId19"/>
    <p:sldLayoutId id="2147483989"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阿里巴巴普惠体 R" panose="00020600040101010101" charset="-122"/>
              </a:defRPr>
            </a:lvl1pPr>
          </a:lstStyle>
          <a:p>
            <a:fld id="{C764DE79-268F-4C1A-8933-263129D2AF90}"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阿里巴巴普惠体 R" panose="00020600040101010101" charset="-122"/>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阿里巴巴普惠体 R" panose="00020600040101010101" charset="-122"/>
              </a:defRPr>
            </a:lvl1pPr>
          </a:lstStyle>
          <a:p>
            <a:fld id="{48F63A3B-78C7-47BE-AE5E-E10140E04643}" type="slidenum">
              <a:rPr lang="en-US" smtClean="0"/>
            </a:fld>
            <a:endParaRPr lang="en-US" dirty="0"/>
          </a:p>
        </p:txBody>
      </p:sp>
      <p:sp>
        <p:nvSpPr>
          <p:cNvPr id="7" name="六边形 6"/>
          <p:cNvSpPr/>
          <p:nvPr userDrawn="1"/>
        </p:nvSpPr>
        <p:spPr>
          <a:xfrm rot="5400000">
            <a:off x="3779835" y="2429462"/>
            <a:ext cx="1318512" cy="1136649"/>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
        <p:nvSpPr>
          <p:cNvPr id="8" name="六边形 7"/>
          <p:cNvSpPr/>
          <p:nvPr userDrawn="1"/>
        </p:nvSpPr>
        <p:spPr>
          <a:xfrm rot="5400000">
            <a:off x="3567036" y="3257392"/>
            <a:ext cx="429253" cy="370047"/>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latin typeface="阿里巴巴普惠体 R" panose="00020600040101010101" charset="-122"/>
              <a:ea typeface="阿里巴巴普惠体 R" panose="00020600040101010101" charset="-122"/>
            </a:endParaRPr>
          </a:p>
        </p:txBody>
      </p:sp>
    </p:spTree>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阿里巴巴普惠体 R" panose="00020600040101010101" charset="-122"/>
          <a:ea typeface="阿里巴巴普惠体 R" panose="00020600040101010101"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阿里巴巴普惠体 R" panose="00020600040101010101" charset="-122"/>
          <a:ea typeface="阿里巴巴普惠体 R" panose="00020600040101010101"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阿里巴巴普惠体 R" panose="00020600040101010101" charset="-122"/>
          <a:ea typeface="阿里巴巴普惠体 R" panose="00020600040101010101"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阿里巴巴普惠体 R" panose="00020600040101010101" charset="-122"/>
          <a:ea typeface="阿里巴巴普惠体 R" panose="00020600040101010101"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阿里巴巴普惠体 R" panose="00020600040101010101" charset="-122"/>
          <a:ea typeface="阿里巴巴普惠体 R" panose="00020600040101010101"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30" y="2458685"/>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sz="1800" dirty="0">
              <a:latin typeface="阿里巴巴普惠体 R" panose="00020600040101010101" charset="-122"/>
              <a:ea typeface="阿里巴巴普惠体 R" panose="00020600040101010101" charset="-122"/>
            </a:endParaRPr>
          </a:p>
        </p:txBody>
      </p:sp>
      <p:sp>
        <p:nvSpPr>
          <p:cNvPr id="11" name="矩形 10"/>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2"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文本框 19"/>
          <p:cNvSpPr txBox="1"/>
          <p:nvPr/>
        </p:nvSpPr>
        <p:spPr>
          <a:xfrm>
            <a:off x="1716810" y="2333176"/>
            <a:ext cx="233910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3" y="2983480"/>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R" panose="00020600040101010101"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2"/>
            <a:ext cx="406391" cy="406391"/>
          </a:xfrm>
          <a:prstGeom prst="rect">
            <a:avLst/>
          </a:prstGeom>
        </p:spPr>
      </p:pic>
    </p:spTree>
  </p:cSld>
  <p:clrMap bg1="lt1" tx1="dk1" bg2="lt2" tx2="dk2" accent1="accent1" accent2="accent2" accent3="accent3" accent4="accent4" accent5="accent5" accent6="accent6" hlink="hlink" folHlink="folHlink"/>
  <p:sldLayoutIdLst>
    <p:sldLayoutId id="2147484004"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cxnSp>
        <p:nvCxnSpPr>
          <p:cNvPr id="11" name="直接连接符 22"/>
          <p:cNvCxnSpPr/>
          <p:nvPr userDrawn="1"/>
        </p:nvCxnSpPr>
        <p:spPr>
          <a:xfrm flipH="1">
            <a:off x="323601"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 y="420997"/>
            <a:ext cx="224591"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grpSp>
      <p:pic>
        <p:nvPicPr>
          <p:cNvPr id="5" name="图片 4" descr="文本, 徽标&#10;&#10;描述已自动生成"/>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438492" y="150228"/>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目录</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R" panose="00020600040101010101"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26" name="六边形 25"/>
            <p:cNvSpPr/>
            <p:nvPr/>
          </p:nvSpPr>
          <p:spPr>
            <a:xfrm rot="5400000">
              <a:off x="2037082" y="1610051"/>
              <a:ext cx="246109" cy="212163"/>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grpSp>
    </p:spTree>
  </p:cSld>
  <p:clrMap bg1="lt1" tx1="dk1" bg2="lt2" tx2="dk2" accent1="accent1" accent2="accent2" accent3="accent3" accent4="accent4" accent5="accent5" accent6="accent6" hlink="hlink" folHlink="folHlink"/>
  <p:sldLayoutIdLst>
    <p:sldLayoutId id="214748402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
        <p:nvSpPr>
          <p:cNvPr id="11" name="六边形 10"/>
          <p:cNvSpPr/>
          <p:nvPr userDrawn="1"/>
        </p:nvSpPr>
        <p:spPr>
          <a:xfrm rot="5400000">
            <a:off x="3567036" y="3257393"/>
            <a:ext cx="429253" cy="370046"/>
          </a:xfrm>
          <a:prstGeom prst="hexagon">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ea typeface="阿里巴巴普惠体 R" panose="00020600040101010101" charset="-122"/>
            </a:endParaRPr>
          </a:p>
        </p:txBody>
      </p:sp>
    </p:spTree>
  </p:cSld>
  <p:clrMap bg1="lt1" tx1="dk1" bg2="lt2" tx2="dk2" accent1="accent1" accent2="accent2" accent3="accent3" accent4="accent4" accent5="accent5" accent6="accent6" hlink="hlink" folHlink="folHlink"/>
  <p:sldLayoutIdLst>
    <p:sldLayoutId id="214748402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sz="1400" dirty="0">
              <a:ea typeface="阿里巴巴普惠体 R" panose="00020600040101010101"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R" panose="00020600040101010101"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403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ea typeface="阿里巴巴普惠体 R" panose="00020600040101010101" charset="-122"/>
              </a:endParaRPr>
            </a:p>
          </p:txBody>
        </p:sp>
      </p:grpSp>
      <p:pic>
        <p:nvPicPr>
          <p:cNvPr id="5" name="图片 4" descr="文本, 徽标&#10;&#10;描述已自动生成"/>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438492" y="150227"/>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 id="2147484045" r:id="rId13"/>
    <p:sldLayoutId id="2147484046" r:id="rId14"/>
    <p:sldLayoutId id="2147484047" r:id="rId15"/>
    <p:sldLayoutId id="2147484048" r:id="rId16"/>
    <p:sldLayoutId id="2147484049" r:id="rId17"/>
    <p:sldLayoutId id="2147484050"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sz="1400" dirty="0">
              <a:ea typeface="阿里巴巴普惠体 R" panose="00020600040101010101" charset="-122"/>
            </a:endParaRPr>
          </a:p>
        </p:txBody>
      </p:sp>
      <p:sp>
        <p:nvSpPr>
          <p:cNvPr id="11" name="矩形 10"/>
          <p:cNvSpPr/>
          <p:nvPr userDrawn="1"/>
        </p:nvSpPr>
        <p:spPr bwMode="auto">
          <a:xfrm>
            <a:off x="10890251"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2" name="矩形 22"/>
          <p:cNvSpPr>
            <a:spLocks noChangeArrowheads="1"/>
          </p:cNvSpPr>
          <p:nvPr userDrawn="1"/>
        </p:nvSpPr>
        <p:spPr bwMode="auto">
          <a:xfrm>
            <a:off x="1"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R" panose="00020600040101010101"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4052"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30" y="2458685"/>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sz="1800" dirty="0">
              <a:latin typeface="阿里巴巴普惠体 R" panose="00020600040101010101" charset="-122"/>
              <a:ea typeface="阿里巴巴普惠体 R" panose="00020600040101010101" charset="-122"/>
            </a:endParaRPr>
          </a:p>
        </p:txBody>
      </p:sp>
      <p:sp>
        <p:nvSpPr>
          <p:cNvPr id="11" name="矩形 10"/>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2"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文本框 19"/>
          <p:cNvSpPr txBox="1"/>
          <p:nvPr/>
        </p:nvSpPr>
        <p:spPr>
          <a:xfrm>
            <a:off x="1716810" y="2333176"/>
            <a:ext cx="233910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3" y="2983480"/>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R" panose="00020600040101010101"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2"/>
            <a:ext cx="406391" cy="406391"/>
          </a:xfrm>
          <a:prstGeom prst="rect">
            <a:avLst/>
          </a:prstGeom>
        </p:spPr>
      </p:pic>
    </p:spTree>
  </p:cSld>
  <p:clrMap bg1="lt1" tx1="dk1" bg2="lt2" tx2="dk2" accent1="accent1" accent2="accent2" accent3="accent3" accent4="accent4" accent5="accent5" accent6="accent6" hlink="hlink" folHlink="folHlink"/>
  <p:sldLayoutIdLst>
    <p:sldLayoutId id="2147484054"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30" y="2458685"/>
            <a:ext cx="474473" cy="474473"/>
          </a:xfrm>
          <a:prstGeom prst="ellipse">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sz="1800" dirty="0">
              <a:latin typeface="阿里巴巴普惠体 R" panose="00020600040101010101" charset="-122"/>
              <a:ea typeface="阿里巴巴普惠体 R" panose="00020600040101010101" charset="-122"/>
            </a:endParaRPr>
          </a:p>
        </p:txBody>
      </p:sp>
      <p:sp>
        <p:nvSpPr>
          <p:cNvPr id="11" name="矩形 10"/>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2"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阿里巴巴普惠体 R" panose="00020600040101010101" charset="-122"/>
            </a:endParaRPr>
          </a:p>
        </p:txBody>
      </p:sp>
      <p:sp>
        <p:nvSpPr>
          <p:cNvPr id="20" name="文本框 19"/>
          <p:cNvSpPr txBox="1"/>
          <p:nvPr/>
        </p:nvSpPr>
        <p:spPr>
          <a:xfrm>
            <a:off x="1716810" y="2333176"/>
            <a:ext cx="233910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3" y="2983480"/>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R" panose="00020600040101010101"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2"/>
            <a:ext cx="406391" cy="406391"/>
          </a:xfrm>
          <a:prstGeom prst="rect">
            <a:avLst/>
          </a:prstGeom>
        </p:spPr>
      </p:pic>
    </p:spTree>
  </p:cSld>
  <p:clrMap bg1="lt1" tx1="dk1" bg2="lt2" tx2="dk2" accent1="accent1" accent2="accent2" accent3="accent3" accent4="accent4" accent5="accent5" accent6="accent6" hlink="hlink" folHlink="folHlink"/>
  <p:sldLayoutIdLst>
    <p:sldLayoutId id="2147484056"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阿里巴巴普惠体 R" panose="00020600040101010101" charset="-122"/>
          <a:ea typeface="阿里巴巴普惠体 R" panose="00020600040101010101" charset="-122"/>
          <a:cs typeface="阿里巴巴普惠体 R" panose="00020600040101010101"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1"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 y="420997"/>
            <a:ext cx="224591"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438492" y="150228"/>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 id="2147484069" r:id="rId12"/>
    <p:sldLayoutId id="2147484070" r:id="rId13"/>
    <p:sldLayoutId id="2147484071" r:id="rId14"/>
    <p:sldLayoutId id="2147484072" r:id="rId15"/>
    <p:sldLayoutId id="2147484073" r:id="rId16"/>
    <p:sldLayoutId id="2147484074" r:id="rId17"/>
    <p:sldLayoutId id="2147484075" r:id="rId18"/>
    <p:sldLayoutId id="2147484076" r:id="rId19"/>
    <p:sldLayoutId id="2147484077"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2" y="6786000"/>
            <a:ext cx="1301749" cy="72000"/>
          </a:xfrm>
          <a:prstGeom prst="rect">
            <a:avLst/>
          </a:prstGeom>
          <a:solidFill>
            <a:srgbClr val="DE0014"/>
          </a:solidFill>
          <a:ln w="9525" cap="flat" cmpd="sng" algn="ctr">
            <a:noFill/>
            <a:prstDash val="solid"/>
            <a:round/>
            <a:headEnd type="none" w="med" len="med"/>
            <a:tailEnd type="none" w="med" len="med"/>
          </a:ln>
          <a:effectLst/>
        </p:spPr>
        <p:txBody>
          <a:body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矩形 22"/>
          <p:cNvSpPr>
            <a:spLocks noChangeArrowheads="1"/>
          </p:cNvSpPr>
          <p:nvPr userDrawn="1"/>
        </p:nvSpPr>
        <p:spPr bwMode="auto">
          <a:xfrm>
            <a:off x="2" y="6786000"/>
            <a:ext cx="10818284" cy="72000"/>
          </a:xfrm>
          <a:prstGeom prst="rect">
            <a:avLst/>
          </a:prstGeom>
          <a:solidFill>
            <a:srgbClr val="0067E1"/>
          </a:solidFill>
          <a:ln>
            <a:noFill/>
          </a:ln>
        </p:spPr>
        <p:txBody>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defRPr/>
            </a:pPr>
            <a:endParaRPr lang="zh-CN" altLang="en-US" sz="2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1" name="直接连接符 22"/>
          <p:cNvCxnSpPr/>
          <p:nvPr userDrawn="1"/>
        </p:nvCxnSpPr>
        <p:spPr>
          <a:xfrm flipH="1">
            <a:off x="323601"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 y="420997"/>
            <a:ext cx="224591"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nvSpPr>
          <p:spPr>
            <a:xfrm>
              <a:off x="142500" y="262878"/>
              <a:ext cx="82090" cy="506266"/>
            </a:xfrm>
            <a:prstGeom prst="rect">
              <a:avLst/>
            </a:prstGeom>
            <a:solidFill>
              <a:srgbClr val="006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5" name="图片 4" descr="文本, 徽标&#10;&#10;描述已自动生成"/>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438492" y="150228"/>
            <a:ext cx="1636408" cy="613653"/>
          </a:xfrm>
          <a:prstGeom prst="rect">
            <a:avLst/>
          </a:prstGeom>
        </p:spPr>
      </p:pic>
    </p:spTree>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3" r:id="rId15"/>
    <p:sldLayoutId id="2147484094" r:id="rId16"/>
    <p:sldLayoutId id="2147484095" r:id="rId17"/>
    <p:sldLayoutId id="2147484096" r:id="rId18"/>
    <p:sldLayoutId id="2147484097" r:id="rId19"/>
    <p:sldLayoutId id="2147484098"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42.xml"/><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42.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42.xml"/><Relationship Id="rId2" Type="http://schemas.openxmlformats.org/officeDocument/2006/relationships/image" Target="../media/image17.jpeg"/><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32.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32.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32.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9.jpeg"/><Relationship Id="rId1" Type="http://schemas.openxmlformats.org/officeDocument/2006/relationships/image" Target="../media/image28.jpe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39.jpeg"/><Relationship Id="rId1" Type="http://schemas.openxmlformats.org/officeDocument/2006/relationships/image" Target="../media/image38.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40.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image" Target="../media/image4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image" Target="../media/image44.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1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jpeg"/></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4.xml"/><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64.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slideLayout" Target="../slideLayouts/slideLayout14.xml"/><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4.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4.xml"/><Relationship Id="rId1" Type="http://schemas.openxmlformats.org/officeDocument/2006/relationships/image" Target="../media/image65.png"/></Relationships>
</file>

<file path=ppt/slides/_rels/slide67.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14.xml"/><Relationship Id="rId4" Type="http://schemas.openxmlformats.org/officeDocument/2006/relationships/image" Target="../media/image69.jpeg"/><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image" Target="../media/image66.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17.xml"/><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51.xml"/></Relationships>
</file>

<file path=ppt/slides/_rels/slide77.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269.xml"/><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image" Target="../media/image70.jpe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69.xml"/><Relationship Id="rId1" Type="http://schemas.openxmlformats.org/officeDocument/2006/relationships/image" Target="../media/image70.jpeg"/></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269.xml"/><Relationship Id="rId4" Type="http://schemas.openxmlformats.org/officeDocument/2006/relationships/image" Target="../media/image76.png"/><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image" Target="../media/image73.jpe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69.xml"/></Relationships>
</file>

<file path=ppt/slides/_rels/slide81.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slideLayout" Target="../slideLayouts/slideLayout269.xml"/><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252.xml"/><Relationship Id="rId5" Type="http://schemas.openxmlformats.org/officeDocument/2006/relationships/image" Target="../media/image81.png"/><Relationship Id="rId4" Type="http://schemas.openxmlformats.org/officeDocument/2006/relationships/tags" Target="../tags/tag3.xml"/><Relationship Id="rId3" Type="http://schemas.openxmlformats.org/officeDocument/2006/relationships/image" Target="../media/image80.png"/><Relationship Id="rId2" Type="http://schemas.openxmlformats.org/officeDocument/2006/relationships/tags" Target="../tags/tag2.xml"/><Relationship Id="rId1" Type="http://schemas.openxmlformats.org/officeDocument/2006/relationships/tags" Target="../tags/tag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5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69.xml"/></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69.xml"/><Relationship Id="rId2" Type="http://schemas.openxmlformats.org/officeDocument/2006/relationships/image" Target="../media/image83.jpeg"/><Relationship Id="rId1" Type="http://schemas.openxmlformats.org/officeDocument/2006/relationships/image" Target="../media/image82.jpeg"/></Relationships>
</file>

<file path=ppt/slides/_rels/slide86.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269.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jpeg"/><Relationship Id="rId1" Type="http://schemas.openxmlformats.org/officeDocument/2006/relationships/image" Target="../media/image84.jpeg"/></Relationships>
</file>

<file path=ppt/slides/_rels/slide87.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269.xml"/><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image" Target="../media/image88.jpe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59.xml"/><Relationship Id="rId1" Type="http://schemas.openxmlformats.org/officeDocument/2006/relationships/image" Target="../media/image9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5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9.xml"/></Relationships>
</file>

<file path=ppt/slides/_rels/slide93.xml.rels><?xml version="1.0" encoding="UTF-8" standalone="yes"?>
<Relationships xmlns="http://schemas.openxmlformats.org/package/2006/relationships"><Relationship Id="rId5" Type="http://schemas.openxmlformats.org/officeDocument/2006/relationships/notesSlide" Target="../notesSlides/notesSlide64.xml"/><Relationship Id="rId4" Type="http://schemas.openxmlformats.org/officeDocument/2006/relationships/slideLayout" Target="../slideLayouts/slideLayout269.xml"/><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69.xml"/><Relationship Id="rId1" Type="http://schemas.openxmlformats.org/officeDocument/2006/relationships/image" Target="../media/image92.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69.xml"/><Relationship Id="rId1" Type="http://schemas.openxmlformats.org/officeDocument/2006/relationships/image" Target="../media/image93.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69.xml"/><Relationship Id="rId1" Type="http://schemas.openxmlformats.org/officeDocument/2006/relationships/image" Target="../media/image94.png"/></Relationships>
</file>

<file path=ppt/slides/_rels/slide97.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269.xml"/><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5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59.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6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9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47.xml"/></Relationships>
</file>

<file path=ppt/slides/_rels/slide104.xml.rels><?xml version="1.0" encoding="UTF-8" standalone="yes"?>
<Relationships xmlns="http://schemas.openxmlformats.org/package/2006/relationships"><Relationship Id="rId9" Type="http://schemas.openxmlformats.org/officeDocument/2006/relationships/slideLayout" Target="../slideLayouts/slideLayout365.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0" Type="http://schemas.openxmlformats.org/officeDocument/2006/relationships/notesSlide" Target="../notesSlides/notesSlide71.xml"/><Relationship Id="rId1" Type="http://schemas.openxmlformats.org/officeDocument/2006/relationships/tags" Target="../tags/tag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6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5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7.xml"/><Relationship Id="rId1" Type="http://schemas.openxmlformats.org/officeDocument/2006/relationships/image" Target="../media/image9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8470" y="2270125"/>
            <a:ext cx="9299575" cy="1158875"/>
          </a:xfrm>
        </p:spPr>
        <p:txBody>
          <a:bodyPr/>
          <a:lstStyle/>
          <a:p>
            <a:pPr>
              <a:lnSpc>
                <a:spcPct val="110000"/>
              </a:lnSpc>
            </a:pPr>
            <a:r>
              <a:rPr kumimoji="1" lang="zh-CN" altLang="en-US" sz="3600" b="1" dirty="0">
                <a:latin typeface="阿里巴巴普惠体" panose="00020600040101010101" pitchFamily="18" charset="-122"/>
                <a:cs typeface="阿里巴巴普惠体" panose="00020600040101010101" pitchFamily="18" charset="-122"/>
              </a:rPr>
              <a:t>社群裂变活动策划全流程</a:t>
            </a:r>
            <a:br>
              <a:rPr kumimoji="1" lang="zh-CN" altLang="en-US" sz="3600" b="1" dirty="0">
                <a:latin typeface="阿里巴巴普惠体" panose="00020600040101010101" pitchFamily="18" charset="-122"/>
                <a:cs typeface="阿里巴巴普惠体" panose="00020600040101010101" pitchFamily="18" charset="-122"/>
              </a:rPr>
            </a:br>
            <a:r>
              <a:rPr kumimoji="1" lang="zh-CN" altLang="en-US" sz="3600" b="1" dirty="0">
                <a:latin typeface="阿里巴巴普惠体" panose="00020600040101010101" pitchFamily="18" charset="-122"/>
                <a:cs typeface="阿里巴巴普惠体" panose="00020600040101010101" pitchFamily="18" charset="-122"/>
              </a:rPr>
              <a:t>——短期内实现规模化快速增长</a:t>
            </a:r>
            <a:endParaRPr kumimoji="1" lang="zh-CN" altLang="en-US" sz="3600" b="1" dirty="0">
              <a:latin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4713605" y="1255395"/>
            <a:ext cx="5630545" cy="3829050"/>
          </a:xfrm>
        </p:spPr>
        <p:txBody>
          <a:bodyPr/>
          <a:lstStyle/>
          <a:p>
            <a:pPr algn="l"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经典裂变活动案例「寻找锦鲤」创意拆解</a:t>
            </a:r>
            <a:endParaRPr lang="zh-CN" altLang="en-US" dirty="0">
              <a:solidFill>
                <a:srgbClr val="262626"/>
              </a:solidFill>
              <a:latin typeface="阿里巴巴普惠体" panose="00020600040101010101" pitchFamily="18" charset="-122"/>
              <a:sym typeface="+mn-ea"/>
            </a:endParaRPr>
          </a:p>
          <a:p>
            <a:pPr algn="l"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活动背景</a:t>
            </a:r>
            <a:endParaRPr lang="zh-CN" altLang="en-US" dirty="0">
              <a:solidFill>
                <a:srgbClr val="262626"/>
              </a:solidFill>
              <a:latin typeface="阿里巴巴普惠体" panose="00020600040101010101" pitchFamily="18" charset="-122"/>
              <a:sym typeface="+mn-ea"/>
            </a:endParaRPr>
          </a:p>
          <a:p>
            <a:pPr algn="l"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活动目的 </a:t>
            </a:r>
            <a:endParaRPr lang="zh-CN" altLang="en-US" dirty="0">
              <a:solidFill>
                <a:srgbClr val="262626"/>
              </a:solidFill>
              <a:latin typeface="阿里巴巴普惠体" panose="00020600040101010101" pitchFamily="18" charset="-122"/>
              <a:sym typeface="+mn-ea"/>
            </a:endParaRPr>
          </a:p>
          <a:p>
            <a:pPr algn="l"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活动目标</a:t>
            </a:r>
            <a:endParaRPr lang="zh-CN" altLang="en-US" dirty="0">
              <a:solidFill>
                <a:srgbClr val="262626"/>
              </a:solidFill>
              <a:latin typeface="阿里巴巴普惠体" panose="00020600040101010101" pitchFamily="18" charset="-122"/>
            </a:endParaRPr>
          </a:p>
          <a:p>
            <a:pPr algn="l"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活动主题</a:t>
            </a:r>
            <a:endParaRPr lang="zh-CN" altLang="en-US" dirty="0">
              <a:solidFill>
                <a:srgbClr val="262626"/>
              </a:solidFill>
              <a:latin typeface="阿里巴巴普惠体" panose="00020600040101010101" pitchFamily="18" charset="-122"/>
              <a:sym typeface="+mn-ea"/>
            </a:endParaRPr>
          </a:p>
          <a:p>
            <a:pPr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活动规则</a:t>
            </a:r>
            <a:endParaRPr lang="zh-CN" altLang="en-US" dirty="0">
              <a:solidFill>
                <a:srgbClr val="262626"/>
              </a:solidFill>
              <a:latin typeface="阿里巴巴普惠体" panose="00020600040101010101" pitchFamily="18" charset="-122"/>
            </a:endParaRPr>
          </a:p>
          <a:p>
            <a:pPr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活动渠道</a:t>
            </a:r>
            <a:endParaRPr lang="zh-CN" altLang="en-US" dirty="0">
              <a:solidFill>
                <a:srgbClr val="262626"/>
              </a:solidFill>
              <a:latin typeface="阿里巴巴普惠体" panose="00020600040101010101" pitchFamily="18" charset="-122"/>
            </a:endParaRPr>
          </a:p>
          <a:p>
            <a:pPr eaLnBrk="0" hangingPunct="0">
              <a:lnSpc>
                <a:spcPct val="150000"/>
              </a:lnSpc>
              <a:buClr>
                <a:srgbClr val="262626"/>
              </a:buClr>
            </a:pPr>
            <a:r>
              <a:rPr lang="zh-CN" altLang="en-US" dirty="0">
                <a:solidFill>
                  <a:srgbClr val="262626"/>
                </a:solidFill>
                <a:latin typeface="阿里巴巴普惠体" panose="00020600040101010101" pitchFamily="18" charset="-122"/>
                <a:sym typeface="+mn-ea"/>
              </a:rPr>
              <a:t>活动预算</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232400" y="2380138"/>
            <a:ext cx="6654800" cy="1325563"/>
          </a:xfrm>
        </p:spPr>
        <p:txBody>
          <a:bodyPr>
            <a:normAutofit/>
          </a:bodyPr>
          <a:lstStyle/>
          <a:p>
            <a:r>
              <a:rPr lang="zh-CN" altLang="en-US" sz="2800" dirty="0"/>
              <a:t>经典裂变活动案例「寻找锦鲤」创意拆解</a:t>
            </a:r>
            <a:endParaRPr lang="zh-CN" altLang="en-US" sz="2800" dirty="0"/>
          </a:p>
        </p:txBody>
      </p:sp>
      <p:sp>
        <p:nvSpPr>
          <p:cNvPr id="3" name="内容占位符 2"/>
          <p:cNvSpPr>
            <a:spLocks noGrp="1"/>
          </p:cNvSpPr>
          <p:nvPr>
            <p:ph type="body" sz="quarter" idx="10"/>
          </p:nvPr>
        </p:nvSpPr>
        <p:spPr/>
        <p:txBody>
          <a:bodyPr/>
          <a:lstStyle/>
          <a:p>
            <a:pPr marL="0" indent="0"/>
            <a:r>
              <a:rPr lang="en-US" altLang="zh-CN" dirty="0"/>
              <a:t>01</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p:txBody>
          <a:bodyPr/>
          <a:lstStyle/>
          <a:p>
            <a:r>
              <a:rPr lang="zh-CN" altLang="en-US" dirty="0"/>
              <a:t>理解影响社群裂变活动效果的关键因素</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经典爆款裂变案例「寻找锦鲤」创意拆解</a:t>
            </a:r>
            <a:endParaRPr lang="zh-CN" altLang="en-US" b="1" dirty="0"/>
          </a:p>
        </p:txBody>
      </p:sp>
      <p:sp>
        <p:nvSpPr>
          <p:cNvPr id="3" name="矩形 2"/>
          <p:cNvSpPr/>
          <p:nvPr/>
        </p:nvSpPr>
        <p:spPr>
          <a:xfrm>
            <a:off x="1102784" y="1509184"/>
            <a:ext cx="7830000" cy="509820"/>
          </a:xfrm>
          <a:prstGeom prst="rect">
            <a:avLst/>
          </a:prstGeom>
        </p:spPr>
        <p:txBody>
          <a:bodyPr wrap="square">
            <a:spAutoFit/>
          </a:bodyPr>
          <a:lstStyle/>
          <a:p>
            <a:pPr marL="342900" indent="-342900">
              <a:lnSpc>
                <a:spcPct val="150000"/>
              </a:lnSpc>
              <a:buSzPct val="80000"/>
              <a:buFont typeface="Wingdings" panose="05000000000000000000" pitchFamily="2" charset="2"/>
              <a:buChar char="n"/>
            </a:pPr>
            <a:r>
              <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rPr>
              <a:t>活动数据</a:t>
            </a:r>
            <a:endPar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endParaRPr>
          </a:p>
        </p:txBody>
      </p:sp>
      <p:sp>
        <p:nvSpPr>
          <p:cNvPr id="5" name="文本框 2"/>
          <p:cNvSpPr txBox="1">
            <a:spLocks noChangeArrowheads="1"/>
          </p:cNvSpPr>
          <p:nvPr/>
        </p:nvSpPr>
        <p:spPr bwMode="auto">
          <a:xfrm>
            <a:off x="1495853" y="2147044"/>
            <a:ext cx="349123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marL="285750" indent="-285750">
              <a:lnSpc>
                <a:spcPct val="150000"/>
              </a:lnSpc>
              <a:buFont typeface="Arial" panose="020B0604020202090204" pitchFamily="34" charset="0"/>
              <a:buChar char="•"/>
            </a:pPr>
            <a:r>
              <a:rPr lang="zh-CN" altLang="en-US" sz="1600" dirty="0">
                <a:solidFill>
                  <a:srgbClr val="157CE7"/>
                </a:solidFill>
                <a:latin typeface="阿里巴巴普惠体 R" panose="00020600040101010101" charset="-122"/>
                <a:ea typeface="阿里巴巴普惠体 R" panose="00020600040101010101" charset="-122"/>
              </a:rPr>
              <a:t>公众号新增粉丝</a:t>
            </a:r>
            <a:r>
              <a:rPr lang="en-US" altLang="zh-CN" sz="1600" dirty="0">
                <a:solidFill>
                  <a:srgbClr val="157CE7"/>
                </a:solidFill>
                <a:latin typeface="阿里巴巴普惠体 R" panose="00020600040101010101" charset="-122"/>
                <a:ea typeface="阿里巴巴普惠体 R" panose="00020600040101010101" charset="-122"/>
              </a:rPr>
              <a:t>4</a:t>
            </a:r>
            <a:r>
              <a:rPr lang="zh-CN" altLang="en-US" sz="1600" dirty="0">
                <a:solidFill>
                  <a:srgbClr val="157CE7"/>
                </a:solidFill>
                <a:latin typeface="阿里巴巴普惠体 R" panose="00020600040101010101" charset="-122"/>
                <a:ea typeface="阿里巴巴普惠体 R" panose="00020600040101010101" charset="-122"/>
              </a:rPr>
              <a:t>万</a:t>
            </a:r>
            <a:r>
              <a:rPr lang="en-US" altLang="zh-CN" sz="1600" dirty="0">
                <a:solidFill>
                  <a:srgbClr val="157CE7"/>
                </a:solidFill>
                <a:latin typeface="阿里巴巴普惠体 R" panose="00020600040101010101" charset="-122"/>
                <a:ea typeface="阿里巴巴普惠体 R" panose="00020600040101010101" charset="-122"/>
              </a:rPr>
              <a:t>+</a:t>
            </a:r>
            <a:endParaRPr lang="en-US" altLang="zh-CN" sz="1600" dirty="0">
              <a:solidFill>
                <a:srgbClr val="157CE7"/>
              </a:solidFill>
              <a:latin typeface="阿里巴巴普惠体 R" panose="00020600040101010101" charset="-122"/>
              <a:ea typeface="阿里巴巴普惠体 R" panose="00020600040101010101" charset="-122"/>
            </a:endParaRPr>
          </a:p>
          <a:p>
            <a:pPr marL="285750" indent="-285750">
              <a:lnSpc>
                <a:spcPct val="150000"/>
              </a:lnSpc>
              <a:buFont typeface="Arial" panose="020B0604020202090204" pitchFamily="34" charset="0"/>
              <a:buChar char="•"/>
            </a:pPr>
            <a:r>
              <a:rPr lang="zh-CN" altLang="en-US" sz="1600" dirty="0">
                <a:solidFill>
                  <a:srgbClr val="157CE7"/>
                </a:solidFill>
                <a:latin typeface="阿里巴巴普惠体 R" panose="00020600040101010101" charset="-122"/>
                <a:ea typeface="阿里巴巴普惠体 R" panose="00020600040101010101" charset="-122"/>
              </a:rPr>
              <a:t>新拉</a:t>
            </a:r>
            <a:r>
              <a:rPr lang="en-US" altLang="zh-CN" sz="1600" dirty="0">
                <a:solidFill>
                  <a:srgbClr val="157CE7"/>
                </a:solidFill>
                <a:latin typeface="阿里巴巴普惠体 R" panose="00020600040101010101" charset="-122"/>
                <a:ea typeface="阿里巴巴普惠体 R" panose="00020600040101010101" charset="-122"/>
              </a:rPr>
              <a:t>300+</a:t>
            </a:r>
            <a:r>
              <a:rPr lang="zh-CN" altLang="en-US" sz="1600" dirty="0">
                <a:solidFill>
                  <a:srgbClr val="157CE7"/>
                </a:solidFill>
                <a:latin typeface="阿里巴巴普惠体 R" panose="00020600040101010101" charset="-122"/>
                <a:ea typeface="阿里巴巴普惠体 R" panose="00020600040101010101" charset="-122"/>
              </a:rPr>
              <a:t>社群（平均群</a:t>
            </a:r>
            <a:r>
              <a:rPr lang="en-US" altLang="zh-CN" sz="1600" dirty="0">
                <a:solidFill>
                  <a:srgbClr val="157CE7"/>
                </a:solidFill>
                <a:latin typeface="阿里巴巴普惠体 R" panose="00020600040101010101" charset="-122"/>
                <a:ea typeface="阿里巴巴普惠体 R" panose="00020600040101010101" charset="-122"/>
              </a:rPr>
              <a:t> 200 </a:t>
            </a:r>
            <a:r>
              <a:rPr lang="zh-CN" altLang="en-US" sz="1600" dirty="0">
                <a:solidFill>
                  <a:srgbClr val="157CE7"/>
                </a:solidFill>
                <a:latin typeface="阿里巴巴普惠体 R" panose="00020600040101010101" charset="-122"/>
                <a:ea typeface="阿里巴巴普惠体 R" panose="00020600040101010101" charset="-122"/>
              </a:rPr>
              <a:t>人）</a:t>
            </a:r>
            <a:endParaRPr lang="zh-CN" altLang="en-US" sz="1600" dirty="0">
              <a:solidFill>
                <a:srgbClr val="157CE7"/>
              </a:solidFill>
              <a:latin typeface="阿里巴巴普惠体 R" panose="00020600040101010101" charset="-122"/>
              <a:ea typeface="阿里巴巴普惠体 R" panose="00020600040101010101" charset="-122"/>
            </a:endParaRPr>
          </a:p>
          <a:p>
            <a:pPr marL="285750" indent="-285750">
              <a:lnSpc>
                <a:spcPct val="150000"/>
              </a:lnSpc>
              <a:buFont typeface="Arial" panose="020B0604020202090204" pitchFamily="34" charset="0"/>
              <a:buChar char="•"/>
            </a:pPr>
            <a:r>
              <a:rPr lang="zh-CN" altLang="en-US" sz="1600" dirty="0">
                <a:solidFill>
                  <a:srgbClr val="157CE7"/>
                </a:solidFill>
                <a:latin typeface="阿里巴巴普惠体 R" panose="00020600040101010101" charset="-122"/>
                <a:ea typeface="阿里巴巴普惠体 R" panose="00020600040101010101" charset="-122"/>
              </a:rPr>
              <a:t>为小程序带来</a:t>
            </a:r>
            <a:r>
              <a:rPr lang="en-US" altLang="zh-CN" sz="1600" dirty="0">
                <a:solidFill>
                  <a:srgbClr val="157CE7"/>
                </a:solidFill>
                <a:latin typeface="阿里巴巴普惠体 R" panose="00020600040101010101" charset="-122"/>
                <a:ea typeface="阿里巴巴普惠体 R" panose="00020600040101010101" charset="-122"/>
              </a:rPr>
              <a:t>2</a:t>
            </a:r>
            <a:r>
              <a:rPr lang="zh-CN" altLang="en-US" sz="1600" dirty="0">
                <a:solidFill>
                  <a:srgbClr val="157CE7"/>
                </a:solidFill>
                <a:latin typeface="阿里巴巴普惠体 R" panose="00020600040101010101" charset="-122"/>
                <a:ea typeface="阿里巴巴普惠体 R" panose="00020600040101010101" charset="-122"/>
              </a:rPr>
              <a:t>万多新增</a:t>
            </a:r>
            <a:r>
              <a:rPr lang="zh-CN" altLang="en-US" sz="1600" dirty="0">
                <a:solidFill>
                  <a:srgbClr val="157CE7"/>
                </a:solidFill>
                <a:latin typeface="阿里巴巴普惠体 R" panose="00020600040101010101" charset="-122"/>
                <a:ea typeface="阿里巴巴普惠体 R" panose="00020600040101010101" charset="-122"/>
              </a:rPr>
              <a:t>用户</a:t>
            </a:r>
            <a:endParaRPr lang="zh-CN" altLang="en-US" sz="1600" dirty="0">
              <a:solidFill>
                <a:srgbClr val="157CE7"/>
              </a:solidFill>
              <a:latin typeface="阿里巴巴普惠体 R" panose="00020600040101010101" charset="-122"/>
              <a:ea typeface="阿里巴巴普惠体 R" panose="00020600040101010101" charset="-122"/>
            </a:endParaRPr>
          </a:p>
        </p:txBody>
      </p:sp>
      <p:pic>
        <p:nvPicPr>
          <p:cNvPr id="6" name="图片 1" descr="锦鲤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788785" y="838200"/>
            <a:ext cx="1127125" cy="5908040"/>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2" name="矩形 1"/>
          <p:cNvSpPr/>
          <p:nvPr/>
        </p:nvSpPr>
        <p:spPr>
          <a:xfrm>
            <a:off x="1530142" y="4037852"/>
            <a:ext cx="4512774" cy="504882"/>
          </a:xfrm>
          <a:prstGeom prst="rect">
            <a:avLst/>
          </a:prstGeom>
        </p:spPr>
        <p:txBody>
          <a:bodyPr wrap="none">
            <a:spAutoFit/>
          </a:bodyPr>
          <a:lstStyle/>
          <a:p>
            <a:pPr>
              <a:lnSpc>
                <a:spcPct val="150000"/>
              </a:lnSpc>
            </a:pPr>
            <a:r>
              <a:rPr lang="zh-CN" altLang="en-US" sz="2000" b="1" dirty="0">
                <a:solidFill>
                  <a:srgbClr val="FF0000"/>
                </a:solidFill>
                <a:latin typeface="阿里巴巴普惠体 R" panose="00020600040101010101" charset="-122"/>
                <a:ea typeface="阿里巴巴普惠体 R" panose="00020600040101010101" charset="-122"/>
              </a:rPr>
              <a:t>“集全北美商家独宠于一身的北美锦鲤”</a:t>
            </a:r>
            <a:endParaRPr lang="zh-CN" altLang="zh-CN" sz="1800" b="1" dirty="0">
              <a:solidFill>
                <a:srgbClr val="FF0000"/>
              </a:solidFill>
              <a:latin typeface="阿里巴巴普惠体 R" panose="00020600040101010101" charset="-122"/>
              <a:ea typeface="阿里巴巴普惠体 R" panose="0002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经典爆款裂变案例「寻找锦鲤」创意拆解</a:t>
            </a:r>
            <a:endParaRPr lang="zh-CN" altLang="en-US" b="1" dirty="0"/>
          </a:p>
        </p:txBody>
      </p:sp>
      <p:sp>
        <p:nvSpPr>
          <p:cNvPr id="5" name="文本框 2"/>
          <p:cNvSpPr txBox="1">
            <a:spLocks noChangeArrowheads="1"/>
          </p:cNvSpPr>
          <p:nvPr/>
        </p:nvSpPr>
        <p:spPr bwMode="auto">
          <a:xfrm>
            <a:off x="1564432" y="2147043"/>
            <a:ext cx="5401310" cy="2355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r>
              <a:rPr lang="zh-CN" altLang="zh-CN" sz="1335" dirty="0">
                <a:solidFill>
                  <a:srgbClr val="157CE7"/>
                </a:solidFill>
                <a:latin typeface="阿里巴巴普惠体 R" panose="00020600040101010101" charset="-122"/>
                <a:ea typeface="阿里巴巴普惠体 R" panose="00020600040101010101" charset="-122"/>
              </a:rPr>
              <a:t>①</a:t>
            </a:r>
            <a:r>
              <a:rPr lang="zh-CN" altLang="en-US" sz="1335" dirty="0">
                <a:solidFill>
                  <a:srgbClr val="157CE7"/>
                </a:solidFill>
                <a:latin typeface="阿里巴巴普惠体 R" panose="00020600040101010101" charset="-122"/>
                <a:ea typeface="阿里巴巴普惠体 R" panose="00020600040101010101" charset="-122"/>
              </a:rPr>
              <a:t>活动入口：</a:t>
            </a:r>
            <a:r>
              <a:rPr lang="zh-CN" altLang="zh-CN" sz="1335" dirty="0">
                <a:solidFill>
                  <a:srgbClr val="157CE7"/>
                </a:solidFill>
                <a:latin typeface="阿里巴巴普惠体 R" panose="00020600040101010101" charset="-122"/>
                <a:ea typeface="阿里巴巴普惠体 R" panose="00020600040101010101" charset="-122"/>
              </a:rPr>
              <a:t>公众号文章</a:t>
            </a:r>
            <a:r>
              <a:rPr lang="en-US" altLang="zh-CN" sz="1335" dirty="0">
                <a:solidFill>
                  <a:srgbClr val="157CE7"/>
                </a:solidFill>
                <a:latin typeface="阿里巴巴普惠体 R" panose="00020600040101010101" charset="-122"/>
                <a:ea typeface="阿里巴巴普惠体 R" panose="00020600040101010101" charset="-122"/>
              </a:rPr>
              <a:t> /</a:t>
            </a:r>
            <a:r>
              <a:rPr lang="zh-CN" altLang="en-US" sz="1335" dirty="0">
                <a:solidFill>
                  <a:srgbClr val="157CE7"/>
                </a:solidFill>
                <a:latin typeface="阿里巴巴普惠体 R" panose="00020600040101010101" charset="-122"/>
                <a:ea typeface="阿里巴巴普惠体 R" panose="00020600040101010101" charset="-122"/>
              </a:rPr>
              <a:t> 朋友圈海报</a:t>
            </a:r>
            <a:endParaRPr lang="zh-CN" altLang="zh-CN" sz="1335" dirty="0">
              <a:solidFill>
                <a:srgbClr val="157CE7"/>
              </a:solidFill>
              <a:latin typeface="阿里巴巴普惠体 R" panose="00020600040101010101" charset="-122"/>
              <a:ea typeface="阿里巴巴普惠体 R" panose="00020600040101010101" charset="-122"/>
            </a:endParaRPr>
          </a:p>
          <a:p>
            <a:endParaRPr lang="zh-CN" altLang="zh-CN" sz="1335" dirty="0">
              <a:solidFill>
                <a:srgbClr val="157CE7"/>
              </a:solidFill>
              <a:latin typeface="阿里巴巴普惠体 R" panose="00020600040101010101" charset="-122"/>
              <a:ea typeface="阿里巴巴普惠体 R" panose="00020600040101010101" charset="-122"/>
            </a:endParaRPr>
          </a:p>
          <a:p>
            <a:r>
              <a:rPr lang="zh-CN" altLang="zh-CN" sz="1335" dirty="0">
                <a:solidFill>
                  <a:srgbClr val="157CE7"/>
                </a:solidFill>
                <a:latin typeface="阿里巴巴普惠体 R" panose="00020600040101010101" charset="-122"/>
                <a:ea typeface="阿里巴巴普惠体 R" panose="00020600040101010101" charset="-122"/>
              </a:rPr>
              <a:t>②</a:t>
            </a:r>
            <a:r>
              <a:rPr lang="zh-CN" altLang="en-US" sz="1335" dirty="0">
                <a:solidFill>
                  <a:srgbClr val="157CE7"/>
                </a:solidFill>
                <a:latin typeface="阿里巴巴普惠体 R" panose="00020600040101010101" charset="-122"/>
                <a:ea typeface="阿里巴巴普惠体 R" panose="00020600040101010101" charset="-122"/>
              </a:rPr>
              <a:t>用户</a:t>
            </a:r>
            <a:r>
              <a:rPr lang="zh-CN" altLang="zh-CN" sz="1335" dirty="0">
                <a:solidFill>
                  <a:srgbClr val="157CE7"/>
                </a:solidFill>
                <a:latin typeface="阿里巴巴普惠体 R" panose="00020600040101010101" charset="-122"/>
                <a:ea typeface="阿里巴巴普惠体 R" panose="00020600040101010101" charset="-122"/>
              </a:rPr>
              <a:t>朋友圈海报扫码</a:t>
            </a:r>
            <a:r>
              <a:rPr lang="zh-CN" altLang="en-US" sz="1335" dirty="0">
                <a:solidFill>
                  <a:srgbClr val="157CE7"/>
                </a:solidFill>
                <a:latin typeface="阿里巴巴普惠体 R" panose="00020600040101010101" charset="-122"/>
                <a:ea typeface="阿里巴巴普惠体 R" panose="00020600040101010101" charset="-122"/>
              </a:rPr>
              <a:t>关注公众号</a:t>
            </a:r>
            <a:r>
              <a:rPr lang="zh-CN" altLang="zh-CN" sz="1335" dirty="0">
                <a:solidFill>
                  <a:srgbClr val="FF0000"/>
                </a:solidFill>
                <a:latin typeface="阿里巴巴普惠体 R" panose="00020600040101010101" charset="-122"/>
                <a:ea typeface="阿里巴巴普惠体 R" panose="00020600040101010101" charset="-122"/>
              </a:rPr>
              <a:t>（涨粉）</a:t>
            </a:r>
            <a:endParaRPr lang="en-US" altLang="zh-CN" sz="1335" dirty="0">
              <a:solidFill>
                <a:srgbClr val="157CE7"/>
              </a:solidFill>
              <a:latin typeface="阿里巴巴普惠体 R" panose="00020600040101010101" charset="-122"/>
              <a:ea typeface="阿里巴巴普惠体 R" panose="00020600040101010101" charset="-122"/>
            </a:endParaRPr>
          </a:p>
          <a:p>
            <a:endParaRPr lang="zh-CN" altLang="zh-CN" sz="1335" dirty="0">
              <a:solidFill>
                <a:srgbClr val="157CE7"/>
              </a:solidFill>
              <a:latin typeface="阿里巴巴普惠体 R" panose="00020600040101010101" charset="-122"/>
              <a:ea typeface="阿里巴巴普惠体 R" panose="00020600040101010101" charset="-122"/>
            </a:endParaRPr>
          </a:p>
          <a:p>
            <a:r>
              <a:rPr lang="zh-CN" altLang="zh-CN" sz="1335" dirty="0">
                <a:solidFill>
                  <a:srgbClr val="157CE7"/>
                </a:solidFill>
                <a:latin typeface="阿里巴巴普惠体 R" panose="00020600040101010101" charset="-122"/>
                <a:ea typeface="阿里巴巴普惠体 R" panose="00020600040101010101" charset="-122"/>
              </a:rPr>
              <a:t>③公众号弹出入群二维码</a:t>
            </a:r>
            <a:r>
              <a:rPr lang="zh-CN" altLang="en-US" sz="1335" dirty="0">
                <a:solidFill>
                  <a:srgbClr val="157CE7"/>
                </a:solidFill>
                <a:latin typeface="阿里巴巴普惠体 R" panose="00020600040101010101" charset="-122"/>
                <a:ea typeface="阿里巴巴普惠体 R" panose="00020600040101010101" charset="-122"/>
              </a:rPr>
              <a:t>，用户扫码进群</a:t>
            </a:r>
            <a:r>
              <a:rPr lang="zh-CN" altLang="zh-CN" sz="1335" dirty="0">
                <a:solidFill>
                  <a:srgbClr val="FF0000"/>
                </a:solidFill>
                <a:latin typeface="阿里巴巴普惠体 R" panose="00020600040101010101" charset="-122"/>
                <a:ea typeface="阿里巴巴普惠体 R" panose="00020600040101010101" charset="-122"/>
              </a:rPr>
              <a:t>（社群流量）</a:t>
            </a:r>
            <a:endParaRPr lang="zh-CN" altLang="zh-CN" sz="1335" dirty="0">
              <a:solidFill>
                <a:srgbClr val="157CE7"/>
              </a:solidFill>
              <a:latin typeface="阿里巴巴普惠体 R" panose="00020600040101010101" charset="-122"/>
              <a:ea typeface="阿里巴巴普惠体 R" panose="00020600040101010101" charset="-122"/>
            </a:endParaRPr>
          </a:p>
          <a:p>
            <a:endParaRPr lang="zh-CN" altLang="zh-CN" sz="1335" dirty="0">
              <a:solidFill>
                <a:srgbClr val="157CE7"/>
              </a:solidFill>
              <a:latin typeface="阿里巴巴普惠体 R" panose="00020600040101010101" charset="-122"/>
              <a:ea typeface="阿里巴巴普惠体 R" panose="00020600040101010101" charset="-122"/>
            </a:endParaRPr>
          </a:p>
          <a:p>
            <a:r>
              <a:rPr lang="zh-CN" altLang="zh-CN" sz="1335" dirty="0">
                <a:solidFill>
                  <a:srgbClr val="157CE7"/>
                </a:solidFill>
                <a:latin typeface="阿里巴巴普惠体 R" panose="00020600040101010101" charset="-122"/>
                <a:ea typeface="阿里巴巴普惠体 R" panose="00020600040101010101" charset="-122"/>
              </a:rPr>
              <a:t>④进群</a:t>
            </a:r>
            <a:r>
              <a:rPr lang="zh-CN" altLang="en-US" sz="1335" dirty="0">
                <a:solidFill>
                  <a:srgbClr val="157CE7"/>
                </a:solidFill>
                <a:latin typeface="阿里巴巴普惠体 R" panose="00020600040101010101" charset="-122"/>
                <a:ea typeface="阿里巴巴普惠体 R" panose="00020600040101010101" charset="-122"/>
              </a:rPr>
              <a:t>后被要求</a:t>
            </a:r>
            <a:r>
              <a:rPr lang="zh-CN" altLang="zh-CN" sz="1335" dirty="0">
                <a:solidFill>
                  <a:srgbClr val="157CE7"/>
                </a:solidFill>
                <a:latin typeface="阿里巴巴普惠体 R" panose="00020600040101010101" charset="-122"/>
                <a:ea typeface="阿里巴巴普惠体 R" panose="00020600040101010101" charset="-122"/>
              </a:rPr>
              <a:t>转发海报、截图</a:t>
            </a:r>
            <a:r>
              <a:rPr lang="zh-CN" altLang="en-US" sz="1335" dirty="0">
                <a:solidFill>
                  <a:srgbClr val="157CE7"/>
                </a:solidFill>
                <a:latin typeface="阿里巴巴普惠体 R" panose="00020600040101010101" charset="-122"/>
                <a:ea typeface="阿里巴巴普惠体 R" panose="00020600040101010101" charset="-122"/>
              </a:rPr>
              <a:t>，并将截图发回群里</a:t>
            </a:r>
            <a:r>
              <a:rPr lang="zh-CN" altLang="en-US" sz="1335" dirty="0">
                <a:solidFill>
                  <a:srgbClr val="FF0000"/>
                </a:solidFill>
                <a:latin typeface="阿里巴巴普惠体 R" panose="00020600040101010101" charset="-122"/>
                <a:ea typeface="阿里巴巴普惠体 R" panose="00020600040101010101" charset="-122"/>
              </a:rPr>
              <a:t>（二次曝光）</a:t>
            </a:r>
            <a:endParaRPr lang="en-US" altLang="zh-CN" sz="1335" dirty="0">
              <a:solidFill>
                <a:srgbClr val="157CE7"/>
              </a:solidFill>
              <a:latin typeface="阿里巴巴普惠体 R" panose="00020600040101010101" charset="-122"/>
              <a:ea typeface="阿里巴巴普惠体 R" panose="00020600040101010101" charset="-122"/>
            </a:endParaRPr>
          </a:p>
          <a:p>
            <a:endParaRPr lang="zh-CN" altLang="zh-CN" sz="1335" dirty="0">
              <a:solidFill>
                <a:srgbClr val="157CE7"/>
              </a:solidFill>
              <a:latin typeface="阿里巴巴普惠体 R" panose="00020600040101010101" charset="-122"/>
              <a:ea typeface="阿里巴巴普惠体 R" panose="00020600040101010101" charset="-122"/>
            </a:endParaRPr>
          </a:p>
          <a:p>
            <a:r>
              <a:rPr lang="zh-CN" altLang="zh-CN" sz="1335" dirty="0">
                <a:solidFill>
                  <a:srgbClr val="157CE7"/>
                </a:solidFill>
                <a:latin typeface="阿里巴巴普惠体 R" panose="00020600040101010101" charset="-122"/>
                <a:ea typeface="阿里巴巴普惠体 R" panose="00020600040101010101" charset="-122"/>
              </a:rPr>
              <a:t>⑤</a:t>
            </a:r>
            <a:r>
              <a:rPr lang="zh-CN" altLang="en-US" sz="1335" dirty="0">
                <a:solidFill>
                  <a:srgbClr val="157CE7"/>
                </a:solidFill>
                <a:latin typeface="阿里巴巴普惠体 R" panose="00020600040101010101" charset="-122"/>
                <a:ea typeface="阿里巴巴普惠体 R" panose="00020600040101010101" charset="-122"/>
              </a:rPr>
              <a:t>机器人审核</a:t>
            </a:r>
            <a:r>
              <a:rPr lang="en-US" altLang="zh-CN" sz="1335" dirty="0">
                <a:solidFill>
                  <a:srgbClr val="157CE7"/>
                </a:solidFill>
                <a:latin typeface="阿里巴巴普惠体 R" panose="00020600040101010101" charset="-122"/>
                <a:ea typeface="阿里巴巴普惠体 R" panose="00020600040101010101" charset="-122"/>
              </a:rPr>
              <a:t>(</a:t>
            </a:r>
            <a:r>
              <a:rPr lang="zh-CN" altLang="en-US" sz="1335" dirty="0">
                <a:solidFill>
                  <a:srgbClr val="157CE7"/>
                </a:solidFill>
                <a:latin typeface="阿里巴巴普惠体 R" panose="00020600040101010101" charset="-122"/>
                <a:ea typeface="阿里巴巴普惠体 R" panose="00020600040101010101" charset="-122"/>
              </a:rPr>
              <a:t>用户发回群里的</a:t>
            </a:r>
            <a:r>
              <a:rPr lang="en-US" altLang="zh-CN" sz="1335" dirty="0">
                <a:solidFill>
                  <a:srgbClr val="157CE7"/>
                </a:solidFill>
                <a:latin typeface="阿里巴巴普惠体 R" panose="00020600040101010101" charset="-122"/>
                <a:ea typeface="阿里巴巴普惠体 R" panose="00020600040101010101" charset="-122"/>
              </a:rPr>
              <a:t>)</a:t>
            </a:r>
            <a:r>
              <a:rPr lang="zh-CN" altLang="en-US" sz="1335" dirty="0">
                <a:solidFill>
                  <a:srgbClr val="157CE7"/>
                </a:solidFill>
                <a:latin typeface="阿里巴巴普惠体 R" panose="00020600040101010101" charset="-122"/>
                <a:ea typeface="阿里巴巴普惠体 R" panose="00020600040101010101" charset="-122"/>
              </a:rPr>
              <a:t>截图，通过后</a:t>
            </a:r>
            <a:r>
              <a:rPr lang="zh-CN" altLang="zh-CN" sz="1335" dirty="0">
                <a:solidFill>
                  <a:srgbClr val="157CE7"/>
                </a:solidFill>
                <a:latin typeface="阿里巴巴普惠体 R" panose="00020600040101010101" charset="-122"/>
                <a:ea typeface="阿里巴巴普惠体 R" panose="00020600040101010101" charset="-122"/>
              </a:rPr>
              <a:t>发送抽奖凭证</a:t>
            </a:r>
            <a:r>
              <a:rPr lang="zh-CN" altLang="en-US" sz="1335" dirty="0">
                <a:solidFill>
                  <a:srgbClr val="157CE7"/>
                </a:solidFill>
                <a:latin typeface="阿里巴巴普惠体 R" panose="00020600040101010101" charset="-122"/>
                <a:ea typeface="阿里巴巴普惠体 R" panose="00020600040101010101" charset="-122"/>
              </a:rPr>
              <a:t>，</a:t>
            </a:r>
            <a:r>
              <a:rPr lang="zh-CN" altLang="zh-CN" sz="1335" dirty="0">
                <a:solidFill>
                  <a:srgbClr val="157CE7"/>
                </a:solidFill>
                <a:latin typeface="阿里巴巴普惠体 R" panose="00020600040101010101" charset="-122"/>
                <a:ea typeface="阿里巴巴普惠体 R" panose="00020600040101010101" charset="-122"/>
              </a:rPr>
              <a:t>等待开奖</a:t>
            </a:r>
            <a:endParaRPr lang="zh-CN" altLang="zh-CN" sz="1335" dirty="0">
              <a:solidFill>
                <a:srgbClr val="157CE7"/>
              </a:solidFill>
              <a:latin typeface="阿里巴巴普惠体 R" panose="00020600040101010101" charset="-122"/>
              <a:ea typeface="阿里巴巴普惠体 R" panose="00020600040101010101" charset="-122"/>
            </a:endParaRPr>
          </a:p>
          <a:p>
            <a:endParaRPr lang="zh-CN" altLang="zh-CN" sz="1335" dirty="0">
              <a:solidFill>
                <a:srgbClr val="157CE7"/>
              </a:solidFill>
              <a:latin typeface="阿里巴巴普惠体 R" panose="00020600040101010101" charset="-122"/>
              <a:ea typeface="阿里巴巴普惠体 R" panose="00020600040101010101" charset="-122"/>
            </a:endParaRPr>
          </a:p>
          <a:p>
            <a:r>
              <a:rPr lang="zh-CN" altLang="zh-CN" sz="1335" dirty="0">
                <a:solidFill>
                  <a:srgbClr val="157CE7"/>
                </a:solidFill>
                <a:latin typeface="阿里巴巴普惠体 R" panose="00020600040101010101" charset="-122"/>
                <a:ea typeface="阿里巴巴普惠体 R" panose="00020600040101010101" charset="-122"/>
              </a:rPr>
              <a:t>⑥在群里发诱人商品，引导话题——引导进入小程序</a:t>
            </a:r>
            <a:r>
              <a:rPr lang="zh-CN" altLang="zh-CN" sz="1335" dirty="0">
                <a:solidFill>
                  <a:srgbClr val="FF0000"/>
                </a:solidFill>
                <a:latin typeface="阿里巴巴普惠体 R" panose="00020600040101010101" charset="-122"/>
                <a:ea typeface="阿里巴巴普惠体 R" panose="00020600040101010101" charset="-122"/>
              </a:rPr>
              <a:t>（小程序拉新）</a:t>
            </a:r>
            <a:r>
              <a:rPr lang="zh-CN" altLang="zh-CN" sz="1335" dirty="0">
                <a:solidFill>
                  <a:srgbClr val="157CE7"/>
                </a:solidFill>
                <a:latin typeface="阿里巴巴普惠体 R" panose="00020600040101010101" charset="-122"/>
                <a:ea typeface="阿里巴巴普惠体 R" panose="00020600040101010101" charset="-122"/>
              </a:rPr>
              <a:t> </a:t>
            </a:r>
            <a:endParaRPr lang="zh-CN" altLang="zh-CN" sz="1335" dirty="0">
              <a:solidFill>
                <a:srgbClr val="157CE7"/>
              </a:solidFill>
              <a:latin typeface="阿里巴巴普惠体 R" panose="00020600040101010101" charset="-122"/>
              <a:ea typeface="阿里巴巴普惠体 R" panose="00020600040101010101" charset="-122"/>
            </a:endParaRPr>
          </a:p>
        </p:txBody>
      </p:sp>
      <p:sp>
        <p:nvSpPr>
          <p:cNvPr id="7" name="矩形 6"/>
          <p:cNvSpPr/>
          <p:nvPr/>
        </p:nvSpPr>
        <p:spPr>
          <a:xfrm>
            <a:off x="1102784" y="1509184"/>
            <a:ext cx="7830000" cy="509820"/>
          </a:xfrm>
          <a:prstGeom prst="rect">
            <a:avLst/>
          </a:prstGeom>
        </p:spPr>
        <p:txBody>
          <a:bodyPr wrap="square">
            <a:spAutoFit/>
          </a:bodyPr>
          <a:lstStyle/>
          <a:p>
            <a:pPr marL="342900" indent="-342900">
              <a:lnSpc>
                <a:spcPct val="150000"/>
              </a:lnSpc>
              <a:buSzPct val="80000"/>
              <a:buFont typeface="Wingdings" panose="05000000000000000000" pitchFamily="2" charset="2"/>
              <a:buChar char="n"/>
            </a:pPr>
            <a:r>
              <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rPr>
              <a:t>活动流程</a:t>
            </a:r>
            <a:endPar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endParaRPr>
          </a:p>
        </p:txBody>
      </p:sp>
      <p:pic>
        <p:nvPicPr>
          <p:cNvPr id="8" name="图片 1" descr="群裂变"/>
          <p:cNvPicPr>
            <a:picLocks noChangeAspect="1" noChangeArrowheads="1"/>
          </p:cNvPicPr>
          <p:nvPr/>
        </p:nvPicPr>
        <p:blipFill rotWithShape="1">
          <a:blip r:embed="rId1">
            <a:extLst>
              <a:ext uri="{28A0092B-C50C-407E-A947-70E740481C1C}">
                <a14:useLocalDpi xmlns:a14="http://schemas.microsoft.com/office/drawing/2010/main" val="0"/>
              </a:ext>
            </a:extLst>
          </a:blip>
          <a:srcRect l="5836" r="7692"/>
          <a:stretch>
            <a:fillRect/>
          </a:stretch>
        </p:blipFill>
        <p:spPr bwMode="auto">
          <a:xfrm>
            <a:off x="1564433" y="4527182"/>
            <a:ext cx="5675905" cy="2027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9489982" y="1733705"/>
            <a:ext cx="2435282" cy="3811767"/>
            <a:chOff x="7117485" y="1300279"/>
            <a:chExt cx="1826461" cy="2858825"/>
          </a:xfrm>
        </p:grpSpPr>
        <p:pic>
          <p:nvPicPr>
            <p:cNvPr id="11" name="图片 5" descr="锦鲤4"/>
            <p:cNvPicPr>
              <a:picLocks noChangeAspect="1" noChangeArrowheads="1"/>
            </p:cNvPicPr>
            <p:nvPr/>
          </p:nvPicPr>
          <p:blipFill>
            <a:blip r:embed="rId2" cstate="print">
              <a:extLst>
                <a:ext uri="{28A0092B-C50C-407E-A947-70E740481C1C}">
                  <a14:useLocalDpi xmlns:a14="http://schemas.microsoft.com/office/drawing/2010/main" val="0"/>
                </a:ext>
              </a:extLst>
            </a:blip>
            <a:srcRect t="4709" r="10100" b="24867"/>
            <a:stretch>
              <a:fillRect/>
            </a:stretch>
          </p:blipFill>
          <p:spPr bwMode="auto">
            <a:xfrm>
              <a:off x="7225754" y="1300279"/>
              <a:ext cx="1669593" cy="231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7117485" y="3751204"/>
              <a:ext cx="1826461" cy="407900"/>
            </a:xfrm>
            <a:prstGeom prst="rect">
              <a:avLst/>
            </a:prstGeom>
          </p:spPr>
          <p:txBody>
            <a:bodyPr wrap="none">
              <a:spAutoFit/>
            </a:bodyPr>
            <a:lstStyle/>
            <a:p>
              <a:pPr algn="ctr"/>
              <a:r>
                <a:rPr lang="zh-CN" altLang="en-US" sz="1465" dirty="0">
                  <a:latin typeface="阿里巴巴普惠体 R" panose="00020600040101010101" charset="-122"/>
                  <a:ea typeface="阿里巴巴普惠体 R" panose="00020600040101010101" charset="-122"/>
                </a:rPr>
                <a:t>   截图被审核通过以后，</a:t>
              </a:r>
              <a:endParaRPr lang="en-US" altLang="zh-CN" sz="1465" dirty="0">
                <a:latin typeface="阿里巴巴普惠体 R" panose="00020600040101010101" charset="-122"/>
                <a:ea typeface="阿里巴巴普惠体 R" panose="00020600040101010101" charset="-122"/>
              </a:endParaRPr>
            </a:p>
            <a:p>
              <a:pPr algn="ctr"/>
              <a:r>
                <a:rPr lang="zh-CN" altLang="en-US" sz="1465" dirty="0">
                  <a:latin typeface="阿里巴巴普惠体 R" panose="00020600040101010101" charset="-122"/>
                  <a:ea typeface="阿里巴巴普惠体 R" panose="00020600040101010101" charset="-122"/>
                </a:rPr>
                <a:t>机器人给用户发送抽奖凭证</a:t>
              </a:r>
              <a:endParaRPr lang="zh-CN" altLang="en-US" sz="1465" dirty="0">
                <a:latin typeface="阿里巴巴普惠体 R" panose="00020600040101010101" charset="-122"/>
                <a:ea typeface="阿里巴巴普惠体 R" panose="00020600040101010101" charset="-122"/>
              </a:endParaRPr>
            </a:p>
          </p:txBody>
        </p:sp>
      </p:grpSp>
      <p:sp>
        <p:nvSpPr>
          <p:cNvPr id="13" name="矩形 12"/>
          <p:cNvSpPr/>
          <p:nvPr/>
        </p:nvSpPr>
        <p:spPr>
          <a:xfrm>
            <a:off x="9976505" y="4104408"/>
            <a:ext cx="1184031" cy="714008"/>
          </a:xfrm>
          <a:prstGeom prst="rect">
            <a:avLst/>
          </a:prstGeom>
          <a:noFill/>
          <a:ln w="28575">
            <a:solidFill>
              <a:srgbClr val="FE38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阿里巴巴普惠体 R" panose="00020600040101010101" charset="-122"/>
              <a:ea typeface="阿里巴巴普惠体 R" panose="00020600040101010101" charset="-122"/>
            </a:endParaRPr>
          </a:p>
        </p:txBody>
      </p:sp>
      <p:grpSp>
        <p:nvGrpSpPr>
          <p:cNvPr id="14" name="组合 13"/>
          <p:cNvGrpSpPr/>
          <p:nvPr/>
        </p:nvGrpSpPr>
        <p:grpSpPr>
          <a:xfrm>
            <a:off x="7134909" y="1733706"/>
            <a:ext cx="2247731" cy="3586000"/>
            <a:chOff x="5351181" y="1300279"/>
            <a:chExt cx="1685798" cy="2689500"/>
          </a:xfrm>
        </p:grpSpPr>
        <p:grpSp>
          <p:nvGrpSpPr>
            <p:cNvPr id="2" name="组合 1"/>
            <p:cNvGrpSpPr/>
            <p:nvPr/>
          </p:nvGrpSpPr>
          <p:grpSpPr>
            <a:xfrm>
              <a:off x="5351181" y="1300279"/>
              <a:ext cx="1685798" cy="2689500"/>
              <a:chOff x="5351181" y="1300279"/>
              <a:chExt cx="1685798" cy="2689500"/>
            </a:xfrm>
          </p:grpSpPr>
          <p:pic>
            <p:nvPicPr>
              <p:cNvPr id="9" name="图片 3" descr="锦鲤2"/>
              <p:cNvPicPr>
                <a:picLocks noChangeAspect="1" noChangeArrowheads="1"/>
              </p:cNvPicPr>
              <p:nvPr/>
            </p:nvPicPr>
            <p:blipFill>
              <a:blip r:embed="rId3" cstate="print">
                <a:extLst>
                  <a:ext uri="{28A0092B-C50C-407E-A947-70E740481C1C}">
                    <a14:useLocalDpi xmlns:a14="http://schemas.microsoft.com/office/drawing/2010/main" val="0"/>
                  </a:ext>
                </a:extLst>
              </a:blip>
              <a:srcRect t="4678" r="34673" b="39169"/>
              <a:stretch>
                <a:fillRect/>
              </a:stretch>
            </p:blipFill>
            <p:spPr bwMode="auto">
              <a:xfrm>
                <a:off x="5510380" y="1300279"/>
                <a:ext cx="1512873" cy="231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5351181" y="3751204"/>
                <a:ext cx="1685798" cy="238575"/>
              </a:xfrm>
              <a:prstGeom prst="rect">
                <a:avLst/>
              </a:prstGeom>
            </p:spPr>
            <p:txBody>
              <a:bodyPr wrap="none">
                <a:spAutoFit/>
              </a:bodyPr>
              <a:lstStyle/>
              <a:p>
                <a:r>
                  <a:rPr lang="zh-CN" altLang="en-US" sz="1465" dirty="0">
                    <a:latin typeface="阿里巴巴普惠体 R" panose="00020600040101010101" charset="-122"/>
                    <a:ea typeface="阿里巴巴普惠体 R" panose="00020600040101010101" charset="-122"/>
                  </a:rPr>
                  <a:t>关注公众号弹出群二维码</a:t>
                </a:r>
                <a:endParaRPr lang="zh-CN" altLang="en-US" sz="1465" dirty="0">
                  <a:latin typeface="阿里巴巴普惠体 R" panose="00020600040101010101" charset="-122"/>
                  <a:ea typeface="阿里巴巴普惠体 R" panose="00020600040101010101" charset="-122"/>
                </a:endParaRPr>
              </a:p>
            </p:txBody>
          </p:sp>
        </p:grpSp>
        <p:sp>
          <p:nvSpPr>
            <p:cNvPr id="4" name="矩形 3"/>
            <p:cNvSpPr/>
            <p:nvPr/>
          </p:nvSpPr>
          <p:spPr>
            <a:xfrm>
              <a:off x="5743074" y="1330788"/>
              <a:ext cx="729915" cy="198901"/>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阿里巴巴普惠体 R" panose="00020600040101010101" charset="-122"/>
                <a:ea typeface="阿里巴巴普惠体 R" panose="00020600040101010101" charset="-122"/>
              </a:endParaRPr>
            </a:p>
          </p:txBody>
        </p:sp>
      </p:grpSp>
      <p:cxnSp>
        <p:nvCxnSpPr>
          <p:cNvPr id="16" name="直接箭头连接符 15"/>
          <p:cNvCxnSpPr/>
          <p:nvPr/>
        </p:nvCxnSpPr>
        <p:spPr>
          <a:xfrm>
            <a:off x="5764463" y="3133557"/>
            <a:ext cx="1475875"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直接箭头连接符 17"/>
          <p:cNvCxnSpPr/>
          <p:nvPr/>
        </p:nvCxnSpPr>
        <p:spPr>
          <a:xfrm>
            <a:off x="6983663" y="3957052"/>
            <a:ext cx="265067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1000"/>
                                        <p:tgtEl>
                                          <p:spTgt spid="16"/>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10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16"/>
                                        </p:tgtEl>
                                      </p:cBhvr>
                                    </p:animEffect>
                                    <p:set>
                                      <p:cBhvr>
                                        <p:cTn id="31" dur="1" fill="hold">
                                          <p:stCondLst>
                                            <p:cond delay="499"/>
                                          </p:stCondLst>
                                        </p:cTn>
                                        <p:tgtEl>
                                          <p:spTgt spid="16"/>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animEffect transition="in" filter="fade">
                                      <p:cBhvr>
                                        <p:cTn id="39" dur="1000"/>
                                        <p:tgtEl>
                                          <p:spTgt spid="5">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xEl>
                                              <p:pRg st="8" end="8"/>
                                            </p:txEl>
                                          </p:spTgt>
                                        </p:tgtEl>
                                        <p:attrNameLst>
                                          <p:attrName>style.visibility</p:attrName>
                                        </p:attrNameLst>
                                      </p:cBhvr>
                                      <p:to>
                                        <p:strVal val="visible"/>
                                      </p:to>
                                    </p:set>
                                    <p:animEffect transition="in" filter="fade">
                                      <p:cBhvr>
                                        <p:cTn id="44" dur="1000"/>
                                        <p:tgtEl>
                                          <p:spTgt spid="5">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1000"/>
                                        <p:tgtEl>
                                          <p:spTgt spid="18"/>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wipe(left)">
                                      <p:cBhvr>
                                        <p:cTn id="53" dur="10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20" presetClass="entr" presetSubtype="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edge">
                                      <p:cBhvr>
                                        <p:cTn id="58" dur="1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1000"/>
                                        <p:tgtEl>
                                          <p:spTgt spid="3"/>
                                        </p:tgtEl>
                                      </p:cBhvr>
                                    </p:animEffect>
                                    <p:set>
                                      <p:cBhvr>
                                        <p:cTn id="63" dur="1" fill="hold">
                                          <p:stCondLst>
                                            <p:cond delay="999"/>
                                          </p:stCondLst>
                                        </p:cTn>
                                        <p:tgtEl>
                                          <p:spTgt spid="3"/>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1000"/>
                                        <p:tgtEl>
                                          <p:spTgt spid="13"/>
                                        </p:tgtEl>
                                      </p:cBhvr>
                                    </p:animEffect>
                                    <p:set>
                                      <p:cBhvr>
                                        <p:cTn id="66" dur="1" fill="hold">
                                          <p:stCondLst>
                                            <p:cond delay="999"/>
                                          </p:stCondLst>
                                        </p:cTn>
                                        <p:tgtEl>
                                          <p:spTgt spid="1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000"/>
                                        <p:tgtEl>
                                          <p:spTgt spid="18"/>
                                        </p:tgtEl>
                                      </p:cBhvr>
                                    </p:animEffect>
                                    <p:set>
                                      <p:cBhvr>
                                        <p:cTn id="69" dur="1" fill="hold">
                                          <p:stCondLst>
                                            <p:cond delay="999"/>
                                          </p:stCondLst>
                                        </p:cTn>
                                        <p:tgtEl>
                                          <p:spTgt spid="1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5">
                                            <p:txEl>
                                              <p:pRg st="10" end="10"/>
                                            </p:txEl>
                                          </p:spTgt>
                                        </p:tgtEl>
                                        <p:attrNameLst>
                                          <p:attrName>style.visibility</p:attrName>
                                        </p:attrNameLst>
                                      </p:cBhvr>
                                      <p:to>
                                        <p:strVal val="visible"/>
                                      </p:to>
                                    </p:set>
                                    <p:animEffect transition="in" filter="fade">
                                      <p:cBhvr>
                                        <p:cTn id="74" dur="1000"/>
                                        <p:tgtEl>
                                          <p:spTgt spid="5">
                                            <p:txEl>
                                              <p:pRg st="10" end="1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wipe(up)">
                                      <p:cBhvr>
                                        <p:cTn id="79"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经典爆款裂变案例「寻找锦鲤」创意拆解</a:t>
            </a:r>
            <a:endParaRPr lang="zh-CN" altLang="en-US" b="1" dirty="0"/>
          </a:p>
        </p:txBody>
      </p:sp>
      <p:pic>
        <p:nvPicPr>
          <p:cNvPr id="9" name="图片 1" descr="锦鲤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04595" y="2381885"/>
            <a:ext cx="4989830" cy="26276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0" name="图片 2" descr="锦鲤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3545" y="2374265"/>
            <a:ext cx="3716655" cy="263461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矩形 5"/>
          <p:cNvSpPr/>
          <p:nvPr/>
        </p:nvSpPr>
        <p:spPr>
          <a:xfrm>
            <a:off x="3044055" y="5170262"/>
            <a:ext cx="1309974" cy="318100"/>
          </a:xfrm>
          <a:prstGeom prst="rect">
            <a:avLst/>
          </a:prstGeom>
        </p:spPr>
        <p:txBody>
          <a:bodyPr wrap="none">
            <a:spAutoFit/>
          </a:bodyPr>
          <a:lstStyle/>
          <a:p>
            <a:r>
              <a:rPr lang="zh-CN" altLang="en-US" sz="1465" dirty="0">
                <a:latin typeface="阿里巴巴普惠体 R" panose="00020600040101010101" charset="-122"/>
                <a:ea typeface="阿里巴巴普惠体 R" panose="00020600040101010101" charset="-122"/>
              </a:rPr>
              <a:t>创意抽奖凭证</a:t>
            </a:r>
            <a:endParaRPr lang="zh-CN" altLang="en-US" sz="1465" dirty="0">
              <a:latin typeface="阿里巴巴普惠体 R" panose="00020600040101010101" charset="-122"/>
              <a:ea typeface="阿里巴巴普惠体 R" panose="00020600040101010101" charset="-122"/>
            </a:endParaRPr>
          </a:p>
        </p:txBody>
      </p:sp>
      <p:sp>
        <p:nvSpPr>
          <p:cNvPr id="7" name="矩形 6"/>
          <p:cNvSpPr/>
          <p:nvPr/>
        </p:nvSpPr>
        <p:spPr>
          <a:xfrm>
            <a:off x="7705622" y="5105492"/>
            <a:ext cx="1842171" cy="318100"/>
          </a:xfrm>
          <a:prstGeom prst="rect">
            <a:avLst/>
          </a:prstGeom>
        </p:spPr>
        <p:txBody>
          <a:bodyPr wrap="none">
            <a:spAutoFit/>
          </a:bodyPr>
          <a:lstStyle/>
          <a:p>
            <a:pPr algn="ctr"/>
            <a:r>
              <a:rPr lang="zh-CN" altLang="en-US" sz="1465" dirty="0">
                <a:latin typeface="阿里巴巴普惠体 R" panose="00020600040101010101" charset="-122"/>
                <a:ea typeface="阿里巴巴普惠体 R" panose="00020600040101010101" charset="-122"/>
              </a:rPr>
              <a:t>候选锦鲤“荣誉证书”</a:t>
            </a:r>
            <a:endParaRPr lang="zh-CN" altLang="en-US" sz="1465" dirty="0">
              <a:latin typeface="阿里巴巴普惠体 R" panose="00020600040101010101" charset="-122"/>
              <a:ea typeface="阿里巴巴普惠体 R" panose="00020600040101010101" charset="-122"/>
            </a:endParaRPr>
          </a:p>
        </p:txBody>
      </p:sp>
      <p:sp>
        <p:nvSpPr>
          <p:cNvPr id="8" name="矩形 7"/>
          <p:cNvSpPr/>
          <p:nvPr/>
        </p:nvSpPr>
        <p:spPr>
          <a:xfrm>
            <a:off x="1102784" y="1509184"/>
            <a:ext cx="7830000" cy="509820"/>
          </a:xfrm>
          <a:prstGeom prst="rect">
            <a:avLst/>
          </a:prstGeom>
        </p:spPr>
        <p:txBody>
          <a:bodyPr wrap="square">
            <a:spAutoFit/>
          </a:bodyPr>
          <a:lstStyle/>
          <a:p>
            <a:pPr marL="342900" indent="-342900">
              <a:lnSpc>
                <a:spcPct val="150000"/>
              </a:lnSpc>
              <a:buSzPct val="80000"/>
              <a:buFont typeface="Wingdings" panose="05000000000000000000" pitchFamily="2" charset="2"/>
              <a:buChar char="n"/>
            </a:pPr>
            <a:r>
              <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rPr>
              <a:t>活动流程</a:t>
            </a:r>
            <a:endPar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经典爆款裂变案例「寻找锦鲤」创意拆解</a:t>
            </a:r>
            <a:endParaRPr lang="zh-CN" altLang="en-US" b="1" dirty="0"/>
          </a:p>
        </p:txBody>
      </p:sp>
      <p:sp>
        <p:nvSpPr>
          <p:cNvPr id="3" name="矩形 2"/>
          <p:cNvSpPr/>
          <p:nvPr/>
        </p:nvSpPr>
        <p:spPr>
          <a:xfrm>
            <a:off x="1102784" y="1509184"/>
            <a:ext cx="7830000" cy="509820"/>
          </a:xfrm>
          <a:prstGeom prst="rect">
            <a:avLst/>
          </a:prstGeom>
        </p:spPr>
        <p:txBody>
          <a:bodyPr wrap="square">
            <a:spAutoFit/>
          </a:bodyPr>
          <a:lstStyle/>
          <a:p>
            <a:pPr marL="342900" indent="-342900">
              <a:lnSpc>
                <a:spcPct val="150000"/>
              </a:lnSpc>
              <a:buSzPct val="80000"/>
              <a:buFont typeface="Wingdings" panose="05000000000000000000" pitchFamily="2" charset="2"/>
              <a:buChar char="n"/>
            </a:pPr>
            <a:r>
              <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rPr>
              <a:t>核心玩法</a:t>
            </a:r>
            <a:endParaRPr lang="zh-CN" altLang="en-US" sz="2000" b="1" dirty="0">
              <a:solidFill>
                <a:schemeClr val="tx1">
                  <a:lumMod val="75000"/>
                  <a:lumOff val="25000"/>
                </a:schemeClr>
              </a:solidFill>
              <a:latin typeface="阿里巴巴普惠体 R" panose="00020600040101010101" charset="-122"/>
              <a:ea typeface="阿里巴巴普惠体 R" panose="00020600040101010101" charset="-122"/>
            </a:endParaRPr>
          </a:p>
        </p:txBody>
      </p:sp>
      <p:sp>
        <p:nvSpPr>
          <p:cNvPr id="5" name="文本框 2"/>
          <p:cNvSpPr txBox="1">
            <a:spLocks noChangeArrowheads="1"/>
          </p:cNvSpPr>
          <p:nvPr/>
        </p:nvSpPr>
        <p:spPr bwMode="auto">
          <a:xfrm>
            <a:off x="1564432" y="2147042"/>
            <a:ext cx="7815580" cy="252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zh-CN" sz="1600" b="1" dirty="0">
                <a:solidFill>
                  <a:srgbClr val="157CE7"/>
                </a:solidFill>
                <a:latin typeface="阿里巴巴普惠体 R" panose="00020600040101010101" charset="-122"/>
                <a:ea typeface="阿里巴巴普惠体 R" panose="00020600040101010101" charset="-122"/>
              </a:rPr>
              <a:t>社群裂变+公众号+抽奖</a:t>
            </a:r>
            <a:endParaRPr lang="en-US" altLang="zh-CN" sz="1600" b="1" dirty="0">
              <a:solidFill>
                <a:srgbClr val="157CE7"/>
              </a:solidFill>
              <a:latin typeface="阿里巴巴普惠体 R" panose="00020600040101010101" charset="-122"/>
              <a:ea typeface="阿里巴巴普惠体 R" panose="00020600040101010101" charset="-122"/>
            </a:endParaRPr>
          </a:p>
          <a:p>
            <a:pPr eaLnBrk="1" hangingPunct="1"/>
            <a:endParaRPr lang="zh-CN" altLang="zh-CN" sz="16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r>
              <a:rPr lang="zh-CN" altLang="zh-CN" sz="1400" dirty="0">
                <a:latin typeface="阿里巴巴普惠体 R" panose="00020600040101010101" charset="-122"/>
                <a:ea typeface="阿里巴巴普惠体 R" panose="00020600040101010101" charset="-122"/>
              </a:rPr>
              <a:t>在活动海报上放置公众号二维码，引导用户扫码关注公众号</a:t>
            </a: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r>
              <a:rPr lang="zh-CN" altLang="zh-CN" sz="1400" dirty="0">
                <a:latin typeface="阿里巴巴普惠体 R" panose="00020600040101010101" charset="-122"/>
                <a:ea typeface="阿里巴巴普惠体 R" panose="00020600040101010101" charset="-122"/>
              </a:rPr>
              <a:t>通过关注回复，把活动信息传达给用户，引导用户入群（公众号的关键词回复，新用户</a:t>
            </a:r>
            <a:r>
              <a:rPr lang="zh-CN" altLang="zh-CN" sz="1400" dirty="0">
                <a:latin typeface="阿里巴巴普惠体 R" panose="00020600040101010101" charset="-122"/>
                <a:ea typeface="阿里巴巴普惠体 R" panose="00020600040101010101" charset="-122"/>
              </a:rPr>
              <a:t>回复）</a:t>
            </a: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r>
              <a:rPr lang="zh-CN" altLang="zh-CN" sz="1400" dirty="0">
                <a:latin typeface="阿里巴巴普惠体 R" panose="00020600040101010101" charset="-122"/>
                <a:ea typeface="阿里巴巴普惠体 R" panose="00020600040101010101" charset="-122"/>
              </a:rPr>
              <a:t>用户入群后再引导其转发</a:t>
            </a:r>
            <a:r>
              <a:rPr lang="zh-CN" altLang="en-US" sz="1400" dirty="0">
                <a:latin typeface="阿里巴巴普惠体 R" panose="00020600040101010101" charset="-122"/>
                <a:ea typeface="阿里巴巴普惠体 R" panose="00020600040101010101" charset="-122"/>
              </a:rPr>
              <a:t>文案和海报</a:t>
            </a:r>
            <a:r>
              <a:rPr lang="zh-CN" altLang="zh-CN" sz="1400" dirty="0">
                <a:latin typeface="阿里巴巴普惠体 R" panose="00020600040101010101" charset="-122"/>
                <a:ea typeface="阿里巴巴普惠体 R" panose="00020600040101010101" charset="-122"/>
              </a:rPr>
              <a:t>，由此来规避公众号诱导转发风险</a:t>
            </a: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r>
              <a:rPr lang="zh-CN" altLang="zh-CN" sz="1400" dirty="0">
                <a:latin typeface="阿里巴巴普惠体 R" panose="00020600040101010101" charset="-122"/>
                <a:ea typeface="阿里巴巴普惠体 R" panose="00020600040101010101" charset="-122"/>
              </a:rPr>
              <a:t>利用小程序或者其他抽奖工具抽奖，抽奖设置门槛</a:t>
            </a:r>
            <a:endParaRPr lang="zh-CN" altLang="zh-CN" sz="1400" dirty="0">
              <a:latin typeface="阿里巴巴普惠体 R" panose="00020600040101010101" charset="-122"/>
              <a:ea typeface="阿里巴巴普惠体 R" panose="00020600040101010101" charset="-122"/>
            </a:endParaRPr>
          </a:p>
          <a:p>
            <a:pPr marL="342900" indent="-342900" eaLnBrk="1" hangingPunct="1">
              <a:buFont typeface="+mj-lt"/>
              <a:buAutoNum type="arabicPeriod"/>
            </a:pPr>
            <a:endParaRPr lang="zh-CN" altLang="zh-CN" sz="1400" b="1" dirty="0">
              <a:latin typeface="阿里巴巴普惠体 R" panose="00020600040101010101" charset="-122"/>
              <a:ea typeface="阿里巴巴普惠体 R" panose="00020600040101010101" charset="-122"/>
            </a:endParaRPr>
          </a:p>
          <a:p>
            <a:pPr indent="0" eaLnBrk="1" hangingPunct="1">
              <a:buFont typeface="+mj-lt"/>
              <a:buNone/>
            </a:pPr>
            <a:r>
              <a:rPr lang="zh-CN" altLang="zh-CN" sz="1400" b="1" dirty="0">
                <a:latin typeface="阿里巴巴普惠体 R" panose="00020600040101010101" charset="-122"/>
                <a:ea typeface="阿里巴巴普惠体 R" panose="00020600040101010101" charset="-122"/>
              </a:rPr>
              <a:t>简单、诱人、公开</a:t>
            </a:r>
            <a:r>
              <a:rPr lang="zh-CN" altLang="zh-CN" sz="1400" b="1" dirty="0">
                <a:latin typeface="阿里巴巴普惠体 R" panose="00020600040101010101" charset="-122"/>
                <a:ea typeface="阿里巴巴普惠体 R" panose="00020600040101010101" charset="-122"/>
              </a:rPr>
              <a:t>透明</a:t>
            </a:r>
            <a:endParaRPr lang="zh-CN" altLang="zh-CN" sz="1400" b="1" dirty="0">
              <a:latin typeface="阿里巴巴普惠体 R" panose="00020600040101010101" charset="-122"/>
              <a:ea typeface="阿里巴巴普惠体 R" panose="000206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思考</a:t>
            </a:r>
            <a:endParaRPr lang="zh-CN" altLang="en-US"/>
          </a:p>
        </p:txBody>
      </p:sp>
      <p:pic>
        <p:nvPicPr>
          <p:cNvPr id="6" name="图片 5"/>
          <p:cNvPicPr>
            <a:picLocks noChangeAspect="1"/>
          </p:cNvPicPr>
          <p:nvPr/>
        </p:nvPicPr>
        <p:blipFill>
          <a:blip r:embed="rId1"/>
          <a:stretch>
            <a:fillRect/>
          </a:stretch>
        </p:blipFill>
        <p:spPr>
          <a:xfrm>
            <a:off x="3910965" y="2628900"/>
            <a:ext cx="8214995" cy="1753235"/>
          </a:xfrm>
          <a:prstGeom prst="rect">
            <a:avLst/>
          </a:prstGeom>
          <a:ln>
            <a:solidFill>
              <a:schemeClr val="bg1">
                <a:lumMod val="85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t>思考</a:t>
            </a:r>
          </a:p>
        </p:txBody>
      </p:sp>
      <p:pic>
        <p:nvPicPr>
          <p:cNvPr id="6" name="图片 5"/>
          <p:cNvPicPr>
            <a:picLocks noChangeAspect="1"/>
          </p:cNvPicPr>
          <p:nvPr/>
        </p:nvPicPr>
        <p:blipFill>
          <a:blip r:embed="rId1"/>
          <a:stretch>
            <a:fillRect/>
          </a:stretch>
        </p:blipFill>
        <p:spPr>
          <a:xfrm>
            <a:off x="4936490" y="2599055"/>
            <a:ext cx="4993005" cy="1821815"/>
          </a:xfrm>
          <a:prstGeom prst="rect">
            <a:avLst/>
          </a:prstGeom>
          <a:ln>
            <a:solidFill>
              <a:schemeClr val="bg1">
                <a:lumMod val="85000"/>
              </a:schemeClr>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0"/>
          </p:nvPr>
        </p:nvSpPr>
        <p:spPr>
          <a:xfrm>
            <a:off x="4679950" y="1436370"/>
            <a:ext cx="5611495" cy="4209415"/>
          </a:xfrm>
        </p:spPr>
        <p:txBody>
          <a:bodyPr/>
          <a:p>
            <a:r>
              <a:rPr lang="zh-CN" altLang="en-US"/>
              <a:t>请阐述一个给用户送高级资源（市面上很少找到的软件、教程）的裂变流程，主要是给公众号吸粉、群拉用户。</a:t>
            </a:r>
            <a:endParaRPr lang="zh-CN" altLang="en-US"/>
          </a:p>
          <a:p>
            <a:pPr marL="0" indent="0">
              <a:buNone/>
            </a:pPr>
            <a:r>
              <a:rPr lang="zh-CN" altLang="en-US"/>
              <a:t>资源海报——扫码进群——转发朋友圈——截图——进群验证审核领资料</a:t>
            </a:r>
            <a:r>
              <a:rPr lang="en-US" altLang="zh-CN"/>
              <a:t>/</a:t>
            </a:r>
            <a:r>
              <a:rPr lang="zh-CN" altLang="en-US"/>
              <a:t>资源</a:t>
            </a:r>
            <a:r>
              <a:rPr lang="en-US" altLang="zh-CN"/>
              <a:t>/</a:t>
            </a:r>
            <a:r>
              <a:rPr lang="zh-CN" altLang="en-US"/>
              <a:t>红包</a:t>
            </a:r>
            <a:r>
              <a:rPr lang="zh-CN" altLang="en-US"/>
              <a:t>抽奖。</a:t>
            </a:r>
            <a:endParaRPr lang="zh-CN" altLang="en-US"/>
          </a:p>
        </p:txBody>
      </p:sp>
      <p:sp>
        <p:nvSpPr>
          <p:cNvPr id="5" name="标题 4"/>
          <p:cNvSpPr>
            <a:spLocks noGrp="1"/>
          </p:cNvSpPr>
          <p:nvPr>
            <p:ph type="title"/>
          </p:nvPr>
        </p:nvSpPr>
        <p:spPr/>
        <p:txBody>
          <a:bodyPr/>
          <a:p>
            <a:r>
              <a:rPr lang="zh-CN" altLang="en-US"/>
              <a:t>思考</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355" y="1382395"/>
            <a:ext cx="6126480" cy="4591685"/>
          </a:xfrm>
        </p:spPr>
        <p:txBody>
          <a:bodyPr/>
          <a:lstStyle/>
          <a:p>
            <a:pPr marL="0" indent="0">
              <a:lnSpc>
                <a:spcPct val="160000"/>
              </a:lnSpc>
              <a:buNone/>
            </a:pPr>
            <a:r>
              <a:rPr lang="zh-CN" altLang="en-US" sz="1800" dirty="0"/>
              <a:t>影响社群裂变活动效果的因素（锦鲤活动给我们的启示）：</a:t>
            </a:r>
            <a:endParaRPr lang="en-US" altLang="zh-CN" sz="1800" dirty="0"/>
          </a:p>
          <a:p>
            <a:pPr>
              <a:lnSpc>
                <a:spcPct val="160000"/>
              </a:lnSpc>
            </a:pPr>
            <a:r>
              <a:rPr lang="zh-CN" altLang="en-US" sz="1600" dirty="0"/>
              <a:t>提供奖项额度（价值）一定要让人感知到“足够分量”</a:t>
            </a:r>
            <a:endParaRPr lang="zh-CN" altLang="en-US" sz="1600" dirty="0"/>
          </a:p>
          <a:p>
            <a:pPr>
              <a:lnSpc>
                <a:spcPct val="160000"/>
              </a:lnSpc>
            </a:pPr>
            <a:r>
              <a:rPr lang="zh-CN" altLang="en-US" sz="1600" dirty="0"/>
              <a:t>用户参与成本足够低 </a:t>
            </a:r>
            <a:r>
              <a:rPr lang="en-US" altLang="zh-CN" sz="1600" dirty="0"/>
              <a:t>, </a:t>
            </a:r>
            <a:r>
              <a:rPr lang="zh-CN" altLang="en-US" sz="1600" dirty="0"/>
              <a:t>简单的操作路径</a:t>
            </a:r>
            <a:endParaRPr lang="zh-CN" altLang="en-US" sz="1600" dirty="0"/>
          </a:p>
          <a:p>
            <a:pPr>
              <a:lnSpc>
                <a:spcPct val="160000"/>
              </a:lnSpc>
            </a:pPr>
            <a:r>
              <a:rPr lang="zh-CN" altLang="en-US" sz="1600" dirty="0"/>
              <a:t>商家目的与用户需求间的匹配度要高</a:t>
            </a:r>
            <a:endParaRPr lang="zh-CN" altLang="en-US" sz="1600" dirty="0"/>
          </a:p>
          <a:p>
            <a:pPr>
              <a:lnSpc>
                <a:spcPct val="160000"/>
              </a:lnSpc>
            </a:pPr>
            <a:r>
              <a:rPr lang="zh-CN" altLang="en-US" sz="1600" dirty="0"/>
              <a:t>微创新，增加了精美的抽奖凭证</a:t>
            </a:r>
            <a:endParaRPr lang="zh-CN" altLang="en-US" sz="1600"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经典爆款裂变案例「寻找锦鲤」创意拆解</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1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1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10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1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2800" dirty="0">
                <a:latin typeface="阿里巴巴普惠体" panose="00020600040101010101" pitchFamily="18" charset="-122"/>
              </a:rPr>
              <a:t>活动背景</a:t>
            </a:r>
            <a:endParaRPr kumimoji="1" lang="zh-CN" altLang="en-US" sz="2800" dirty="0">
              <a:latin typeface="阿里巴巴普惠体" panose="00020600040101010101" pitchFamily="18" charset="-122"/>
            </a:endParaRPr>
          </a:p>
        </p:txBody>
      </p:sp>
      <p:sp>
        <p:nvSpPr>
          <p:cNvPr id="3" name="文本占位符 2"/>
          <p:cNvSpPr>
            <a:spLocks noGrp="1"/>
          </p:cNvSpPr>
          <p:nvPr>
            <p:ph type="body" sz="quarter" idx="10"/>
          </p:nvPr>
        </p:nvSpPr>
        <p:spPr/>
        <p:txBody>
          <a:bodyPr/>
          <a:lstStyle/>
          <a:p>
            <a:r>
              <a:rPr kumimoji="1" lang="en-US" altLang="zh-CN" dirty="0"/>
              <a:t>02</a:t>
            </a:r>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4566736" y="1727947"/>
            <a:ext cx="5630484" cy="3196039"/>
          </a:xfrm>
        </p:spPr>
        <p:txBody>
          <a:bodyPr/>
          <a:lstStyle/>
          <a:p>
            <a:pPr marL="285750" indent="-285750" algn="l" eaLnBrk="0" hangingPunct="0">
              <a:lnSpc>
                <a:spcPct val="200000"/>
              </a:lnSpc>
              <a:buClr>
                <a:srgbClr val="262626"/>
              </a:buClr>
              <a:buFont typeface="Arial" panose="020B0604020202090204" pitchFamily="34" charset="0"/>
              <a:buChar char="•"/>
            </a:pPr>
            <a:r>
              <a:rPr lang="en-US" altLang="zh-CN" dirty="0">
                <a:solidFill>
                  <a:srgbClr val="262626"/>
                </a:solidFill>
                <a:latin typeface="阿里巴巴普惠体" panose="00020600040101010101" pitchFamily="18" charset="-122"/>
                <a:sym typeface="+mn-ea"/>
              </a:rPr>
              <a:t> </a:t>
            </a:r>
            <a:r>
              <a:rPr lang="zh-CN" altLang="en-US" dirty="0">
                <a:solidFill>
                  <a:srgbClr val="262626"/>
                </a:solidFill>
                <a:latin typeface="阿里巴巴普惠体" panose="00020600040101010101" pitchFamily="18" charset="-122"/>
                <a:sym typeface="+mn-ea"/>
              </a:rPr>
              <a:t>掌握活动背景的撰写方法</a:t>
            </a:r>
            <a:endParaRPr lang="zh-CN" altLang="en-US" dirty="0">
              <a:solidFill>
                <a:srgbClr val="262626"/>
              </a:solidFill>
              <a:latin typeface="阿里巴巴普惠体" panose="00020600040101010101" pitchFamily="18" charset="-122"/>
            </a:endParaRPr>
          </a:p>
          <a:p>
            <a:pPr marL="285750" indent="-285750" algn="l" eaLnBrk="0" hangingPunct="0">
              <a:lnSpc>
                <a:spcPct val="200000"/>
              </a:lnSpc>
              <a:buClr>
                <a:srgbClr val="262626"/>
              </a:buClr>
              <a:buFont typeface="Arial" panose="020B0604020202090204" pitchFamily="34" charset="0"/>
              <a:buChar char="•"/>
            </a:pPr>
            <a:endParaRPr lang="zh-CN" altLang="en-US" dirty="0">
              <a:solidFill>
                <a:srgbClr val="262626"/>
              </a:solidFill>
              <a:latin typeface="阿里巴巴普惠体" panose="00020600040101010101" pitchFamily="18" charset="-122"/>
              <a:sym typeface="+mn-ea"/>
            </a:endParaRPr>
          </a:p>
          <a:p>
            <a:pPr marL="285750" indent="-285750" algn="l" eaLnBrk="0" hangingPunct="0">
              <a:lnSpc>
                <a:spcPct val="200000"/>
              </a:lnSpc>
              <a:buClr>
                <a:srgbClr val="262626"/>
              </a:buClr>
              <a:buNone/>
            </a:pP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436557"/>
            <a:ext cx="5760539" cy="4049843"/>
          </a:xfrm>
        </p:spPr>
        <p:txBody>
          <a:bodyPr/>
          <a:lstStyle/>
          <a:p>
            <a:r>
              <a:rPr lang="zh-CN" altLang="en-US" dirty="0"/>
              <a:t>如果领导</a:t>
            </a:r>
            <a:r>
              <a:rPr lang="zh-CN" altLang="en-US" b="1" dirty="0">
                <a:solidFill>
                  <a:srgbClr val="0067E1"/>
                </a:solidFill>
              </a:rPr>
              <a:t>每个月</a:t>
            </a:r>
            <a:r>
              <a:rPr lang="zh-CN" altLang="en-US" dirty="0"/>
              <a:t>让你至少策划一场活动，你是否能想到策划哪</a:t>
            </a:r>
            <a:r>
              <a:rPr lang="zh-CN" altLang="en-US" dirty="0"/>
              <a:t>几类的活动？</a:t>
            </a:r>
            <a:endParaRPr lang="zh-CN" altLang="en-US"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思考</a:t>
            </a:r>
            <a:endParaRPr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0880" y="22577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活动背景</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 name="椭圆 5"/>
          <p:cNvSpPr/>
          <p:nvPr/>
        </p:nvSpPr>
        <p:spPr>
          <a:xfrm>
            <a:off x="1453727" y="2782782"/>
            <a:ext cx="1344084" cy="1344084"/>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产品</a:t>
            </a:r>
            <a:endPar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8" name="椭圆 7"/>
          <p:cNvSpPr/>
          <p:nvPr/>
        </p:nvSpPr>
        <p:spPr>
          <a:xfrm>
            <a:off x="4143125" y="2804795"/>
            <a:ext cx="1344084" cy="1346200"/>
          </a:xfrm>
          <a:prstGeom prst="ellipse">
            <a:avLst/>
          </a:prstGeom>
          <a:solidFill>
            <a:srgbClr val="93CD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竞品</a:t>
            </a:r>
            <a:endPar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9" name="椭圆 8"/>
          <p:cNvSpPr/>
          <p:nvPr/>
        </p:nvSpPr>
        <p:spPr>
          <a:xfrm>
            <a:off x="9521921" y="2782782"/>
            <a:ext cx="1344084" cy="134408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公司需求</a:t>
            </a:r>
            <a:endPar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4" name="椭圆 3"/>
          <p:cNvSpPr/>
          <p:nvPr/>
        </p:nvSpPr>
        <p:spPr>
          <a:xfrm>
            <a:off x="6832523" y="2831465"/>
            <a:ext cx="1344084" cy="134408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热点</a:t>
            </a:r>
            <a:endParaRPr kumimoji="0" lang="zh-CN" altLang="en-US" sz="14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10" name="TextBox 9"/>
          <p:cNvSpPr txBox="1"/>
          <p:nvPr/>
        </p:nvSpPr>
        <p:spPr>
          <a:xfrm>
            <a:off x="628650" y="1422023"/>
            <a:ext cx="3514725" cy="458787"/>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如何写活动背景</a:t>
            </a: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710880" y="225774"/>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活动背景</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28674" name="TextBox 9"/>
          <p:cNvSpPr txBox="1"/>
          <p:nvPr/>
        </p:nvSpPr>
        <p:spPr>
          <a:xfrm>
            <a:off x="628650" y="973138"/>
            <a:ext cx="3514725" cy="458787"/>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如何写活动背景</a:t>
            </a: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基于</a:t>
            </a:r>
            <a:r>
              <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产品</a:t>
            </a: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5" name="组合 4"/>
          <p:cNvGrpSpPr/>
          <p:nvPr/>
        </p:nvGrpSpPr>
        <p:grpSpPr>
          <a:xfrm>
            <a:off x="628650" y="4003096"/>
            <a:ext cx="10373360" cy="1623060"/>
            <a:chOff x="1376" y="6010"/>
            <a:chExt cx="16336" cy="2556"/>
          </a:xfrm>
        </p:grpSpPr>
        <p:sp>
          <p:nvSpPr>
            <p:cNvPr id="6" name="三角形 5"/>
            <p:cNvSpPr/>
            <p:nvPr/>
          </p:nvSpPr>
          <p:spPr>
            <a:xfrm rot="2651319">
              <a:off x="1376" y="6010"/>
              <a:ext cx="229" cy="12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7" name="矩形 6"/>
            <p:cNvSpPr/>
            <p:nvPr/>
          </p:nvSpPr>
          <p:spPr>
            <a:xfrm>
              <a:off x="1488" y="6394"/>
              <a:ext cx="16224" cy="2047"/>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矩形 7"/>
            <p:cNvSpPr/>
            <p:nvPr/>
          </p:nvSpPr>
          <p:spPr>
            <a:xfrm>
              <a:off x="1488" y="6097"/>
              <a:ext cx="1659" cy="474"/>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举例说明</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文本框 13"/>
            <p:cNvSpPr txBox="1"/>
            <p:nvPr/>
          </p:nvSpPr>
          <p:spPr>
            <a:xfrm>
              <a:off x="1536" y="6726"/>
              <a:ext cx="16095" cy="1840"/>
            </a:xfrm>
            <a:prstGeom prst="rect">
              <a:avLst/>
            </a:prstGeom>
            <a:noFill/>
          </p:spPr>
          <p:txBody>
            <a:bodyPr wrap="square">
              <a:spAutoFit/>
            </a:bodyPr>
            <a:lstStyle/>
            <a:p>
              <a:pPr fontAlgn="auto">
                <a:spcBef>
                  <a:spcPts val="0"/>
                </a:spcBef>
                <a:spcAft>
                  <a:spcPts val="0"/>
                </a:spcAft>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①从5月以来产品的新用户留存率下降了近5%，运营部门希望采用活动策略来给新用户、低频用户搭建一个高效的了解、探索产品的场景，提高新用户的留存以及促进低频用户的活跃。</a:t>
              </a:r>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fontAlgn="auto">
                <a:spcBef>
                  <a:spcPts val="0"/>
                </a:spcBef>
                <a:spcAft>
                  <a:spcPts val="0"/>
                </a:spcAft>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fontAlgn="auto">
                <a:spcBef>
                  <a:spcPts val="0"/>
                </a:spcBef>
                <a:spcAft>
                  <a:spcPts val="0"/>
                </a:spcAft>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fontAlgn="auto">
                <a:spcBef>
                  <a:spcPts val="0"/>
                </a:spcBef>
                <a:spcAft>
                  <a:spcPts val="0"/>
                </a:spcAft>
              </a:pP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endParaRPr>
            </a:p>
          </p:txBody>
        </p:sp>
        <p:sp>
          <p:nvSpPr>
            <p:cNvPr id="3" name="文本框 2"/>
            <p:cNvSpPr txBox="1"/>
            <p:nvPr/>
          </p:nvSpPr>
          <p:spPr>
            <a:xfrm>
              <a:off x="1488" y="7720"/>
              <a:ext cx="16095" cy="822"/>
            </a:xfrm>
            <a:prstGeom prst="rect">
              <a:avLst/>
            </a:prstGeom>
            <a:noFill/>
          </p:spPr>
          <p:txBody>
            <a:bodyPr wrap="square">
              <a:spAutoFit/>
            </a:bodyPr>
            <a:lstStyle/>
            <a:p>
              <a:pPr fontAlgn="auto">
                <a:spcBef>
                  <a:spcPts val="0"/>
                </a:spcBef>
                <a:spcAft>
                  <a:spcPts val="0"/>
                </a:spcAft>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②社群用户量已突破</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10W</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人，为了提升公司产品销售额，特策划一场</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0</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元免费送</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VIP</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资源的活动，目的是转化用户到高级付费资源。</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fontAlgn="auto">
                <a:spcBef>
                  <a:spcPts val="0"/>
                </a:spcBef>
                <a:spcAft>
                  <a:spcPts val="0"/>
                </a:spcAft>
              </a:pP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endParaRPr>
            </a:p>
          </p:txBody>
        </p:sp>
      </p:grpSp>
      <p:sp>
        <p:nvSpPr>
          <p:cNvPr id="10" name="文本框 9"/>
          <p:cNvSpPr txBox="1"/>
          <p:nvPr/>
        </p:nvSpPr>
        <p:spPr>
          <a:xfrm>
            <a:off x="699771" y="1708150"/>
            <a:ext cx="10302240" cy="1677190"/>
          </a:xfrm>
          <a:prstGeom prst="rect">
            <a:avLst/>
          </a:prstGeom>
          <a:noFill/>
        </p:spPr>
        <p:txBody>
          <a:bodyPr wrap="square">
            <a:spAutoFit/>
          </a:bodyPr>
          <a:lstStyle/>
          <a:p>
            <a:pPr eaLnBrk="0" fontAlgn="auto" hangingPunct="0">
              <a:lnSpc>
                <a:spcPct val="150000"/>
              </a:lnSpc>
              <a:spcBef>
                <a:spcPts val="0"/>
              </a:spcBef>
              <a:spcAft>
                <a:spcPts val="0"/>
              </a:spcAft>
              <a:defRPr/>
            </a:pPr>
            <a:r>
              <a:rPr lang="zh-CN" altLang="en-US" sz="1400" noProof="1">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活动可以影响的产品数据</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有很多，包含下载量、日活、月活、留存率；如果你运营的是电商类产品的话还可以有销售额、订单量、转化率、客单价、复购率；要是你运营的是社区类产品则有发贴量、互动量、点赞量、转发量。</a:t>
            </a:r>
            <a:endPar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endPar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当你发现以上</a:t>
            </a:r>
            <a:r>
              <a:rPr lang="zh-CN" altLang="en-US" sz="1400" noProof="1">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产品数据出现明显下降时或者想重点提升产品的某个数据指标时</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，通常时候就会去考虑策划活动了。比如交易额数据的提升，肯定是离不开流量、客单价、复购率、转化率的数据提升。</a:t>
            </a:r>
            <a:endPar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710880" y="225774"/>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活动背景</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28674" name="TextBox 9"/>
          <p:cNvSpPr txBox="1"/>
          <p:nvPr/>
        </p:nvSpPr>
        <p:spPr>
          <a:xfrm>
            <a:off x="628650" y="973138"/>
            <a:ext cx="3514725" cy="874407"/>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如何写活动背景</a:t>
            </a: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基于</a:t>
            </a:r>
            <a:r>
              <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竞品</a:t>
            </a: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eaLnBrk="0" hangingPunct="0">
              <a:lnSpc>
                <a:spcPct val="150000"/>
              </a:lnSpc>
              <a:buFont typeface="阿里巴巴普惠体" panose="00020600040101010101" pitchFamily="18" charset="-122"/>
            </a:pP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2" name="组合 1"/>
          <p:cNvGrpSpPr/>
          <p:nvPr/>
        </p:nvGrpSpPr>
        <p:grpSpPr>
          <a:xfrm>
            <a:off x="710565" y="2560499"/>
            <a:ext cx="10291446" cy="1513840"/>
            <a:chOff x="1488" y="5511"/>
            <a:chExt cx="15074" cy="2384"/>
          </a:xfrm>
        </p:grpSpPr>
        <p:sp>
          <p:nvSpPr>
            <p:cNvPr id="3" name="三角形 5"/>
            <p:cNvSpPr/>
            <p:nvPr/>
          </p:nvSpPr>
          <p:spPr>
            <a:xfrm rot="2651319">
              <a:off x="1576" y="5624"/>
              <a:ext cx="229" cy="12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4" name="矩形 3"/>
            <p:cNvSpPr/>
            <p:nvPr/>
          </p:nvSpPr>
          <p:spPr>
            <a:xfrm>
              <a:off x="1488" y="5808"/>
              <a:ext cx="15074" cy="2087"/>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9" name="矩形 8"/>
            <p:cNvSpPr/>
            <p:nvPr/>
          </p:nvSpPr>
          <p:spPr>
            <a:xfrm>
              <a:off x="1488" y="5511"/>
              <a:ext cx="1659" cy="474"/>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举例说明</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0" name="文本框 9"/>
            <p:cNvSpPr txBox="1"/>
            <p:nvPr/>
          </p:nvSpPr>
          <p:spPr>
            <a:xfrm>
              <a:off x="1488" y="6017"/>
              <a:ext cx="14946" cy="1109"/>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作为坐拥亿级用户量的地图类产品，面对一波又一波的盘点热潮，我们希望做一份不一样的年终盘点。结合百度地图精准的路程测试，邀请网友对过去一年的上班路程进行测试，晒一晒自己的“辛苦指数”，加强用户与产品之间的情感链接</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endParaRPr>
            </a:p>
          </p:txBody>
        </p:sp>
      </p:grpSp>
      <p:sp>
        <p:nvSpPr>
          <p:cNvPr id="11" name="文本框 10"/>
          <p:cNvSpPr txBox="1"/>
          <p:nvPr/>
        </p:nvSpPr>
        <p:spPr>
          <a:xfrm>
            <a:off x="699771" y="1708150"/>
            <a:ext cx="10302240" cy="385298"/>
          </a:xfrm>
          <a:prstGeom prst="rect">
            <a:avLst/>
          </a:prstGeom>
          <a:noFill/>
        </p:spPr>
        <p:txBody>
          <a:bodyPr wrap="square">
            <a:spAutoFit/>
          </a:bodyPr>
          <a:lstStyle/>
          <a:p>
            <a:pPr eaLnBrk="0" fontAlgn="auto" hangingPunct="0">
              <a:lnSpc>
                <a:spcPct val="150000"/>
              </a:lnSpc>
              <a:spcBef>
                <a:spcPts val="0"/>
              </a:spcBef>
              <a:spcAft>
                <a:spcPts val="0"/>
              </a:spcAft>
              <a:defRPr/>
            </a:pP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通过</a:t>
            </a:r>
            <a:r>
              <a:rPr lang="zh-CN" altLang="en-US" sz="1400" noProof="1">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观察</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和</a:t>
            </a:r>
            <a:r>
              <a:rPr lang="zh-CN" altLang="en-US" sz="1400" noProof="1">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分析竞品</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所做的活动，根据自己的需求做出调整，通过微创新做出属自己业务形式的活动</a:t>
            </a:r>
            <a:endPar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710880" y="225774"/>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活动背景</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28674" name="TextBox 9"/>
          <p:cNvSpPr txBox="1"/>
          <p:nvPr/>
        </p:nvSpPr>
        <p:spPr>
          <a:xfrm>
            <a:off x="628650" y="973138"/>
            <a:ext cx="3514725" cy="874407"/>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如何写活动背景</a:t>
            </a: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基于</a:t>
            </a:r>
            <a:r>
              <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热点</a:t>
            </a: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eaLnBrk="0" hangingPunct="0">
              <a:lnSpc>
                <a:spcPct val="150000"/>
              </a:lnSpc>
              <a:buFont typeface="阿里巴巴普惠体" panose="00020600040101010101" pitchFamily="18" charset="-122"/>
            </a:pP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2" name="组合 1"/>
          <p:cNvGrpSpPr/>
          <p:nvPr/>
        </p:nvGrpSpPr>
        <p:grpSpPr>
          <a:xfrm>
            <a:off x="710565" y="2571459"/>
            <a:ext cx="10332720" cy="1096010"/>
            <a:chOff x="1376" y="6504"/>
            <a:chExt cx="16272" cy="1726"/>
          </a:xfrm>
        </p:grpSpPr>
        <p:sp>
          <p:nvSpPr>
            <p:cNvPr id="6" name="三角形 5"/>
            <p:cNvSpPr/>
            <p:nvPr/>
          </p:nvSpPr>
          <p:spPr>
            <a:xfrm rot="2651319">
              <a:off x="1376" y="6504"/>
              <a:ext cx="229" cy="12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7" name="矩形 6"/>
            <p:cNvSpPr/>
            <p:nvPr/>
          </p:nvSpPr>
          <p:spPr>
            <a:xfrm>
              <a:off x="1488" y="6888"/>
              <a:ext cx="15453" cy="1342"/>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矩形 7"/>
            <p:cNvSpPr/>
            <p:nvPr/>
          </p:nvSpPr>
          <p:spPr>
            <a:xfrm>
              <a:off x="1488" y="6591"/>
              <a:ext cx="1659" cy="474"/>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举例说明</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文本框 13"/>
            <p:cNvSpPr txBox="1"/>
            <p:nvPr/>
          </p:nvSpPr>
          <p:spPr>
            <a:xfrm>
              <a:off x="1553" y="7233"/>
              <a:ext cx="16095" cy="600"/>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情人节即将到来，为了回馈新老用户对某平台的支持，在情人节当天下单即可获得</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元优惠券</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endParaRPr>
            </a:p>
          </p:txBody>
        </p:sp>
      </p:grpSp>
      <p:sp>
        <p:nvSpPr>
          <p:cNvPr id="9" name="文本框 8"/>
          <p:cNvSpPr txBox="1"/>
          <p:nvPr/>
        </p:nvSpPr>
        <p:spPr>
          <a:xfrm>
            <a:off x="699771" y="1708150"/>
            <a:ext cx="10302240" cy="381066"/>
          </a:xfrm>
          <a:prstGeom prst="rect">
            <a:avLst/>
          </a:prstGeom>
          <a:noFill/>
        </p:spPr>
        <p:txBody>
          <a:bodyPr wrap="square">
            <a:spAutoFit/>
          </a:bodyPr>
          <a:lstStyle/>
          <a:p>
            <a:pPr eaLnBrk="0" fontAlgn="auto" hangingPunct="0">
              <a:lnSpc>
                <a:spcPct val="150000"/>
              </a:lnSpc>
              <a:spcBef>
                <a:spcPts val="0"/>
              </a:spcBef>
              <a:spcAft>
                <a:spcPts val="0"/>
              </a:spcAft>
              <a:defRPr/>
            </a:pPr>
            <a:r>
              <a:rPr lang="zh-CN" altLang="en-US"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如果你的公众号图文在平时只有 </a:t>
            </a:r>
            <a:r>
              <a:rPr lang="en-US" altLang="zh-CN"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1000 </a:t>
            </a:r>
            <a:r>
              <a:rPr lang="zh-CN" altLang="en-US"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阅读量，要是带上了网络热点关键词，就可以非常容易的做到 </a:t>
            </a:r>
            <a:r>
              <a:rPr lang="en-US" altLang="zh-CN"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2000 </a:t>
            </a:r>
            <a:r>
              <a:rPr lang="zh-CN" altLang="en-US"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以上的阅读量。</a:t>
            </a:r>
            <a:endParaRPr lang="zh-CN" altLang="en-US"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710880" y="225774"/>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活动背景</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28674"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如何写活动背景</a:t>
            </a: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基于</a:t>
            </a:r>
            <a:r>
              <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公司需求</a:t>
            </a: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4" name="组合 3"/>
          <p:cNvGrpSpPr/>
          <p:nvPr/>
        </p:nvGrpSpPr>
        <p:grpSpPr>
          <a:xfrm>
            <a:off x="628650" y="3006090"/>
            <a:ext cx="10373360" cy="1543685"/>
            <a:chOff x="1376" y="5290"/>
            <a:chExt cx="16336" cy="2431"/>
          </a:xfrm>
        </p:grpSpPr>
        <p:sp>
          <p:nvSpPr>
            <p:cNvPr id="6" name="三角形 5"/>
            <p:cNvSpPr/>
            <p:nvPr/>
          </p:nvSpPr>
          <p:spPr>
            <a:xfrm rot="2651319">
              <a:off x="1376" y="5290"/>
              <a:ext cx="229" cy="12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7" name="矩形 6"/>
            <p:cNvSpPr/>
            <p:nvPr/>
          </p:nvSpPr>
          <p:spPr>
            <a:xfrm>
              <a:off x="1488" y="5674"/>
              <a:ext cx="16224" cy="2047"/>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8" name="矩形 7"/>
            <p:cNvSpPr/>
            <p:nvPr/>
          </p:nvSpPr>
          <p:spPr>
            <a:xfrm>
              <a:off x="1488" y="5377"/>
              <a:ext cx="1659" cy="474"/>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举例说明</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文本框 13"/>
            <p:cNvSpPr txBox="1"/>
            <p:nvPr/>
          </p:nvSpPr>
          <p:spPr>
            <a:xfrm>
              <a:off x="1536" y="6136"/>
              <a:ext cx="16095" cy="824"/>
            </a:xfrm>
            <a:prstGeom prst="rect">
              <a:avLst/>
            </a:prstGeom>
            <a:noFill/>
          </p:spPr>
          <p:txBody>
            <a:bodyPr wrap="square">
              <a:spAutoFit/>
            </a:bodyPr>
            <a:lstStyle/>
            <a:p>
              <a:pPr fontAlgn="auto">
                <a:spcBef>
                  <a:spcPts val="0"/>
                </a:spcBef>
                <a:spcAft>
                  <a:spcPts val="0"/>
                </a:spcAft>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“为积极响应公司业务发展新模式，我们将组织一场以销售为目的的周年庆活动，最终实现为产品创造不少于 </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1000W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的收入。</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fontAlgn="auto">
                <a:spcBef>
                  <a:spcPts val="0"/>
                </a:spcBef>
                <a:spcAft>
                  <a:spcPts val="0"/>
                </a:spcAft>
              </a:pP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endParaRPr>
            </a:p>
          </p:txBody>
        </p:sp>
      </p:grpSp>
      <p:sp>
        <p:nvSpPr>
          <p:cNvPr id="9" name="文本框 8"/>
          <p:cNvSpPr txBox="1"/>
          <p:nvPr/>
        </p:nvSpPr>
        <p:spPr>
          <a:xfrm>
            <a:off x="699771" y="1708150"/>
            <a:ext cx="10302240" cy="704232"/>
          </a:xfrm>
          <a:prstGeom prst="rect">
            <a:avLst/>
          </a:prstGeom>
          <a:noFill/>
        </p:spPr>
        <p:txBody>
          <a:bodyPr wrap="square">
            <a:spAutoFit/>
          </a:bodyPr>
          <a:lstStyle/>
          <a:p>
            <a:pPr eaLnBrk="0" fontAlgn="auto" hangingPunct="0">
              <a:lnSpc>
                <a:spcPct val="150000"/>
              </a:lnSpc>
              <a:spcBef>
                <a:spcPts val="0"/>
              </a:spcBef>
              <a:spcAft>
                <a:spcPts val="0"/>
              </a:spcAft>
              <a:defRPr/>
            </a:pPr>
            <a:r>
              <a:rPr lang="zh-CN" altLang="en-US"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“领导在年会上指出今年我们工作的核心方向是提升产品日活”、“领导在第三季度全体员工内部邮件中提到我们的所有运营工作都会以营收数据作为考核”</a:t>
            </a:r>
            <a:endParaRPr lang="zh-CN" altLang="en-US" sz="1400"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t>思考</a:t>
            </a:r>
          </a:p>
        </p:txBody>
      </p:sp>
      <p:pic>
        <p:nvPicPr>
          <p:cNvPr id="2" name="图片 1"/>
          <p:cNvPicPr>
            <a:picLocks noChangeAspect="1"/>
          </p:cNvPicPr>
          <p:nvPr/>
        </p:nvPicPr>
        <p:blipFill>
          <a:blip r:embed="rId1"/>
          <a:stretch>
            <a:fillRect/>
          </a:stretch>
        </p:blipFill>
        <p:spPr>
          <a:xfrm>
            <a:off x="4342765" y="2530475"/>
            <a:ext cx="7322820" cy="1775460"/>
          </a:xfrm>
          <a:prstGeom prst="rect">
            <a:avLst/>
          </a:prstGeom>
          <a:ln>
            <a:solidFill>
              <a:schemeClr val="bg1">
                <a:lumMod val="85000"/>
              </a:schemeClr>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0230" y="234029"/>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活动背景</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3" name="文本框 2"/>
          <p:cNvSpPr txBox="1"/>
          <p:nvPr/>
        </p:nvSpPr>
        <p:spPr>
          <a:xfrm>
            <a:off x="4748782" y="2325744"/>
            <a:ext cx="6864061" cy="1968500"/>
          </a:xfrm>
          <a:prstGeom prst="rect">
            <a:avLst/>
          </a:prstGeom>
          <a:noFill/>
        </p:spPr>
        <p:txBody>
          <a:bodyPr wrap="square">
            <a:spAutoFit/>
          </a:bodyPr>
          <a:lstStyle/>
          <a:p>
            <a:pPr marR="0" defTabSz="914400" eaLnBrk="0" fontAlgn="auto" hangingPunct="0">
              <a:spcBef>
                <a:spcPts val="0"/>
              </a:spcBef>
              <a:spcAft>
                <a:spcPts val="0"/>
              </a:spcAft>
              <a:buClrTx/>
              <a:buSzTx/>
              <a:buFontTx/>
              <a:defRPr/>
            </a:pP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indent="-285750" defTabSz="914400" eaLnBrk="0" fontAlgn="auto" hangingPunct="0">
              <a:lnSpc>
                <a:spcPct val="150000"/>
              </a:lnSpc>
              <a:spcBef>
                <a:spcPts val="0"/>
              </a:spcBef>
              <a:spcAft>
                <a:spcPts val="0"/>
              </a:spcAft>
              <a:buClrTx/>
              <a:buSzTx/>
              <a:buFont typeface="阿里巴巴普惠体" panose="00020600040101010101" pitchFamily="18" charset="-122"/>
              <a:buChar char="•"/>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活动背景的撰写原理就是向领导和相关同事，阐述</a:t>
            </a:r>
            <a:r>
              <a:rPr lang="zh-CN" altLang="en-US"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为什么要做这次</a:t>
            </a: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，这次活动对公司产生哪些有形的</a:t>
            </a:r>
            <a:r>
              <a:rPr lang="zh-CN" altLang="en-US"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收益以及无形的收益。</a:t>
            </a:r>
            <a:endPar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defTabSz="914400" eaLnBrk="0" fontAlgn="auto" hangingPunct="0">
              <a:lnSpc>
                <a:spcPct val="150000"/>
              </a:lnSpc>
              <a:spcBef>
                <a:spcPts val="0"/>
              </a:spcBef>
              <a:spcAft>
                <a:spcPts val="0"/>
              </a:spcAft>
              <a:buClrTx/>
              <a:buSzTx/>
              <a:buFontTx/>
              <a:defRPr/>
            </a:pPr>
            <a:endParaRPr kumimoji="0" lang="en-US" altLang="zh-CN"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indent="-285750" defTabSz="914400" eaLnBrk="0" fontAlgn="auto" hangingPunct="0">
              <a:lnSpc>
                <a:spcPct val="150000"/>
              </a:lnSpc>
              <a:spcBef>
                <a:spcPts val="0"/>
              </a:spcBef>
              <a:spcAft>
                <a:spcPts val="0"/>
              </a:spcAft>
              <a:buClrTx/>
              <a:buSzTx/>
              <a:buFont typeface="阿里巴巴普惠体" panose="00020600040101010101" pitchFamily="18" charset="-122"/>
              <a:buChar char="•"/>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可以从</a:t>
            </a:r>
            <a:r>
              <a:rPr lang="zh-CN" altLang="en-US"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产品、竞品、热点、公司需求</a:t>
            </a: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四个角度撰写活动背景。</a:t>
            </a:r>
            <a:endParaRPr kumimoji="0" lang="en-US" altLang="zh-CN"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2800" dirty="0">
                <a:latin typeface="阿里巴巴普惠体" panose="00020600040101010101" pitchFamily="18" charset="-122"/>
              </a:rPr>
              <a:t>活动目的</a:t>
            </a:r>
            <a:endParaRPr kumimoji="1" lang="zh-CN" altLang="en-US" sz="2800" dirty="0">
              <a:latin typeface="阿里巴巴普惠体" panose="00020600040101010101" pitchFamily="18" charset="-122"/>
            </a:endParaRPr>
          </a:p>
        </p:txBody>
      </p:sp>
      <p:sp>
        <p:nvSpPr>
          <p:cNvPr id="3" name="文本占位符 2"/>
          <p:cNvSpPr>
            <a:spLocks noGrp="1"/>
          </p:cNvSpPr>
          <p:nvPr>
            <p:ph type="body" sz="quarter" idx="10"/>
          </p:nvPr>
        </p:nvSpPr>
        <p:spPr/>
        <p:txBody>
          <a:bodyPr/>
          <a:lstStyle/>
          <a:p>
            <a:r>
              <a:rPr kumimoji="1" lang="en-US" altLang="zh-CN" dirty="0"/>
              <a:t>03</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4550861" y="1706992"/>
            <a:ext cx="5630484" cy="1906003"/>
          </a:xfrm>
        </p:spPr>
        <p:txBody>
          <a:bodyPr/>
          <a:lstStyle/>
          <a:p>
            <a:pPr marL="285750" indent="-285750" algn="l" eaLnBrk="0" hangingPunct="0">
              <a:lnSpc>
                <a:spcPct val="200000"/>
              </a:lnSpc>
              <a:buClr>
                <a:srgbClr val="262626"/>
              </a:buClr>
              <a:buFont typeface="Arial" panose="020B0604020202090204" pitchFamily="34" charset="0"/>
              <a:buChar char="•"/>
            </a:pPr>
            <a:r>
              <a:rPr lang="zh-CN" altLang="en-US" dirty="0">
                <a:solidFill>
                  <a:srgbClr val="262626"/>
                </a:solidFill>
                <a:latin typeface="阿里巴巴普惠体" panose="00020600040101010101" pitchFamily="18" charset="-122"/>
                <a:sym typeface="+mn-ea"/>
              </a:rPr>
              <a:t> 能够制定活动目的</a:t>
            </a:r>
            <a:endParaRPr lang="zh-CN" altLang="en-US" dirty="0">
              <a:solidFill>
                <a:srgbClr val="262626"/>
              </a:solidFill>
              <a:latin typeface="阿里巴巴普惠体" panose="00020600040101010101" pitchFamily="18"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436557"/>
            <a:ext cx="5760539" cy="4049843"/>
          </a:xfrm>
        </p:spPr>
        <p:txBody>
          <a:bodyPr/>
          <a:lstStyle/>
          <a:p>
            <a:r>
              <a:rPr lang="zh-CN" altLang="en-US" dirty="0"/>
              <a:t>如果你已经有策划活动的方向了，那么你是否知道你做这场活动的目的？</a:t>
            </a:r>
            <a:endParaRPr lang="zh-CN" altLang="en-US"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思考</a:t>
            </a:r>
            <a:endParaRPr lang="zh-CN" alt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endParaRPr>
          </a:p>
        </p:txBody>
      </p:sp>
      <p:grpSp>
        <p:nvGrpSpPr>
          <p:cNvPr id="7" name="组合 6"/>
          <p:cNvGrpSpPr/>
          <p:nvPr/>
        </p:nvGrpSpPr>
        <p:grpSpPr>
          <a:xfrm>
            <a:off x="2007870" y="2470785"/>
            <a:ext cx="1590675" cy="1271270"/>
            <a:chOff x="5634" y="3480"/>
            <a:chExt cx="2505" cy="2002"/>
          </a:xfrm>
        </p:grpSpPr>
        <p:sp>
          <p:nvSpPr>
            <p:cNvPr id="3" name="椭圆 42"/>
            <p:cNvSpPr/>
            <p:nvPr/>
          </p:nvSpPr>
          <p:spPr>
            <a:xfrm>
              <a:off x="5634" y="3480"/>
              <a:ext cx="2005" cy="2003"/>
            </a:xfrm>
            <a:prstGeom prst="ellipse">
              <a:avLst/>
            </a:prstGeom>
            <a:noFill/>
            <a:ln w="19050" cap="flat" cmpd="sng">
              <a:solidFill>
                <a:srgbClr val="17375E"/>
              </a:solid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文本框 5"/>
            <p:cNvSpPr txBox="1"/>
            <p:nvPr/>
          </p:nvSpPr>
          <p:spPr>
            <a:xfrm>
              <a:off x="6193" y="4216"/>
              <a:ext cx="1947" cy="531"/>
            </a:xfrm>
            <a:prstGeom prst="rect">
              <a:avLst/>
            </a:prstGeom>
            <a:noFill/>
          </p:spPr>
          <p:txBody>
            <a:bodyPr>
              <a:spAutoFit/>
            </a:bodyPr>
            <a:lstStyle/>
            <a:p>
              <a:pPr fontAlgn="auto">
                <a:spcBef>
                  <a:spcPts val="0"/>
                </a:spcBef>
                <a:spcAft>
                  <a:spcPts val="0"/>
                </a:spcAft>
              </a:pPr>
              <a:r>
                <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a:t>
              </a: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8" name="组合 7"/>
          <p:cNvGrpSpPr/>
          <p:nvPr/>
        </p:nvGrpSpPr>
        <p:grpSpPr>
          <a:xfrm>
            <a:off x="4220845" y="2470785"/>
            <a:ext cx="1330960" cy="1271905"/>
            <a:chOff x="5634" y="3480"/>
            <a:chExt cx="2096" cy="2003"/>
          </a:xfrm>
        </p:grpSpPr>
        <p:sp>
          <p:nvSpPr>
            <p:cNvPr id="9" name="椭圆 42"/>
            <p:cNvSpPr/>
            <p:nvPr/>
          </p:nvSpPr>
          <p:spPr>
            <a:xfrm>
              <a:off x="5634" y="3480"/>
              <a:ext cx="2005" cy="2003"/>
            </a:xfrm>
            <a:prstGeom prst="ellipse">
              <a:avLst/>
            </a:prstGeom>
            <a:noFill/>
            <a:ln w="19050" cap="flat" cmpd="sng">
              <a:solidFill>
                <a:srgbClr val="17375E"/>
              </a:solid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0" name="文本框 9"/>
            <p:cNvSpPr txBox="1"/>
            <p:nvPr/>
          </p:nvSpPr>
          <p:spPr>
            <a:xfrm>
              <a:off x="5783" y="4215"/>
              <a:ext cx="1947" cy="531"/>
            </a:xfrm>
            <a:prstGeom prst="rect">
              <a:avLst/>
            </a:prstGeom>
            <a:noFill/>
          </p:spPr>
          <p:txBody>
            <a:bodyPr>
              <a:spAutoFit/>
            </a:bodyPr>
            <a:lstStyle/>
            <a:p>
              <a:pPr fontAlgn="auto">
                <a:spcBef>
                  <a:spcPts val="0"/>
                </a:spcBef>
                <a:spcAft>
                  <a:spcPts val="0"/>
                </a:spcAft>
              </a:pPr>
              <a:r>
                <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促活</a:t>
              </a:r>
              <a:r>
                <a:rPr lang="en-US" alt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留存</a:t>
              </a: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1" name="组合 10"/>
          <p:cNvGrpSpPr/>
          <p:nvPr/>
        </p:nvGrpSpPr>
        <p:grpSpPr>
          <a:xfrm>
            <a:off x="6491605" y="2470150"/>
            <a:ext cx="1330960" cy="1271905"/>
            <a:chOff x="5634" y="3480"/>
            <a:chExt cx="2096" cy="2003"/>
          </a:xfrm>
        </p:grpSpPr>
        <p:sp>
          <p:nvSpPr>
            <p:cNvPr id="12" name="椭圆 42"/>
            <p:cNvSpPr/>
            <p:nvPr/>
          </p:nvSpPr>
          <p:spPr>
            <a:xfrm>
              <a:off x="5634" y="3480"/>
              <a:ext cx="2005" cy="2003"/>
            </a:xfrm>
            <a:prstGeom prst="ellipse">
              <a:avLst/>
            </a:prstGeom>
            <a:noFill/>
            <a:ln w="19050" cap="flat" cmpd="sng">
              <a:solidFill>
                <a:srgbClr val="17375E"/>
              </a:solid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文本框 12"/>
            <p:cNvSpPr txBox="1"/>
            <p:nvPr/>
          </p:nvSpPr>
          <p:spPr>
            <a:xfrm>
              <a:off x="5783" y="4215"/>
              <a:ext cx="1947" cy="531"/>
            </a:xfrm>
            <a:prstGeom prst="rect">
              <a:avLst/>
            </a:prstGeom>
            <a:noFill/>
          </p:spPr>
          <p:txBody>
            <a:bodyPr>
              <a:spAutoFit/>
            </a:bodyPr>
            <a:lstStyle/>
            <a:p>
              <a:pPr fontAlgn="auto">
                <a:spcBef>
                  <a:spcPts val="0"/>
                </a:spcBef>
                <a:spcAft>
                  <a:spcPts val="0"/>
                </a:spcAft>
              </a:pPr>
              <a:r>
                <a:rPr 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成交</a:t>
              </a:r>
              <a:r>
                <a:rPr lang="en-US" alt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转化</a:t>
              </a:r>
              <a:endParaRPr 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4" name="组合 13"/>
          <p:cNvGrpSpPr/>
          <p:nvPr/>
        </p:nvGrpSpPr>
        <p:grpSpPr>
          <a:xfrm>
            <a:off x="8677275" y="2469515"/>
            <a:ext cx="1363980" cy="1271905"/>
            <a:chOff x="5634" y="3480"/>
            <a:chExt cx="2148" cy="2003"/>
          </a:xfrm>
        </p:grpSpPr>
        <p:sp>
          <p:nvSpPr>
            <p:cNvPr id="15" name="椭圆 42"/>
            <p:cNvSpPr/>
            <p:nvPr/>
          </p:nvSpPr>
          <p:spPr>
            <a:xfrm>
              <a:off x="5634" y="3480"/>
              <a:ext cx="2005" cy="2003"/>
            </a:xfrm>
            <a:prstGeom prst="ellipse">
              <a:avLst/>
            </a:prstGeom>
            <a:noFill/>
            <a:ln w="19050" cap="flat" cmpd="sng">
              <a:solidFill>
                <a:srgbClr val="17375E"/>
              </a:solid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文本框 15"/>
            <p:cNvSpPr txBox="1"/>
            <p:nvPr/>
          </p:nvSpPr>
          <p:spPr>
            <a:xfrm>
              <a:off x="5835" y="4215"/>
              <a:ext cx="1947" cy="531"/>
            </a:xfrm>
            <a:prstGeom prst="rect">
              <a:avLst/>
            </a:prstGeom>
            <a:noFill/>
          </p:spPr>
          <p:txBody>
            <a:bodyPr>
              <a:spAutoFit/>
            </a:bodyPr>
            <a:lstStyle/>
            <a:p>
              <a:pPr fontAlgn="auto">
                <a:spcBef>
                  <a:spcPts val="0"/>
                </a:spcBef>
                <a:spcAft>
                  <a:spcPts val="0"/>
                </a:spcAft>
              </a:pPr>
              <a:r>
                <a:rPr 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品牌曝光</a:t>
              </a:r>
              <a:endParaRPr lang="zh-CN"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7" name="组合 16"/>
          <p:cNvGrpSpPr/>
          <p:nvPr/>
        </p:nvGrpSpPr>
        <p:grpSpPr>
          <a:xfrm>
            <a:off x="4654550" y="5093970"/>
            <a:ext cx="2796540" cy="452755"/>
            <a:chOff x="7170" y="8598"/>
            <a:chExt cx="4404" cy="713"/>
          </a:xfrm>
        </p:grpSpPr>
        <p:sp>
          <p:nvSpPr>
            <p:cNvPr id="18" name="文本框 17"/>
            <p:cNvSpPr txBox="1"/>
            <p:nvPr/>
          </p:nvSpPr>
          <p:spPr>
            <a:xfrm>
              <a:off x="7170" y="8598"/>
              <a:ext cx="4404" cy="652"/>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lang="zh-CN" sz="14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sz="14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一场活动目的可以不止一个）</a:t>
              </a:r>
              <a:endParaRPr lang="zh-CN" sz="14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19" name="矩形 18"/>
            <p:cNvSpPr/>
            <p:nvPr/>
          </p:nvSpPr>
          <p:spPr>
            <a:xfrm>
              <a:off x="7477" y="8658"/>
              <a:ext cx="3690" cy="653"/>
            </a:xfrm>
            <a:prstGeom prst="rect">
              <a:avLst/>
            </a:prstGeom>
            <a:noFill/>
            <a:ln w="19050">
              <a:solidFill>
                <a:schemeClr val="accent1"/>
              </a:solidFill>
            </a:ln>
            <a:extLst>
              <a:ext uri="{909E8E84-426E-40DD-AFC4-6F175D3DCCD1}">
                <a14:hiddenFill xmlns:a14="http://schemas.microsoft.com/office/drawing/2010/main">
                  <a:solidFill>
                    <a:srgbClr val="FF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grpSp>
      <p:sp>
        <p:nvSpPr>
          <p:cNvPr id="20" name="文本框 19"/>
          <p:cNvSpPr txBox="1"/>
          <p:nvPr/>
        </p:nvSpPr>
        <p:spPr>
          <a:xfrm>
            <a:off x="598805" y="1205230"/>
            <a:ext cx="10220325" cy="377411"/>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lang="zh-CN" sz="1400" b="1"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你做活动是要干什么</a:t>
            </a:r>
            <a:endParaRPr lang="zh-CN" sz="1400" b="1"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sym typeface="+mn-ea"/>
            </a:endParaRPr>
          </a:p>
        </p:txBody>
      </p:sp>
      <p:sp>
        <p:nvSpPr>
          <p:cNvPr id="16" name="TextBox 9"/>
          <p:cNvSpPr txBox="1">
            <a:spLocks noChangeArrowheads="1"/>
          </p:cNvSpPr>
          <p:nvPr/>
        </p:nvSpPr>
        <p:spPr bwMode="auto">
          <a:xfrm>
            <a:off x="704685" y="1260874"/>
            <a:ext cx="4750422"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150000"/>
              </a:lnSpc>
              <a:buFont typeface="阿里巴巴普惠体" panose="00020600040101010101" pitchFamily="18" charset="-122"/>
              <a:buNone/>
            </a:pPr>
            <a:r>
              <a:rPr lang="zh-CN" altLang="en-US" b="1" dirty="0">
                <a:solidFill>
                  <a:schemeClr val="accent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a:t>
            </a:r>
            <a:endParaRPr lang="zh-CN" altLang="en-US" b="1" dirty="0">
              <a:solidFill>
                <a:schemeClr val="accent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831685" y="2067323"/>
            <a:ext cx="1341020" cy="307777"/>
          </a:xfrm>
          <a:prstGeom prst="rect">
            <a:avLst/>
          </a:prstGeom>
          <a:noFill/>
        </p:spPr>
        <p:txBody>
          <a:bodyPr wrap="square">
            <a:spAutoFit/>
          </a:bodyPr>
          <a:lstStyle/>
          <a:p>
            <a:pPr eaLnBrk="0" fontAlgn="auto" hangingPunct="0">
              <a:spcBef>
                <a:spcPts val="0"/>
              </a:spcBef>
              <a:spcAft>
                <a:spcPts val="0"/>
              </a:spcAft>
              <a:defRPr/>
            </a:pPr>
            <a:r>
              <a:rPr lang="zh-CN" altLang="en-US" sz="1400" dirty="0">
                <a:solidFill>
                  <a:srgbClr val="FF0000"/>
                </a:solidFill>
                <a:latin typeface="+mn-lt"/>
                <a:ea typeface="阿里巴巴普惠体" panose="00020600040101010101" pitchFamily="18" charset="-122"/>
                <a:cs typeface="阿里巴巴普惠体" panose="00020600040101010101" pitchFamily="18" charset="-122"/>
                <a:sym typeface="+mn-ea"/>
              </a:rPr>
              <a:t>短期</a:t>
            </a:r>
            <a:r>
              <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sym typeface="+mn-ea"/>
              </a:rPr>
              <a:t>拉新活动</a:t>
            </a: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sym typeface="+mn-ea"/>
            </a:endParaRPr>
          </a:p>
        </p:txBody>
      </p:sp>
      <p:pic>
        <p:nvPicPr>
          <p:cNvPr id="5" name="图片 1" descr="截屏2020-04-2122.23.5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24042" y="1719782"/>
            <a:ext cx="5300050" cy="4706632"/>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6" name="图片 3" descr="截屏2020-04-2122.33.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3598" y="1719782"/>
            <a:ext cx="3097700" cy="4687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sym typeface="+mn-ea"/>
            </a:endParaRPr>
          </a:p>
        </p:txBody>
      </p:sp>
      <p:sp>
        <p:nvSpPr>
          <p:cNvPr id="16" name="TextBox 9"/>
          <p:cNvSpPr txBox="1">
            <a:spLocks noChangeArrowheads="1"/>
          </p:cNvSpPr>
          <p:nvPr/>
        </p:nvSpPr>
        <p:spPr bwMode="auto">
          <a:xfrm>
            <a:off x="704685" y="1260874"/>
            <a:ext cx="4750422"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150000"/>
              </a:lnSpc>
              <a:buFont typeface="阿里巴巴普惠体" panose="00020600040101010101" pitchFamily="18" charset="-122"/>
              <a:buNone/>
            </a:pPr>
            <a:r>
              <a:rPr lang="zh-CN" altLang="en-US" b="1" dirty="0">
                <a:solidFill>
                  <a:schemeClr val="accent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a:t>
            </a:r>
            <a:endParaRPr lang="zh-CN" altLang="en-US" b="1" dirty="0">
              <a:solidFill>
                <a:schemeClr val="accent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831685" y="2067323"/>
            <a:ext cx="1341020" cy="307777"/>
          </a:xfrm>
          <a:prstGeom prst="rect">
            <a:avLst/>
          </a:prstGeom>
          <a:noFill/>
        </p:spPr>
        <p:txBody>
          <a:bodyPr wrap="square">
            <a:spAutoFit/>
          </a:bodyPr>
          <a:lstStyle/>
          <a:p>
            <a:pPr eaLnBrk="0" fontAlgn="auto" hangingPunct="0">
              <a:spcBef>
                <a:spcPts val="0"/>
              </a:spcBef>
              <a:spcAft>
                <a:spcPts val="0"/>
              </a:spcAft>
              <a:defRPr/>
            </a:pPr>
            <a:r>
              <a:rPr lang="zh-CN" altLang="en-US" sz="1400" dirty="0">
                <a:solidFill>
                  <a:srgbClr val="FF0000"/>
                </a:solidFill>
                <a:latin typeface="+mn-lt"/>
                <a:ea typeface="阿里巴巴普惠体" panose="00020600040101010101" pitchFamily="18" charset="-122"/>
                <a:cs typeface="阿里巴巴普惠体" panose="00020600040101010101" pitchFamily="18" charset="-122"/>
                <a:sym typeface="+mn-ea"/>
              </a:rPr>
              <a:t>长期</a:t>
            </a:r>
            <a:r>
              <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sym typeface="+mn-ea"/>
              </a:rPr>
              <a:t>拉新活动</a:t>
            </a: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sym typeface="+mn-ea"/>
            </a:endParaRPr>
          </a:p>
        </p:txBody>
      </p:sp>
      <p:pic>
        <p:nvPicPr>
          <p:cNvPr id="23"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88230" y="1419860"/>
            <a:ext cx="2156460" cy="4671060"/>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24" name="图片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3945" y="1419860"/>
            <a:ext cx="2149475" cy="4656455"/>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grpSp>
        <p:nvGrpSpPr>
          <p:cNvPr id="25" name="组合 9"/>
          <p:cNvGrpSpPr/>
          <p:nvPr/>
        </p:nvGrpSpPr>
        <p:grpSpPr bwMode="auto">
          <a:xfrm rot="0">
            <a:off x="2334260" y="1419860"/>
            <a:ext cx="2156460" cy="4671060"/>
            <a:chOff x="777232" y="1387112"/>
            <a:chExt cx="2339191" cy="5066082"/>
          </a:xfrm>
        </p:grpSpPr>
        <p:pic>
          <p:nvPicPr>
            <p:cNvPr id="26"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32" y="1387112"/>
              <a:ext cx="2339191" cy="5066082"/>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27" name="矩形 26"/>
            <p:cNvSpPr/>
            <p:nvPr/>
          </p:nvSpPr>
          <p:spPr>
            <a:xfrm>
              <a:off x="1130954" y="2888086"/>
              <a:ext cx="1719742" cy="223168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dirty="0">
                <a:cs typeface="阿里巴巴普惠体" panose="00020600040101010101" pitchFamily="18"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sym typeface="+mn-ea"/>
            </a:endParaRPr>
          </a:p>
        </p:txBody>
      </p:sp>
      <p:sp>
        <p:nvSpPr>
          <p:cNvPr id="16" name="TextBox 9"/>
          <p:cNvSpPr txBox="1">
            <a:spLocks noChangeArrowheads="1"/>
          </p:cNvSpPr>
          <p:nvPr/>
        </p:nvSpPr>
        <p:spPr bwMode="auto">
          <a:xfrm>
            <a:off x="704685" y="1260874"/>
            <a:ext cx="4750422"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150000"/>
              </a:lnSpc>
              <a:buFont typeface="阿里巴巴普惠体" panose="00020600040101010101" pitchFamily="18" charset="-122"/>
              <a:buNone/>
            </a:pPr>
            <a:r>
              <a:rPr lang="zh-CN" altLang="en-US" b="1" dirty="0">
                <a:solidFill>
                  <a:schemeClr val="accent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a:t>
            </a:r>
            <a:endParaRPr lang="zh-CN" altLang="en-US" b="1" dirty="0">
              <a:solidFill>
                <a:schemeClr val="accent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文本框 20"/>
          <p:cNvSpPr txBox="1"/>
          <p:nvPr/>
        </p:nvSpPr>
        <p:spPr>
          <a:xfrm>
            <a:off x="831685" y="2067323"/>
            <a:ext cx="1341020" cy="307777"/>
          </a:xfrm>
          <a:prstGeom prst="rect">
            <a:avLst/>
          </a:prstGeom>
          <a:noFill/>
        </p:spPr>
        <p:txBody>
          <a:bodyPr wrap="square">
            <a:spAutoFit/>
          </a:bodyPr>
          <a:lstStyle/>
          <a:p>
            <a:pPr eaLnBrk="0" fontAlgn="auto" hangingPunct="0">
              <a:spcBef>
                <a:spcPts val="0"/>
              </a:spcBef>
              <a:spcAft>
                <a:spcPts val="0"/>
              </a:spcAft>
              <a:defRPr/>
            </a:pPr>
            <a:r>
              <a:rPr lang="zh-CN" altLang="en-US" sz="1400" dirty="0">
                <a:solidFill>
                  <a:srgbClr val="FF0000"/>
                </a:solidFill>
                <a:latin typeface="+mn-lt"/>
                <a:ea typeface="阿里巴巴普惠体" panose="00020600040101010101" pitchFamily="18" charset="-122"/>
                <a:cs typeface="阿里巴巴普惠体" panose="00020600040101010101" pitchFamily="18" charset="-122"/>
                <a:sym typeface="+mn-ea"/>
              </a:rPr>
              <a:t>长期</a:t>
            </a:r>
            <a:r>
              <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sym typeface="+mn-ea"/>
              </a:rPr>
              <a:t>拉新活动</a:t>
            </a:r>
            <a:endParaRPr lang="zh-CN" altLang="en-US" sz="1400" dirty="0">
              <a:solidFill>
                <a:schemeClr val="tx1">
                  <a:lumMod val="65000"/>
                  <a:lumOff val="35000"/>
                </a:schemeClr>
              </a:solidFill>
              <a:latin typeface="+mn-lt"/>
              <a:ea typeface="阿里巴巴普惠体" panose="00020600040101010101" pitchFamily="18" charset="-122"/>
              <a:cs typeface="阿里巴巴普惠体" panose="00020600040101010101" pitchFamily="18" charset="-122"/>
              <a:sym typeface="+mn-ea"/>
            </a:endParaRPr>
          </a:p>
        </p:txBody>
      </p:sp>
      <p:pic>
        <p:nvPicPr>
          <p:cNvPr id="11" name="图片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07448" y="1490328"/>
            <a:ext cx="2949065" cy="5073953"/>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2"/>
          <a:stretch>
            <a:fillRect/>
          </a:stretch>
        </p:blipFill>
        <p:spPr>
          <a:xfrm>
            <a:off x="6952615" y="1490345"/>
            <a:ext cx="2902585" cy="5073650"/>
          </a:xfrm>
          <a:prstGeom prst="rect">
            <a:avLst/>
          </a:prstGeom>
          <a:ln>
            <a:solidFill>
              <a:schemeClr val="bg1">
                <a:lumMod val="85000"/>
              </a:schemeClr>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3"/>
          <p:cNvSpPr>
            <a:spLocks noGrp="1"/>
          </p:cNvSpPr>
          <p:nvPr/>
        </p:nvSpPr>
        <p:spPr>
          <a:xfrm>
            <a:off x="479425" y="1164590"/>
            <a:ext cx="10938510" cy="42195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90204" pitchFamily="34" charset="0"/>
              <a:buNone/>
              <a:defRPr sz="1600" kern="120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r>
              <a:rPr lang="zh-CN" altLang="en-US" sz="2000" b="1" dirty="0">
                <a:solidFill>
                  <a:schemeClr val="accent1"/>
                </a:solidFill>
              </a:rPr>
              <a:t>促活</a:t>
            </a:r>
            <a:r>
              <a:rPr lang="en-US" altLang="zh-CN" sz="2000" b="1" dirty="0">
                <a:solidFill>
                  <a:schemeClr val="accent1"/>
                </a:solidFill>
              </a:rPr>
              <a:t>/</a:t>
            </a:r>
            <a:r>
              <a:rPr lang="zh-CN" altLang="en-US" sz="2000" b="1" dirty="0">
                <a:solidFill>
                  <a:schemeClr val="accent1"/>
                </a:solidFill>
              </a:rPr>
              <a:t>留存：</a:t>
            </a:r>
            <a:endParaRPr lang="zh-CN" altLang="en-US" sz="2000" b="1" dirty="0">
              <a:solidFill>
                <a:schemeClr val="accent1"/>
              </a:solidFill>
            </a:endParaRPr>
          </a:p>
        </p:txBody>
      </p:sp>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endParaRPr>
          </a:p>
        </p:txBody>
      </p:sp>
      <p:sp>
        <p:nvSpPr>
          <p:cNvPr id="20" name="文本框 19"/>
          <p:cNvSpPr txBox="1"/>
          <p:nvPr/>
        </p:nvSpPr>
        <p:spPr>
          <a:xfrm>
            <a:off x="3027344" y="6304053"/>
            <a:ext cx="2771775" cy="306705"/>
          </a:xfrm>
          <a:prstGeom prst="rect">
            <a:avLst/>
          </a:prstGeom>
          <a:noFill/>
        </p:spPr>
        <p:txBody>
          <a:bodyPr>
            <a:spAutoFit/>
          </a:bodyPr>
          <a:lstStyle/>
          <a:p>
            <a:pPr algn="ctr" fontAlgn="auto">
              <a:spcBef>
                <a:spcPts val="0"/>
              </a:spcBef>
              <a:spcAft>
                <a:spcPts val="0"/>
              </a:spcAft>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打卡</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签到</a:t>
            </a:r>
            <a:endPar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0255" y="1311910"/>
            <a:ext cx="2244725" cy="4866640"/>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12" name="图片 1"/>
          <p:cNvPicPr>
            <a:picLocks noChangeAspect="1" noChangeArrowheads="1"/>
          </p:cNvPicPr>
          <p:nvPr/>
        </p:nvPicPr>
        <p:blipFill>
          <a:blip r:embed="rId2">
            <a:extLst>
              <a:ext uri="{28A0092B-C50C-407E-A947-70E740481C1C}">
                <a14:useLocalDpi xmlns:a14="http://schemas.microsoft.com/office/drawing/2010/main" val="0"/>
              </a:ext>
            </a:extLst>
          </a:blip>
          <a:srcRect b="1702"/>
          <a:stretch>
            <a:fillRect/>
          </a:stretch>
        </p:blipFill>
        <p:spPr bwMode="auto">
          <a:xfrm>
            <a:off x="6478905" y="1311910"/>
            <a:ext cx="2289175" cy="4877435"/>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13" name="文本框 12"/>
          <p:cNvSpPr txBox="1"/>
          <p:nvPr/>
        </p:nvSpPr>
        <p:spPr>
          <a:xfrm>
            <a:off x="6174851" y="6306550"/>
            <a:ext cx="2771775" cy="306705"/>
          </a:xfrm>
          <a:prstGeom prst="rect">
            <a:avLst/>
          </a:prstGeom>
          <a:noFill/>
        </p:spPr>
        <p:txBody>
          <a:bodyPr>
            <a:spAutoFit/>
          </a:bodyPr>
          <a:lstStyle/>
          <a:p>
            <a:pPr algn="ctr" fontAlgn="auto">
              <a:spcBef>
                <a:spcPts val="0"/>
              </a:spcBef>
              <a:spcAft>
                <a:spcPts val="0"/>
              </a:spcAft>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连续</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5</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次浇水</a:t>
            </a:r>
            <a:endPar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3"/>
          <p:cNvSpPr>
            <a:spLocks noGrp="1"/>
          </p:cNvSpPr>
          <p:nvPr/>
        </p:nvSpPr>
        <p:spPr>
          <a:xfrm>
            <a:off x="479425" y="1164590"/>
            <a:ext cx="10938510" cy="42195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90204" pitchFamily="34" charset="0"/>
              <a:buNone/>
              <a:defRPr sz="1600" kern="120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r>
              <a:rPr lang="zh-CN" altLang="en-US" sz="2000" b="1" dirty="0">
                <a:solidFill>
                  <a:schemeClr val="accent1"/>
                </a:solidFill>
              </a:rPr>
              <a:t>成交</a:t>
            </a:r>
            <a:r>
              <a:rPr lang="en-US" altLang="zh-CN" sz="2000" b="1" dirty="0">
                <a:solidFill>
                  <a:schemeClr val="accent1"/>
                </a:solidFill>
              </a:rPr>
              <a:t>/</a:t>
            </a:r>
            <a:r>
              <a:rPr lang="zh-CN" altLang="en-US" sz="2000" b="1" dirty="0">
                <a:solidFill>
                  <a:schemeClr val="accent1"/>
                </a:solidFill>
              </a:rPr>
              <a:t>转化：</a:t>
            </a:r>
            <a:endParaRPr lang="zh-CN" altLang="en-US" sz="2000" b="1" dirty="0">
              <a:solidFill>
                <a:schemeClr val="accent1"/>
              </a:solidFill>
            </a:endParaRPr>
          </a:p>
        </p:txBody>
      </p:sp>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endParaRPr>
          </a:p>
        </p:txBody>
      </p:sp>
      <p:sp>
        <p:nvSpPr>
          <p:cNvPr id="9" name="文本框 8"/>
          <p:cNvSpPr txBox="1"/>
          <p:nvPr/>
        </p:nvSpPr>
        <p:spPr>
          <a:xfrm>
            <a:off x="774065" y="2301240"/>
            <a:ext cx="1309974" cy="738664"/>
          </a:xfrm>
          <a:prstGeom prst="rect">
            <a:avLst/>
          </a:prstGeom>
          <a:noFill/>
        </p:spPr>
        <p:txBody>
          <a:bodyPr wrap="none">
            <a:spAutoFit/>
          </a:bodyPr>
          <a:lstStyle/>
          <a:p>
            <a:pPr eaLnBrk="0" fontAlgn="auto" hangingPunct="0">
              <a:spcBef>
                <a:spcPts val="0"/>
              </a:spcBef>
              <a:spcAft>
                <a:spcPts val="0"/>
              </a:spcAft>
              <a:defRPr/>
            </a:pPr>
            <a:r>
              <a:rPr lang="zh-CN" altLang="en-US"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rPr>
              <a:t>有道精品课</a:t>
            </a:r>
            <a:endParaRPr lang="zh-CN" altLang="en-US"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endParaRPr>
          </a:p>
          <a:p>
            <a:pPr eaLnBrk="0" fontAlgn="auto" hangingPunct="0">
              <a:spcBef>
                <a:spcPts val="0"/>
              </a:spcBef>
              <a:spcAft>
                <a:spcPts val="0"/>
              </a:spcAft>
              <a:defRPr/>
            </a:pPr>
            <a:r>
              <a:rPr lang="en-US" altLang="zh-CN"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rPr>
              <a:t>9.9</a:t>
            </a:r>
            <a:r>
              <a:rPr lang="zh-CN" altLang="en-US"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rPr>
              <a:t>试听转化成</a:t>
            </a:r>
            <a:endParaRPr lang="zh-CN" altLang="en-US"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endParaRPr>
          </a:p>
          <a:p>
            <a:pPr eaLnBrk="0" fontAlgn="auto" hangingPunct="0">
              <a:spcBef>
                <a:spcPts val="0"/>
              </a:spcBef>
              <a:spcAft>
                <a:spcPts val="0"/>
              </a:spcAft>
              <a:defRPr/>
            </a:pPr>
            <a:r>
              <a:rPr lang="zh-CN" altLang="en-US"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rPr>
              <a:t>大课程购买</a:t>
            </a:r>
            <a:endParaRPr lang="zh-CN" altLang="en-US" sz="1400" dirty="0">
              <a:solidFill>
                <a:schemeClr val="tx1">
                  <a:lumMod val="75000"/>
                  <a:lumOff val="25000"/>
                </a:schemeClr>
              </a:solidFill>
              <a:latin typeface="+mn-lt"/>
              <a:ea typeface="阿里巴巴普惠体" panose="00020600040101010101" pitchFamily="18" charset="-122"/>
              <a:cs typeface="阿里巴巴普惠体" panose="00020600040101010101" pitchFamily="18" charset="-122"/>
              <a:sym typeface="+mn-ea"/>
            </a:endParaRPr>
          </a:p>
        </p:txBody>
      </p:sp>
      <p:pic>
        <p:nvPicPr>
          <p:cNvPr id="10" name="图片 7" descr="381587786865_.pic"/>
          <p:cNvPicPr>
            <a:picLocks noChangeAspect="1" noChangeArrowheads="1"/>
          </p:cNvPicPr>
          <p:nvPr/>
        </p:nvPicPr>
        <p:blipFill>
          <a:blip r:embed="rId1">
            <a:extLst>
              <a:ext uri="{28A0092B-C50C-407E-A947-70E740481C1C}">
                <a14:useLocalDpi xmlns:a14="http://schemas.microsoft.com/office/drawing/2010/main" val="0"/>
              </a:ext>
            </a:extLst>
          </a:blip>
          <a:srcRect t="3175"/>
          <a:stretch>
            <a:fillRect/>
          </a:stretch>
        </p:blipFill>
        <p:spPr bwMode="auto">
          <a:xfrm>
            <a:off x="5130800" y="1330325"/>
            <a:ext cx="2387600" cy="5012690"/>
          </a:xfrm>
          <a:prstGeom prst="rect">
            <a:avLst/>
          </a:prstGeom>
          <a:noFill/>
          <a:ln w="9525">
            <a:solidFill>
              <a:srgbClr val="D9D9D9"/>
            </a:solidFill>
            <a:round/>
          </a:ln>
          <a:extLst>
            <a:ext uri="{909E8E84-426E-40DD-AFC4-6F175D3DCCD1}">
              <a14:hiddenFill xmlns:a14="http://schemas.microsoft.com/office/drawing/2010/main">
                <a:solidFill>
                  <a:srgbClr val="FFFFFF"/>
                </a:solidFill>
              </a14:hiddenFill>
            </a:ext>
          </a:extLst>
        </p:spPr>
      </p:pic>
      <p:pic>
        <p:nvPicPr>
          <p:cNvPr id="11" name="图片 8" descr="391587786866_.pic"/>
          <p:cNvPicPr>
            <a:picLocks noChangeAspect="1" noChangeArrowheads="1"/>
          </p:cNvPicPr>
          <p:nvPr/>
        </p:nvPicPr>
        <p:blipFill>
          <a:blip r:embed="rId2" cstate="print">
            <a:extLst>
              <a:ext uri="{28A0092B-C50C-407E-A947-70E740481C1C}">
                <a14:useLocalDpi xmlns:a14="http://schemas.microsoft.com/office/drawing/2010/main" val="0"/>
              </a:ext>
            </a:extLst>
          </a:blip>
          <a:srcRect t="3281"/>
          <a:stretch>
            <a:fillRect/>
          </a:stretch>
        </p:blipFill>
        <p:spPr bwMode="auto">
          <a:xfrm>
            <a:off x="2532380" y="1330325"/>
            <a:ext cx="2387600" cy="5007610"/>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12" name="图片 9" descr="411587787109_.p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885" y="1330325"/>
            <a:ext cx="2390775" cy="4989830"/>
          </a:xfrm>
          <a:prstGeom prst="rect">
            <a:avLst/>
          </a:prstGeom>
          <a:noFill/>
          <a:ln w="9525">
            <a:solidFill>
              <a:srgbClr val="D9D9D9"/>
            </a:solidFill>
            <a:rou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3"/>
          <p:cNvSpPr>
            <a:spLocks noGrp="1"/>
          </p:cNvSpPr>
          <p:nvPr/>
        </p:nvSpPr>
        <p:spPr>
          <a:xfrm>
            <a:off x="479425" y="1164590"/>
            <a:ext cx="10938510" cy="42195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90204" pitchFamily="34" charset="0"/>
              <a:buNone/>
              <a:defRPr sz="1600" kern="120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r>
              <a:rPr lang="zh-CN" sz="2000" b="1" dirty="0">
                <a:solidFill>
                  <a:schemeClr val="accent1"/>
                </a:solidFill>
              </a:rPr>
              <a:t>品牌曝光</a:t>
            </a:r>
            <a:r>
              <a:rPr lang="zh-CN" altLang="en-US" sz="2000" b="1" dirty="0">
                <a:solidFill>
                  <a:schemeClr val="accent1"/>
                </a:solidFill>
              </a:rPr>
              <a:t>：</a:t>
            </a:r>
            <a:endParaRPr lang="zh-CN" altLang="en-US" sz="2000" b="1" dirty="0">
              <a:solidFill>
                <a:schemeClr val="accent1"/>
              </a:solidFill>
            </a:endParaRPr>
          </a:p>
        </p:txBody>
      </p:sp>
      <p:sp>
        <p:nvSpPr>
          <p:cNvPr id="4" name="标题 3"/>
          <p:cNvSpPr>
            <a:spLocks noGrp="1"/>
          </p:cNvSpPr>
          <p:nvPr>
            <p:ph type="title"/>
          </p:nvPr>
        </p:nvSpPr>
        <p:spPr>
          <a:xfrm>
            <a:off x="402270" y="293719"/>
            <a:ext cx="8771021" cy="517190"/>
          </a:xfrm>
        </p:spPr>
        <p:txBody>
          <a:bodyPr/>
          <a:lstStyle/>
          <a:p>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rPr>
              <a:t>活动目的</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endParaRPr>
          </a:p>
        </p:txBody>
      </p:sp>
      <p:pic>
        <p:nvPicPr>
          <p:cNvPr id="7" name="图片 1" descr="截屏2020-04-2123.54.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11595" y="1444625"/>
            <a:ext cx="3082290" cy="5119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1245235" y="2153920"/>
            <a:ext cx="5022215" cy="3322955"/>
          </a:xfrm>
          <a:prstGeom prst="rect">
            <a:avLst/>
          </a:prstGeom>
          <a:noFill/>
        </p:spPr>
        <p:txBody>
          <a:bodyPr wrap="square">
            <a:spAutoFit/>
          </a:bodyPr>
          <a:lstStyle/>
          <a:p>
            <a:pPr eaLnBrk="0" fontAlgn="auto" hangingPunct="0">
              <a:lnSpc>
                <a:spcPct val="150000"/>
              </a:lnSpc>
              <a:spcBef>
                <a:spcPts val="0"/>
              </a:spcBef>
              <a:spcAft>
                <a:spcPts val="0"/>
              </a:spcAft>
              <a:defRPr/>
            </a:pPr>
            <a:r>
              <a:rPr 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案例</a:t>
            </a:r>
            <a:r>
              <a:rPr lang="en-US" alt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网易云年度活动</a:t>
            </a:r>
            <a:endPar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网易云音乐洞察到用户生活中音乐作为“陪伴”的重要意义</a:t>
            </a:r>
            <a:endPar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H5</a:t>
            </a:r>
            <a:r>
              <a:rPr 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页面</a:t>
            </a:r>
            <a:r>
              <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让用户直观“看见”音乐对自己生活的陪伴。</a:t>
            </a:r>
            <a:endPar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endPar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这一天你将这首歌单曲循环了多少次？</a:t>
            </a:r>
            <a:r>
              <a:rPr lang="zh-CN" altLang="en-US"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en-US" altLang="zh-CN"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睡得最晚的那天哪首歌在陪你？</a:t>
            </a:r>
            <a:r>
              <a:rPr lang="zh-CN" altLang="en-US"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en-US"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“今后的时光，让网易云音乐陪伴你一同走过”</a:t>
            </a:r>
            <a:endParaRPr sz="1400" b="1"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endPar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可以说，网易云音乐抓住了音乐产品与用户间一个关键的连接点。</a:t>
            </a:r>
            <a:endParaRPr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t>思考</a:t>
            </a:r>
            <a:endParaRPr lang="zh-CN" altLang="en-US"/>
          </a:p>
        </p:txBody>
      </p:sp>
      <p:pic>
        <p:nvPicPr>
          <p:cNvPr id="7" name="图片 6"/>
          <p:cNvPicPr>
            <a:picLocks noChangeAspect="1"/>
          </p:cNvPicPr>
          <p:nvPr/>
        </p:nvPicPr>
        <p:blipFill>
          <a:blip r:embed="rId1"/>
          <a:stretch>
            <a:fillRect/>
          </a:stretch>
        </p:blipFill>
        <p:spPr>
          <a:xfrm>
            <a:off x="5150485" y="2077085"/>
            <a:ext cx="3505200" cy="3014980"/>
          </a:xfrm>
          <a:prstGeom prst="rect">
            <a:avLst/>
          </a:prstGeom>
          <a:ln>
            <a:solidFill>
              <a:schemeClr val="bg1">
                <a:lumMod val="85000"/>
              </a:schemeClr>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53070" y="268319"/>
            <a:ext cx="8771021" cy="517190"/>
          </a:xfrm>
        </p:spPr>
        <p:txBody>
          <a:bodyPr/>
          <a:lstStyle/>
          <a:p>
            <a:r>
              <a:rPr lang="zh-CN" altLang="en-US" dirty="0">
                <a:solidFill>
                  <a:schemeClr val="tx1">
                    <a:lumMod val="75000"/>
                    <a:lumOff val="25000"/>
                  </a:schemeClr>
                </a:solidFill>
                <a:latin typeface="阿里巴巴普惠体" panose="00020600040101010101" pitchFamily="18" charset="-122"/>
                <a:ea typeface="阿里巴巴普惠体" panose="00020600040101010101" pitchFamily="18" charset="-122"/>
              </a:rPr>
              <a:t>活动目的</a:t>
            </a:r>
            <a:endParaRPr lang="zh-CN" altLang="en-US" dirty="0">
              <a:solidFill>
                <a:schemeClr val="tx1">
                  <a:lumMod val="75000"/>
                  <a:lumOff val="25000"/>
                </a:schemeClr>
              </a:solidFill>
              <a:latin typeface="阿里巴巴普惠体" panose="00020600040101010101" pitchFamily="18" charset="-122"/>
              <a:ea typeface="阿里巴巴普惠体" panose="00020600040101010101" pitchFamily="18" charset="-122"/>
            </a:endParaRPr>
          </a:p>
        </p:txBody>
      </p:sp>
      <p:sp>
        <p:nvSpPr>
          <p:cNvPr id="3" name="文本占位符 2"/>
          <p:cNvSpPr>
            <a:spLocks noGrp="1"/>
          </p:cNvSpPr>
          <p:nvPr>
            <p:ph type="body" sz="quarter" idx="10"/>
          </p:nvPr>
        </p:nvSpPr>
        <p:spPr>
          <a:xfrm>
            <a:off x="4472351" y="2297151"/>
            <a:ext cx="7370244" cy="2263698"/>
          </a:xfrm>
        </p:spPr>
        <p:txBody>
          <a:bodyPr/>
          <a:lstStyle/>
          <a:p>
            <a:pPr marL="0" indent="0">
              <a:buNone/>
            </a:pPr>
            <a:r>
              <a:rPr lang="zh-CN" altLang="en-US" dirty="0">
                <a:solidFill>
                  <a:schemeClr val="tx1">
                    <a:lumMod val="85000"/>
                    <a:lumOff val="15000"/>
                  </a:schemeClr>
                </a:solidFill>
                <a:ea typeface="阿里巴巴普惠体" panose="00020600040101010101" pitchFamily="18" charset="-122"/>
              </a:rPr>
              <a:t>活动目的分为</a:t>
            </a:r>
            <a:r>
              <a:rPr lang="zh-CN" altLang="en-US" b="1" dirty="0">
                <a:solidFill>
                  <a:srgbClr val="FF0000"/>
                </a:solidFill>
                <a:sym typeface="+mn-ea"/>
              </a:rPr>
              <a:t>拉新、留存</a:t>
            </a:r>
            <a:r>
              <a:rPr lang="en-US" altLang="zh-CN" b="1" dirty="0">
                <a:solidFill>
                  <a:srgbClr val="FF0000"/>
                </a:solidFill>
                <a:sym typeface="+mn-ea"/>
              </a:rPr>
              <a:t>/</a:t>
            </a:r>
            <a:r>
              <a:rPr lang="zh-CN" altLang="en-US" b="1" dirty="0">
                <a:solidFill>
                  <a:srgbClr val="FF0000"/>
                </a:solidFill>
                <a:sym typeface="+mn-ea"/>
              </a:rPr>
              <a:t>促活、成交</a:t>
            </a:r>
            <a:r>
              <a:rPr lang="en-US" altLang="zh-CN" b="1" dirty="0">
                <a:solidFill>
                  <a:srgbClr val="FF0000"/>
                </a:solidFill>
                <a:sym typeface="+mn-ea"/>
              </a:rPr>
              <a:t>/</a:t>
            </a:r>
            <a:r>
              <a:rPr lang="zh-CN" altLang="en-US" b="1" dirty="0">
                <a:solidFill>
                  <a:srgbClr val="FF0000"/>
                </a:solidFill>
                <a:sym typeface="+mn-ea"/>
              </a:rPr>
              <a:t>转化、品牌曝光</a:t>
            </a:r>
            <a:r>
              <a:rPr lang="en-US" altLang="zh-CN" b="1" dirty="0">
                <a:solidFill>
                  <a:srgbClr val="FF0000"/>
                </a:solidFill>
                <a:ea typeface="阿里巴巴普惠体" panose="00020600040101010101" pitchFamily="18" charset="-122"/>
              </a:rPr>
              <a:t> </a:t>
            </a:r>
            <a:r>
              <a:rPr lang="zh-CN" altLang="en-US" dirty="0">
                <a:solidFill>
                  <a:schemeClr val="tx1">
                    <a:lumMod val="85000"/>
                    <a:lumOff val="15000"/>
                  </a:schemeClr>
                </a:solidFill>
                <a:ea typeface="阿里巴巴普惠体" panose="00020600040101010101" pitchFamily="18" charset="-122"/>
              </a:rPr>
              <a:t>；</a:t>
            </a:r>
            <a:endParaRPr lang="en-US" altLang="zh-CN" dirty="0">
              <a:solidFill>
                <a:schemeClr val="tx1">
                  <a:lumMod val="85000"/>
                  <a:lumOff val="15000"/>
                </a:schemeClr>
              </a:solidFill>
              <a:ea typeface="阿里巴巴普惠体" panose="00020600040101010101" pitchFamily="18" charset="-122"/>
            </a:endParaRPr>
          </a:p>
          <a:p>
            <a:pPr marL="0" indent="0">
              <a:buNone/>
            </a:pPr>
            <a:r>
              <a:rPr lang="zh-CN" altLang="en-US" dirty="0">
                <a:solidFill>
                  <a:schemeClr val="tx1">
                    <a:lumMod val="85000"/>
                    <a:lumOff val="15000"/>
                  </a:schemeClr>
                </a:solidFill>
                <a:ea typeface="阿里巴巴普惠体" panose="00020600040101010101" pitchFamily="18" charset="-122"/>
              </a:rPr>
              <a:t>活动是</a:t>
            </a:r>
            <a:r>
              <a:rPr lang="zh-CN" altLang="en-US" b="1" dirty="0">
                <a:solidFill>
                  <a:srgbClr val="FF0000"/>
                </a:solidFill>
                <a:sym typeface="+mn-ea"/>
              </a:rPr>
              <a:t>实现企业运营目的</a:t>
            </a:r>
            <a:r>
              <a:rPr lang="zh-CN" altLang="en-US" dirty="0">
                <a:solidFill>
                  <a:schemeClr val="tx1">
                    <a:lumMod val="85000"/>
                    <a:lumOff val="15000"/>
                  </a:schemeClr>
                </a:solidFill>
                <a:ea typeface="阿里巴巴普惠体" panose="00020600040101010101" pitchFamily="18" charset="-122"/>
              </a:rPr>
              <a:t>的手段，明确活动目的是活动策划的第一步；</a:t>
            </a:r>
            <a:endParaRPr lang="en-US" altLang="zh-CN" dirty="0">
              <a:solidFill>
                <a:schemeClr val="tx1">
                  <a:lumMod val="85000"/>
                  <a:lumOff val="15000"/>
                </a:schemeClr>
              </a:solidFill>
              <a:ea typeface="阿里巴巴普惠体" panose="00020600040101010101" pitchFamily="18" charset="-122"/>
            </a:endParaRPr>
          </a:p>
          <a:p>
            <a:pPr marL="0" indent="0">
              <a:buNone/>
            </a:pPr>
            <a:r>
              <a:rPr lang="zh-CN" altLang="en-US" dirty="0">
                <a:solidFill>
                  <a:schemeClr val="tx1">
                    <a:lumMod val="85000"/>
                    <a:lumOff val="15000"/>
                  </a:schemeClr>
                </a:solidFill>
                <a:ea typeface="阿里巴巴普惠体" panose="00020600040101010101" pitchFamily="18" charset="-122"/>
              </a:rPr>
              <a:t>考虑活动目的时，可以有</a:t>
            </a:r>
            <a:r>
              <a:rPr lang="zh-CN" altLang="en-US" dirty="0">
                <a:solidFill>
                  <a:srgbClr val="FF0000"/>
                </a:solidFill>
                <a:ea typeface="阿里巴巴普惠体" panose="00020600040101010101" pitchFamily="18" charset="-122"/>
              </a:rPr>
              <a:t>主次</a:t>
            </a:r>
            <a:r>
              <a:rPr lang="zh-CN" altLang="en-US" dirty="0">
                <a:solidFill>
                  <a:schemeClr val="tx1">
                    <a:lumMod val="85000"/>
                    <a:lumOff val="15000"/>
                  </a:schemeClr>
                </a:solidFill>
                <a:ea typeface="阿里巴巴普惠体" panose="00020600040101010101" pitchFamily="18" charset="-122"/>
              </a:rPr>
              <a:t>之分。</a:t>
            </a:r>
            <a:endParaRPr lang="zh-CN" altLang="en-US" dirty="0">
              <a:solidFill>
                <a:schemeClr val="tx1">
                  <a:lumMod val="85000"/>
                  <a:lumOff val="15000"/>
                </a:schemeClr>
              </a:solidFill>
              <a:ea typeface="阿里巴巴普惠体" panose="00020600040101010101" pitchFamily="18"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t>练习</a:t>
            </a:r>
            <a:endParaRPr lang="zh-CN" altLang="en-US"/>
          </a:p>
        </p:txBody>
      </p:sp>
      <p:sp>
        <p:nvSpPr>
          <p:cNvPr id="2" name="文本占位符 4"/>
          <p:cNvSpPr>
            <a:spLocks noGrp="1"/>
          </p:cNvSpPr>
          <p:nvPr/>
        </p:nvSpPr>
        <p:spPr>
          <a:xfrm>
            <a:off x="2017395" y="2195830"/>
            <a:ext cx="9448165" cy="36931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90204" pitchFamily="34" charset="0"/>
              <a:buNone/>
              <a:defRPr sz="1600" kern="1200">
                <a:solidFill>
                  <a:schemeClr val="tx1">
                    <a:lumMod val="85000"/>
                    <a:lumOff val="15000"/>
                  </a:schemeClr>
                </a:solidFill>
                <a:latin typeface="阿里巴巴普惠体" panose="00020600040101010101" pitchFamily="18" charset="-122"/>
                <a:ea typeface="阿里巴巴普惠体 B"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r>
              <a:rPr lang="zh-CN" altLang="en-US" sz="1800" b="1" dirty="0">
                <a:ea typeface="阿里巴巴普惠体" panose="00020600040101010101" pitchFamily="18" charset="-122"/>
              </a:rPr>
              <a:t>——要求：</a:t>
            </a:r>
            <a:endParaRPr lang="zh-CN" altLang="en-US" sz="1800" b="1" dirty="0">
              <a:ea typeface="阿里巴巴普惠体" panose="00020600040101010101" pitchFamily="18" charset="-122"/>
            </a:endParaRPr>
          </a:p>
          <a:p>
            <a:r>
              <a:rPr lang="zh-CN" altLang="en-US" sz="1800" dirty="0">
                <a:ea typeface="阿里巴巴普惠体" panose="00020600040101010101" pitchFamily="18" charset="-122"/>
              </a:rPr>
              <a:t>根据个人确定的社群，撰写裂变活动的目的</a:t>
            </a:r>
            <a:endParaRPr lang="zh-CN" altLang="en-US" sz="1800" dirty="0">
              <a:ea typeface="阿里巴巴普惠体" panose="00020600040101010101" pitchFamily="18" charset="-122"/>
            </a:endParaRPr>
          </a:p>
          <a:p>
            <a:endParaRPr lang="zh-CN" altLang="en-US" sz="1800" dirty="0">
              <a:ea typeface="阿里巴巴普惠体" panose="00020600040101010101" pitchFamily="18" charset="-122"/>
            </a:endParaRPr>
          </a:p>
          <a:p>
            <a:r>
              <a:rPr lang="zh-CN" altLang="en-US" sz="1800" dirty="0">
                <a:ea typeface="阿里巴巴普惠体" panose="00020600040101010101" pitchFamily="18" charset="-122"/>
              </a:rPr>
              <a:t>时间：</a:t>
            </a:r>
            <a:r>
              <a:rPr lang="en-US" altLang="zh-CN" sz="1800" dirty="0">
                <a:ea typeface="阿里巴巴普惠体" panose="00020600040101010101" pitchFamily="18" charset="-122"/>
              </a:rPr>
              <a:t>5</a:t>
            </a:r>
            <a:r>
              <a:rPr lang="zh-CN" altLang="en-US" sz="1800" dirty="0">
                <a:ea typeface="阿里巴巴普惠体" panose="00020600040101010101" pitchFamily="18" charset="-122"/>
              </a:rPr>
              <a:t>分钟</a:t>
            </a:r>
            <a:endParaRPr lang="zh-CN" altLang="en-US" sz="1800" dirty="0">
              <a:ea typeface="阿里巴巴普惠体" panose="00020600040101010101" pitchFamily="18" charset="-122"/>
            </a:endParaRPr>
          </a:p>
          <a:p>
            <a:r>
              <a:rPr lang="zh-CN" altLang="en-US" sz="1800" dirty="0">
                <a:solidFill>
                  <a:schemeClr val="tx1"/>
                </a:solidFill>
                <a:ea typeface="阿里巴巴普惠体" panose="00020600040101010101" pitchFamily="18" charset="-122"/>
                <a:sym typeface="+mn-ea"/>
              </a:rPr>
              <a:t>提交方式：提交到在线表格中</a:t>
            </a:r>
            <a:endParaRPr lang="zh-CN" altLang="en-US" sz="1800" dirty="0">
              <a:solidFill>
                <a:schemeClr val="tx1"/>
              </a:solidFill>
              <a:ea typeface="阿里巴巴普惠体" panose="00020600040101010101" pitchFamily="18" charset="-122"/>
              <a:sym typeface="+mn-ea"/>
            </a:endParaRPr>
          </a:p>
          <a:p>
            <a:endParaRPr lang="en-US" altLang="zh-CN" sz="1800" dirty="0">
              <a:solidFill>
                <a:schemeClr val="tx1"/>
              </a:solidFill>
              <a:ea typeface="阿里巴巴普惠体" panose="00020600040101010101" pitchFamily="18"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273040" y="2468880"/>
            <a:ext cx="3382645" cy="548005"/>
          </a:xfrm>
        </p:spPr>
        <p:txBody>
          <a:bodyPr>
            <a:normAutofit fontScale="90000"/>
          </a:bodyPr>
          <a:lstStyle/>
          <a:p>
            <a:r>
              <a:rPr kumimoji="1" lang="zh-CN" altLang="en-US" sz="2800" dirty="0">
                <a:latin typeface="阿里巴巴普惠体" panose="00020600040101010101" pitchFamily="18" charset="-122"/>
              </a:rPr>
              <a:t>活动目标</a:t>
            </a:r>
            <a:endParaRPr kumimoji="1" lang="zh-CN" altLang="en-US" sz="2800" dirty="0">
              <a:latin typeface="阿里巴巴普惠体" panose="00020600040101010101" pitchFamily="18" charset="-122"/>
            </a:endParaRPr>
          </a:p>
        </p:txBody>
      </p:sp>
      <p:sp>
        <p:nvSpPr>
          <p:cNvPr id="3" name="文本占位符 2"/>
          <p:cNvSpPr>
            <a:spLocks noGrp="1"/>
          </p:cNvSpPr>
          <p:nvPr>
            <p:ph type="body" idx="10"/>
          </p:nvPr>
        </p:nvSpPr>
        <p:spPr/>
        <p:txBody>
          <a:bodyPr/>
          <a:lstStyle/>
          <a:p>
            <a:r>
              <a:rPr kumimoji="1" lang="zh-CN" altLang="en-US" dirty="0"/>
              <a:t>目标制定方法</a:t>
            </a:r>
            <a:endParaRPr kumimoji="1" lang="en-US" altLang="zh-CN" dirty="0"/>
          </a:p>
          <a:p>
            <a:endParaRPr kumimoji="1" lang="zh-CN" altLang="en-US" dirty="0"/>
          </a:p>
        </p:txBody>
      </p:sp>
      <p:sp>
        <p:nvSpPr>
          <p:cNvPr id="4" name="文本占位符 3"/>
          <p:cNvSpPr>
            <a:spLocks noGrp="1"/>
          </p:cNvSpPr>
          <p:nvPr>
            <p:ph type="body" sz="quarter" idx="11"/>
          </p:nvPr>
        </p:nvSpPr>
        <p:spPr/>
        <p:txBody>
          <a:bodyPr/>
          <a:lstStyle/>
          <a:p>
            <a:r>
              <a:rPr lang="en-US" altLang="zh-CN" dirty="0"/>
              <a:t>04</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4507045" y="1320912"/>
            <a:ext cx="7097521" cy="2823385"/>
          </a:xfrm>
        </p:spPr>
        <p:txBody>
          <a:bodyPr/>
          <a:lstStyle/>
          <a:p>
            <a:pPr marL="285750" indent="-285750" algn="l" eaLnBrk="0" hangingPunct="0">
              <a:lnSpc>
                <a:spcPct val="200000"/>
              </a:lnSpc>
              <a:buClr>
                <a:srgbClr val="262626"/>
              </a:buClr>
              <a:buFont typeface="Arial" panose="020B0604020202090204" pitchFamily="34" charset="0"/>
              <a:buChar char="•"/>
            </a:pPr>
            <a:r>
              <a:rPr lang="zh-CN" altLang="en-US" dirty="0">
                <a:solidFill>
                  <a:srgbClr val="262626"/>
                </a:solidFill>
                <a:latin typeface="阿里巴巴普惠体" panose="00020600040101010101" pitchFamily="18" charset="-122"/>
                <a:sym typeface="+mn-ea"/>
              </a:rPr>
              <a:t> 掌握活动目标的制定方法</a:t>
            </a:r>
            <a:endParaRPr lang="en-US" altLang="zh-CN" dirty="0">
              <a:solidFill>
                <a:srgbClr val="262626"/>
              </a:solidFill>
              <a:latin typeface="阿里巴巴普惠体" panose="00020600040101010101" pitchFamily="18"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375597"/>
            <a:ext cx="5760539" cy="4049843"/>
          </a:xfrm>
        </p:spPr>
        <p:txBody>
          <a:bodyPr/>
          <a:lstStyle/>
          <a:p>
            <a:r>
              <a:rPr lang="zh-CN" altLang="en-US" dirty="0"/>
              <a:t>如果目的是很明确，你是否能为目的具体量化呢？</a:t>
            </a:r>
            <a:endParaRPr lang="zh-CN" altLang="en-US" dirty="0"/>
          </a:p>
          <a:p>
            <a:pPr marL="0" indent="0">
              <a:buNone/>
            </a:pPr>
            <a:r>
              <a:rPr lang="zh-CN" altLang="en-US" b="1" dirty="0"/>
              <a:t>目标：</a:t>
            </a:r>
            <a:r>
              <a:rPr lang="zh-CN" altLang="en-US" dirty="0"/>
              <a:t>是</a:t>
            </a:r>
            <a:r>
              <a:rPr lang="zh-CN" altLang="en-US" dirty="0"/>
              <a:t>对目的的具体数据</a:t>
            </a:r>
            <a:r>
              <a:rPr lang="zh-CN" altLang="en-US" dirty="0"/>
              <a:t>呈现。</a:t>
            </a:r>
            <a:endParaRPr lang="zh-CN" altLang="en-US"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思考</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活动目标</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26" name="椭圆 25"/>
          <p:cNvSpPr/>
          <p:nvPr/>
        </p:nvSpPr>
        <p:spPr>
          <a:xfrm>
            <a:off x="4856480" y="2416175"/>
            <a:ext cx="1612265" cy="1612265"/>
          </a:xfrm>
          <a:prstGeom prst="ellipse">
            <a:avLst/>
          </a:prstGeom>
          <a:solidFill>
            <a:srgbClr val="DE0014"/>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KPI</a:t>
            </a:r>
            <a:endParaRPr lang="en-US" sz="2800"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7" name="组合 36"/>
          <p:cNvGrpSpPr/>
          <p:nvPr/>
        </p:nvGrpSpPr>
        <p:grpSpPr>
          <a:xfrm>
            <a:off x="2517140" y="1141095"/>
            <a:ext cx="6205220" cy="4491355"/>
            <a:chOff x="3799" y="1797"/>
            <a:chExt cx="9772" cy="7073"/>
          </a:xfrm>
        </p:grpSpPr>
        <p:grpSp>
          <p:nvGrpSpPr>
            <p:cNvPr id="3" name="组合 2"/>
            <p:cNvGrpSpPr/>
            <p:nvPr/>
          </p:nvGrpSpPr>
          <p:grpSpPr>
            <a:xfrm>
              <a:off x="3799" y="1797"/>
              <a:ext cx="2338" cy="2335"/>
              <a:chOff x="5634" y="3480"/>
              <a:chExt cx="2005" cy="2003"/>
            </a:xfrm>
            <a:solidFill>
              <a:schemeClr val="tx2">
                <a:lumMod val="60000"/>
                <a:lumOff val="40000"/>
              </a:schemeClr>
            </a:solidFill>
          </p:grpSpPr>
          <p:sp>
            <p:nvSpPr>
              <p:cNvPr id="5" name="椭圆 42"/>
              <p:cNvSpPr/>
              <p:nvPr/>
            </p:nvSpPr>
            <p:spPr>
              <a:xfrm>
                <a:off x="5634" y="3480"/>
                <a:ext cx="2005" cy="2003"/>
              </a:xfrm>
              <a:prstGeom prst="ellipse">
                <a:avLst/>
              </a:prstGeom>
              <a:grp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文本框 12"/>
              <p:cNvSpPr txBox="1"/>
              <p:nvPr/>
            </p:nvSpPr>
            <p:spPr>
              <a:xfrm>
                <a:off x="6235" y="4253"/>
                <a:ext cx="893" cy="456"/>
              </a:xfrm>
              <a:prstGeom prst="rect">
                <a:avLst/>
              </a:prstGeom>
              <a:grpFill/>
              <a:ln>
                <a:noFill/>
              </a:ln>
            </p:spPr>
            <p:txBody>
              <a:bodyPr wrap="square">
                <a:spAutoFit/>
              </a:bodyPr>
              <a:lstStyle/>
              <a:p>
                <a:pPr fontAlgn="auto">
                  <a:spcBef>
                    <a:spcPts val="0"/>
                  </a:spcBef>
                  <a:spcAft>
                    <a:spcPts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a:t>
                </a:r>
                <a:endPar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8" name="组合 17"/>
            <p:cNvGrpSpPr/>
            <p:nvPr/>
          </p:nvGrpSpPr>
          <p:grpSpPr>
            <a:xfrm>
              <a:off x="3799" y="6536"/>
              <a:ext cx="2337" cy="2335"/>
              <a:chOff x="5621" y="3480"/>
              <a:chExt cx="2005" cy="2003"/>
            </a:xfrm>
            <a:solidFill>
              <a:schemeClr val="tx2">
                <a:lumMod val="60000"/>
                <a:lumOff val="40000"/>
              </a:schemeClr>
            </a:solidFill>
          </p:grpSpPr>
          <p:sp>
            <p:nvSpPr>
              <p:cNvPr id="19" name="椭圆 42"/>
              <p:cNvSpPr/>
              <p:nvPr/>
            </p:nvSpPr>
            <p:spPr>
              <a:xfrm>
                <a:off x="5621" y="3480"/>
                <a:ext cx="2005" cy="2003"/>
              </a:xfrm>
              <a:prstGeom prst="ellipse">
                <a:avLst/>
              </a:prstGeom>
              <a:grp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5921" y="4265"/>
                <a:ext cx="1496" cy="456"/>
              </a:xfrm>
              <a:prstGeom prst="rect">
                <a:avLst/>
              </a:prstGeom>
              <a:grpFill/>
              <a:ln>
                <a:noFill/>
              </a:ln>
            </p:spPr>
            <p:txBody>
              <a:bodyPr wrap="square">
                <a:spAutoFit/>
              </a:bodyPr>
              <a:lstStyle/>
              <a:p>
                <a:pPr fontAlgn="auto">
                  <a:spcBef>
                    <a:spcPts val="0"/>
                  </a:spcBef>
                  <a:spcAft>
                    <a:spcPts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促活</a:t>
                </a:r>
                <a:r>
                  <a:rPr lang="en-US" alt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留存</a:t>
                </a:r>
                <a:endPar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21" name="组合 20"/>
            <p:cNvGrpSpPr/>
            <p:nvPr/>
          </p:nvGrpSpPr>
          <p:grpSpPr>
            <a:xfrm>
              <a:off x="11233" y="1797"/>
              <a:ext cx="2338" cy="2335"/>
              <a:chOff x="5634" y="3480"/>
              <a:chExt cx="2005" cy="2003"/>
            </a:xfrm>
            <a:solidFill>
              <a:schemeClr val="tx2">
                <a:lumMod val="60000"/>
                <a:lumOff val="40000"/>
              </a:schemeClr>
            </a:solidFill>
          </p:grpSpPr>
          <p:sp>
            <p:nvSpPr>
              <p:cNvPr id="22" name="椭圆 42"/>
              <p:cNvSpPr/>
              <p:nvPr/>
            </p:nvSpPr>
            <p:spPr>
              <a:xfrm>
                <a:off x="5634" y="3480"/>
                <a:ext cx="2005" cy="2003"/>
              </a:xfrm>
              <a:prstGeom prst="ellipse">
                <a:avLst/>
              </a:prstGeom>
              <a:grp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文本框 22"/>
              <p:cNvSpPr txBox="1"/>
              <p:nvPr/>
            </p:nvSpPr>
            <p:spPr>
              <a:xfrm>
                <a:off x="5947" y="4268"/>
                <a:ext cx="1601" cy="456"/>
              </a:xfrm>
              <a:prstGeom prst="rect">
                <a:avLst/>
              </a:prstGeom>
              <a:grpFill/>
              <a:ln>
                <a:noFill/>
              </a:ln>
            </p:spPr>
            <p:txBody>
              <a:bodyPr wrap="square">
                <a:spAutoFit/>
              </a:bodyPr>
              <a:lstStyle/>
              <a:p>
                <a:pPr fontAlgn="auto">
                  <a:spcBef>
                    <a:spcPts val="0"/>
                  </a:spcBef>
                  <a:spcAft>
                    <a:spcPts val="0"/>
                  </a:spcAft>
                </a:pPr>
                <a:r>
                  <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成交</a:t>
                </a:r>
                <a:r>
                  <a:rPr lang="en-US" alt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转化</a:t>
                </a:r>
                <a:endPar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24" name="组合 23"/>
            <p:cNvGrpSpPr/>
            <p:nvPr/>
          </p:nvGrpSpPr>
          <p:grpSpPr>
            <a:xfrm>
              <a:off x="11233" y="6536"/>
              <a:ext cx="2337" cy="2335"/>
              <a:chOff x="5634" y="3480"/>
              <a:chExt cx="2005" cy="2003"/>
            </a:xfrm>
            <a:solidFill>
              <a:schemeClr val="accent1"/>
            </a:solidFill>
          </p:grpSpPr>
          <p:sp>
            <p:nvSpPr>
              <p:cNvPr id="25" name="椭圆 42"/>
              <p:cNvSpPr/>
              <p:nvPr/>
            </p:nvSpPr>
            <p:spPr>
              <a:xfrm>
                <a:off x="5634" y="3480"/>
                <a:ext cx="2005" cy="2003"/>
              </a:xfrm>
              <a:prstGeom prst="ellipse">
                <a:avLst/>
              </a:prstGeom>
              <a:solidFill>
                <a:schemeClr val="tx2">
                  <a:lumMod val="60000"/>
                  <a:lumOff val="40000"/>
                </a:schemeClr>
              </a:solid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文本框 3"/>
              <p:cNvSpPr txBox="1"/>
              <p:nvPr/>
            </p:nvSpPr>
            <p:spPr>
              <a:xfrm>
                <a:off x="5992" y="4267"/>
                <a:ext cx="1558" cy="456"/>
              </a:xfrm>
              <a:prstGeom prst="rect">
                <a:avLst/>
              </a:prstGeom>
              <a:solidFill>
                <a:schemeClr val="tx2">
                  <a:lumMod val="60000"/>
                  <a:lumOff val="40000"/>
                </a:schemeClr>
              </a:solidFill>
              <a:ln>
                <a:noFill/>
              </a:ln>
            </p:spPr>
            <p:txBody>
              <a:bodyPr wrap="square">
                <a:spAutoFit/>
              </a:bodyPr>
              <a:lstStyle/>
              <a:p>
                <a:pPr fontAlgn="auto">
                  <a:spcBef>
                    <a:spcPts val="0"/>
                  </a:spcBef>
                  <a:spcAft>
                    <a:spcPts val="0"/>
                  </a:spcAft>
                </a:pPr>
                <a:r>
                  <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品牌曝光</a:t>
                </a:r>
                <a:endPar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6" name="左箭头 5"/>
            <p:cNvSpPr/>
            <p:nvPr/>
          </p:nvSpPr>
          <p:spPr>
            <a:xfrm rot="2040000">
              <a:off x="6236" y="3643"/>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7" name="左箭头 6"/>
            <p:cNvSpPr/>
            <p:nvPr/>
          </p:nvSpPr>
          <p:spPr>
            <a:xfrm rot="8460000">
              <a:off x="10008" y="3565"/>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8" name="左箭头 7"/>
            <p:cNvSpPr/>
            <p:nvPr/>
          </p:nvSpPr>
          <p:spPr>
            <a:xfrm rot="18540000">
              <a:off x="6201" y="6228"/>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9" name="左箭头 8"/>
            <p:cNvSpPr/>
            <p:nvPr/>
          </p:nvSpPr>
          <p:spPr>
            <a:xfrm rot="14220000">
              <a:off x="9769" y="6486"/>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checkerboard(across)">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活动目标</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26" name="椭圆 25"/>
          <p:cNvSpPr/>
          <p:nvPr/>
        </p:nvSpPr>
        <p:spPr>
          <a:xfrm>
            <a:off x="4856480" y="2416175"/>
            <a:ext cx="1612265" cy="1612265"/>
          </a:xfrm>
          <a:prstGeom prst="ellipse">
            <a:avLst/>
          </a:prstGeom>
          <a:solidFill>
            <a:srgbClr val="DE0014"/>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KPI</a:t>
            </a:r>
            <a:endParaRPr lang="en-US" sz="2800"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7" name="组合 36"/>
          <p:cNvGrpSpPr/>
          <p:nvPr/>
        </p:nvGrpSpPr>
        <p:grpSpPr>
          <a:xfrm>
            <a:off x="2517140" y="1141095"/>
            <a:ext cx="6205220" cy="4491355"/>
            <a:chOff x="3799" y="1797"/>
            <a:chExt cx="9772" cy="7073"/>
          </a:xfrm>
        </p:grpSpPr>
        <p:grpSp>
          <p:nvGrpSpPr>
            <p:cNvPr id="3" name="组合 2"/>
            <p:cNvGrpSpPr/>
            <p:nvPr/>
          </p:nvGrpSpPr>
          <p:grpSpPr>
            <a:xfrm>
              <a:off x="3799" y="1797"/>
              <a:ext cx="2338" cy="2335"/>
              <a:chOff x="5634" y="3480"/>
              <a:chExt cx="2005" cy="2003"/>
            </a:xfrm>
            <a:solidFill>
              <a:schemeClr val="tx2">
                <a:lumMod val="60000"/>
                <a:lumOff val="40000"/>
              </a:schemeClr>
            </a:solidFill>
          </p:grpSpPr>
          <p:sp>
            <p:nvSpPr>
              <p:cNvPr id="5" name="椭圆 42"/>
              <p:cNvSpPr/>
              <p:nvPr/>
            </p:nvSpPr>
            <p:spPr>
              <a:xfrm>
                <a:off x="5634" y="3480"/>
                <a:ext cx="2005" cy="2003"/>
              </a:xfrm>
              <a:prstGeom prst="ellipse">
                <a:avLst/>
              </a:prstGeom>
              <a:grp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文本框 12"/>
              <p:cNvSpPr txBox="1"/>
              <p:nvPr/>
            </p:nvSpPr>
            <p:spPr>
              <a:xfrm>
                <a:off x="6235" y="4253"/>
                <a:ext cx="893" cy="456"/>
              </a:xfrm>
              <a:prstGeom prst="rect">
                <a:avLst/>
              </a:prstGeom>
              <a:grpFill/>
              <a:ln>
                <a:noFill/>
              </a:ln>
            </p:spPr>
            <p:txBody>
              <a:bodyPr wrap="square">
                <a:spAutoFit/>
              </a:bodyPr>
              <a:lstStyle/>
              <a:p>
                <a:pPr fontAlgn="auto">
                  <a:spcBef>
                    <a:spcPts val="0"/>
                  </a:spcBef>
                  <a:spcAft>
                    <a:spcPts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a:t>
                </a:r>
                <a:endPar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8" name="组合 17"/>
            <p:cNvGrpSpPr/>
            <p:nvPr/>
          </p:nvGrpSpPr>
          <p:grpSpPr>
            <a:xfrm>
              <a:off x="3799" y="6536"/>
              <a:ext cx="2337" cy="2335"/>
              <a:chOff x="5621" y="3480"/>
              <a:chExt cx="2005" cy="2003"/>
            </a:xfrm>
            <a:solidFill>
              <a:schemeClr val="tx2">
                <a:lumMod val="60000"/>
                <a:lumOff val="40000"/>
              </a:schemeClr>
            </a:solidFill>
          </p:grpSpPr>
          <p:sp>
            <p:nvSpPr>
              <p:cNvPr id="19" name="椭圆 42"/>
              <p:cNvSpPr/>
              <p:nvPr/>
            </p:nvSpPr>
            <p:spPr>
              <a:xfrm>
                <a:off x="5621" y="3480"/>
                <a:ext cx="2005" cy="2003"/>
              </a:xfrm>
              <a:prstGeom prst="ellipse">
                <a:avLst/>
              </a:prstGeom>
              <a:grp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5921" y="4265"/>
                <a:ext cx="1496" cy="456"/>
              </a:xfrm>
              <a:prstGeom prst="rect">
                <a:avLst/>
              </a:prstGeom>
              <a:grpFill/>
              <a:ln>
                <a:noFill/>
              </a:ln>
            </p:spPr>
            <p:txBody>
              <a:bodyPr wrap="square">
                <a:spAutoFit/>
              </a:bodyPr>
              <a:lstStyle/>
              <a:p>
                <a:pPr fontAlgn="auto">
                  <a:spcBef>
                    <a:spcPts val="0"/>
                  </a:spcBef>
                  <a:spcAft>
                    <a:spcPts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促活</a:t>
                </a:r>
                <a:r>
                  <a:rPr lang="en-US" alt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留存</a:t>
                </a:r>
                <a:endPar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21" name="组合 20"/>
            <p:cNvGrpSpPr/>
            <p:nvPr/>
          </p:nvGrpSpPr>
          <p:grpSpPr>
            <a:xfrm>
              <a:off x="11233" y="1797"/>
              <a:ext cx="2338" cy="2335"/>
              <a:chOff x="5634" y="3480"/>
              <a:chExt cx="2005" cy="2003"/>
            </a:xfrm>
            <a:solidFill>
              <a:schemeClr val="tx2">
                <a:lumMod val="60000"/>
                <a:lumOff val="40000"/>
              </a:schemeClr>
            </a:solidFill>
          </p:grpSpPr>
          <p:sp>
            <p:nvSpPr>
              <p:cNvPr id="22" name="椭圆 42"/>
              <p:cNvSpPr/>
              <p:nvPr/>
            </p:nvSpPr>
            <p:spPr>
              <a:xfrm>
                <a:off x="5634" y="3480"/>
                <a:ext cx="2005" cy="2003"/>
              </a:xfrm>
              <a:prstGeom prst="ellipse">
                <a:avLst/>
              </a:prstGeom>
              <a:grp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文本框 22"/>
              <p:cNvSpPr txBox="1"/>
              <p:nvPr/>
            </p:nvSpPr>
            <p:spPr>
              <a:xfrm>
                <a:off x="5947" y="4268"/>
                <a:ext cx="1601" cy="456"/>
              </a:xfrm>
              <a:prstGeom prst="rect">
                <a:avLst/>
              </a:prstGeom>
              <a:grpFill/>
              <a:ln>
                <a:noFill/>
              </a:ln>
            </p:spPr>
            <p:txBody>
              <a:bodyPr wrap="square">
                <a:spAutoFit/>
              </a:bodyPr>
              <a:lstStyle/>
              <a:p>
                <a:pPr fontAlgn="auto">
                  <a:spcBef>
                    <a:spcPts val="0"/>
                  </a:spcBef>
                  <a:spcAft>
                    <a:spcPts val="0"/>
                  </a:spcAft>
                </a:pPr>
                <a:r>
                  <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成交</a:t>
                </a:r>
                <a:r>
                  <a:rPr lang="en-US" alt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转化</a:t>
                </a:r>
                <a:endPar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24" name="组合 23"/>
            <p:cNvGrpSpPr/>
            <p:nvPr/>
          </p:nvGrpSpPr>
          <p:grpSpPr>
            <a:xfrm>
              <a:off x="11233" y="6536"/>
              <a:ext cx="2337" cy="2335"/>
              <a:chOff x="5634" y="3480"/>
              <a:chExt cx="2005" cy="2003"/>
            </a:xfrm>
            <a:solidFill>
              <a:schemeClr val="accent1"/>
            </a:solidFill>
          </p:grpSpPr>
          <p:sp>
            <p:nvSpPr>
              <p:cNvPr id="25" name="椭圆 42"/>
              <p:cNvSpPr/>
              <p:nvPr/>
            </p:nvSpPr>
            <p:spPr>
              <a:xfrm>
                <a:off x="5634" y="3480"/>
                <a:ext cx="2005" cy="2003"/>
              </a:xfrm>
              <a:prstGeom prst="ellipse">
                <a:avLst/>
              </a:prstGeom>
              <a:solidFill>
                <a:schemeClr val="tx2">
                  <a:lumMod val="60000"/>
                  <a:lumOff val="40000"/>
                </a:schemeClr>
              </a:solidFill>
              <a:ln w="19050" cap="flat" cmpd="sng">
                <a:noFill/>
                <a:prstDash val="solid"/>
                <a:round/>
                <a:headEnd type="none" w="med" len="med"/>
                <a:tailEnd type="none" w="med" len="med"/>
              </a:ln>
              <a:effectLst>
                <a:outerShdw dist="12700" dir="2699999" algn="br" rotWithShape="0">
                  <a:srgbClr val="808080">
                    <a:alpha val="29999"/>
                  </a:srgbClr>
                </a:outerShdw>
              </a:effectLst>
            </p:spPr>
            <p:txBody>
              <a:bodyPr anchor="ctr"/>
              <a:lstStyle/>
              <a:p>
                <a:pPr algn="ctr" eaLnBrk="0" hangingPunct="0">
                  <a:buFont typeface="阿里巴巴普惠体" panose="00020600040101010101" pitchFamily="18" charset="-122"/>
                </a:pPr>
                <a:endParaRPr lang="zh-CN" altLang="en-US" sz="16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文本框 3"/>
              <p:cNvSpPr txBox="1"/>
              <p:nvPr/>
            </p:nvSpPr>
            <p:spPr>
              <a:xfrm>
                <a:off x="5992" y="4267"/>
                <a:ext cx="1558" cy="456"/>
              </a:xfrm>
              <a:prstGeom prst="rect">
                <a:avLst/>
              </a:prstGeom>
              <a:solidFill>
                <a:schemeClr val="tx2">
                  <a:lumMod val="60000"/>
                  <a:lumOff val="40000"/>
                </a:schemeClr>
              </a:solidFill>
              <a:ln>
                <a:noFill/>
              </a:ln>
            </p:spPr>
            <p:txBody>
              <a:bodyPr wrap="square">
                <a:spAutoFit/>
              </a:bodyPr>
              <a:lstStyle/>
              <a:p>
                <a:pPr fontAlgn="auto">
                  <a:spcBef>
                    <a:spcPts val="0"/>
                  </a:spcBef>
                  <a:spcAft>
                    <a:spcPts val="0"/>
                  </a:spcAft>
                </a:pPr>
                <a:r>
                  <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品牌曝光</a:t>
                </a:r>
                <a:endParaRPr lang="zh-CN"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6" name="左箭头 5"/>
            <p:cNvSpPr/>
            <p:nvPr/>
          </p:nvSpPr>
          <p:spPr>
            <a:xfrm rot="2040000">
              <a:off x="6236" y="3643"/>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7" name="左箭头 6"/>
            <p:cNvSpPr/>
            <p:nvPr/>
          </p:nvSpPr>
          <p:spPr>
            <a:xfrm rot="8460000">
              <a:off x="10008" y="3565"/>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8" name="左箭头 7"/>
            <p:cNvSpPr/>
            <p:nvPr/>
          </p:nvSpPr>
          <p:spPr>
            <a:xfrm rot="18540000">
              <a:off x="6201" y="6228"/>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sp>
          <p:nvSpPr>
            <p:cNvPr id="9" name="左箭头 8"/>
            <p:cNvSpPr/>
            <p:nvPr/>
          </p:nvSpPr>
          <p:spPr>
            <a:xfrm rot="14220000">
              <a:off x="9769" y="6486"/>
              <a:ext cx="1097" cy="653"/>
            </a:xfrm>
            <a:prstGeom prst="leftArrow">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ea typeface="阿里巴巴普惠体" panose="00020600040101010101" pitchFamily="18" charset="-122"/>
                <a:cs typeface="阿里巴巴普惠体" panose="00020600040101010101" pitchFamily="18" charset="-122"/>
              </a:endParaRPr>
            </a:p>
          </p:txBody>
        </p:sp>
      </p:grpSp>
      <p:sp>
        <p:nvSpPr>
          <p:cNvPr id="38" name="文本框 37"/>
          <p:cNvSpPr txBox="1"/>
          <p:nvPr/>
        </p:nvSpPr>
        <p:spPr>
          <a:xfrm>
            <a:off x="866775" y="1417955"/>
            <a:ext cx="2257425" cy="306705"/>
          </a:xfrm>
          <a:prstGeom prst="rect">
            <a:avLst/>
          </a:prstGeom>
          <a:noFill/>
        </p:spPr>
        <p:txBody>
          <a:bodyPr>
            <a:spAutoFit/>
          </a:bodyPr>
          <a:lstStyle/>
          <a:p>
            <a:pPr fontAlgn="auto">
              <a:spcBef>
                <a:spcPts val="0"/>
              </a:spcBef>
              <a:spcAft>
                <a:spcPts val="0"/>
              </a:spcAft>
            </a:pPr>
            <a:r>
              <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拉新多少</a:t>
            </a:r>
            <a:endPar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文本框 38"/>
          <p:cNvSpPr txBox="1"/>
          <p:nvPr/>
        </p:nvSpPr>
        <p:spPr>
          <a:xfrm>
            <a:off x="641985" y="4977765"/>
            <a:ext cx="2257425" cy="306705"/>
          </a:xfrm>
          <a:prstGeom prst="rect">
            <a:avLst/>
          </a:prstGeom>
          <a:noFill/>
        </p:spPr>
        <p:txBody>
          <a:bodyPr>
            <a:spAutoFit/>
          </a:bodyPr>
          <a:lstStyle/>
          <a:p>
            <a:pPr lvl="0" algn="l">
              <a:spcBef>
                <a:spcPts val="0"/>
              </a:spcBef>
              <a:spcAft>
                <a:spcPts val="0"/>
              </a:spcAft>
              <a:buClrTx/>
              <a:buSzTx/>
              <a:buFontTx/>
            </a:pPr>
            <a:r>
              <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活跃度提升到多少</a:t>
            </a:r>
            <a:endPar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40" name="文本框 39"/>
          <p:cNvSpPr txBox="1"/>
          <p:nvPr/>
        </p:nvSpPr>
        <p:spPr>
          <a:xfrm>
            <a:off x="9024620" y="1471930"/>
            <a:ext cx="2609850" cy="306705"/>
          </a:xfrm>
          <a:prstGeom prst="rect">
            <a:avLst/>
          </a:prstGeom>
          <a:noFill/>
        </p:spPr>
        <p:txBody>
          <a:bodyPr wrap="square">
            <a:spAutoFit/>
          </a:bodyPr>
          <a:lstStyle/>
          <a:p>
            <a:pPr lvl="0" algn="l">
              <a:spcBef>
                <a:spcPts val="0"/>
              </a:spcBef>
              <a:spcAft>
                <a:spcPts val="0"/>
              </a:spcAft>
              <a:buClrTx/>
              <a:buSzTx/>
              <a:buFontTx/>
            </a:pPr>
            <a:r>
              <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转化多少人/成交额达到多少</a:t>
            </a:r>
            <a:endPar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41" name="文本框 40"/>
          <p:cNvSpPr txBox="1"/>
          <p:nvPr/>
        </p:nvSpPr>
        <p:spPr>
          <a:xfrm>
            <a:off x="9024620" y="4816475"/>
            <a:ext cx="2257425" cy="521970"/>
          </a:xfrm>
          <a:prstGeom prst="rect">
            <a:avLst/>
          </a:prstGeom>
          <a:noFill/>
        </p:spPr>
        <p:txBody>
          <a:bodyPr wrap="square">
            <a:spAutoFit/>
          </a:bodyPr>
          <a:lstStyle/>
          <a:p>
            <a:pPr lvl="0" algn="l">
              <a:spcBef>
                <a:spcPts val="0"/>
              </a:spcBef>
              <a:spcAft>
                <a:spcPts val="0"/>
              </a:spcAft>
              <a:buClrTx/>
              <a:buSzTx/>
              <a:buFontTx/>
            </a:pPr>
            <a:r>
              <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市场占有率提升多少</a:t>
            </a:r>
            <a:endPar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lvl="0" algn="l">
              <a:spcBef>
                <a:spcPts val="0"/>
              </a:spcBef>
              <a:spcAft>
                <a:spcPts val="0"/>
              </a:spcAft>
              <a:buClrTx/>
              <a:buSzTx/>
              <a:buFontTx/>
            </a:pPr>
            <a:endParaRPr lang="zh-CN" altLang="en-US" sz="1400" u="sng"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p:bldP spid="39" grpId="1"/>
      <p:bldP spid="40" grpId="0"/>
      <p:bldP spid="40" grpId="1"/>
      <p:bldP spid="41" grpId="0"/>
      <p:bldP spid="41"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活动目标</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10" name="三角形 5"/>
          <p:cNvSpPr/>
          <p:nvPr/>
        </p:nvSpPr>
        <p:spPr>
          <a:xfrm rot="2651319">
            <a:off x="722630" y="1520190"/>
            <a:ext cx="145415"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1" name="矩形 10"/>
          <p:cNvSpPr/>
          <p:nvPr/>
        </p:nvSpPr>
        <p:spPr>
          <a:xfrm>
            <a:off x="793750" y="1764030"/>
            <a:ext cx="9812655" cy="3813810"/>
          </a:xfrm>
          <a:prstGeom prst="rect">
            <a:avLst/>
          </a:prstGeom>
          <a:noFill/>
          <a:ln w="9525">
            <a:solidFill>
              <a:srgbClr val="0067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ea typeface="阿里巴巴普惠体" panose="00020600040101010101" pitchFamily="18" charset="-122"/>
              <a:cs typeface="阿里巴巴普惠体" panose="00020600040101010101" pitchFamily="18" charset="-122"/>
            </a:endParaRPr>
          </a:p>
        </p:txBody>
      </p:sp>
      <p:sp>
        <p:nvSpPr>
          <p:cNvPr id="12" name="矩形 11"/>
          <p:cNvSpPr/>
          <p:nvPr/>
        </p:nvSpPr>
        <p:spPr>
          <a:xfrm>
            <a:off x="793750" y="1575435"/>
            <a:ext cx="1053465" cy="300990"/>
          </a:xfrm>
          <a:prstGeom prst="rect">
            <a:avLst/>
          </a:prstGeom>
          <a:solidFill>
            <a:srgbClr val="DE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举例说明</a:t>
            </a:r>
            <a:endParaRPr kumimoji="1"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35" name="图片 34"/>
          <p:cNvPicPr>
            <a:picLocks noChangeAspect="1"/>
          </p:cNvPicPr>
          <p:nvPr/>
        </p:nvPicPr>
        <p:blipFill>
          <a:blip r:embed="rId1"/>
          <a:stretch>
            <a:fillRect/>
          </a:stretch>
        </p:blipFill>
        <p:spPr>
          <a:xfrm>
            <a:off x="811530" y="2013585"/>
            <a:ext cx="7362825" cy="34861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活动目标</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9154" name="TextBox 9"/>
          <p:cNvSpPr txBox="1"/>
          <p:nvPr/>
        </p:nvSpPr>
        <p:spPr>
          <a:xfrm>
            <a:off x="628650" y="973455"/>
            <a:ext cx="2496820" cy="458908"/>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目标制定方法</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Oval 6"/>
          <p:cNvSpPr>
            <a:spLocks noChangeArrowheads="1"/>
          </p:cNvSpPr>
          <p:nvPr/>
        </p:nvSpPr>
        <p:spPr bwMode="auto">
          <a:xfrm>
            <a:off x="4323386" y="4570739"/>
            <a:ext cx="706120" cy="721015"/>
          </a:xfrm>
          <a:prstGeom prst="ellipse">
            <a:avLst/>
          </a:prstGeom>
          <a:solidFill>
            <a:schemeClr val="bg1"/>
          </a:solidFill>
          <a:ln w="14288" cap="flat">
            <a:noFill/>
            <a:prstDash val="solid"/>
            <a:miter lim="800000"/>
          </a:ln>
        </p:spPr>
        <p:txBody>
          <a:bodyPr vert="horz" wrap="square" lIns="91440" tIns="45720" rIns="91440" bIns="45720" numCol="1" anchor="t" anchorCtr="0" compatLnSpc="1"/>
          <a:lstStyle/>
          <a:p>
            <a:endParaRPr lang="zh-CN" altLang="en-US" dirty="0">
              <a:solidFill>
                <a:schemeClr val="bg2"/>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nvGrpSpPr>
          <p:cNvPr id="14" name="组合 13"/>
          <p:cNvGrpSpPr/>
          <p:nvPr/>
        </p:nvGrpSpPr>
        <p:grpSpPr>
          <a:xfrm>
            <a:off x="2041525" y="4304665"/>
            <a:ext cx="3100705" cy="1617030"/>
            <a:chOff x="1823" y="2750"/>
            <a:chExt cx="4594" cy="1998"/>
          </a:xfrm>
        </p:grpSpPr>
        <p:sp>
          <p:nvSpPr>
            <p:cNvPr id="15" name="Rectangle 9"/>
            <p:cNvSpPr>
              <a:spLocks noChangeArrowheads="1"/>
            </p:cNvSpPr>
            <p:nvPr/>
          </p:nvSpPr>
          <p:spPr bwMode="auto">
            <a:xfrm>
              <a:off x="1978" y="3251"/>
              <a:ext cx="4439" cy="1497"/>
            </a:xfrm>
            <a:prstGeom prst="rect">
              <a:avLst/>
            </a:prstGeom>
            <a:solidFill>
              <a:srgbClr val="FFFFFF"/>
            </a:solidFill>
            <a:ln w="12700" cap="flat">
              <a:solidFill>
                <a:schemeClr val="bg1">
                  <a:lumMod val="75000"/>
                </a:schemeClr>
              </a:solidFill>
              <a:prstDash val="solid"/>
              <a:miter lim="800000"/>
            </a:ln>
          </p:spPr>
          <p:txBody>
            <a:bodyPr vert="horz" wrap="square" lIns="91440" tIns="45720" rIns="91440" bIns="45720" numCol="1" anchor="t" anchorCtr="0" compatLnSpc="1"/>
            <a:lstStyle/>
            <a:p>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sp>
          <p:nvSpPr>
            <p:cNvPr id="16" name="Rectangle 10"/>
            <p:cNvSpPr>
              <a:spLocks noChangeArrowheads="1"/>
            </p:cNvSpPr>
            <p:nvPr/>
          </p:nvSpPr>
          <p:spPr bwMode="auto">
            <a:xfrm>
              <a:off x="1823" y="2750"/>
              <a:ext cx="3766" cy="502"/>
            </a:xfrm>
            <a:prstGeom prst="rect">
              <a:avLst/>
            </a:prstGeom>
            <a:solidFill>
              <a:schemeClr val="accent3">
                <a:lumMod val="75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③参考竞争对手</a:t>
              </a:r>
              <a:endParaRPr lang="zh-CN" altLang="en-US"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grpSp>
        <p:nvGrpSpPr>
          <p:cNvPr id="7" name="组合 6"/>
          <p:cNvGrpSpPr/>
          <p:nvPr/>
        </p:nvGrpSpPr>
        <p:grpSpPr>
          <a:xfrm>
            <a:off x="2041525" y="2173994"/>
            <a:ext cx="3193490" cy="1685610"/>
            <a:chOff x="3515" y="3509"/>
            <a:chExt cx="4501" cy="2375"/>
          </a:xfrm>
        </p:grpSpPr>
        <p:sp>
          <p:nvSpPr>
            <p:cNvPr id="38" name="Oval 6"/>
            <p:cNvSpPr>
              <a:spLocks noChangeArrowheads="1"/>
            </p:cNvSpPr>
            <p:nvPr/>
          </p:nvSpPr>
          <p:spPr bwMode="auto">
            <a:xfrm>
              <a:off x="6773" y="4291"/>
              <a:ext cx="1112" cy="1135"/>
            </a:xfrm>
            <a:prstGeom prst="ellipse">
              <a:avLst/>
            </a:prstGeom>
            <a:solidFill>
              <a:schemeClr val="bg1"/>
            </a:solidFill>
            <a:ln w="14288" cap="flat">
              <a:noFill/>
              <a:prstDash val="solid"/>
              <a:miter lim="800000"/>
            </a:ln>
          </p:spPr>
          <p:txBody>
            <a:bodyPr vert="horz" wrap="square" lIns="91440" tIns="45720" rIns="91440" bIns="45720" numCol="1" anchor="t" anchorCtr="0" compatLnSpc="1"/>
            <a:lstStyle/>
            <a:p>
              <a:endParaRPr lang="zh-CN" altLang="en-US" dirty="0">
                <a:solidFill>
                  <a:schemeClr val="bg2"/>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nvGrpSpPr>
            <p:cNvPr id="10" name="组合 9"/>
            <p:cNvGrpSpPr/>
            <p:nvPr/>
          </p:nvGrpSpPr>
          <p:grpSpPr>
            <a:xfrm>
              <a:off x="3515" y="3509"/>
              <a:ext cx="4501" cy="2375"/>
              <a:chOff x="1916" y="2886"/>
              <a:chExt cx="4501" cy="2239"/>
            </a:xfrm>
          </p:grpSpPr>
          <p:sp>
            <p:nvSpPr>
              <p:cNvPr id="27" name="Rectangle 9"/>
              <p:cNvSpPr>
                <a:spLocks noChangeArrowheads="1"/>
              </p:cNvSpPr>
              <p:nvPr/>
            </p:nvSpPr>
            <p:spPr bwMode="auto">
              <a:xfrm>
                <a:off x="2064" y="3251"/>
                <a:ext cx="4353" cy="1874"/>
              </a:xfrm>
              <a:prstGeom prst="rect">
                <a:avLst/>
              </a:prstGeom>
              <a:solidFill>
                <a:srgbClr val="FFFFFF"/>
              </a:solidFill>
              <a:ln w="12700" cap="flat">
                <a:solidFill>
                  <a:schemeClr val="bg1">
                    <a:lumMod val="75000"/>
                  </a:schemeClr>
                </a:solidFill>
                <a:prstDash val="solid"/>
                <a:miter lim="800000"/>
              </a:ln>
            </p:spPr>
            <p:txBody>
              <a:bodyPr vert="horz" wrap="square" lIns="91440" tIns="45720" rIns="91440" bIns="45720" numCol="1" anchor="t" anchorCtr="0" compatLnSpc="1"/>
              <a:lstStyle/>
              <a:p>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sp>
            <p:nvSpPr>
              <p:cNvPr id="31" name="Rectangle 10"/>
              <p:cNvSpPr>
                <a:spLocks noChangeArrowheads="1"/>
              </p:cNvSpPr>
              <p:nvPr/>
            </p:nvSpPr>
            <p:spPr bwMode="auto">
              <a:xfrm>
                <a:off x="1916" y="2886"/>
                <a:ext cx="3766" cy="603"/>
              </a:xfrm>
              <a:prstGeom prst="rect">
                <a:avLst/>
              </a:prstGeom>
              <a:solidFill>
                <a:srgbClr val="0067E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①参考往期数据</a:t>
                </a:r>
                <a:endParaRPr lang="zh-CN" altLang="en-US"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sp>
          <p:nvSpPr>
            <p:cNvPr id="5" name="文本框 4"/>
            <p:cNvSpPr txBox="1"/>
            <p:nvPr/>
          </p:nvSpPr>
          <p:spPr>
            <a:xfrm>
              <a:off x="3663" y="4153"/>
              <a:ext cx="4353" cy="434"/>
            </a:xfrm>
            <a:prstGeom prst="rect">
              <a:avLst/>
            </a:prstGeom>
            <a:noFill/>
          </p:spPr>
          <p:txBody>
            <a:bodyPr wrap="square" anchor="t">
              <a:spAutoFit/>
            </a:bodyPr>
            <a:lstStyle/>
            <a:p>
              <a:pPr fontAlgn="auto">
                <a:spcBef>
                  <a:spcPts val="0"/>
                </a:spcBef>
                <a:spcAft>
                  <a:spcPts val="0"/>
                </a:spcAft>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参考往期活动数据；</a:t>
              </a:r>
              <a:endPar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3" name="文本框 2"/>
          <p:cNvSpPr txBox="1"/>
          <p:nvPr/>
        </p:nvSpPr>
        <p:spPr>
          <a:xfrm>
            <a:off x="2099945" y="4814570"/>
            <a:ext cx="3089275" cy="953135"/>
          </a:xfrm>
          <a:prstGeom prst="rect">
            <a:avLst/>
          </a:prstGeom>
          <a:noFill/>
        </p:spPr>
        <p:txBody>
          <a:bodyPr wrap="square" anchor="t">
            <a:spAutoFit/>
          </a:bodyPr>
          <a:lstStyle/>
          <a:p>
            <a:pPr marR="0" lvl="0" indent="0" algn="l" defTabSz="914400" rtl="0" eaLnBrk="0" fontAlgn="base" latinLnBrk="0" hangingPunct="0">
              <a:lnSpc>
                <a:spcPct val="100000"/>
              </a:lnSpc>
              <a:spcBef>
                <a:spcPct val="0"/>
              </a:spcBef>
              <a:spcAft>
                <a:spcPct val="0"/>
              </a:spcAft>
              <a:buClrTx/>
              <a:buSzTx/>
              <a:buFont typeface="阿里巴巴普惠体" panose="00020600040101010101" pitchFamily="18" charset="-12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在行业深耕久了后，会对竞争对手有了解。比如从公众号角度来说，竞争对手策划活动后，数据明显比平日时的好，观察数据提升的区间；</a:t>
            </a:r>
            <a:endPar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8" name="组合 7"/>
          <p:cNvGrpSpPr/>
          <p:nvPr/>
        </p:nvGrpSpPr>
        <p:grpSpPr>
          <a:xfrm>
            <a:off x="5753735" y="2175557"/>
            <a:ext cx="3514743" cy="1629363"/>
            <a:chOff x="9061" y="3426"/>
            <a:chExt cx="5535" cy="2566"/>
          </a:xfrm>
        </p:grpSpPr>
        <p:grpSp>
          <p:nvGrpSpPr>
            <p:cNvPr id="11" name="组合 10"/>
            <p:cNvGrpSpPr/>
            <p:nvPr/>
          </p:nvGrpSpPr>
          <p:grpSpPr>
            <a:xfrm>
              <a:off x="9061" y="3426"/>
              <a:ext cx="5535" cy="2566"/>
              <a:chOff x="11674" y="6473"/>
              <a:chExt cx="6992" cy="2847"/>
            </a:xfrm>
          </p:grpSpPr>
          <p:sp>
            <p:nvSpPr>
              <p:cNvPr id="18" name="Rectangle 9"/>
              <p:cNvSpPr>
                <a:spLocks noChangeArrowheads="1"/>
              </p:cNvSpPr>
              <p:nvPr/>
            </p:nvSpPr>
            <p:spPr bwMode="auto">
              <a:xfrm>
                <a:off x="11674" y="6919"/>
                <a:ext cx="6753" cy="2401"/>
              </a:xfrm>
              <a:prstGeom prst="rect">
                <a:avLst/>
              </a:prstGeom>
              <a:solidFill>
                <a:srgbClr val="FFFFFF"/>
              </a:solidFill>
              <a:ln w="12700" cap="flat">
                <a:solidFill>
                  <a:schemeClr val="bg1">
                    <a:lumMod val="75000"/>
                  </a:schemeClr>
                </a:solidFill>
                <a:prstDash val="solid"/>
                <a:miter lim="800000"/>
              </a:ln>
            </p:spPr>
            <p:txBody>
              <a:bodyPr vert="horz" wrap="square" lIns="91440" tIns="45720" rIns="91440" bIns="45720" numCol="1" anchor="t" anchorCtr="0" compatLnSpc="1"/>
              <a:lstStyle/>
              <a:p>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sp>
            <p:nvSpPr>
              <p:cNvPr id="19" name="Rectangle 10"/>
              <p:cNvSpPr>
                <a:spLocks noChangeArrowheads="1"/>
              </p:cNvSpPr>
              <p:nvPr/>
            </p:nvSpPr>
            <p:spPr bwMode="auto">
              <a:xfrm>
                <a:off x="13853" y="6473"/>
                <a:ext cx="4813" cy="783"/>
              </a:xfrm>
              <a:prstGeom prst="rect">
                <a:avLst/>
              </a:prstGeom>
              <a:solidFill>
                <a:srgbClr val="DE0014"/>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②参考平均数据</a:t>
                </a:r>
                <a:endParaRPr lang="zh-CN" altLang="en-US"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sp>
          <p:nvSpPr>
            <p:cNvPr id="20" name="文本框 19"/>
            <p:cNvSpPr txBox="1"/>
            <p:nvPr/>
          </p:nvSpPr>
          <p:spPr>
            <a:xfrm>
              <a:off x="9061" y="4162"/>
              <a:ext cx="5471" cy="1163"/>
            </a:xfrm>
            <a:prstGeom prst="rect">
              <a:avLst/>
            </a:prstGeom>
            <a:noFill/>
          </p:spPr>
          <p:txBody>
            <a:bodyPr wrap="square" anchor="t">
              <a:spAutoFit/>
            </a:bodyPr>
            <a:lstStyle/>
            <a:p>
              <a:pPr marR="0" lvl="0" indent="0" algn="l" defTabSz="914400" rtl="0" eaLnBrk="0" fontAlgn="base" latinLnBrk="0" hangingPunct="0">
                <a:lnSpc>
                  <a:spcPct val="100000"/>
                </a:lnSpc>
                <a:spcBef>
                  <a:spcPct val="0"/>
                </a:spcBef>
                <a:spcAft>
                  <a:spcPct val="0"/>
                </a:spcAft>
                <a:buClrTx/>
                <a:buSzTx/>
                <a:buFont typeface="阿里巴巴普惠体" panose="00020600040101010101" pitchFamily="18" charset="-12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电商平台日常销量会在一个正常的范围中，制定活动目标时可以在此基础上增加</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10%</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9" name="组合 8"/>
          <p:cNvGrpSpPr/>
          <p:nvPr/>
        </p:nvGrpSpPr>
        <p:grpSpPr>
          <a:xfrm>
            <a:off x="5837555" y="4305239"/>
            <a:ext cx="3350864" cy="1710751"/>
            <a:chOff x="9061" y="6299"/>
            <a:chExt cx="4697" cy="2694"/>
          </a:xfrm>
        </p:grpSpPr>
        <p:sp>
          <p:nvSpPr>
            <p:cNvPr id="47" name="Oval 6"/>
            <p:cNvSpPr>
              <a:spLocks noChangeArrowheads="1"/>
            </p:cNvSpPr>
            <p:nvPr/>
          </p:nvSpPr>
          <p:spPr bwMode="auto">
            <a:xfrm>
              <a:off x="9929" y="6493"/>
              <a:ext cx="1112" cy="1135"/>
            </a:xfrm>
            <a:prstGeom prst="ellipse">
              <a:avLst/>
            </a:prstGeom>
            <a:solidFill>
              <a:schemeClr val="bg1"/>
            </a:solidFill>
            <a:ln w="14288" cap="flat">
              <a:noFill/>
              <a:prstDash val="solid"/>
              <a:miter lim="800000"/>
            </a:ln>
          </p:spPr>
          <p:txBody>
            <a:bodyPr vert="horz" wrap="square" lIns="91440" tIns="45720" rIns="91440" bIns="45720" numCol="1" anchor="t" anchorCtr="0" compatLnSpc="1"/>
            <a:lstStyle/>
            <a:p>
              <a:endParaRPr lang="zh-CN" altLang="en-US" dirty="0">
                <a:solidFill>
                  <a:schemeClr val="bg2"/>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nvGrpSpPr>
            <p:cNvPr id="23" name="组合 22"/>
            <p:cNvGrpSpPr/>
            <p:nvPr/>
          </p:nvGrpSpPr>
          <p:grpSpPr>
            <a:xfrm>
              <a:off x="9061" y="6299"/>
              <a:ext cx="4697" cy="2546"/>
              <a:chOff x="11674" y="6686"/>
              <a:chExt cx="5793" cy="3522"/>
            </a:xfrm>
          </p:grpSpPr>
          <p:sp>
            <p:nvSpPr>
              <p:cNvPr id="24" name="Rectangle 9"/>
              <p:cNvSpPr>
                <a:spLocks noChangeArrowheads="1"/>
              </p:cNvSpPr>
              <p:nvPr/>
            </p:nvSpPr>
            <p:spPr bwMode="auto">
              <a:xfrm>
                <a:off x="11674" y="7570"/>
                <a:ext cx="5578" cy="2638"/>
              </a:xfrm>
              <a:prstGeom prst="rect">
                <a:avLst/>
              </a:prstGeom>
              <a:solidFill>
                <a:srgbClr val="FFFFFF"/>
              </a:solidFill>
              <a:ln w="12700" cap="flat">
                <a:solidFill>
                  <a:schemeClr val="bg1">
                    <a:lumMod val="75000"/>
                  </a:schemeClr>
                </a:solidFill>
                <a:prstDash val="solid"/>
                <a:miter lim="800000"/>
              </a:ln>
            </p:spPr>
            <p:txBody>
              <a:bodyPr vert="horz" wrap="square" lIns="91440" tIns="45720" rIns="91440" bIns="45720" numCol="1" anchor="t" anchorCtr="0" compatLnSpc="1"/>
              <a:lstStyle/>
              <a:p>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sp>
            <p:nvSpPr>
              <p:cNvPr id="25" name="Rectangle 10"/>
              <p:cNvSpPr>
                <a:spLocks noChangeArrowheads="1"/>
              </p:cNvSpPr>
              <p:nvPr/>
            </p:nvSpPr>
            <p:spPr bwMode="auto">
              <a:xfrm>
                <a:off x="13423" y="6686"/>
                <a:ext cx="4044" cy="884"/>
              </a:xfrm>
              <a:prstGeom prst="rect">
                <a:avLst/>
              </a:prstGeom>
              <a:solidFill>
                <a:schemeClr val="tx1">
                  <a:lumMod val="75000"/>
                  <a:lumOff val="25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④参考活动</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ROI</a:t>
                </a:r>
                <a:endParaRPr lang="zh-CN" altLang="en-US" b="1"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Arial" panose="020B0604020202090204" pitchFamily="34" charset="0"/>
                </a:endParaRPr>
              </a:p>
            </p:txBody>
          </p:sp>
        </p:grpSp>
        <p:sp>
          <p:nvSpPr>
            <p:cNvPr id="4" name="文本框 3"/>
            <p:cNvSpPr txBox="1"/>
            <p:nvPr/>
          </p:nvSpPr>
          <p:spPr>
            <a:xfrm>
              <a:off x="9061" y="7151"/>
              <a:ext cx="4416" cy="1842"/>
            </a:xfrm>
            <a:prstGeom prst="rect">
              <a:avLst/>
            </a:prstGeom>
            <a:noFill/>
          </p:spPr>
          <p:txBody>
            <a:bodyPr wrap="square" anchor="t">
              <a:spAutoFit/>
            </a:bodyPr>
            <a:lstStyle/>
            <a:p>
              <a:pPr fontAlgn="auto">
                <a:spcBef>
                  <a:spcPts val="0"/>
                </a:spcBef>
                <a:spcAft>
                  <a:spcPts val="0"/>
                </a:spcAft>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投入多少预算，期望收益多少？（行业经验参考：一般做活动，指标提升幅度为</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10-30%</a:t>
              </a:r>
              <a:r>
                <a:rPr lang="en-US" altLang="zh-CN" sz="1400" u="sng"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；爆发性、传播度较好的活动，数据提高幅度为</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45%</a:t>
              </a:r>
              <a:r>
                <a:rPr lang="en-US" altLang="zh-CN" sz="1400" u="sng"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endParaRPr kumimoji="0" lang="zh-CN" altLang="en-US" sz="1400" b="0" i="0" u="none" strike="noStrike" kern="1200" cap="none" spc="0" normalizeH="0" baseline="0" noProof="0" dirty="0">
                <a:ln>
                  <a:noFill/>
                </a:ln>
                <a:solidFill>
                  <a:srgbClr val="40404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fontAlgn="auto">
                <a:spcBef>
                  <a:spcPts val="0"/>
                </a:spcBef>
                <a:spcAft>
                  <a:spcPts val="0"/>
                </a:spcAft>
              </a:pPr>
              <a:endPar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39760" y="234029"/>
            <a:ext cx="8771021" cy="517190"/>
          </a:xfrm>
        </p:spPr>
        <p:txBody>
          <a:bodyPr/>
          <a:lstStyle/>
          <a:p>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活动目标</a:t>
            </a:r>
            <a:endParaRPr lang="zh-CN" altLang="en-US" dirty="0"/>
          </a:p>
        </p:txBody>
      </p:sp>
      <p:sp>
        <p:nvSpPr>
          <p:cNvPr id="7" name="TextBox 9"/>
          <p:cNvSpPr txBox="1"/>
          <p:nvPr/>
        </p:nvSpPr>
        <p:spPr>
          <a:xfrm>
            <a:off x="4696460" y="2038985"/>
            <a:ext cx="2496820" cy="458908"/>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目标制定方法</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框 7"/>
          <p:cNvSpPr txBox="1"/>
          <p:nvPr/>
        </p:nvSpPr>
        <p:spPr>
          <a:xfrm>
            <a:off x="4696460" y="2239645"/>
            <a:ext cx="6136178" cy="2491740"/>
          </a:xfrm>
          <a:prstGeom prst="rect">
            <a:avLst/>
          </a:prstGeom>
          <a:noFill/>
        </p:spPr>
        <p:txBody>
          <a:bodyPr wrap="square">
            <a:spAutoFit/>
          </a:bodyPr>
          <a:lstStyle/>
          <a:p>
            <a:pPr marR="0" indent="0" defTabSz="914400" eaLnBrk="0" fontAlgn="auto" hangingPunct="0">
              <a:lnSpc>
                <a:spcPct val="150000"/>
              </a:lnSpc>
              <a:spcBef>
                <a:spcPts val="0"/>
              </a:spcBef>
              <a:spcAft>
                <a:spcPts val="0"/>
              </a:spcAft>
              <a:buClrTx/>
              <a:buSzTx/>
              <a:buFont typeface="Arial" panose="020B0604020202090204" pitchFamily="34" charset="0"/>
              <a:buNone/>
              <a:defRPr/>
            </a:pP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indent="0" defTabSz="914400" eaLnBrk="0" fontAlgn="auto" hangingPunct="0">
              <a:lnSpc>
                <a:spcPct val="150000"/>
              </a:lnSpc>
              <a:spcBef>
                <a:spcPts val="0"/>
              </a:spcBef>
              <a:spcAft>
                <a:spcPts val="0"/>
              </a:spcAft>
              <a:buClrTx/>
              <a:buSzTx/>
              <a:buFont typeface="Arial" panose="020B0604020202090204" pitchFamily="34" charset="0"/>
              <a:buNone/>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制定活动目标的四种方法：</a:t>
            </a:r>
            <a:endParaRPr kumimoji="0" lang="en-US" altLang="zh-CN"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285750" eaLnBrk="0" fontAlgn="auto" hangingPunct="0">
              <a:lnSpc>
                <a:spcPct val="150000"/>
              </a:lnSpc>
              <a:buFont typeface="Arial" panose="020B0604020202090204" pitchFamily="34" charset="0"/>
              <a:buChar char="•"/>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参考往期数据</a:t>
            </a:r>
            <a:endPar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285750" eaLnBrk="0" fontAlgn="auto" hangingPunct="0">
              <a:lnSpc>
                <a:spcPct val="150000"/>
              </a:lnSpc>
              <a:buFont typeface="Arial" panose="020B0604020202090204" pitchFamily="34" charset="0"/>
              <a:buChar char="•"/>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参考平均数据</a:t>
            </a:r>
            <a:endPar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285750" eaLnBrk="0" fontAlgn="auto" hangingPunct="0">
              <a:lnSpc>
                <a:spcPct val="150000"/>
              </a:lnSpc>
              <a:buFont typeface="Arial" panose="020B0604020202090204" pitchFamily="34" charset="0"/>
              <a:buChar char="•"/>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参考竞争对手</a:t>
            </a:r>
            <a:endPar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285750" eaLnBrk="0" fontAlgn="auto" hangingPunct="0">
              <a:lnSpc>
                <a:spcPct val="150000"/>
              </a:lnSpc>
              <a:buFont typeface="Arial" panose="020B0604020202090204" pitchFamily="34" charset="0"/>
              <a:buChar char="•"/>
              <a:defRPr/>
            </a:pPr>
            <a:r>
              <a:rPr kumimoji="0" lang="zh-CN" altLang="en-US"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参考活动</a:t>
            </a:r>
            <a:r>
              <a:rPr kumimoji="0" lang="en-US" altLang="zh-CN"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ROI</a:t>
            </a:r>
            <a:endParaRPr kumimoji="0" lang="en-US" altLang="zh-CN"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wipe(left)">
                                      <p:cBhvr>
                                        <p:cTn id="7" dur="10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wipe(left)">
                                      <p:cBhvr>
                                        <p:cTn id="12" dur="10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wipe(left)">
                                      <p:cBhvr>
                                        <p:cTn id="17" dur="10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wipe(left)">
                                      <p:cBhvr>
                                        <p:cTn id="22" dur="10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32400" y="2766060"/>
            <a:ext cx="3839845" cy="1325880"/>
          </a:xfrm>
        </p:spPr>
        <p:txBody>
          <a:bodyPr/>
          <a:lstStyle/>
          <a:p>
            <a:r>
              <a:rPr kumimoji="1" lang="zh-CN" altLang="en-US" sz="2800" dirty="0">
                <a:latin typeface="阿里巴巴普惠体" panose="00020600040101010101" pitchFamily="18" charset="-122"/>
              </a:rPr>
              <a:t>活动主题</a:t>
            </a:r>
            <a:endParaRPr kumimoji="1" lang="zh-CN" altLang="en-US" sz="2800" dirty="0">
              <a:latin typeface="阿里巴巴普惠体" panose="00020600040101010101" pitchFamily="18" charset="-122"/>
            </a:endParaRPr>
          </a:p>
        </p:txBody>
      </p:sp>
      <p:sp>
        <p:nvSpPr>
          <p:cNvPr id="3" name="文本占位符 2"/>
          <p:cNvSpPr>
            <a:spLocks noGrp="1"/>
          </p:cNvSpPr>
          <p:nvPr>
            <p:ph type="body" sz="quarter" idx="10"/>
          </p:nvPr>
        </p:nvSpPr>
        <p:spPr/>
        <p:txBody>
          <a:bodyPr/>
          <a:lstStyle/>
          <a:p>
            <a:r>
              <a:rPr kumimoji="1" lang="en-US" altLang="zh-CN" dirty="0"/>
              <a:t>05</a:t>
            </a:r>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4558481" y="1406637"/>
            <a:ext cx="5630484" cy="3196039"/>
          </a:xfrm>
        </p:spPr>
        <p:txBody>
          <a:bodyPr/>
          <a:lstStyle/>
          <a:p>
            <a:pPr marL="285750" indent="-285750" algn="l" eaLnBrk="0" hangingPunct="0">
              <a:lnSpc>
                <a:spcPct val="200000"/>
              </a:lnSpc>
              <a:buClr>
                <a:srgbClr val="262626"/>
              </a:buClr>
              <a:buFont typeface="Arial" panose="020B0604020202090204" pitchFamily="34" charset="0"/>
              <a:buChar char="•"/>
            </a:pPr>
            <a:r>
              <a:rPr lang="zh-CN" altLang="en-US" dirty="0">
                <a:solidFill>
                  <a:srgbClr val="262626"/>
                </a:solidFill>
                <a:latin typeface="阿里巴巴普惠体" panose="00020600040101010101" pitchFamily="18" charset="-122"/>
                <a:sym typeface="+mn-ea"/>
              </a:rPr>
              <a:t> 掌握活动主题设计方法</a:t>
            </a:r>
            <a:endParaRPr lang="zh-CN" altLang="en-US" dirty="0">
              <a:solidFill>
                <a:srgbClr val="262626"/>
              </a:solidFill>
              <a:latin typeface="阿里巴巴普惠体" panose="00020600040101010101" pitchFamily="18" charset="-122"/>
            </a:endParaRPr>
          </a:p>
          <a:p>
            <a:pPr marL="285750" indent="-285750" algn="l" eaLnBrk="0" hangingPunct="0">
              <a:lnSpc>
                <a:spcPct val="200000"/>
              </a:lnSpc>
              <a:buClr>
                <a:srgbClr val="262626"/>
              </a:buClr>
              <a:buNone/>
            </a:pP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图片 1"/>
          <p:cNvPicPr>
            <a:picLocks noChangeAspect="1"/>
          </p:cNvPicPr>
          <p:nvPr/>
        </p:nvPicPr>
        <p:blipFill>
          <a:blip r:embed="rId1"/>
          <a:stretch>
            <a:fillRect/>
          </a:stretch>
        </p:blipFill>
        <p:spPr>
          <a:xfrm>
            <a:off x="2416175" y="1630045"/>
            <a:ext cx="4116070" cy="3447415"/>
          </a:xfrm>
          <a:prstGeom prst="rect">
            <a:avLst/>
          </a:prstGeom>
          <a:noFill/>
          <a:ln w="9525">
            <a:noFill/>
          </a:ln>
        </p:spPr>
      </p:pic>
      <p:sp>
        <p:nvSpPr>
          <p:cNvPr id="5" name="文本框 4"/>
          <p:cNvSpPr txBox="1"/>
          <p:nvPr/>
        </p:nvSpPr>
        <p:spPr>
          <a:xfrm>
            <a:off x="6998970" y="2637155"/>
            <a:ext cx="4377690" cy="1198880"/>
          </a:xfrm>
          <a:prstGeom prst="rect">
            <a:avLst/>
          </a:prstGeom>
          <a:noFill/>
        </p:spPr>
        <p:txBody>
          <a:bodyPr wrap="square">
            <a:spAutoFit/>
          </a:bodyPr>
          <a:lstStyle/>
          <a:p>
            <a:pPr marR="0" defTabSz="914400" eaLnBrk="0" hangingPunct="0">
              <a:lnSpc>
                <a:spcPct val="150000"/>
              </a:lnSpc>
              <a:buClrTx/>
              <a:buSzTx/>
              <a:buFontTx/>
              <a:defRPr/>
            </a:pPr>
            <a:r>
              <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小李，这活动方案的主题是</a:t>
            </a:r>
            <a:r>
              <a:rPr kumimoji="0" lang="zh-CN" altLang="en-US" sz="1200" kern="1200" cap="none" spc="0" normalizeH="0" baseline="0"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“把爱带回家”</a:t>
            </a:r>
            <a:r>
              <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这个必须再优化一下，这个主题让用户看了之后会有点无厘头，用户可能会读不懂我们这场活动到底在干什么，赶紧跟小组的人讨论一下，做一下修改</a:t>
            </a:r>
            <a:r>
              <a:rPr kumimoji="0" lang="en-US" altLang="zh-CN"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场景再现</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图片 1"/>
          <p:cNvPicPr>
            <a:picLocks noChangeAspect="1"/>
          </p:cNvPicPr>
          <p:nvPr/>
        </p:nvPicPr>
        <p:blipFill>
          <a:blip r:embed="rId1"/>
          <a:stretch>
            <a:fillRect/>
          </a:stretch>
        </p:blipFill>
        <p:spPr>
          <a:xfrm>
            <a:off x="2416175" y="1630045"/>
            <a:ext cx="4116070" cy="3447415"/>
          </a:xfrm>
          <a:prstGeom prst="rect">
            <a:avLst/>
          </a:prstGeom>
          <a:noFill/>
          <a:ln w="9525">
            <a:noFill/>
          </a:ln>
        </p:spPr>
      </p:pic>
      <p:sp>
        <p:nvSpPr>
          <p:cNvPr id="5" name="文本框 4"/>
          <p:cNvSpPr txBox="1"/>
          <p:nvPr/>
        </p:nvSpPr>
        <p:spPr>
          <a:xfrm>
            <a:off x="6998970" y="2637155"/>
            <a:ext cx="4362450" cy="1198880"/>
          </a:xfrm>
          <a:prstGeom prst="rect">
            <a:avLst/>
          </a:prstGeom>
          <a:noFill/>
        </p:spPr>
        <p:txBody>
          <a:bodyPr wrap="square">
            <a:spAutoFit/>
          </a:bodyPr>
          <a:lstStyle/>
          <a:p>
            <a:pPr marR="0" defTabSz="914400" eaLnBrk="0" hangingPunct="0">
              <a:lnSpc>
                <a:spcPct val="150000"/>
              </a:lnSpc>
              <a:buClrTx/>
              <a:buSzTx/>
              <a:buFontTx/>
              <a:defRPr/>
            </a:pPr>
            <a:r>
              <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小李，这活动方案的主题是</a:t>
            </a:r>
            <a:r>
              <a:rPr kumimoji="0" lang="zh-CN" altLang="en-US" sz="1200" kern="1200" cap="none" spc="0" normalizeH="0" baseline="0"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“把爱带回家”</a:t>
            </a:r>
            <a:r>
              <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这个必须再优化一下，这个主题让用户看了之后会有点无厘头，用户可能会读不懂我们这场活动到底在干什么，赶紧跟小组的人讨论一下，做一下修改</a:t>
            </a:r>
            <a:r>
              <a:rPr kumimoji="0" lang="en-US" altLang="zh-CN"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文本框 1"/>
          <p:cNvSpPr txBox="1"/>
          <p:nvPr/>
        </p:nvSpPr>
        <p:spPr>
          <a:xfrm>
            <a:off x="3773170" y="829945"/>
            <a:ext cx="4645025" cy="922020"/>
          </a:xfrm>
          <a:prstGeom prst="rect">
            <a:avLst/>
          </a:prstGeom>
          <a:noFill/>
        </p:spPr>
        <p:txBody>
          <a:bodyPr wrap="square">
            <a:spAutoFit/>
          </a:bodyPr>
          <a:lstStyle/>
          <a:p>
            <a:pPr marR="0" defTabSz="914400" eaLnBrk="0" hangingPunct="0">
              <a:lnSpc>
                <a:spcPct val="150000"/>
              </a:lnSpc>
              <a:buClrTx/>
              <a:buSzTx/>
              <a:buFontTx/>
              <a:defRPr/>
            </a:pPr>
            <a:r>
              <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好的，应该把我们的服务和产品的亮点突出来，这句主题确实没有突出重点，用户会有点无厘头，</a:t>
            </a:r>
            <a:r>
              <a:rPr kumimoji="0" lang="zh-CN" altLang="en-US" sz="1200" kern="1200" cap="none" spc="0" normalizeH="0" baseline="0"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“春节最低</a:t>
            </a:r>
            <a:r>
              <a:rPr kumimoji="0" lang="en-US" altLang="zh-CN" sz="1200" kern="1200" cap="none" spc="0" normalizeH="0" baseline="0"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5</a:t>
            </a:r>
            <a:r>
              <a:rPr kumimoji="0" lang="zh-CN" altLang="en-US" sz="1200" kern="1200" cap="none" spc="0" normalizeH="0" baseline="0" noProof="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折优惠，把爱带回家”</a:t>
            </a:r>
            <a:r>
              <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把节日和折扣写进主题，这样会更吸引用户</a:t>
            </a:r>
            <a:r>
              <a:rPr kumimoji="0" lang="en-US" altLang="zh-CN"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kumimoji="0" lang="zh-CN" altLang="en-US" sz="12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场景再现</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355" y="1436370"/>
            <a:ext cx="6142355" cy="4050030"/>
          </a:xfrm>
        </p:spPr>
        <p:txBody>
          <a:bodyPr/>
          <a:lstStyle/>
          <a:p>
            <a:r>
              <a:rPr lang="zh-CN" altLang="en-US" dirty="0"/>
              <a:t>请问策划活动在推广时，一句简洁</a:t>
            </a:r>
            <a:r>
              <a:rPr lang="zh-CN" altLang="en-US" dirty="0"/>
              <a:t>有力的活动主题，到底有什么</a:t>
            </a:r>
            <a:r>
              <a:rPr lang="zh-CN" altLang="en-US" dirty="0"/>
              <a:t>作用？</a:t>
            </a:r>
            <a:endParaRPr lang="en-US" altLang="zh-CN"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思考</a:t>
            </a:r>
            <a:endParaRPr lang="zh-CN" altLang="en-US"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3490" name="TextBox 9"/>
          <p:cNvSpPr txBox="1"/>
          <p:nvPr/>
        </p:nvSpPr>
        <p:spPr>
          <a:xfrm>
            <a:off x="628650" y="973455"/>
            <a:ext cx="2084705"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活动主题作用</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文本框 5"/>
          <p:cNvSpPr txBox="1"/>
          <p:nvPr/>
        </p:nvSpPr>
        <p:spPr>
          <a:xfrm>
            <a:off x="970915" y="1666240"/>
            <a:ext cx="7892415" cy="1060450"/>
          </a:xfrm>
          <a:prstGeom prst="rect">
            <a:avLst/>
          </a:prstGeom>
          <a:noFill/>
        </p:spPr>
        <p:txBody>
          <a:bodyPr wrap="square">
            <a:spAutoFit/>
          </a:bodyPr>
          <a:lstStyle/>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r>
              <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第一层作用：一句话让用户知道活动是做什么的，概括整场活动；</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marR="0" indent="-285750" defTabSz="914400" eaLnBrk="0" fontAlgn="auto" hangingPunct="0">
              <a:lnSpc>
                <a:spcPct val="150000"/>
              </a:lnSpc>
              <a:spcBef>
                <a:spcPts val="0"/>
              </a:spcBef>
              <a:spcAft>
                <a:spcPts val="0"/>
              </a:spcAft>
              <a:buClrTx/>
              <a:buSzTx/>
              <a:buNone/>
              <a:defRPr/>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 name="文本框 2"/>
          <p:cNvSpPr txBox="1"/>
          <p:nvPr/>
        </p:nvSpPr>
        <p:spPr>
          <a:xfrm>
            <a:off x="874395" y="2110105"/>
            <a:ext cx="6553200" cy="737235"/>
          </a:xfrm>
          <a:prstGeom prst="rect">
            <a:avLst/>
          </a:prstGeom>
          <a:noFill/>
        </p:spPr>
        <p:txBody>
          <a:bodyPr wrap="square" anchor="t">
            <a:spAutoFit/>
          </a:bodyPr>
          <a:lstStyle/>
          <a:p>
            <a:pPr marR="0" defTabSz="914400" eaLnBrk="0" fontAlgn="auto" hangingPunct="0">
              <a:lnSpc>
                <a:spcPct val="150000"/>
              </a:lnSpc>
              <a:spcBef>
                <a:spcPts val="0"/>
              </a:spcBef>
              <a:spcAft>
                <a:spcPts val="0"/>
              </a:spcAft>
              <a:buClrTx/>
              <a:buSzTx/>
              <a:buFontTx/>
              <a:defRPr/>
            </a:pP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一句话，和你的</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2023</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告个别</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lang="zh-CN" altLang="en-US" sz="1400" dirty="0">
              <a:solidFill>
                <a:schemeClr val="tx1">
                  <a:lumMod val="65000"/>
                  <a:lumOff val="35000"/>
                </a:schemeClr>
              </a:solidFill>
              <a:latin typeface="+mn-lt"/>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3490" name="TextBox 9"/>
          <p:cNvSpPr txBox="1"/>
          <p:nvPr/>
        </p:nvSpPr>
        <p:spPr>
          <a:xfrm>
            <a:off x="628650" y="973455"/>
            <a:ext cx="2062480"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活动主题作用</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文本框 5"/>
          <p:cNvSpPr txBox="1"/>
          <p:nvPr/>
        </p:nvSpPr>
        <p:spPr>
          <a:xfrm>
            <a:off x="970915" y="1666240"/>
            <a:ext cx="7892415" cy="1060450"/>
          </a:xfrm>
          <a:prstGeom prst="rect">
            <a:avLst/>
          </a:prstGeom>
          <a:noFill/>
        </p:spPr>
        <p:txBody>
          <a:bodyPr wrap="square">
            <a:spAutoFit/>
          </a:bodyPr>
          <a:lstStyle/>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r>
              <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第一层作用：一句话让用户知道活动是做什么的，概括整场活动；</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marR="0" indent="-285750" defTabSz="914400" eaLnBrk="0" fontAlgn="auto" hangingPunct="0">
              <a:lnSpc>
                <a:spcPct val="150000"/>
              </a:lnSpc>
              <a:spcBef>
                <a:spcPts val="0"/>
              </a:spcBef>
              <a:spcAft>
                <a:spcPts val="0"/>
              </a:spcAft>
              <a:buClrTx/>
              <a:buSzTx/>
              <a:buNone/>
              <a:defRPr/>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 name="文本框 2"/>
          <p:cNvSpPr txBox="1"/>
          <p:nvPr/>
        </p:nvSpPr>
        <p:spPr>
          <a:xfrm>
            <a:off x="876300" y="2112010"/>
            <a:ext cx="6553200" cy="737235"/>
          </a:xfrm>
          <a:prstGeom prst="rect">
            <a:avLst/>
          </a:prstGeom>
          <a:noFill/>
        </p:spPr>
        <p:txBody>
          <a:bodyPr wrap="square" anchor="t">
            <a:spAutoFit/>
          </a:bodyPr>
          <a:lstStyle/>
          <a:p>
            <a:pPr marR="0" defTabSz="914400" eaLnBrk="0" fontAlgn="auto" hangingPunct="0">
              <a:lnSpc>
                <a:spcPct val="150000"/>
              </a:lnSpc>
              <a:spcBef>
                <a:spcPts val="0"/>
              </a:spcBef>
              <a:spcAft>
                <a:spcPts val="0"/>
              </a:spcAft>
              <a:buClrTx/>
              <a:buSzTx/>
              <a:buFontTx/>
              <a:defRPr/>
            </a:pP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一句话，和你的</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2023</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告个别</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lang="zh-CN" altLang="en-US" sz="1400" dirty="0">
              <a:solidFill>
                <a:schemeClr val="tx1">
                  <a:lumMod val="65000"/>
                  <a:lumOff val="35000"/>
                </a:schemeClr>
              </a:solidFill>
              <a:latin typeface="+mn-lt"/>
              <a:cs typeface="阿里巴巴普惠体" panose="00020600040101010101" pitchFamily="18" charset="-122"/>
            </a:endParaRPr>
          </a:p>
        </p:txBody>
      </p:sp>
      <p:sp>
        <p:nvSpPr>
          <p:cNvPr id="4" name="文本框 3"/>
          <p:cNvSpPr txBox="1"/>
          <p:nvPr/>
        </p:nvSpPr>
        <p:spPr>
          <a:xfrm>
            <a:off x="970915" y="2611120"/>
            <a:ext cx="8108315" cy="737235"/>
          </a:xfrm>
          <a:prstGeom prst="rect">
            <a:avLst/>
          </a:prstGeom>
          <a:noFill/>
        </p:spPr>
        <p:txBody>
          <a:bodyPr wrap="square" anchor="t">
            <a:spAutoFit/>
          </a:bodyPr>
          <a:lstStyle/>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第二层作用：吸引目标用户来参与活动，有非常强的</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人群属性</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，同时洞察目标用户真正的需求；</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marR="0" indent="-285750" defTabSz="914400" eaLnBrk="0" fontAlgn="auto" hangingPunct="0">
              <a:lnSpc>
                <a:spcPct val="150000"/>
              </a:lnSpc>
              <a:spcBef>
                <a:spcPts val="0"/>
              </a:spcBef>
              <a:spcAft>
                <a:spcPts val="0"/>
              </a:spcAft>
              <a:buClrTx/>
              <a:buSzTx/>
              <a:buNone/>
              <a:defRPr/>
            </a:pPr>
            <a:endParaRPr lang="zh-CN" altLang="en-US" sz="1400" dirty="0">
              <a:solidFill>
                <a:schemeClr val="tx1">
                  <a:lumMod val="65000"/>
                  <a:lumOff val="35000"/>
                </a:schemeClr>
              </a:solidFill>
              <a:latin typeface="+mn-lt"/>
              <a:cs typeface="阿里巴巴普惠体" panose="00020600040101010101" pitchFamily="18" charset="-122"/>
            </a:endParaRPr>
          </a:p>
        </p:txBody>
      </p:sp>
      <p:sp>
        <p:nvSpPr>
          <p:cNvPr id="5" name="文本框 4"/>
          <p:cNvSpPr txBox="1"/>
          <p:nvPr/>
        </p:nvSpPr>
        <p:spPr>
          <a:xfrm>
            <a:off x="876300" y="3049905"/>
            <a:ext cx="4382135" cy="377411"/>
          </a:xfrm>
          <a:prstGeom prst="rect">
            <a:avLst/>
          </a:prstGeom>
          <a:noFill/>
        </p:spPr>
        <p:txBody>
          <a:bodyPr wrap="square" anchor="t">
            <a:spAutoFit/>
          </a:bodyPr>
          <a:lstStyle/>
          <a:p>
            <a:pPr lvl="0" algn="l" eaLnBrk="0" hangingPunct="0">
              <a:lnSpc>
                <a:spcPct val="150000"/>
              </a:lnSpc>
              <a:spcBef>
                <a:spcPts val="0"/>
              </a:spcBef>
              <a:spcAft>
                <a:spcPts val="0"/>
              </a:spcAft>
              <a:buClrTx/>
              <a:buSzTx/>
              <a:buFontTx/>
              <a:defRPr/>
            </a:pP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“3·8女王节，</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你欠自己一份礼物</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3490" name="TextBox 9"/>
          <p:cNvSpPr txBox="1"/>
          <p:nvPr/>
        </p:nvSpPr>
        <p:spPr>
          <a:xfrm>
            <a:off x="628650" y="973455"/>
            <a:ext cx="2180590"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活动主题</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作用</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文本框 5"/>
          <p:cNvSpPr txBox="1"/>
          <p:nvPr/>
        </p:nvSpPr>
        <p:spPr>
          <a:xfrm>
            <a:off x="970915" y="1666240"/>
            <a:ext cx="7892415" cy="1060450"/>
          </a:xfrm>
          <a:prstGeom prst="rect">
            <a:avLst/>
          </a:prstGeom>
          <a:noFill/>
        </p:spPr>
        <p:txBody>
          <a:bodyPr wrap="square">
            <a:spAutoFit/>
          </a:bodyPr>
          <a:lstStyle/>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r>
              <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第一层作用：一句话让用户知道活动是做什么的，概括整场活动；</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 name="文本框 2"/>
          <p:cNvSpPr txBox="1"/>
          <p:nvPr/>
        </p:nvSpPr>
        <p:spPr>
          <a:xfrm>
            <a:off x="876300" y="2112010"/>
            <a:ext cx="6553200" cy="737235"/>
          </a:xfrm>
          <a:prstGeom prst="rect">
            <a:avLst/>
          </a:prstGeom>
          <a:noFill/>
        </p:spPr>
        <p:txBody>
          <a:bodyPr wrap="square" anchor="t">
            <a:spAutoFit/>
          </a:bodyPr>
          <a:lstStyle/>
          <a:p>
            <a:pPr marR="0" defTabSz="914400" eaLnBrk="0" fontAlgn="auto" hangingPunct="0">
              <a:lnSpc>
                <a:spcPct val="150000"/>
              </a:lnSpc>
              <a:spcBef>
                <a:spcPts val="0"/>
              </a:spcBef>
              <a:spcAft>
                <a:spcPts val="0"/>
              </a:spcAft>
              <a:buClrTx/>
              <a:buSzTx/>
              <a:buFontTx/>
              <a:defRPr/>
            </a:pP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一句话，和你的</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2023</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告个别</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lang="zh-CN" altLang="en-US" sz="1400" dirty="0">
              <a:solidFill>
                <a:schemeClr val="tx1">
                  <a:lumMod val="65000"/>
                  <a:lumOff val="35000"/>
                </a:schemeClr>
              </a:solidFill>
              <a:latin typeface="+mn-lt"/>
              <a:cs typeface="阿里巴巴普惠体" panose="00020600040101010101" pitchFamily="18" charset="-122"/>
            </a:endParaRPr>
          </a:p>
        </p:txBody>
      </p:sp>
      <p:sp>
        <p:nvSpPr>
          <p:cNvPr id="4" name="文本框 3"/>
          <p:cNvSpPr txBox="1"/>
          <p:nvPr/>
        </p:nvSpPr>
        <p:spPr>
          <a:xfrm>
            <a:off x="970915" y="2611120"/>
            <a:ext cx="8108315" cy="737235"/>
          </a:xfrm>
          <a:prstGeom prst="rect">
            <a:avLst/>
          </a:prstGeom>
          <a:noFill/>
        </p:spPr>
        <p:txBody>
          <a:bodyPr wrap="square" anchor="t">
            <a:spAutoFit/>
          </a:bodyPr>
          <a:lstStyle/>
          <a:p>
            <a:pPr marL="285750" marR="0" indent="-285750" defTabSz="914400" eaLnBrk="0" fontAlgn="auto" hangingPunct="0">
              <a:lnSpc>
                <a:spcPct val="150000"/>
              </a:lnSpc>
              <a:spcBef>
                <a:spcPts val="0"/>
              </a:spcBef>
              <a:spcAft>
                <a:spcPts val="0"/>
              </a:spcAft>
              <a:buClrTx/>
              <a:buSzTx/>
              <a:buFont typeface="Arial" panose="020B0604020202090204" pitchFamily="34" charset="0"/>
              <a:buChar char="•"/>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第二层作用：吸引目标用户来参与活动，有非常强的</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人群属性</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，同时洞察目标用户真正的需求；</a:t>
            </a:r>
            <a:endParaRPr kumimoji="0" lang="zh-CN" altLang="en-US" sz="14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lang="zh-CN" altLang="en-US" sz="1400" dirty="0">
              <a:solidFill>
                <a:schemeClr val="tx1">
                  <a:lumMod val="65000"/>
                  <a:lumOff val="35000"/>
                </a:schemeClr>
              </a:solidFill>
              <a:latin typeface="+mn-lt"/>
              <a:cs typeface="阿里巴巴普惠体" panose="00020600040101010101" pitchFamily="18" charset="-122"/>
            </a:endParaRPr>
          </a:p>
        </p:txBody>
      </p:sp>
      <p:sp>
        <p:nvSpPr>
          <p:cNvPr id="5" name="文本框 4"/>
          <p:cNvSpPr txBox="1"/>
          <p:nvPr/>
        </p:nvSpPr>
        <p:spPr>
          <a:xfrm>
            <a:off x="876300" y="3050540"/>
            <a:ext cx="4382135" cy="377411"/>
          </a:xfrm>
          <a:prstGeom prst="rect">
            <a:avLst/>
          </a:prstGeom>
          <a:noFill/>
        </p:spPr>
        <p:txBody>
          <a:bodyPr wrap="square" anchor="t">
            <a:spAutoFit/>
          </a:bodyPr>
          <a:lstStyle/>
          <a:p>
            <a:pPr lvl="0" algn="l" eaLnBrk="0" hangingPunct="0">
              <a:lnSpc>
                <a:spcPct val="150000"/>
              </a:lnSpc>
              <a:spcBef>
                <a:spcPts val="0"/>
              </a:spcBef>
              <a:spcAft>
                <a:spcPts val="0"/>
              </a:spcAft>
              <a:buClrTx/>
              <a:buSzTx/>
              <a:buFontTx/>
              <a:defRPr/>
            </a:pP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“3·8女王节，</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你欠自己一份礼物</a:t>
            </a:r>
            <a:r>
              <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en-US" altLang="zh-CN"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7" name="文本框 6"/>
          <p:cNvSpPr txBox="1"/>
          <p:nvPr/>
        </p:nvSpPr>
        <p:spPr>
          <a:xfrm>
            <a:off x="1018540" y="4225290"/>
            <a:ext cx="8442325" cy="381066"/>
          </a:xfrm>
          <a:prstGeom prst="rect">
            <a:avLst/>
          </a:prstGeom>
          <a:solidFill>
            <a:schemeClr val="accent5"/>
          </a:solidFill>
          <a:ln>
            <a:solidFill>
              <a:schemeClr val="accent5">
                <a:lumMod val="40000"/>
                <a:lumOff val="60000"/>
              </a:schemeClr>
            </a:solidFill>
          </a:ln>
        </p:spPr>
        <p:txBody>
          <a:bodyPr wrap="square" anchor="b" anchorCtr="0">
            <a:spAutoFit/>
          </a:bodyPr>
          <a:lstStyle/>
          <a:p>
            <a:pPr marR="0" defTabSz="914400" eaLnBrk="0" fontAlgn="auto" hangingPunct="0">
              <a:lnSpc>
                <a:spcPct val="150000"/>
              </a:lnSpc>
              <a:spcBef>
                <a:spcPts val="0"/>
              </a:spcBef>
              <a:spcAft>
                <a:spcPts val="0"/>
              </a:spcAft>
              <a:buClrTx/>
              <a:buSzTx/>
              <a:buFontTx/>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活动主题一般不宜过长，要</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对象明确、易于理解、富有趣味</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和产生共鸣、且具备一定的</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独特性；</a:t>
            </a:r>
            <a:endPar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10" name="文本框 9"/>
          <p:cNvSpPr txBox="1"/>
          <p:nvPr/>
        </p:nvSpPr>
        <p:spPr>
          <a:xfrm>
            <a:off x="876300" y="3734083"/>
            <a:ext cx="6093228" cy="307777"/>
          </a:xfrm>
          <a:prstGeom prst="rect">
            <a:avLst/>
          </a:prstGeom>
          <a:noFill/>
        </p:spPr>
        <p:txBody>
          <a:bodyPr wrap="square">
            <a:spAutoFit/>
          </a:bodyPr>
          <a:lstStyle/>
          <a:p>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【天猫双11，全场1折起】 【京东618，满1000送200】 </a:t>
            </a:r>
            <a:endParaRPr lang="zh-CN" altLang="en-US" sz="1400" dirty="0">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5538" name="TextBox 9"/>
          <p:cNvSpPr txBox="1"/>
          <p:nvPr/>
        </p:nvSpPr>
        <p:spPr>
          <a:xfrm>
            <a:off x="628650" y="964565"/>
            <a:ext cx="2105025"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方向</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5539" name="文本框 1"/>
          <p:cNvSpPr txBox="1"/>
          <p:nvPr/>
        </p:nvSpPr>
        <p:spPr>
          <a:xfrm>
            <a:off x="774065" y="1604645"/>
            <a:ext cx="3813810" cy="306705"/>
          </a:xfrm>
          <a:prstGeom prst="rect">
            <a:avLst/>
          </a:prstGeom>
          <a:noFill/>
          <a:ln w="9525">
            <a:noFill/>
          </a:ln>
        </p:spPr>
        <p:txBody>
          <a:bodyPr wrap="square" anchor="t">
            <a:spAutoFit/>
          </a:bodyPr>
          <a:lstStyle/>
          <a:p>
            <a:pPr eaLnBrk="0" hangingPunct="0">
              <a:buFont typeface="阿里巴巴普惠体" panose="00020600040101010101" pitchFamily="18" charset="-122"/>
            </a:pP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）活动主题的撰写方法之【人群</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行业】</a:t>
            </a:r>
            <a:endPar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774065" y="1911350"/>
            <a:ext cx="4235450" cy="1444691"/>
          </a:xfrm>
          <a:prstGeom prst="rect">
            <a:avLst/>
          </a:prstGeom>
          <a:noFill/>
        </p:spPr>
        <p:txBody>
          <a:bodyPr wrap="square">
            <a:spAutoFit/>
          </a:bodyPr>
          <a:lstStyle/>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产品目标人群是谁?或者说这场活动用户对象是谁？</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分别从用户年龄、性别、职业、城市、收入、家庭情况</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兴趣爱好、学历等维度来做人群信息细分</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例如：孕妇人群、敏感体质人群</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8" name="图片 1" descr="截屏2020-04-2121.13.3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71135" y="1670685"/>
            <a:ext cx="5608320" cy="281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5538" name="TextBox 9"/>
          <p:cNvSpPr txBox="1"/>
          <p:nvPr/>
        </p:nvSpPr>
        <p:spPr>
          <a:xfrm>
            <a:off x="628650" y="964565"/>
            <a:ext cx="2138045"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方向</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5539" name="文本框 1"/>
          <p:cNvSpPr txBox="1"/>
          <p:nvPr/>
        </p:nvSpPr>
        <p:spPr>
          <a:xfrm>
            <a:off x="774065" y="1604645"/>
            <a:ext cx="3813810" cy="306705"/>
          </a:xfrm>
          <a:prstGeom prst="rect">
            <a:avLst/>
          </a:prstGeom>
          <a:noFill/>
          <a:ln w="9525">
            <a:noFill/>
          </a:ln>
        </p:spPr>
        <p:txBody>
          <a:bodyPr wrap="square" anchor="t">
            <a:spAutoFit/>
          </a:bodyPr>
          <a:lstStyle/>
          <a:p>
            <a:pPr eaLnBrk="0" hangingPunct="0">
              <a:buFont typeface="阿里巴巴普惠体" panose="00020600040101010101" pitchFamily="18" charset="-122"/>
            </a:pP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活动主题的撰写方法之【痛点</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共鸣】</a:t>
            </a:r>
            <a:endPar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774065" y="1911350"/>
            <a:ext cx="4235450" cy="1476375"/>
          </a:xfrm>
          <a:prstGeom prst="rect">
            <a:avLst/>
          </a:prstGeom>
          <a:noFill/>
        </p:spPr>
        <p:txBody>
          <a:bodyPr wrap="square">
            <a:spAutoFit/>
          </a:bodyPr>
          <a:lstStyle/>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深刻洞察了用户的痛点才能真正想出解决他们问题的方案</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有共鸣的话题才能够让用户有所行动（阅读、购买、传播、收藏）</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eaLnBrk="0" fontAlgn="auto" hangingPunct="0">
              <a:lnSpc>
                <a:spcPct val="150000"/>
              </a:lnSpc>
              <a:spcBef>
                <a:spcPts val="0"/>
              </a:spcBef>
              <a:spcAft>
                <a:spcPts val="0"/>
              </a:spcAft>
              <a:defRPr/>
            </a:pPr>
            <a:r>
              <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例如：年龄越大，越需要补水。</a:t>
            </a:r>
            <a:endParaRPr lang="zh-CN" altLang="en-US" sz="120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9" name="图片 3" descr="6a05fcb0ly1gcr1e7j9eaj20u01hcnn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88305" y="1471295"/>
            <a:ext cx="2498725" cy="4446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4" descr="6a05fcb0ly1gcr1e6sou0j20u01hc1k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0225" y="1471295"/>
            <a:ext cx="2498725" cy="4446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5538" name="TextBox 9"/>
          <p:cNvSpPr txBox="1"/>
          <p:nvPr/>
        </p:nvSpPr>
        <p:spPr>
          <a:xfrm>
            <a:off x="628650" y="964565"/>
            <a:ext cx="2363470"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方向</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5539" name="文本框 1"/>
          <p:cNvSpPr txBox="1"/>
          <p:nvPr/>
        </p:nvSpPr>
        <p:spPr>
          <a:xfrm>
            <a:off x="774065" y="1604645"/>
            <a:ext cx="4235450" cy="306705"/>
          </a:xfrm>
          <a:prstGeom prst="rect">
            <a:avLst/>
          </a:prstGeom>
          <a:noFill/>
          <a:ln w="9525">
            <a:noFill/>
          </a:ln>
        </p:spPr>
        <p:txBody>
          <a:bodyPr wrap="square" anchor="t">
            <a:spAutoFit/>
          </a:bodyPr>
          <a:lstStyle/>
          <a:p>
            <a:pPr eaLnBrk="0" hangingPunct="0">
              <a:buFont typeface="阿里巴巴普惠体" panose="00020600040101010101" pitchFamily="18" charset="-122"/>
            </a:pP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3</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活动主题的撰写方法之【</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特点</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卖点提炼法</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774065" y="1911350"/>
            <a:ext cx="4235450" cy="1198880"/>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通过对产品的功能、属性、卖点进行详细了解后，将产品特点提炼到活动主题中去；</a:t>
            </a: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3" name="图片 2"/>
          <p:cNvPicPr>
            <a:picLocks noChangeAspect="1"/>
          </p:cNvPicPr>
          <p:nvPr/>
        </p:nvPicPr>
        <p:blipFill>
          <a:blip r:embed="rId1"/>
          <a:stretch>
            <a:fillRect/>
          </a:stretch>
        </p:blipFill>
        <p:spPr>
          <a:xfrm>
            <a:off x="5775441" y="1604645"/>
            <a:ext cx="5064356" cy="2687098"/>
          </a:xfrm>
          <a:prstGeom prst="rect">
            <a:avLst/>
          </a:prstGeom>
        </p:spPr>
      </p:pic>
      <p:pic>
        <p:nvPicPr>
          <p:cNvPr id="5" name="图片 4"/>
          <p:cNvPicPr>
            <a:picLocks noChangeAspect="1"/>
          </p:cNvPicPr>
          <p:nvPr/>
        </p:nvPicPr>
        <p:blipFill>
          <a:blip r:embed="rId2"/>
          <a:stretch>
            <a:fillRect/>
          </a:stretch>
        </p:blipFill>
        <p:spPr>
          <a:xfrm>
            <a:off x="5765224" y="4451581"/>
            <a:ext cx="5074573" cy="195115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5538" name="TextBox 9"/>
          <p:cNvSpPr txBox="1"/>
          <p:nvPr/>
        </p:nvSpPr>
        <p:spPr>
          <a:xfrm>
            <a:off x="628650" y="964565"/>
            <a:ext cx="2288540"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方向</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5539" name="文本框 1"/>
          <p:cNvSpPr txBox="1"/>
          <p:nvPr/>
        </p:nvSpPr>
        <p:spPr>
          <a:xfrm>
            <a:off x="774065" y="1604645"/>
            <a:ext cx="4027805" cy="306705"/>
          </a:xfrm>
          <a:prstGeom prst="rect">
            <a:avLst/>
          </a:prstGeom>
          <a:noFill/>
          <a:ln w="9525">
            <a:noFill/>
          </a:ln>
        </p:spPr>
        <p:txBody>
          <a:bodyPr wrap="square" anchor="t">
            <a:spAutoFit/>
          </a:bodyPr>
          <a:lstStyle/>
          <a:p>
            <a:pPr eaLnBrk="0" hangingPunct="0">
              <a:buFont typeface="阿里巴巴普惠体" panose="00020600040101010101" pitchFamily="18" charset="-122"/>
            </a:pP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4</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活动主题的撰写方法之【</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品牌词提取法</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774065" y="1911350"/>
            <a:ext cx="4235450" cy="1198880"/>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提取品牌全称或里面的某一个字，体现在活动主题中；</a:t>
            </a: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r>
              <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一般可以用在公关活动上，有一定的品牌传播诉求，可以为品牌提供了一定的曝光度，也可加深受众对品牌的印象。</a:t>
            </a: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3" name="图片 2"/>
          <p:cNvPicPr>
            <a:picLocks noChangeAspect="1"/>
          </p:cNvPicPr>
          <p:nvPr/>
        </p:nvPicPr>
        <p:blipFill>
          <a:blip r:embed="rId1"/>
          <a:stretch>
            <a:fillRect/>
          </a:stretch>
        </p:blipFill>
        <p:spPr>
          <a:xfrm>
            <a:off x="6096000" y="1462405"/>
            <a:ext cx="4448175" cy="2501900"/>
          </a:xfrm>
          <a:prstGeom prst="rect">
            <a:avLst/>
          </a:prstGeom>
        </p:spPr>
      </p:pic>
      <p:pic>
        <p:nvPicPr>
          <p:cNvPr id="8" name="图片 7"/>
          <p:cNvPicPr>
            <a:picLocks noChangeAspect="1"/>
          </p:cNvPicPr>
          <p:nvPr/>
        </p:nvPicPr>
        <p:blipFill>
          <a:blip r:embed="rId2"/>
          <a:stretch>
            <a:fillRect/>
          </a:stretch>
        </p:blipFill>
        <p:spPr>
          <a:xfrm>
            <a:off x="6085205" y="4090035"/>
            <a:ext cx="4460240" cy="24968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300" y="234029"/>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65538" name="TextBox 9"/>
          <p:cNvSpPr txBox="1"/>
          <p:nvPr/>
        </p:nvSpPr>
        <p:spPr>
          <a:xfrm>
            <a:off x="628650" y="964565"/>
            <a:ext cx="2122170" cy="506730"/>
          </a:xfrm>
          <a:prstGeom prst="rect">
            <a:avLst/>
          </a:prstGeom>
          <a:noFill/>
          <a:ln w="9525">
            <a:noFill/>
          </a:ln>
        </p:spPr>
        <p:txBody>
          <a:bodyPr wrap="square"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 </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方向</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5539" name="文本框 1"/>
          <p:cNvSpPr txBox="1"/>
          <p:nvPr/>
        </p:nvSpPr>
        <p:spPr>
          <a:xfrm>
            <a:off x="774065" y="1604645"/>
            <a:ext cx="3736340" cy="306705"/>
          </a:xfrm>
          <a:prstGeom prst="rect">
            <a:avLst/>
          </a:prstGeom>
          <a:noFill/>
          <a:ln w="9525">
            <a:noFill/>
          </a:ln>
        </p:spPr>
        <p:txBody>
          <a:bodyPr wrap="square" anchor="t">
            <a:spAutoFit/>
          </a:bodyPr>
          <a:lstStyle/>
          <a:p>
            <a:pPr eaLnBrk="0" hangingPunct="0">
              <a:buFont typeface="阿里巴巴普惠体" panose="00020600040101010101" pitchFamily="18" charset="-122"/>
            </a:pP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5</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活动主题的撰写方向之【</a:t>
            </a:r>
            <a:r>
              <a:rPr lang="zh-CN"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谐音替换法</a:t>
            </a:r>
            <a:r>
              <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4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文本框 2"/>
          <p:cNvSpPr txBox="1"/>
          <p:nvPr/>
        </p:nvSpPr>
        <p:spPr>
          <a:xfrm>
            <a:off x="774065" y="1911350"/>
            <a:ext cx="4874260" cy="1753235"/>
          </a:xfrm>
          <a:prstGeom prst="rect">
            <a:avLst/>
          </a:prstGeom>
          <a:noFill/>
        </p:spPr>
        <p:txBody>
          <a:bodyPr wrap="square">
            <a:spAutoFit/>
          </a:bodyPr>
          <a:lstStyle/>
          <a:p>
            <a:pPr marR="0" defTabSz="914400" eaLnBrk="0" fontAlgn="auto" hangingPunct="0">
              <a:lnSpc>
                <a:spcPct val="150000"/>
              </a:lnSpc>
              <a:spcBef>
                <a:spcPts val="0"/>
              </a:spcBef>
              <a:spcAft>
                <a:spcPts val="0"/>
              </a:spcAft>
              <a:buClrTx/>
              <a:buSzTx/>
              <a:buFontTx/>
              <a:defRPr/>
            </a:pPr>
            <a:r>
              <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通过提取产品卖点、活动调性关键词或品牌词之后，用同音字或近音字来代替原来的词，让活动主题富有网感，为新品或品牌提供传播便利条件。</a:t>
            </a: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R="0" defTabSz="914400" eaLnBrk="0" fontAlgn="auto" hangingPunct="0">
              <a:lnSpc>
                <a:spcPct val="150000"/>
              </a:lnSpc>
              <a:spcBef>
                <a:spcPts val="0"/>
              </a:spcBef>
              <a:spcAft>
                <a:spcPts val="0"/>
              </a:spcAft>
              <a:buClrTx/>
              <a:buSzTx/>
              <a:buFontTx/>
              <a:defRPr/>
            </a:pPr>
            <a:r>
              <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谐音是广告文案中最为常见的一种玩法，在活动主题中也比较常见。用谐音法来构思主题可以达到一语双关的效果。</a:t>
            </a:r>
            <a:endParaRPr kumimoji="0" lang="zh-CN" altLang="en-US" sz="1200" kern="1200" cap="none" spc="0" normalizeH="0" baseline="0" noProof="1">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5" name="图片 4"/>
          <p:cNvPicPr>
            <a:picLocks noChangeAspect="1"/>
          </p:cNvPicPr>
          <p:nvPr/>
        </p:nvPicPr>
        <p:blipFill>
          <a:blip r:embed="rId1"/>
          <a:stretch>
            <a:fillRect/>
          </a:stretch>
        </p:blipFill>
        <p:spPr>
          <a:xfrm>
            <a:off x="5896494" y="1604645"/>
            <a:ext cx="2558415" cy="4545330"/>
          </a:xfrm>
          <a:prstGeom prst="rect">
            <a:avLst/>
          </a:prstGeom>
          <a:ln>
            <a:solidFill>
              <a:schemeClr val="accent2"/>
            </a:solidFill>
          </a:ln>
        </p:spPr>
      </p:pic>
      <p:pic>
        <p:nvPicPr>
          <p:cNvPr id="7" name="图片 6"/>
          <p:cNvPicPr>
            <a:picLocks noChangeAspect="1"/>
          </p:cNvPicPr>
          <p:nvPr/>
        </p:nvPicPr>
        <p:blipFill rotWithShape="1">
          <a:blip r:embed="rId2"/>
          <a:srcRect l="14911" r="13435"/>
          <a:stretch>
            <a:fillRect/>
          </a:stretch>
        </p:blipFill>
        <p:spPr>
          <a:xfrm>
            <a:off x="8608640" y="3664797"/>
            <a:ext cx="3194229" cy="2507403"/>
          </a:xfrm>
          <a:prstGeom prst="rect">
            <a:avLst/>
          </a:prstGeom>
          <a:ln>
            <a:solidFill>
              <a:schemeClr val="accent5">
                <a:lumMod val="75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t>思考</a:t>
            </a:r>
            <a:endParaRPr lang="zh-CN" altLang="en-US"/>
          </a:p>
        </p:txBody>
      </p:sp>
      <p:pic>
        <p:nvPicPr>
          <p:cNvPr id="7" name="图片 6"/>
          <p:cNvPicPr>
            <a:picLocks noChangeAspect="1"/>
          </p:cNvPicPr>
          <p:nvPr/>
        </p:nvPicPr>
        <p:blipFill>
          <a:blip r:embed="rId1"/>
          <a:stretch>
            <a:fillRect/>
          </a:stretch>
        </p:blipFill>
        <p:spPr>
          <a:xfrm>
            <a:off x="4708525" y="2332355"/>
            <a:ext cx="5624195" cy="2447925"/>
          </a:xfrm>
          <a:prstGeom prst="rect">
            <a:avLst/>
          </a:prstGeom>
          <a:ln>
            <a:solidFill>
              <a:schemeClr val="bg1">
                <a:lumMod val="85000"/>
              </a:schemeClr>
            </a:solid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38160" y="242284"/>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活动主题</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3" name="文本框 2"/>
          <p:cNvSpPr txBox="1"/>
          <p:nvPr/>
        </p:nvSpPr>
        <p:spPr>
          <a:xfrm>
            <a:off x="4729193" y="2468576"/>
            <a:ext cx="6774549" cy="2799715"/>
          </a:xfrm>
          <a:prstGeom prst="rect">
            <a:avLst/>
          </a:prstGeom>
          <a:noFill/>
        </p:spPr>
        <p:txBody>
          <a:bodyPr wrap="square">
            <a:spAutoFit/>
          </a:bodyPr>
          <a:lstStyle/>
          <a:p>
            <a:pPr marL="285750" marR="0" indent="-285750" defTabSz="914400" eaLnBrk="0" fontAlgn="auto" hangingPunct="0">
              <a:spcBef>
                <a:spcPts val="0"/>
              </a:spcBef>
              <a:spcAft>
                <a:spcPts val="0"/>
              </a:spcAft>
              <a:buClrTx/>
              <a:buSzTx/>
              <a:buFont typeface="Arial" panose="020B0604020202090204" pitchFamily="34" charset="0"/>
              <a:buChar char="•"/>
              <a:defRPr/>
            </a:pP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eaLnBrk="0" hangingPunct="0">
              <a:lnSpc>
                <a:spcPct val="150000"/>
              </a:lnSpc>
              <a:buFont typeface="Arial" panose="020B0604020202090204" pitchFamily="34" charset="0"/>
              <a:buChar char="•"/>
              <a:defRPr/>
            </a:pP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活动主题撰写的五个方向： 【</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人群</a:t>
            </a:r>
            <a:r>
              <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行业</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痛点</a:t>
            </a:r>
            <a:r>
              <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共鸣</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endPar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indent="0" eaLnBrk="0" hangingPunct="0">
              <a:lnSpc>
                <a:spcPct val="150000"/>
              </a:lnSpc>
              <a:buFont typeface="Arial" panose="020B0604020202090204" pitchFamily="34" charset="0"/>
              <a:buNone/>
              <a:defRPr/>
            </a:pP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产品特点</a:t>
            </a:r>
            <a:r>
              <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卖点提炼法</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品牌词提取法</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谐音替换法</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indent="0" eaLnBrk="0" hangingPunct="0">
              <a:lnSpc>
                <a:spcPct val="150000"/>
              </a:lnSpc>
              <a:buFont typeface="Arial" panose="020B0604020202090204" pitchFamily="34" charset="0"/>
              <a:buNone/>
              <a:defRPr/>
            </a:pP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indent="0" eaLnBrk="0" hangingPunct="0">
              <a:lnSpc>
                <a:spcPct val="150000"/>
              </a:lnSpc>
              <a:buFont typeface="Arial" panose="020B0604020202090204" pitchFamily="34" charset="0"/>
              <a:buNone/>
              <a:defRPr/>
            </a:pP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活动主题一般不宜过长，要</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对象明确、易于理解、富有趣味</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和产生共鸣、且具备一定的</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独特性。</a:t>
            </a:r>
            <a:endPar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indent="-285750" eaLnBrk="0" hangingPunct="0">
              <a:lnSpc>
                <a:spcPct val="150000"/>
              </a:lnSpc>
              <a:buFont typeface="Arial" panose="020B0604020202090204" pitchFamily="34" charset="0"/>
              <a:buChar char="•"/>
              <a:defRPr/>
            </a:pP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t>练习</a:t>
            </a:r>
          </a:p>
        </p:txBody>
      </p:sp>
      <p:sp>
        <p:nvSpPr>
          <p:cNvPr id="2" name="文本占位符 4"/>
          <p:cNvSpPr>
            <a:spLocks noGrp="1"/>
          </p:cNvSpPr>
          <p:nvPr/>
        </p:nvSpPr>
        <p:spPr>
          <a:xfrm>
            <a:off x="2129155" y="2024380"/>
            <a:ext cx="9361805" cy="386461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90204" pitchFamily="34" charset="0"/>
              <a:buNone/>
              <a:defRPr sz="1600" kern="1200">
                <a:solidFill>
                  <a:schemeClr val="tx1">
                    <a:lumMod val="85000"/>
                    <a:lumOff val="15000"/>
                  </a:schemeClr>
                </a:solidFill>
                <a:latin typeface="阿里巴巴普惠体" panose="00020600040101010101" pitchFamily="18" charset="-122"/>
                <a:ea typeface="阿里巴巴普惠体 B"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r>
              <a:rPr lang="zh-CN" altLang="en-US" sz="1800" b="1" dirty="0">
                <a:ea typeface="阿里巴巴普惠体" panose="00020600040101010101" pitchFamily="18" charset="-122"/>
              </a:rPr>
              <a:t>——要求：</a:t>
            </a:r>
            <a:endParaRPr lang="zh-CN" altLang="en-US" sz="1800" b="1" dirty="0">
              <a:ea typeface="阿里巴巴普惠体" panose="00020600040101010101" pitchFamily="18" charset="-122"/>
            </a:endParaRPr>
          </a:p>
          <a:p>
            <a:r>
              <a:rPr lang="zh-CN" altLang="en-US" sz="1800" dirty="0">
                <a:ea typeface="阿里巴巴普惠体" panose="00020600040101010101" pitchFamily="18" charset="-122"/>
              </a:rPr>
              <a:t>根据个人确定的社群，撰写裂变活动的主题。</a:t>
            </a:r>
            <a:endParaRPr lang="zh-CN" altLang="en-US" sz="1800" dirty="0">
              <a:ea typeface="阿里巴巴普惠体" panose="00020600040101010101" pitchFamily="18" charset="-122"/>
            </a:endParaRPr>
          </a:p>
          <a:p>
            <a:r>
              <a:rPr lang="zh-CN" altLang="en-US" sz="1800" dirty="0">
                <a:ea typeface="阿里巴巴普惠体" panose="00020600040101010101" pitchFamily="18" charset="-122"/>
              </a:rPr>
              <a:t>注：群名可作为主题</a:t>
            </a:r>
            <a:endParaRPr lang="zh-CN" altLang="en-US" sz="1800" dirty="0">
              <a:ea typeface="阿里巴巴普惠体" panose="00020600040101010101" pitchFamily="18" charset="-122"/>
            </a:endParaRPr>
          </a:p>
          <a:p>
            <a:endParaRPr lang="zh-CN" altLang="en-US" sz="1800" dirty="0">
              <a:ea typeface="阿里巴巴普惠体" panose="00020600040101010101" pitchFamily="18" charset="-122"/>
            </a:endParaRPr>
          </a:p>
          <a:p>
            <a:r>
              <a:rPr lang="zh-CN" altLang="en-US" sz="1800" dirty="0">
                <a:ea typeface="阿里巴巴普惠体" panose="00020600040101010101" pitchFamily="18" charset="-122"/>
              </a:rPr>
              <a:t>时间：</a:t>
            </a:r>
            <a:r>
              <a:rPr lang="en-US" altLang="zh-CN" sz="1800" dirty="0">
                <a:ea typeface="阿里巴巴普惠体" panose="00020600040101010101" pitchFamily="18" charset="-122"/>
              </a:rPr>
              <a:t>10</a:t>
            </a:r>
            <a:r>
              <a:rPr lang="zh-CN" altLang="en-US" sz="1800" dirty="0">
                <a:ea typeface="阿里巴巴普惠体" panose="00020600040101010101" pitchFamily="18" charset="-122"/>
              </a:rPr>
              <a:t>分钟</a:t>
            </a:r>
            <a:endParaRPr lang="zh-CN" altLang="en-US" sz="1800" dirty="0">
              <a:ea typeface="阿里巴巴普惠体" panose="00020600040101010101" pitchFamily="18" charset="-122"/>
            </a:endParaRPr>
          </a:p>
          <a:p>
            <a:r>
              <a:rPr lang="zh-CN" altLang="en-US" sz="1800" dirty="0">
                <a:solidFill>
                  <a:schemeClr val="tx1"/>
                </a:solidFill>
                <a:ea typeface="阿里巴巴普惠体" panose="00020600040101010101" pitchFamily="18" charset="-122"/>
                <a:sym typeface="+mn-ea"/>
              </a:rPr>
              <a:t>提交方式：提交到在线表格中</a:t>
            </a:r>
            <a:endParaRPr lang="zh-CN" altLang="en-US" sz="1800" dirty="0">
              <a:solidFill>
                <a:schemeClr val="tx1"/>
              </a:solidFill>
              <a:ea typeface="阿里巴巴普惠体" panose="00020600040101010101" pitchFamily="18" charset="-122"/>
              <a:sym typeface="+mn-ea"/>
            </a:endParaRPr>
          </a:p>
          <a:p>
            <a:endParaRPr lang="en-US" altLang="zh-CN" sz="1800" dirty="0">
              <a:solidFill>
                <a:schemeClr val="tx1"/>
              </a:solidFill>
              <a:ea typeface="阿里巴巴普惠体" panose="00020600040101010101" pitchFamily="18"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sz="2800" dirty="0">
                <a:latin typeface="阿里巴巴普惠体" panose="00020600040101010101" pitchFamily="18" charset="-122"/>
              </a:rPr>
              <a:t>活动规则</a:t>
            </a:r>
            <a:endParaRPr kumimoji="1" lang="zh-CN" altLang="en-US" sz="2800" dirty="0">
              <a:latin typeface="阿里巴巴普惠体" panose="00020600040101010101" pitchFamily="18" charset="-122"/>
            </a:endParaRPr>
          </a:p>
        </p:txBody>
      </p:sp>
      <p:sp>
        <p:nvSpPr>
          <p:cNvPr id="3" name="文本占位符 2"/>
          <p:cNvSpPr>
            <a:spLocks noGrp="1"/>
          </p:cNvSpPr>
          <p:nvPr>
            <p:ph type="body" idx="10"/>
          </p:nvPr>
        </p:nvSpPr>
        <p:spPr/>
        <p:txBody>
          <a:bodyPr/>
          <a:lstStyle/>
          <a:p>
            <a:pPr marL="342900" indent="-342900">
              <a:buAutoNum type="arabicPeriod"/>
            </a:pPr>
            <a:r>
              <a:rPr kumimoji="1" lang="zh-CN" altLang="en-US" b="1" dirty="0">
                <a:solidFill>
                  <a:srgbClr val="0067E1"/>
                </a:solidFill>
              </a:rPr>
              <a:t>用户参与流程图</a:t>
            </a:r>
            <a:endParaRPr kumimoji="1" lang="zh-CN" altLang="en-US" b="1" dirty="0">
              <a:solidFill>
                <a:srgbClr val="0067E1"/>
              </a:solidFill>
            </a:endParaRPr>
          </a:p>
          <a:p>
            <a:pPr marL="342900" indent="-342900">
              <a:buAutoNum type="arabicPeriod"/>
            </a:pPr>
            <a:r>
              <a:rPr kumimoji="1" lang="zh-CN" altLang="en-US" dirty="0">
                <a:solidFill>
                  <a:schemeClr val="tx1"/>
                </a:solidFill>
              </a:rPr>
              <a:t>制作裂变海报及物料</a:t>
            </a:r>
            <a:endParaRPr kumimoji="1" lang="zh-CN" altLang="en-US" dirty="0">
              <a:solidFill>
                <a:schemeClr val="tx1"/>
              </a:solidFill>
            </a:endParaRPr>
          </a:p>
          <a:p>
            <a:pPr marL="342900" indent="-342900">
              <a:buAutoNum type="arabicPeriod"/>
            </a:pPr>
            <a:r>
              <a:rPr kumimoji="1" lang="zh-CN" altLang="en-US" dirty="0">
                <a:solidFill>
                  <a:schemeClr val="tx1"/>
                </a:solidFill>
              </a:rPr>
              <a:t>裂变活动运营话术文案</a:t>
            </a:r>
            <a:endParaRPr kumimoji="1" lang="zh-CN" altLang="en-US" dirty="0">
              <a:solidFill>
                <a:schemeClr val="tx1"/>
              </a:solidFill>
            </a:endParaRPr>
          </a:p>
          <a:p>
            <a:endParaRPr kumimoji="1" lang="zh-CN" altLang="en-US" dirty="0">
              <a:solidFill>
                <a:schemeClr val="tx1"/>
              </a:solidFill>
            </a:endParaRPr>
          </a:p>
        </p:txBody>
      </p:sp>
      <p:sp>
        <p:nvSpPr>
          <p:cNvPr id="5" name="文本占位符 4"/>
          <p:cNvSpPr>
            <a:spLocks noGrp="1"/>
          </p:cNvSpPr>
          <p:nvPr>
            <p:ph type="body" sz="quarter" idx="11"/>
          </p:nvPr>
        </p:nvSpPr>
        <p:spPr/>
        <p:txBody>
          <a:bodyPr/>
          <a:lstStyle/>
          <a:p>
            <a:r>
              <a:rPr lang="en-US" altLang="zh-CN" dirty="0"/>
              <a:t>06</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66958" y="1087755"/>
            <a:ext cx="6298881" cy="3249467"/>
          </a:xfrm>
        </p:spPr>
        <p:txBody>
          <a:bodyPr/>
          <a:lstStyle/>
          <a:p>
            <a:r>
              <a:rPr lang="zh-CN" altLang="en-US" dirty="0"/>
              <a:t>能够依据活动规则，制作用户参与流程图</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117764"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546600" y="2558415"/>
            <a:ext cx="1864784" cy="328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5"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90005" y="2558415"/>
            <a:ext cx="1864995"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6"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98752" y="2558415"/>
            <a:ext cx="1847849" cy="324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7"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53955" y="2558415"/>
            <a:ext cx="186499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8" name="图片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53018" y="2558415"/>
            <a:ext cx="1847849" cy="324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9" name="图片 10"/>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229600" y="2558415"/>
            <a:ext cx="1840865" cy="329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70" name="矩形 1"/>
          <p:cNvSpPr>
            <a:spLocks noChangeArrowheads="1"/>
          </p:cNvSpPr>
          <p:nvPr/>
        </p:nvSpPr>
        <p:spPr bwMode="auto">
          <a:xfrm>
            <a:off x="853017" y="1947333"/>
            <a:ext cx="1140056"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案例一：</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11981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34297" y="2673350"/>
            <a:ext cx="1183216" cy="958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9754" y="3752851"/>
            <a:ext cx="1003300" cy="986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6"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3023" y="4972050"/>
            <a:ext cx="1214967" cy="8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70" name="矩形 1"/>
          <p:cNvSpPr>
            <a:spLocks noChangeArrowheads="1"/>
          </p:cNvSpPr>
          <p:nvPr/>
        </p:nvSpPr>
        <p:spPr bwMode="auto">
          <a:xfrm>
            <a:off x="853017" y="1947333"/>
            <a:ext cx="1140056"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案例一：</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pic>
        <p:nvPicPr>
          <p:cNvPr id="3" name="ECB019B1-382A-4266-B25C-5B523AA43C14-1" descr="wpsoffice"/>
          <p:cNvPicPr>
            <a:picLocks noChangeAspect="1"/>
          </p:cNvPicPr>
          <p:nvPr/>
        </p:nvPicPr>
        <p:blipFill>
          <a:blip r:embed="rId4"/>
          <a:srcRect l="2713" r="1549"/>
          <a:stretch>
            <a:fillRect/>
          </a:stretch>
        </p:blipFill>
        <p:spPr>
          <a:xfrm>
            <a:off x="2234565" y="2720975"/>
            <a:ext cx="9570085" cy="3009265"/>
          </a:xfrm>
          <a:prstGeom prst="rect">
            <a:avLst/>
          </a:prstGeom>
          <a:ln>
            <a:solidFill>
              <a:schemeClr val="tx1"/>
            </a:solid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TextBox 118"/>
          <p:cNvSpPr txBox="1">
            <a:spLocks noChangeArrowheads="1"/>
          </p:cNvSpPr>
          <p:nvPr/>
        </p:nvSpPr>
        <p:spPr bwMode="auto">
          <a:xfrm>
            <a:off x="2071794" y="6167967"/>
            <a:ext cx="1645073" cy="411249"/>
          </a:xfrm>
          <a:prstGeom prst="rect">
            <a:avLst/>
          </a:prstGeom>
          <a:noFill/>
          <a:ln w="9525">
            <a:noFill/>
            <a:miter lim="800000"/>
          </a:ln>
        </p:spPr>
        <p:txBody>
          <a:bodyPr wrap="square" lIns="122729" tIns="61364" rIns="122729" bIns="61364">
            <a:spAutoFit/>
          </a:bodyPr>
          <a:lstStyle/>
          <a:p>
            <a:pPr>
              <a:buFont typeface="阿里巴巴普惠体" panose="00020600040101010101" pitchFamily="18" charset="-122"/>
              <a:buChar char="•"/>
            </a:pPr>
            <a:r>
              <a:rPr lang="en-US" altLang="zh-CN" sz="1865"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65" dirty="0">
                <a:latin typeface="阿里巴巴普惠体" panose="00020600040101010101" pitchFamily="18" charset="-122"/>
                <a:ea typeface="阿里巴巴普惠体" panose="00020600040101010101" pitchFamily="18" charset="-122"/>
                <a:cs typeface="阿里巴巴普惠体" panose="00020600040101010101" pitchFamily="18" charset="-122"/>
              </a:rPr>
              <a:t>抢刮奖红包</a:t>
            </a:r>
            <a:endParaRPr lang="zh-CN" altLang="en-US" sz="1865"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17" name="组合 16"/>
          <p:cNvGrpSpPr/>
          <p:nvPr/>
        </p:nvGrpSpPr>
        <p:grpSpPr>
          <a:xfrm>
            <a:off x="1959188" y="2077488"/>
            <a:ext cx="7923953" cy="4530745"/>
            <a:chOff x="1249" y="2442"/>
            <a:chExt cx="12152" cy="6947"/>
          </a:xfrm>
        </p:grpSpPr>
        <p:grpSp>
          <p:nvGrpSpPr>
            <p:cNvPr id="18" name="组合 17"/>
            <p:cNvGrpSpPr/>
            <p:nvPr/>
          </p:nvGrpSpPr>
          <p:grpSpPr>
            <a:xfrm>
              <a:off x="1249" y="2442"/>
              <a:ext cx="12152" cy="6947"/>
              <a:chOff x="954095" y="1717157"/>
              <a:chExt cx="7483231" cy="4634009"/>
            </a:xfrm>
          </p:grpSpPr>
          <p:pic>
            <p:nvPicPr>
              <p:cNvPr id="19" name="Picture 82" descr="C:\Users\Administrator\Desktop\Screenshot_2014-07-27-18-08-04.png"/>
              <p:cNvPicPr>
                <a:picLocks noChangeAspect="1" noChangeArrowheads="1"/>
              </p:cNvPicPr>
              <p:nvPr/>
            </p:nvPicPr>
            <p:blipFill>
              <a:blip r:embed="rId1" cstate="print"/>
              <a:srcRect/>
              <a:stretch>
                <a:fillRect/>
              </a:stretch>
            </p:blipFill>
            <p:spPr bwMode="auto">
              <a:xfrm>
                <a:off x="3114683" y="2630066"/>
                <a:ext cx="1624013" cy="3689349"/>
              </a:xfrm>
              <a:prstGeom prst="rect">
                <a:avLst/>
              </a:prstGeom>
              <a:noFill/>
              <a:ln w="9525">
                <a:noFill/>
                <a:miter lim="800000"/>
                <a:headEnd/>
                <a:tailEnd/>
              </a:ln>
            </p:spPr>
          </p:pic>
          <p:pic>
            <p:nvPicPr>
              <p:cNvPr id="20" name="Picture 81" descr="C:\Users\Administrator\Desktop\Screenshot_2014-07-27-18-01-37.png"/>
              <p:cNvPicPr>
                <a:picLocks noChangeAspect="1" noChangeArrowheads="1"/>
              </p:cNvPicPr>
              <p:nvPr/>
            </p:nvPicPr>
            <p:blipFill>
              <a:blip r:embed="rId2" cstate="print"/>
              <a:srcRect/>
              <a:stretch>
                <a:fillRect/>
              </a:stretch>
            </p:blipFill>
            <p:spPr bwMode="auto">
              <a:xfrm>
                <a:off x="954095" y="1772816"/>
                <a:ext cx="1789112" cy="4095751"/>
              </a:xfrm>
              <a:prstGeom prst="rect">
                <a:avLst/>
              </a:prstGeom>
              <a:noFill/>
              <a:ln w="9525">
                <a:noFill/>
                <a:miter lim="800000"/>
                <a:headEnd/>
                <a:tailEnd/>
              </a:ln>
            </p:spPr>
          </p:pic>
          <p:sp>
            <p:nvSpPr>
              <p:cNvPr id="21" name="矩形 20"/>
              <p:cNvSpPr/>
              <p:nvPr/>
            </p:nvSpPr>
            <p:spPr>
              <a:xfrm>
                <a:off x="5002220" y="2522115"/>
                <a:ext cx="3313112" cy="38290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sp>
            <p:nvSpPr>
              <p:cNvPr id="22" name="矩形 21"/>
              <p:cNvSpPr/>
              <p:nvPr/>
            </p:nvSpPr>
            <p:spPr>
              <a:xfrm>
                <a:off x="5041908" y="2619481"/>
                <a:ext cx="1468438" cy="328084"/>
              </a:xfrm>
              <a:prstGeom prst="rect">
                <a:avLst/>
              </a:prstGeom>
              <a:solidFill>
                <a:srgbClr val="C0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2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椭圆 22"/>
              <p:cNvSpPr/>
              <p:nvPr/>
            </p:nvSpPr>
            <p:spPr>
              <a:xfrm>
                <a:off x="5414971" y="2676632"/>
                <a:ext cx="158750" cy="20108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solidFill>
                    <a:prstClr val="white"/>
                  </a:solidFill>
                  <a:ea typeface="阿里巴巴普惠体" panose="00020600040101010101" pitchFamily="18" charset="-122"/>
                  <a:cs typeface="阿里巴巴普惠体" panose="00020600040101010101" pitchFamily="18" charset="-122"/>
                </a:endParaRPr>
              </a:p>
            </p:txBody>
          </p:sp>
          <p:sp>
            <p:nvSpPr>
              <p:cNvPr id="24" name="等腰三角形 23"/>
              <p:cNvSpPr/>
              <p:nvPr/>
            </p:nvSpPr>
            <p:spPr>
              <a:xfrm rot="5400000">
                <a:off x="2512763" y="4446694"/>
                <a:ext cx="804333" cy="10477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6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矩形 22"/>
              <p:cNvSpPr>
                <a:spLocks noChangeArrowheads="1"/>
              </p:cNvSpPr>
              <p:nvPr/>
            </p:nvSpPr>
            <p:spPr bwMode="auto">
              <a:xfrm>
                <a:off x="5501283" y="2633347"/>
                <a:ext cx="588488" cy="294705"/>
              </a:xfrm>
              <a:prstGeom prst="rect">
                <a:avLst/>
              </a:prstGeom>
              <a:noFill/>
              <a:ln w="9525">
                <a:noFill/>
                <a:miter lim="800000"/>
              </a:ln>
            </p:spPr>
            <p:txBody>
              <a:bodyPr wrap="square" lIns="122729" tIns="61364" rIns="122729" bIns="61364">
                <a:spAutoFit/>
              </a:bodyPr>
              <a:lstStyle/>
              <a:p>
                <a:pPr algn="ctr" eaLnBrk="1" hangingPunct="1"/>
                <a:r>
                  <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中奖</a:t>
                </a:r>
                <a:endPar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6" name="TextBox 23"/>
              <p:cNvSpPr txBox="1">
                <a:spLocks noChangeArrowheads="1"/>
              </p:cNvSpPr>
              <p:nvPr/>
            </p:nvSpPr>
            <p:spPr bwMode="auto">
              <a:xfrm>
                <a:off x="5338561" y="2643821"/>
                <a:ext cx="311150" cy="273588"/>
              </a:xfrm>
              <a:prstGeom prst="rect">
                <a:avLst/>
              </a:prstGeom>
              <a:noFill/>
              <a:ln w="9525">
                <a:noFill/>
                <a:miter lim="800000"/>
              </a:ln>
            </p:spPr>
            <p:txBody>
              <a:bodyPr lIns="122729" tIns="61364" rIns="122729" bIns="61364">
                <a:spAutoFit/>
              </a:bodyPr>
              <a:lstStyle/>
              <a:p>
                <a:pPr eaLnBrk="1" hangingPunct="1"/>
                <a:r>
                  <a:rPr lang="en-US" altLang="zh-CN"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endPar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7" name="等腰三角形 26"/>
              <p:cNvSpPr/>
              <p:nvPr/>
            </p:nvSpPr>
            <p:spPr>
              <a:xfrm rot="5400000">
                <a:off x="4483373" y="4447488"/>
                <a:ext cx="804333" cy="103187"/>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6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8" name="矩形 27"/>
              <p:cNvSpPr/>
              <p:nvPr/>
            </p:nvSpPr>
            <p:spPr>
              <a:xfrm>
                <a:off x="6792920" y="2625832"/>
                <a:ext cx="1476375" cy="328083"/>
              </a:xfrm>
              <a:prstGeom prst="rect">
                <a:avLst/>
              </a:prstGeom>
              <a:solidFill>
                <a:srgbClr val="C0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2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9" name="椭圆 28"/>
              <p:cNvSpPr/>
              <p:nvPr/>
            </p:nvSpPr>
            <p:spPr>
              <a:xfrm>
                <a:off x="7173920" y="2682981"/>
                <a:ext cx="158750" cy="20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solidFill>
                    <a:prstClr val="white"/>
                  </a:solidFill>
                  <a:ea typeface="阿里巴巴普惠体" panose="00020600040101010101" pitchFamily="18" charset="-122"/>
                  <a:cs typeface="阿里巴巴普惠体" panose="00020600040101010101" pitchFamily="18" charset="-122"/>
                </a:endParaRPr>
              </a:p>
            </p:txBody>
          </p:sp>
          <p:sp>
            <p:nvSpPr>
              <p:cNvPr id="30" name="矩形 42"/>
              <p:cNvSpPr>
                <a:spLocks noChangeArrowheads="1"/>
              </p:cNvSpPr>
              <p:nvPr/>
            </p:nvSpPr>
            <p:spPr bwMode="auto">
              <a:xfrm>
                <a:off x="7213175" y="2639408"/>
                <a:ext cx="719618" cy="294705"/>
              </a:xfrm>
              <a:prstGeom prst="rect">
                <a:avLst/>
              </a:prstGeom>
              <a:noFill/>
              <a:ln w="9525">
                <a:noFill/>
                <a:miter lim="800000"/>
              </a:ln>
            </p:spPr>
            <p:txBody>
              <a:bodyPr wrap="square" lIns="122729" tIns="61364" rIns="122729" bIns="61364">
                <a:spAutoFit/>
              </a:bodyPr>
              <a:lstStyle/>
              <a:p>
                <a:pPr algn="ctr" eaLnBrk="1" hangingPunct="1"/>
                <a:r>
                  <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未中奖</a:t>
                </a:r>
                <a:endPar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1" name="TextBox 43"/>
              <p:cNvSpPr txBox="1">
                <a:spLocks noChangeArrowheads="1"/>
              </p:cNvSpPr>
              <p:nvPr/>
            </p:nvSpPr>
            <p:spPr bwMode="auto">
              <a:xfrm>
                <a:off x="7098310" y="2660565"/>
                <a:ext cx="311150" cy="273588"/>
              </a:xfrm>
              <a:prstGeom prst="rect">
                <a:avLst/>
              </a:prstGeom>
              <a:noFill/>
              <a:ln w="9525">
                <a:noFill/>
                <a:miter lim="800000"/>
              </a:ln>
            </p:spPr>
            <p:txBody>
              <a:bodyPr lIns="122729" tIns="61364" rIns="122729" bIns="61364">
                <a:spAutoFit/>
              </a:bodyPr>
              <a:lstStyle/>
              <a:p>
                <a:pPr eaLnBrk="1" hangingPunct="1"/>
                <a:r>
                  <a:rPr lang="en-US" altLang="zh-CN"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endPar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TextBox 44"/>
              <p:cNvSpPr txBox="1"/>
              <p:nvPr/>
            </p:nvSpPr>
            <p:spPr>
              <a:xfrm>
                <a:off x="6462719" y="4206983"/>
                <a:ext cx="411162" cy="420621"/>
              </a:xfrm>
              <a:prstGeom prst="rect">
                <a:avLst/>
              </a:prstGeom>
              <a:noFill/>
            </p:spPr>
            <p:txBody>
              <a:bodyPr lIns="122729" tIns="61364" rIns="122729" bIns="61364">
                <a:spAutoFit/>
              </a:bodyPr>
              <a:lstStyle/>
              <a:p>
                <a:pPr>
                  <a:defRPr/>
                </a:pPr>
                <a:r>
                  <a:rPr lang="en-US" altLang="zh-CN" sz="1865"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&amp;</a:t>
                </a:r>
                <a:endParaRPr lang="en-US" altLang="zh-CN" sz="1865"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3" name="矩形 32"/>
              <p:cNvSpPr/>
              <p:nvPr/>
            </p:nvSpPr>
            <p:spPr>
              <a:xfrm>
                <a:off x="2311406" y="3449214"/>
                <a:ext cx="341313" cy="323851"/>
              </a:xfrm>
              <a:prstGeom prst="rect">
                <a:avLst/>
              </a:prstGeom>
              <a:noFill/>
              <a:ln w="222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grpSp>
            <p:nvGrpSpPr>
              <p:cNvPr id="34" name="组合 111"/>
              <p:cNvGrpSpPr/>
              <p:nvPr/>
            </p:nvGrpSpPr>
            <p:grpSpPr bwMode="auto">
              <a:xfrm>
                <a:off x="2482859" y="2445915"/>
                <a:ext cx="1402819" cy="984251"/>
                <a:chOff x="3101248" y="2075829"/>
                <a:chExt cx="1401771" cy="739269"/>
              </a:xfrm>
            </p:grpSpPr>
            <p:cxnSp>
              <p:nvCxnSpPr>
                <p:cNvPr id="35" name="直接连接符 34"/>
                <p:cNvCxnSpPr/>
                <p:nvPr/>
              </p:nvCxnSpPr>
              <p:spPr>
                <a:xfrm rot="5400000" flipH="1" flipV="1">
                  <a:off x="2968767" y="2208309"/>
                  <a:ext cx="739269" cy="474308"/>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575026" y="2075962"/>
                  <a:ext cx="927993" cy="0"/>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sp>
            <p:nvSpPr>
              <p:cNvPr id="37" name="TextBox 56"/>
              <p:cNvSpPr txBox="1"/>
              <p:nvPr/>
            </p:nvSpPr>
            <p:spPr>
              <a:xfrm>
                <a:off x="2889410" y="1717195"/>
                <a:ext cx="1063625" cy="635858"/>
              </a:xfrm>
              <a:prstGeom prst="rect">
                <a:avLst/>
              </a:prstGeom>
              <a:noFill/>
            </p:spPr>
            <p:txBody>
              <a:bodyPr lIns="122729" tIns="61364" rIns="122729" bIns="61364">
                <a:spAutoFit/>
              </a:bodyPr>
              <a:lstStyle/>
              <a:p>
                <a:pPr algn="ctr">
                  <a:lnSpc>
                    <a:spcPct val="150000"/>
                  </a:lnSpc>
                  <a:spcBef>
                    <a:spcPts val="400"/>
                  </a:spcBef>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点击参与</a:t>
                </a:r>
                <a:endParaRPr lang="en-US" altLang="zh-CN"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lnSpc>
                    <a:spcPct val="150000"/>
                  </a:lnSpc>
                  <a:defRPr/>
                </a:pPr>
                <a:r>
                  <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rPr>
                  <a:t>获得刮奖红包</a:t>
                </a:r>
                <a:endPar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39" name="组合 81"/>
              <p:cNvGrpSpPr/>
              <p:nvPr/>
            </p:nvGrpSpPr>
            <p:grpSpPr bwMode="auto">
              <a:xfrm>
                <a:off x="7753357" y="5072698"/>
                <a:ext cx="450850" cy="388110"/>
                <a:chOff x="1427565" y="3217459"/>
                <a:chExt cx="424539" cy="327044"/>
              </a:xfrm>
            </p:grpSpPr>
            <p:sp>
              <p:nvSpPr>
                <p:cNvPr id="40" name="TextBox 82"/>
                <p:cNvSpPr txBox="1">
                  <a:spLocks noChangeArrowheads="1"/>
                </p:cNvSpPr>
                <p:nvPr/>
              </p:nvSpPr>
              <p:spPr bwMode="auto">
                <a:xfrm>
                  <a:off x="1427565" y="3217459"/>
                  <a:ext cx="424539" cy="327044"/>
                </a:xfrm>
                <a:prstGeom prst="rect">
                  <a:avLst/>
                </a:prstGeom>
                <a:noFill/>
                <a:ln w="9525">
                  <a:noFill/>
                  <a:miter lim="800000"/>
                </a:ln>
              </p:spPr>
              <p:txBody>
                <a:bodyPr>
                  <a:spAutoFit/>
                </a:bodyPr>
                <a:lstStyle/>
                <a:p>
                  <a:pPr eaLnBrk="1" hangingPunct="1"/>
                  <a:r>
                    <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点击</a:t>
                  </a:r>
                  <a:endParaRPr lang="en-US" altLang="zh-CN"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eaLnBrk="1" hangingPunct="1"/>
                  <a:r>
                    <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分享</a:t>
                  </a:r>
                  <a:endPar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3" name="椭圆 42"/>
                <p:cNvSpPr/>
                <p:nvPr/>
              </p:nvSpPr>
              <p:spPr>
                <a:xfrm>
                  <a:off x="1467927" y="3238859"/>
                  <a:ext cx="270568" cy="303216"/>
                </a:xfrm>
                <a:prstGeom prst="ellipse">
                  <a:avLst/>
                </a:prstGeom>
                <a:noFill/>
                <a:ln w="127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srgbClr val="0070C0"/>
                    </a:solidFill>
                    <a:ea typeface="阿里巴巴普惠体" panose="00020600040101010101" pitchFamily="18" charset="-122"/>
                    <a:cs typeface="阿里巴巴普惠体" panose="00020600040101010101" pitchFamily="18" charset="-122"/>
                  </a:endParaRPr>
                </a:p>
              </p:txBody>
            </p:sp>
          </p:grpSp>
          <p:cxnSp>
            <p:nvCxnSpPr>
              <p:cNvPr id="44" name="直接连接符 43"/>
              <p:cNvCxnSpPr/>
              <p:nvPr/>
            </p:nvCxnSpPr>
            <p:spPr>
              <a:xfrm flipV="1">
                <a:off x="4314713" y="2443072"/>
                <a:ext cx="636462" cy="1737123"/>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4947251" y="2446091"/>
                <a:ext cx="92868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7" name="Picture 82" descr="C:\Users\Administrator\Desktop\Screenshot_2014-07-27-18-08-04.png"/>
              <p:cNvPicPr>
                <a:picLocks noChangeAspect="1" noChangeArrowheads="1"/>
              </p:cNvPicPr>
              <p:nvPr/>
            </p:nvPicPr>
            <p:blipFill>
              <a:blip r:embed="rId3" cstate="print"/>
              <a:srcRect/>
              <a:stretch>
                <a:fillRect/>
              </a:stretch>
            </p:blipFill>
            <p:spPr bwMode="auto">
              <a:xfrm>
                <a:off x="5067307" y="3011066"/>
                <a:ext cx="1457325" cy="3308349"/>
              </a:xfrm>
              <a:prstGeom prst="rect">
                <a:avLst/>
              </a:prstGeom>
              <a:noFill/>
              <a:ln w="9525">
                <a:noFill/>
                <a:miter lim="800000"/>
                <a:headEnd/>
                <a:tailEnd/>
              </a:ln>
            </p:spPr>
          </p:pic>
          <p:cxnSp>
            <p:nvCxnSpPr>
              <p:cNvPr id="48" name="直接连接符 47"/>
              <p:cNvCxnSpPr/>
              <p:nvPr/>
            </p:nvCxnSpPr>
            <p:spPr>
              <a:xfrm>
                <a:off x="6644756" y="2440003"/>
                <a:ext cx="9286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99"/>
              <p:cNvSpPr txBox="1"/>
              <p:nvPr/>
            </p:nvSpPr>
            <p:spPr>
              <a:xfrm>
                <a:off x="6417382" y="1717157"/>
                <a:ext cx="1499420" cy="404490"/>
              </a:xfrm>
              <a:prstGeom prst="rect">
                <a:avLst/>
              </a:prstGeom>
              <a:noFill/>
            </p:spPr>
            <p:txBody>
              <a:bodyPr wrap="square" lIns="122729" tIns="61364" rIns="122729" bIns="61364">
                <a:spAutoFit/>
              </a:bodyPr>
              <a:lstStyle/>
              <a:p>
                <a:pPr algn="ctr">
                  <a:lnSpc>
                    <a:spcPct val="150000"/>
                  </a:lnSpc>
                  <a:spcBef>
                    <a:spcPts val="400"/>
                  </a:spcBef>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查看是否中奖</a:t>
                </a:r>
                <a:endPar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5" name="TextBox 78"/>
              <p:cNvSpPr txBox="1"/>
              <p:nvPr/>
            </p:nvSpPr>
            <p:spPr>
              <a:xfrm>
                <a:off x="4873615" y="1717195"/>
                <a:ext cx="1239343" cy="635858"/>
              </a:xfrm>
              <a:prstGeom prst="rect">
                <a:avLst/>
              </a:prstGeom>
              <a:noFill/>
            </p:spPr>
            <p:txBody>
              <a:bodyPr wrap="square" lIns="122729" tIns="61364" rIns="122729" bIns="61364">
                <a:spAutoFit/>
              </a:bodyPr>
              <a:lstStyle/>
              <a:p>
                <a:pPr algn="ctr">
                  <a:lnSpc>
                    <a:spcPct val="150000"/>
                  </a:lnSpc>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刮奖区域</a:t>
                </a:r>
                <a:endParaRPr lang="en-US" altLang="zh-CN"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lnSpc>
                    <a:spcPct val="150000"/>
                  </a:lnSpc>
                  <a:defRPr/>
                </a:pPr>
                <a:r>
                  <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可刮奖</a:t>
                </a:r>
                <a:r>
                  <a:rPr lang="en-US" altLang="zh-CN" sz="935" b="1" dirty="0">
                    <a:latin typeface="阿里巴巴普惠体" panose="00020600040101010101" pitchFamily="18" charset="-122"/>
                    <a:ea typeface="阿里巴巴普惠体" panose="00020600040101010101" pitchFamily="18" charset="-122"/>
                    <a:cs typeface="阿里巴巴普惠体" panose="00020600040101010101" pitchFamily="18" charset="-122"/>
                  </a:rPr>
                  <a:t>3</a:t>
                </a:r>
                <a:r>
                  <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次</a:t>
                </a:r>
                <a:endPar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6" name="矩形 55"/>
              <p:cNvSpPr/>
              <p:nvPr/>
            </p:nvSpPr>
            <p:spPr>
              <a:xfrm>
                <a:off x="5776509" y="5999875"/>
                <a:ext cx="747705" cy="351291"/>
              </a:xfrm>
              <a:prstGeom prst="rect">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pic>
            <p:nvPicPr>
              <p:cNvPr id="58" name="Picture 83" descr="C:\Users\Administrator\Desktop\Screenshot_2014-07-27-18-13-19.png"/>
              <p:cNvPicPr>
                <a:picLocks noChangeAspect="1" noChangeArrowheads="1"/>
              </p:cNvPicPr>
              <p:nvPr/>
            </p:nvPicPr>
            <p:blipFill>
              <a:blip r:embed="rId4" cstate="print"/>
              <a:srcRect/>
              <a:stretch>
                <a:fillRect/>
              </a:stretch>
            </p:blipFill>
            <p:spPr bwMode="auto">
              <a:xfrm>
                <a:off x="6811969" y="3011067"/>
                <a:ext cx="1428750" cy="3255433"/>
              </a:xfrm>
              <a:prstGeom prst="rect">
                <a:avLst/>
              </a:prstGeom>
              <a:noFill/>
              <a:ln w="9525">
                <a:noFill/>
                <a:miter lim="800000"/>
                <a:headEnd/>
                <a:tailEnd/>
              </a:ln>
            </p:spPr>
          </p:pic>
          <p:sp>
            <p:nvSpPr>
              <p:cNvPr id="59" name="矩形 58"/>
              <p:cNvSpPr/>
              <p:nvPr/>
            </p:nvSpPr>
            <p:spPr>
              <a:xfrm>
                <a:off x="6811969" y="5392315"/>
                <a:ext cx="1428750" cy="60748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cxnSp>
            <p:nvCxnSpPr>
              <p:cNvPr id="61" name="直接连接符 60"/>
              <p:cNvCxnSpPr/>
              <p:nvPr/>
            </p:nvCxnSpPr>
            <p:spPr>
              <a:xfrm flipV="1">
                <a:off x="7741342" y="2440086"/>
                <a:ext cx="695984" cy="29521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 name="组合 45"/>
              <p:cNvGrpSpPr/>
              <p:nvPr/>
            </p:nvGrpSpPr>
            <p:grpSpPr bwMode="auto">
              <a:xfrm>
                <a:off x="7741351" y="5457244"/>
                <a:ext cx="512528" cy="428652"/>
                <a:chOff x="2235441" y="3111650"/>
                <a:chExt cx="482618" cy="361208"/>
              </a:xfrm>
            </p:grpSpPr>
            <p:sp>
              <p:nvSpPr>
                <p:cNvPr id="63" name="TextBox 46"/>
                <p:cNvSpPr txBox="1">
                  <a:spLocks noChangeArrowheads="1"/>
                </p:cNvSpPr>
                <p:nvPr/>
              </p:nvSpPr>
              <p:spPr bwMode="auto">
                <a:xfrm>
                  <a:off x="2235441" y="3112380"/>
                  <a:ext cx="482618" cy="327045"/>
                </a:xfrm>
                <a:prstGeom prst="rect">
                  <a:avLst/>
                </a:prstGeom>
                <a:noFill/>
                <a:ln w="9525">
                  <a:noFill/>
                  <a:miter lim="800000"/>
                </a:ln>
              </p:spPr>
              <p:txBody>
                <a:bodyPr wrap="square">
                  <a:spAutoFit/>
                </a:bodyPr>
                <a:lstStyle/>
                <a:p>
                  <a:pPr eaLnBrk="1" hangingPunct="1"/>
                  <a:r>
                    <a:rPr lang="zh-CN" altLang="en-US" sz="935" b="1"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点击</a:t>
                  </a:r>
                  <a:endParaRPr lang="en-US" altLang="zh-CN" sz="935" b="1"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eaLnBrk="1" hangingPunct="1"/>
                  <a:r>
                    <a:rPr lang="zh-CN" altLang="en-US" sz="935" b="1"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分享</a:t>
                  </a:r>
                  <a:endParaRPr lang="zh-CN" altLang="en-US" sz="935" b="1"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4" name="椭圆 63"/>
                <p:cNvSpPr/>
                <p:nvPr/>
              </p:nvSpPr>
              <p:spPr>
                <a:xfrm>
                  <a:off x="2285886" y="3111650"/>
                  <a:ext cx="382480" cy="361208"/>
                </a:xfrm>
                <a:prstGeom prst="ellipse">
                  <a:avLst/>
                </a:prstGeom>
                <a:noFill/>
                <a:ln w="127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srgbClr val="0070C0"/>
                    </a:solidFill>
                    <a:ea typeface="阿里巴巴普惠体" panose="00020600040101010101" pitchFamily="18" charset="-122"/>
                    <a:cs typeface="阿里巴巴普惠体" panose="00020600040101010101" pitchFamily="18" charset="-122"/>
                  </a:endParaRPr>
                </a:p>
              </p:txBody>
            </p:sp>
          </p:grpSp>
          <p:cxnSp>
            <p:nvCxnSpPr>
              <p:cNvPr id="65" name="直接连接符 64"/>
              <p:cNvCxnSpPr/>
              <p:nvPr/>
            </p:nvCxnSpPr>
            <p:spPr>
              <a:xfrm flipH="1">
                <a:off x="1729987" y="2230531"/>
                <a:ext cx="215900" cy="0"/>
              </a:xfrm>
              <a:prstGeom prst="line">
                <a:avLst/>
              </a:prstGeom>
              <a:ln>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6" name="矩形 65"/>
            <p:cNvSpPr/>
            <p:nvPr/>
          </p:nvSpPr>
          <p:spPr>
            <a:xfrm>
              <a:off x="8048" y="6174"/>
              <a:ext cx="2127" cy="1406"/>
            </a:xfrm>
            <a:prstGeom prst="rect">
              <a:avLst/>
            </a:prstGeom>
            <a:solidFill>
              <a:srgbClr val="FFFC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ea typeface="阿里巴巴普惠体" panose="00020600040101010101" pitchFamily="18" charset="-122"/>
                <a:cs typeface="阿里巴巴普惠体" panose="00020600040101010101" pitchFamily="18" charset="-122"/>
              </a:endParaRPr>
            </a:p>
          </p:txBody>
        </p:sp>
        <p:sp>
          <p:nvSpPr>
            <p:cNvPr id="67" name="文本框 66"/>
            <p:cNvSpPr txBox="1"/>
            <p:nvPr/>
          </p:nvSpPr>
          <p:spPr>
            <a:xfrm>
              <a:off x="8189" y="6619"/>
              <a:ext cx="1845" cy="802"/>
            </a:xfrm>
            <a:prstGeom prst="rect">
              <a:avLst/>
            </a:prstGeom>
            <a:noFill/>
          </p:spPr>
          <p:txBody>
            <a:bodyPr wrap="square" rtlCol="0">
              <a:spAutoFit/>
            </a:bodyPr>
            <a:lstStyle/>
            <a:p>
              <a:r>
                <a:rPr lang="zh-CN" altLang="en-US"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亲，恭喜您获得</a:t>
              </a:r>
              <a:endParaRPr lang="zh-CN" altLang="en-US"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价值</a:t>
              </a:r>
              <a:r>
                <a:rPr lang="en-US" altLang="zh-CN"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5w</a:t>
              </a:r>
              <a:r>
                <a:rPr lang="zh-CN" altLang="en-US"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元的优惠券一张</a:t>
              </a:r>
              <a:r>
                <a:rPr lang="en-US" altLang="zh-CN"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935">
                <a:solidFill>
                  <a:srgbClr val="B49B6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68" name="矩形 67"/>
          <p:cNvSpPr/>
          <p:nvPr/>
        </p:nvSpPr>
        <p:spPr>
          <a:xfrm>
            <a:off x="6706447" y="5574453"/>
            <a:ext cx="717127" cy="160867"/>
          </a:xfrm>
          <a:prstGeom prst="rect">
            <a:avLst/>
          </a:prstGeom>
          <a:solidFill>
            <a:srgbClr val="448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ea typeface="阿里巴巴普惠体" panose="00020600040101010101" pitchFamily="18" charset="-122"/>
              <a:cs typeface="阿里巴巴普惠体" panose="00020600040101010101" pitchFamily="18" charset="-122"/>
            </a:endParaRPr>
          </a:p>
        </p:txBody>
      </p:sp>
      <p:sp>
        <p:nvSpPr>
          <p:cNvPr id="69" name="文本框 68"/>
          <p:cNvSpPr txBox="1"/>
          <p:nvPr/>
        </p:nvSpPr>
        <p:spPr>
          <a:xfrm>
            <a:off x="6761480" y="5490633"/>
            <a:ext cx="662093" cy="215444"/>
          </a:xfrm>
          <a:prstGeom prst="rect">
            <a:avLst/>
          </a:prstGeom>
          <a:noFill/>
        </p:spPr>
        <p:txBody>
          <a:bodyPr wrap="square" rtlCol="0">
            <a:spAutoFit/>
          </a:bodyPr>
          <a:lstStyle/>
          <a:p>
            <a:r>
              <a:rPr lang="zh-CN" altLang="en-US" sz="80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去领奖</a:t>
            </a:r>
            <a:endParaRPr lang="zh-CN" altLang="en-US" sz="80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70" name="直接连接符 69"/>
          <p:cNvCxnSpPr/>
          <p:nvPr/>
        </p:nvCxnSpPr>
        <p:spPr>
          <a:xfrm>
            <a:off x="4080933" y="2783840"/>
            <a:ext cx="572347" cy="1701800"/>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7452361" y="2789767"/>
            <a:ext cx="532553" cy="3487420"/>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9883494" y="2789651"/>
            <a:ext cx="9821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216"/>
          <p:cNvSpPr txBox="1"/>
          <p:nvPr/>
        </p:nvSpPr>
        <p:spPr>
          <a:xfrm>
            <a:off x="9398847" y="2077721"/>
            <a:ext cx="1950720" cy="621691"/>
          </a:xfrm>
          <a:prstGeom prst="rect">
            <a:avLst/>
          </a:prstGeom>
          <a:noFill/>
        </p:spPr>
        <p:txBody>
          <a:bodyPr wrap="square" lIns="122729" tIns="61364" rIns="122729" bIns="61364">
            <a:spAutoFit/>
          </a:bodyPr>
          <a:lstStyle/>
          <a:p>
            <a:pPr algn="ctr">
              <a:lnSpc>
                <a:spcPct val="150000"/>
              </a:lnSpc>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点击分享按钮</a:t>
            </a:r>
            <a:endPar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lnSpc>
                <a:spcPct val="150000"/>
              </a:lnSpc>
              <a:defRPr/>
            </a:pPr>
            <a:r>
              <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rPr>
              <a:t>转发好友或分享到朋友圈</a:t>
            </a:r>
            <a:endParaRPr lang="zh-CN" altLang="en-US" sz="935"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76" name="组合 183"/>
          <p:cNvGrpSpPr/>
          <p:nvPr/>
        </p:nvGrpSpPr>
        <p:grpSpPr bwMode="auto">
          <a:xfrm>
            <a:off x="9950027" y="2874433"/>
            <a:ext cx="1825413" cy="3173307"/>
            <a:chOff x="251520" y="2215561"/>
            <a:chExt cx="1475358" cy="2324692"/>
          </a:xfrm>
        </p:grpSpPr>
        <p:pic>
          <p:nvPicPr>
            <p:cNvPr id="17467" name="图片 101"/>
            <p:cNvPicPr>
              <a:picLocks noChangeAspect="1"/>
            </p:cNvPicPr>
            <p:nvPr/>
          </p:nvPicPr>
          <p:blipFill>
            <a:blip r:embed="rId5" cstate="print"/>
            <a:srcRect b="7145"/>
            <a:stretch>
              <a:fillRect/>
            </a:stretch>
          </p:blipFill>
          <p:spPr bwMode="auto">
            <a:xfrm>
              <a:off x="251520" y="2452496"/>
              <a:ext cx="1475358" cy="2087757"/>
            </a:xfrm>
            <a:prstGeom prst="rect">
              <a:avLst/>
            </a:prstGeom>
            <a:noFill/>
            <a:ln w="9525">
              <a:noFill/>
              <a:miter lim="800000"/>
              <a:headEnd/>
              <a:tailEnd/>
            </a:ln>
          </p:spPr>
        </p:pic>
        <p:grpSp>
          <p:nvGrpSpPr>
            <p:cNvPr id="77" name="组合 61"/>
            <p:cNvGrpSpPr/>
            <p:nvPr/>
          </p:nvGrpSpPr>
          <p:grpSpPr bwMode="auto">
            <a:xfrm>
              <a:off x="251520" y="2215561"/>
              <a:ext cx="1475358" cy="246113"/>
              <a:chOff x="413596" y="2258089"/>
              <a:chExt cx="1475358" cy="246113"/>
            </a:xfrm>
          </p:grpSpPr>
          <p:sp>
            <p:nvSpPr>
              <p:cNvPr id="103" name="矩形 102"/>
              <p:cNvSpPr/>
              <p:nvPr/>
            </p:nvSpPr>
            <p:spPr>
              <a:xfrm>
                <a:off x="413596" y="2258089"/>
                <a:ext cx="1475358" cy="246113"/>
              </a:xfrm>
              <a:prstGeom prst="rect">
                <a:avLst/>
              </a:prstGeom>
              <a:solidFill>
                <a:srgbClr val="C0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04" name="椭圆 103"/>
              <p:cNvSpPr/>
              <p:nvPr/>
            </p:nvSpPr>
            <p:spPr>
              <a:xfrm>
                <a:off x="734050" y="2300961"/>
                <a:ext cx="158641" cy="1508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prstClr val="white"/>
                  </a:solidFill>
                  <a:ea typeface="阿里巴巴普惠体" panose="00020600040101010101" pitchFamily="18" charset="-122"/>
                  <a:cs typeface="阿里巴巴普惠体" panose="00020600040101010101" pitchFamily="18" charset="-122"/>
                </a:endParaRPr>
              </a:p>
            </p:txBody>
          </p:sp>
          <p:sp>
            <p:nvSpPr>
              <p:cNvPr id="17471" name="矩形 104"/>
              <p:cNvSpPr>
                <a:spLocks noChangeArrowheads="1"/>
              </p:cNvSpPr>
              <p:nvPr/>
            </p:nvSpPr>
            <p:spPr bwMode="auto">
              <a:xfrm>
                <a:off x="845618" y="2276941"/>
                <a:ext cx="645888" cy="187939"/>
              </a:xfrm>
              <a:prstGeom prst="rect">
                <a:avLst/>
              </a:prstGeom>
              <a:noFill/>
              <a:ln w="9525">
                <a:noFill/>
                <a:miter lim="800000"/>
              </a:ln>
            </p:spPr>
            <p:txBody>
              <a:bodyPr wrap="square">
                <a:spAutoFit/>
              </a:bodyPr>
              <a:lstStyle/>
              <a:p>
                <a:pPr algn="ctr" eaLnBrk="1" hangingPunct="1"/>
                <a:r>
                  <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引导页面</a:t>
                </a:r>
                <a:endPar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472" name="TextBox 105"/>
              <p:cNvSpPr txBox="1">
                <a:spLocks noChangeArrowheads="1"/>
              </p:cNvSpPr>
              <p:nvPr/>
            </p:nvSpPr>
            <p:spPr bwMode="auto">
              <a:xfrm>
                <a:off x="687967" y="2297516"/>
                <a:ext cx="310935" cy="172814"/>
              </a:xfrm>
              <a:prstGeom prst="rect">
                <a:avLst/>
              </a:prstGeom>
              <a:noFill/>
              <a:ln w="9525">
                <a:noFill/>
                <a:miter lim="800000"/>
              </a:ln>
            </p:spPr>
            <p:txBody>
              <a:bodyPr>
                <a:spAutoFit/>
              </a:bodyPr>
              <a:lstStyle/>
              <a:p>
                <a:pPr eaLnBrk="1" hangingPunct="1"/>
                <a:r>
                  <a:rPr lang="en-US" altLang="zh-CN"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a:t>
                </a:r>
                <a:endPar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sp>
        <p:nvSpPr>
          <p:cNvPr id="213" name="矩形 212"/>
          <p:cNvSpPr/>
          <p:nvPr/>
        </p:nvSpPr>
        <p:spPr>
          <a:xfrm>
            <a:off x="11424074" y="3286761"/>
            <a:ext cx="332740" cy="297180"/>
          </a:xfrm>
          <a:prstGeom prst="rect">
            <a:avLst/>
          </a:pr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cxnSp>
        <p:nvCxnSpPr>
          <p:cNvPr id="214" name="直接连接符 213"/>
          <p:cNvCxnSpPr/>
          <p:nvPr/>
        </p:nvCxnSpPr>
        <p:spPr>
          <a:xfrm flipH="1" flipV="1">
            <a:off x="9858587" y="2789767"/>
            <a:ext cx="1490980" cy="4470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等腰三角形 80"/>
          <p:cNvSpPr/>
          <p:nvPr/>
        </p:nvSpPr>
        <p:spPr>
          <a:xfrm rot="5400000">
            <a:off x="11605682" y="4742788"/>
            <a:ext cx="786409" cy="10926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6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2" name="TextBox 118"/>
          <p:cNvSpPr txBox="1">
            <a:spLocks noChangeArrowheads="1"/>
          </p:cNvSpPr>
          <p:nvPr/>
        </p:nvSpPr>
        <p:spPr bwMode="auto">
          <a:xfrm>
            <a:off x="10373361" y="6167967"/>
            <a:ext cx="976207" cy="411249"/>
          </a:xfrm>
          <a:prstGeom prst="rect">
            <a:avLst/>
          </a:prstGeom>
          <a:noFill/>
          <a:ln w="9525">
            <a:noFill/>
            <a:miter lim="800000"/>
          </a:ln>
        </p:spPr>
        <p:txBody>
          <a:bodyPr wrap="square" lIns="122729" tIns="61364" rIns="122729" bIns="61364">
            <a:spAutoFit/>
          </a:bodyPr>
          <a:lstStyle/>
          <a:p>
            <a:pPr>
              <a:buFont typeface="阿里巴巴普惠体" panose="00020600040101010101" pitchFamily="18" charset="-122"/>
              <a:buChar char="•"/>
            </a:pPr>
            <a:r>
              <a:rPr lang="en-US" altLang="zh-CN" sz="1865"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65" dirty="0">
                <a:latin typeface="阿里巴巴普惠体" panose="00020600040101010101" pitchFamily="18" charset="-122"/>
                <a:ea typeface="阿里巴巴普惠体" panose="00020600040101010101" pitchFamily="18" charset="-122"/>
                <a:cs typeface="阿里巴巴普惠体" panose="00020600040101010101" pitchFamily="18" charset="-122"/>
              </a:rPr>
              <a:t>分享</a:t>
            </a:r>
            <a:endParaRPr lang="zh-CN" altLang="en-US" sz="1865"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5" name="矩形 1"/>
          <p:cNvSpPr>
            <a:spLocks noChangeArrowheads="1"/>
          </p:cNvSpPr>
          <p:nvPr/>
        </p:nvSpPr>
        <p:spPr bwMode="auto">
          <a:xfrm>
            <a:off x="853017" y="1947333"/>
            <a:ext cx="1140056"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案例二：</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20304" y="2056738"/>
            <a:ext cx="5834641" cy="4582486"/>
            <a:chOff x="6448" y="1908"/>
            <a:chExt cx="9910" cy="7783"/>
          </a:xfrm>
        </p:grpSpPr>
        <p:grpSp>
          <p:nvGrpSpPr>
            <p:cNvPr id="4" name="组合 184"/>
            <p:cNvGrpSpPr/>
            <p:nvPr/>
          </p:nvGrpSpPr>
          <p:grpSpPr bwMode="auto">
            <a:xfrm>
              <a:off x="6448" y="3400"/>
              <a:ext cx="2787" cy="5452"/>
              <a:chOff x="2001014" y="2205629"/>
              <a:chExt cx="1475357" cy="2364496"/>
            </a:xfrm>
          </p:grpSpPr>
          <p:grpSp>
            <p:nvGrpSpPr>
              <p:cNvPr id="5" name="组合 180"/>
              <p:cNvGrpSpPr/>
              <p:nvPr/>
            </p:nvGrpSpPr>
            <p:grpSpPr bwMode="auto">
              <a:xfrm>
                <a:off x="2001014" y="2205629"/>
                <a:ext cx="1475357" cy="260290"/>
                <a:chOff x="2001014" y="2205629"/>
                <a:chExt cx="1475357" cy="260290"/>
              </a:xfrm>
            </p:grpSpPr>
            <p:sp>
              <p:nvSpPr>
                <p:cNvPr id="107" name="矩形 106"/>
                <p:cNvSpPr/>
                <p:nvPr/>
              </p:nvSpPr>
              <p:spPr>
                <a:xfrm>
                  <a:off x="2001014" y="2205629"/>
                  <a:ext cx="1475357" cy="260290"/>
                </a:xfrm>
                <a:prstGeom prst="rect">
                  <a:avLst/>
                </a:prstGeom>
                <a:solidFill>
                  <a:srgbClr val="C0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08" name="椭圆 107"/>
                <p:cNvSpPr/>
                <p:nvPr/>
              </p:nvSpPr>
              <p:spPr>
                <a:xfrm>
                  <a:off x="2327814" y="2235784"/>
                  <a:ext cx="158641" cy="1523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prstClr val="white"/>
                    </a:solidFill>
                    <a:ea typeface="阿里巴巴普惠体" panose="00020600040101010101" pitchFamily="18" charset="-122"/>
                    <a:cs typeface="阿里巴巴普惠体" panose="00020600040101010101" pitchFamily="18" charset="-122"/>
                  </a:endParaRPr>
                </a:p>
              </p:txBody>
            </p:sp>
            <p:sp>
              <p:nvSpPr>
                <p:cNvPr id="17465" name="矩形 108"/>
                <p:cNvSpPr>
                  <a:spLocks noChangeArrowheads="1"/>
                </p:cNvSpPr>
                <p:nvPr/>
              </p:nvSpPr>
              <p:spPr bwMode="auto">
                <a:xfrm>
                  <a:off x="2412093" y="2212489"/>
                  <a:ext cx="870118" cy="188976"/>
                </a:xfrm>
                <a:prstGeom prst="rect">
                  <a:avLst/>
                </a:prstGeom>
                <a:noFill/>
                <a:ln w="9525">
                  <a:noFill/>
                  <a:miter lim="800000"/>
                </a:ln>
              </p:spPr>
              <p:txBody>
                <a:bodyPr wrap="square">
                  <a:spAutoFit/>
                </a:bodyPr>
                <a:lstStyle/>
                <a:p>
                  <a:pPr algn="ctr" eaLnBrk="1" hangingPunct="1"/>
                  <a:r>
                    <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朋友圈分享</a:t>
                  </a:r>
                  <a:endPar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466" name="TextBox 109"/>
                <p:cNvSpPr txBox="1">
                  <a:spLocks noChangeArrowheads="1"/>
                </p:cNvSpPr>
                <p:nvPr/>
              </p:nvSpPr>
              <p:spPr bwMode="auto">
                <a:xfrm>
                  <a:off x="2251092" y="2219434"/>
                  <a:ext cx="310934" cy="173767"/>
                </a:xfrm>
                <a:prstGeom prst="rect">
                  <a:avLst/>
                </a:prstGeom>
                <a:noFill/>
                <a:ln w="9525">
                  <a:noFill/>
                  <a:miter lim="800000"/>
                </a:ln>
              </p:spPr>
              <p:txBody>
                <a:bodyPr>
                  <a:spAutoFit/>
                </a:bodyPr>
                <a:lstStyle/>
                <a:p>
                  <a:pPr eaLnBrk="1" hangingPunct="1"/>
                  <a:r>
                    <a:rPr lang="en-US" altLang="zh-CN"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4</a:t>
                  </a:r>
                  <a:endPar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17462" name="图片 111"/>
              <p:cNvPicPr>
                <a:picLocks noChangeAspect="1"/>
              </p:cNvPicPr>
              <p:nvPr/>
            </p:nvPicPr>
            <p:blipFill rotWithShape="1">
              <a:blip r:embed="rId1" cstate="print"/>
              <a:srcRect b="18521"/>
              <a:stretch>
                <a:fillRect/>
              </a:stretch>
            </p:blipFill>
            <p:spPr bwMode="auto">
              <a:xfrm>
                <a:off x="2001014" y="2453071"/>
                <a:ext cx="1475319" cy="2117054"/>
              </a:xfrm>
              <a:prstGeom prst="rect">
                <a:avLst/>
              </a:prstGeom>
              <a:noFill/>
              <a:ln w="9525">
                <a:noFill/>
                <a:miter lim="800000"/>
                <a:headEnd/>
                <a:tailEnd/>
              </a:ln>
            </p:spPr>
          </p:pic>
        </p:grpSp>
        <p:sp>
          <p:nvSpPr>
            <p:cNvPr id="117" name="等腰三角形 116"/>
            <p:cNvSpPr/>
            <p:nvPr/>
          </p:nvSpPr>
          <p:spPr>
            <a:xfrm rot="5400000">
              <a:off x="8806" y="6532"/>
              <a:ext cx="1391" cy="19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6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27" name="等腰三角形 126"/>
            <p:cNvSpPr/>
            <p:nvPr/>
          </p:nvSpPr>
          <p:spPr>
            <a:xfrm rot="5400000">
              <a:off x="12261" y="6478"/>
              <a:ext cx="1391" cy="19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16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4" name="圆角矩形 133"/>
            <p:cNvSpPr/>
            <p:nvPr/>
          </p:nvSpPr>
          <p:spPr>
            <a:xfrm>
              <a:off x="13285" y="6024"/>
              <a:ext cx="2733" cy="1391"/>
            </a:xfrm>
            <a:prstGeom prst="roundRect">
              <a:avLst>
                <a:gd name="adj" fmla="val 9533"/>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solidFill>
                  <a:prstClr val="white"/>
                </a:solidFill>
                <a:ea typeface="阿里巴巴普惠体" panose="00020600040101010101" pitchFamily="18" charset="-122"/>
                <a:cs typeface="阿里巴巴普惠体" panose="00020600040101010101" pitchFamily="18" charset="-122"/>
              </a:endParaRPr>
            </a:p>
          </p:txBody>
        </p:sp>
        <p:grpSp>
          <p:nvGrpSpPr>
            <p:cNvPr id="2" name="组合 187"/>
            <p:cNvGrpSpPr/>
            <p:nvPr/>
          </p:nvGrpSpPr>
          <p:grpSpPr bwMode="auto">
            <a:xfrm>
              <a:off x="13249" y="3403"/>
              <a:ext cx="2805" cy="6268"/>
              <a:chOff x="7329699" y="2206391"/>
              <a:chExt cx="1486302" cy="2718927"/>
            </a:xfrm>
          </p:grpSpPr>
          <p:grpSp>
            <p:nvGrpSpPr>
              <p:cNvPr id="7" name="组合 182"/>
              <p:cNvGrpSpPr/>
              <p:nvPr/>
            </p:nvGrpSpPr>
            <p:grpSpPr bwMode="auto">
              <a:xfrm>
                <a:off x="7329699" y="2206391"/>
                <a:ext cx="1486302" cy="246021"/>
                <a:chOff x="7329699" y="2206391"/>
                <a:chExt cx="1486302" cy="246021"/>
              </a:xfrm>
            </p:grpSpPr>
            <p:sp>
              <p:nvSpPr>
                <p:cNvPr id="129" name="矩形 128"/>
                <p:cNvSpPr/>
                <p:nvPr/>
              </p:nvSpPr>
              <p:spPr>
                <a:xfrm>
                  <a:off x="7329699" y="2206391"/>
                  <a:ext cx="1486302" cy="246021"/>
                </a:xfrm>
                <a:prstGeom prst="rect">
                  <a:avLst/>
                </a:prstGeom>
                <a:solidFill>
                  <a:srgbClr val="C0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8" name="组合 9"/>
                <p:cNvGrpSpPr/>
                <p:nvPr/>
              </p:nvGrpSpPr>
              <p:grpSpPr bwMode="auto">
                <a:xfrm>
                  <a:off x="7524319" y="2219250"/>
                  <a:ext cx="240837" cy="173796"/>
                  <a:chOff x="3175680" y="628124"/>
                  <a:chExt cx="248983" cy="187148"/>
                </a:xfrm>
              </p:grpSpPr>
              <p:sp>
                <p:nvSpPr>
                  <p:cNvPr id="132" name="椭圆 131"/>
                  <p:cNvSpPr/>
                  <p:nvPr/>
                </p:nvSpPr>
                <p:spPr>
                  <a:xfrm>
                    <a:off x="3220714" y="648462"/>
                    <a:ext cx="164163" cy="1640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prstClr val="white"/>
                      </a:solidFill>
                      <a:ea typeface="阿里巴巴普惠体" panose="00020600040101010101" pitchFamily="18" charset="-122"/>
                      <a:cs typeface="阿里巴巴普惠体" panose="00020600040101010101" pitchFamily="18" charset="-122"/>
                    </a:endParaRPr>
                  </a:p>
                </p:txBody>
              </p:sp>
              <p:sp>
                <p:nvSpPr>
                  <p:cNvPr id="17460" name="TextBox 132"/>
                  <p:cNvSpPr txBox="1">
                    <a:spLocks noChangeArrowheads="1"/>
                  </p:cNvSpPr>
                  <p:nvPr/>
                </p:nvSpPr>
                <p:spPr bwMode="auto">
                  <a:xfrm>
                    <a:off x="3175680" y="628124"/>
                    <a:ext cx="248983" cy="187148"/>
                  </a:xfrm>
                  <a:prstGeom prst="rect">
                    <a:avLst/>
                  </a:prstGeom>
                  <a:noFill/>
                  <a:ln w="9525">
                    <a:noFill/>
                    <a:miter lim="800000"/>
                  </a:ln>
                </p:spPr>
                <p:txBody>
                  <a:bodyPr wrap="square">
                    <a:spAutoFit/>
                  </a:bodyPr>
                  <a:lstStyle/>
                  <a:p>
                    <a:pPr eaLnBrk="1" hangingPunct="1"/>
                    <a:r>
                      <a:rPr lang="en-US" altLang="zh-CN"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6</a:t>
                    </a:r>
                    <a:endParaRPr lang="zh-CN" altLang="en-US" sz="935"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7458" name="矩形 130"/>
                <p:cNvSpPr>
                  <a:spLocks noChangeArrowheads="1"/>
                </p:cNvSpPr>
                <p:nvPr/>
              </p:nvSpPr>
              <p:spPr bwMode="auto">
                <a:xfrm>
                  <a:off x="7660400" y="2218867"/>
                  <a:ext cx="995152" cy="189007"/>
                </a:xfrm>
                <a:prstGeom prst="rect">
                  <a:avLst/>
                </a:prstGeom>
                <a:noFill/>
                <a:ln w="9525">
                  <a:noFill/>
                  <a:miter lim="800000"/>
                </a:ln>
              </p:spPr>
              <p:txBody>
                <a:bodyPr wrap="square">
                  <a:spAutoFit/>
                </a:bodyPr>
                <a:lstStyle/>
                <a:p>
                  <a:pPr algn="ctr" eaLnBrk="1" hangingPunct="1"/>
                  <a:r>
                    <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获得抽奖机会</a:t>
                  </a:r>
                  <a:endParaRPr lang="zh-CN" altLang="en-US" sz="1065" b="1"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17455" name="图片 134"/>
              <p:cNvPicPr>
                <a:picLocks noChangeAspect="1"/>
              </p:cNvPicPr>
              <p:nvPr/>
            </p:nvPicPr>
            <p:blipFill>
              <a:blip r:embed="rId2" cstate="print"/>
              <a:srcRect/>
              <a:stretch>
                <a:fillRect/>
              </a:stretch>
            </p:blipFill>
            <p:spPr bwMode="auto">
              <a:xfrm>
                <a:off x="7329699" y="2447425"/>
                <a:ext cx="1486208" cy="2477893"/>
              </a:xfrm>
              <a:prstGeom prst="rect">
                <a:avLst/>
              </a:prstGeom>
              <a:noFill/>
              <a:ln w="9525">
                <a:noFill/>
                <a:miter lim="800000"/>
                <a:headEnd/>
                <a:tailEnd/>
              </a:ln>
            </p:spPr>
          </p:pic>
        </p:grpSp>
        <p:sp>
          <p:nvSpPr>
            <p:cNvPr id="136" name="矩形 135"/>
            <p:cNvSpPr/>
            <p:nvPr/>
          </p:nvSpPr>
          <p:spPr>
            <a:xfrm>
              <a:off x="6999" y="7385"/>
              <a:ext cx="2097" cy="725"/>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cxnSp>
          <p:nvCxnSpPr>
            <p:cNvPr id="138" name="直接连接符 137"/>
            <p:cNvCxnSpPr/>
            <p:nvPr/>
          </p:nvCxnSpPr>
          <p:spPr>
            <a:xfrm>
              <a:off x="9127" y="3137"/>
              <a:ext cx="172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39" name="TextBox 138"/>
            <p:cNvSpPr txBox="1"/>
            <p:nvPr/>
          </p:nvSpPr>
          <p:spPr>
            <a:xfrm>
              <a:off x="8734" y="1908"/>
              <a:ext cx="2507" cy="1045"/>
            </a:xfrm>
            <a:prstGeom prst="rect">
              <a:avLst/>
            </a:prstGeom>
            <a:noFill/>
          </p:spPr>
          <p:txBody>
            <a:bodyPr wrap="square" lIns="122729" tIns="61364" rIns="122729" bIns="61364">
              <a:spAutoFit/>
            </a:bodyPr>
            <a:lstStyle/>
            <a:p>
              <a:pPr algn="ctr">
                <a:lnSpc>
                  <a:spcPct val="150000"/>
                </a:lnSpc>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点击可抢红包</a:t>
              </a:r>
              <a:endParaRPr lang="en-US" altLang="zh-CN"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lnSpc>
                  <a:spcPct val="150000"/>
                </a:lnSpc>
                <a:defRPr/>
              </a:pP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朋友</a:t>
              </a: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可点击</a:t>
              </a:r>
              <a:endPar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37" name="直接连接符 136"/>
            <p:cNvCxnSpPr>
              <a:stCxn id="136" idx="0"/>
            </p:cNvCxnSpPr>
            <p:nvPr/>
          </p:nvCxnSpPr>
          <p:spPr>
            <a:xfrm flipV="1">
              <a:off x="8048" y="3148"/>
              <a:ext cx="1079" cy="4237"/>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74" name="矩形 173"/>
            <p:cNvSpPr/>
            <p:nvPr/>
          </p:nvSpPr>
          <p:spPr>
            <a:xfrm>
              <a:off x="13451" y="5994"/>
              <a:ext cx="2403" cy="1457"/>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cxnSp>
          <p:nvCxnSpPr>
            <p:cNvPr id="177" name="直接连接符 176"/>
            <p:cNvCxnSpPr/>
            <p:nvPr/>
          </p:nvCxnSpPr>
          <p:spPr>
            <a:xfrm flipV="1">
              <a:off x="13699" y="3148"/>
              <a:ext cx="953" cy="2847"/>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4652" y="3133"/>
              <a:ext cx="13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TextBox 65"/>
            <p:cNvSpPr txBox="1"/>
            <p:nvPr/>
          </p:nvSpPr>
          <p:spPr>
            <a:xfrm>
              <a:off x="14500" y="1944"/>
              <a:ext cx="1858" cy="1010"/>
            </a:xfrm>
            <a:prstGeom prst="rect">
              <a:avLst/>
            </a:prstGeom>
            <a:noFill/>
          </p:spPr>
          <p:txBody>
            <a:bodyPr wrap="square" lIns="122729" tIns="61364" rIns="122729" bIns="61364">
              <a:spAutoFit/>
            </a:bodyPr>
            <a:lstStyle/>
            <a:p>
              <a:pPr algn="ctr">
                <a:lnSpc>
                  <a:spcPct val="150000"/>
                </a:lnSpc>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刮奖区域</a:t>
              </a:r>
              <a:endParaRPr lang="en-US" altLang="zh-CN"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lnSpc>
                  <a:spcPct val="150000"/>
                </a:lnSpc>
                <a:defRPr/>
              </a:pP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可刮奖</a:t>
              </a:r>
              <a:r>
                <a:rPr lang="en-US" altLang="zh-CN"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3</a:t>
              </a: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次</a:t>
              </a:r>
              <a:endPar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17438" name="Picture 66" descr="C:\Users\Administrator\Desktop\Screenshot_2014-07-27-18-29-28.png"/>
            <p:cNvPicPr>
              <a:picLocks noChangeAspect="1" noChangeArrowheads="1"/>
            </p:cNvPicPr>
            <p:nvPr/>
          </p:nvPicPr>
          <p:blipFill>
            <a:blip r:embed="rId3" cstate="print"/>
            <a:srcRect b="2678"/>
            <a:stretch>
              <a:fillRect/>
            </a:stretch>
          </p:blipFill>
          <p:spPr bwMode="auto">
            <a:xfrm>
              <a:off x="9767" y="3417"/>
              <a:ext cx="3089" cy="6274"/>
            </a:xfrm>
            <a:prstGeom prst="rect">
              <a:avLst/>
            </a:prstGeom>
            <a:noFill/>
            <a:ln w="9525">
              <a:noFill/>
              <a:miter lim="800000"/>
              <a:headEnd/>
              <a:tailEnd/>
            </a:ln>
          </p:spPr>
        </p:pic>
        <p:sp>
          <p:nvSpPr>
            <p:cNvPr id="173" name="TextBox 172"/>
            <p:cNvSpPr txBox="1"/>
            <p:nvPr/>
          </p:nvSpPr>
          <p:spPr>
            <a:xfrm>
              <a:off x="11488" y="1908"/>
              <a:ext cx="3011" cy="1150"/>
            </a:xfrm>
            <a:prstGeom prst="rect">
              <a:avLst/>
            </a:prstGeom>
            <a:noFill/>
          </p:spPr>
          <p:txBody>
            <a:bodyPr wrap="square" lIns="122729" tIns="61364" rIns="122729" bIns="61364">
              <a:spAutoFit/>
            </a:bodyPr>
            <a:lstStyle/>
            <a:p>
              <a:pPr algn="ctr">
                <a:lnSpc>
                  <a:spcPct val="150000"/>
                </a:lnSpc>
                <a:defRPr/>
              </a:pPr>
              <a:r>
                <a:rPr lang="zh-CN" altLang="en-US"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红包分享提示</a:t>
              </a:r>
              <a:endParaRPr lang="en-US" altLang="zh-CN" sz="1335" b="1" spc="269"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defRPr/>
              </a:pP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只要朋友打开红包</a:t>
              </a:r>
              <a:r>
                <a:rPr lang="en-US" altLang="zh-CN"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页面</a:t>
              </a:r>
              <a:r>
                <a:rPr lang="en-US" altLang="zh-CN"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defRPr/>
              </a:pPr>
              <a:r>
                <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自己即可获得额外的一个红包。</a:t>
              </a:r>
              <a:endParaRPr lang="zh-CN" altLang="en-US" sz="8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71" name="直接连接符 170"/>
            <p:cNvCxnSpPr/>
            <p:nvPr/>
          </p:nvCxnSpPr>
          <p:spPr>
            <a:xfrm>
              <a:off x="11913" y="3148"/>
              <a:ext cx="1752"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a:stCxn id="169" idx="0"/>
            </p:cNvCxnSpPr>
            <p:nvPr/>
          </p:nvCxnSpPr>
          <p:spPr>
            <a:xfrm flipV="1">
              <a:off x="11313" y="3137"/>
              <a:ext cx="614" cy="274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a:xfrm>
              <a:off x="9969" y="5880"/>
              <a:ext cx="2690" cy="1824"/>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22729" tIns="61364" rIns="122729" bIns="61364" anchor="ctr"/>
            <a:lstStyle/>
            <a:p>
              <a:pPr algn="ctr">
                <a:defRPr/>
              </a:pPr>
              <a:endParaRPr lang="zh-CN" altLang="en-US" sz="2400" dirty="0">
                <a:ea typeface="阿里巴巴普惠体" panose="00020600040101010101" pitchFamily="18" charset="-122"/>
                <a:cs typeface="阿里巴巴普惠体" panose="00020600040101010101" pitchFamily="18" charset="-122"/>
              </a:endParaRPr>
            </a:p>
          </p:txBody>
        </p:sp>
      </p:grpSp>
      <p:sp>
        <p:nvSpPr>
          <p:cNvPr id="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标题 5"/>
          <p:cNvSpPr>
            <a:spLocks noGrp="1"/>
          </p:cNvSpPr>
          <p:nvPr>
            <p:ph type="title"/>
          </p:nvPr>
        </p:nvSpPr>
        <p:spPr/>
        <p:txBody>
          <a:bodyPr/>
          <a:lstStyle/>
          <a:p>
            <a:r>
              <a:rPr lang="zh-CN" altLang="en-US" dirty="0"/>
              <a:t>活动规则</a:t>
            </a:r>
            <a:endParaRPr lang="zh-CN" altLang="en-US" dirty="0"/>
          </a:p>
        </p:txBody>
      </p:sp>
      <p:sp>
        <p:nvSpPr>
          <p:cNvPr id="85" name="矩形 1"/>
          <p:cNvSpPr>
            <a:spLocks noChangeArrowheads="1"/>
          </p:cNvSpPr>
          <p:nvPr/>
        </p:nvSpPr>
        <p:spPr bwMode="auto">
          <a:xfrm>
            <a:off x="2984712" y="1431078"/>
            <a:ext cx="1140056"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案例二：</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ransition spd="slow">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5" name="矩形 1"/>
          <p:cNvSpPr>
            <a:spLocks noChangeArrowheads="1"/>
          </p:cNvSpPr>
          <p:nvPr/>
        </p:nvSpPr>
        <p:spPr bwMode="auto">
          <a:xfrm>
            <a:off x="853017" y="1947333"/>
            <a:ext cx="1140056"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案例二：</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pic>
        <p:nvPicPr>
          <p:cNvPr id="5" name="图片 4"/>
          <p:cNvPicPr>
            <a:picLocks noChangeAspect="1"/>
          </p:cNvPicPr>
          <p:nvPr/>
        </p:nvPicPr>
        <p:blipFill>
          <a:blip r:embed="rId1"/>
          <a:stretch>
            <a:fillRect/>
          </a:stretch>
        </p:blipFill>
        <p:spPr>
          <a:xfrm>
            <a:off x="739458" y="2588895"/>
            <a:ext cx="10713085" cy="3362325"/>
          </a:xfrm>
          <a:prstGeom prst="rect">
            <a:avLst/>
          </a:prstGeom>
          <a:ln>
            <a:solidFill>
              <a:schemeClr val="bg1">
                <a:lumMod val="85000"/>
              </a:schemeClr>
            </a:solidFill>
          </a:ln>
        </p:spPr>
      </p:pic>
    </p:spTree>
  </p:cSld>
  <p:clrMapOvr>
    <a:masterClrMapping/>
  </p:clrMapOvr>
  <p:transition spd="slow">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5" name="矩形 1"/>
          <p:cNvSpPr>
            <a:spLocks noChangeArrowheads="1"/>
          </p:cNvSpPr>
          <p:nvPr/>
        </p:nvSpPr>
        <p:spPr bwMode="auto">
          <a:xfrm>
            <a:off x="853017" y="1947333"/>
            <a:ext cx="1132840" cy="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案例三：</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sp>
        <p:nvSpPr>
          <p:cNvPr id="30" name="文本框 2"/>
          <p:cNvSpPr txBox="1">
            <a:spLocks noChangeArrowheads="1"/>
          </p:cNvSpPr>
          <p:nvPr/>
        </p:nvSpPr>
        <p:spPr bwMode="auto">
          <a:xfrm>
            <a:off x="2351405" y="5782945"/>
            <a:ext cx="90233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rPr>
              <a:t>裂变海报</a:t>
            </a:r>
            <a:endPar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1" name="文本框 12"/>
          <p:cNvSpPr txBox="1">
            <a:spLocks noChangeArrowheads="1"/>
          </p:cNvSpPr>
          <p:nvPr/>
        </p:nvSpPr>
        <p:spPr bwMode="auto">
          <a:xfrm>
            <a:off x="4333240" y="5782945"/>
            <a:ext cx="1856740"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rPr>
              <a:t>加入引导转发</a:t>
            </a:r>
            <a:endPar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文本框 14"/>
          <p:cNvSpPr txBox="1">
            <a:spLocks noChangeArrowheads="1"/>
          </p:cNvSpPr>
          <p:nvPr/>
        </p:nvSpPr>
        <p:spPr bwMode="auto">
          <a:xfrm>
            <a:off x="6321425" y="5782945"/>
            <a:ext cx="159448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rPr>
              <a:t>朋友圈转发海报</a:t>
            </a:r>
            <a:endPar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3" name="文本框 15"/>
          <p:cNvSpPr txBox="1">
            <a:spLocks noChangeArrowheads="1"/>
          </p:cNvSpPr>
          <p:nvPr/>
        </p:nvSpPr>
        <p:spPr bwMode="auto">
          <a:xfrm>
            <a:off x="8463280" y="5779770"/>
            <a:ext cx="120396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rPr>
              <a:t>截图完成审核</a:t>
            </a:r>
            <a:endParaRPr lang="zh-CN" altLang="en-US" sz="1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34" name="图片 10" descr="端午节活动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32610" y="2331085"/>
            <a:ext cx="1983740" cy="3220085"/>
          </a:xfrm>
          <a:prstGeom prst="rect">
            <a:avLst/>
          </a:prstGeom>
          <a:noFill/>
          <a:ln w="9525">
            <a:solidFill>
              <a:schemeClr val="bg1">
                <a:lumMod val="85000"/>
              </a:schemeClr>
            </a:solidFill>
            <a:round/>
          </a:ln>
          <a:extLst>
            <a:ext uri="{909E8E84-426E-40DD-AFC4-6F175D3DCCD1}">
              <a14:hiddenFill xmlns:a14="http://schemas.microsoft.com/office/drawing/2010/main">
                <a:solidFill>
                  <a:srgbClr val="FFFFFF"/>
                </a:solidFill>
              </a14:hiddenFill>
            </a:ext>
          </a:extLst>
        </p:spPr>
      </p:pic>
      <p:pic>
        <p:nvPicPr>
          <p:cNvPr id="35" name="图片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7000" y="2334895"/>
            <a:ext cx="1984375" cy="3221990"/>
          </a:xfrm>
          <a:prstGeom prst="rect">
            <a:avLst/>
          </a:prstGeom>
          <a:noFill/>
          <a:ln w="9525">
            <a:solidFill>
              <a:schemeClr val="bg1">
                <a:lumMod val="85000"/>
              </a:schemeClr>
            </a:solidFill>
            <a:round/>
          </a:ln>
          <a:extLst>
            <a:ext uri="{909E8E84-426E-40DD-AFC4-6F175D3DCCD1}">
              <a14:hiddenFill xmlns:a14="http://schemas.microsoft.com/office/drawing/2010/main">
                <a:solidFill>
                  <a:srgbClr val="FFFFFF"/>
                </a:solidFill>
              </a14:hiddenFill>
            </a:ext>
          </a:extLst>
        </p:spPr>
      </p:pic>
      <p:pic>
        <p:nvPicPr>
          <p:cNvPr id="36" name="图片 19" descr="55352619525902250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7895" y="2333625"/>
            <a:ext cx="1916430" cy="3219450"/>
          </a:xfrm>
          <a:prstGeom prst="rect">
            <a:avLst/>
          </a:prstGeom>
          <a:noFill/>
          <a:ln w="9525">
            <a:solidFill>
              <a:schemeClr val="bg1">
                <a:lumMod val="85000"/>
              </a:schemeClr>
            </a:solidFill>
            <a:round/>
          </a:ln>
          <a:extLst>
            <a:ext uri="{909E8E84-426E-40DD-AFC4-6F175D3DCCD1}">
              <a14:hiddenFill xmlns:a14="http://schemas.microsoft.com/office/drawing/2010/main">
                <a:solidFill>
                  <a:srgbClr val="FFFFFF"/>
                </a:solidFill>
              </a14:hiddenFill>
            </a:ext>
          </a:extLst>
        </p:spPr>
      </p:pic>
      <p:pic>
        <p:nvPicPr>
          <p:cNvPr id="37" name="图片 2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44180" y="2326005"/>
            <a:ext cx="1929130" cy="3213735"/>
          </a:xfrm>
          <a:prstGeom prst="rect">
            <a:avLst/>
          </a:prstGeom>
          <a:noFill/>
          <a:ln w="9525">
            <a:solidFill>
              <a:schemeClr val="bg1">
                <a:lumMod val="85000"/>
              </a:schemeClr>
            </a:solidFill>
            <a:rou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5" name="矩形 1"/>
          <p:cNvSpPr>
            <a:spLocks noChangeArrowheads="1"/>
          </p:cNvSpPr>
          <p:nvPr/>
        </p:nvSpPr>
        <p:spPr bwMode="auto">
          <a:xfrm>
            <a:off x="853017" y="1947333"/>
            <a:ext cx="1132840" cy="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案例三：</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sp>
        <p:nvSpPr>
          <p:cNvPr id="27" name="流程图: 可选过程 26"/>
          <p:cNvSpPr/>
          <p:nvPr/>
        </p:nvSpPr>
        <p:spPr bwMode="auto">
          <a:xfrm>
            <a:off x="2196886" y="2896169"/>
            <a:ext cx="1225448"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活动海报</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其他形式</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8" name="右箭头 3"/>
          <p:cNvSpPr/>
          <p:nvPr/>
        </p:nvSpPr>
        <p:spPr bwMode="auto">
          <a:xfrm>
            <a:off x="3513186" y="3076486"/>
            <a:ext cx="28763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流程图: 可选过程 2"/>
          <p:cNvSpPr/>
          <p:nvPr/>
        </p:nvSpPr>
        <p:spPr bwMode="auto">
          <a:xfrm>
            <a:off x="8835660" y="2870545"/>
            <a:ext cx="1605852"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加入</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裂变</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群</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右箭头 5"/>
          <p:cNvSpPr/>
          <p:nvPr/>
        </p:nvSpPr>
        <p:spPr bwMode="auto">
          <a:xfrm rot="5400000">
            <a:off x="9160294" y="3823869"/>
            <a:ext cx="860503" cy="220191"/>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流程图: 可选过程 4"/>
          <p:cNvSpPr/>
          <p:nvPr/>
        </p:nvSpPr>
        <p:spPr bwMode="auto">
          <a:xfrm>
            <a:off x="6295768" y="4374153"/>
            <a:ext cx="1807072"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用户</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领取任务</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右箭头 7"/>
          <p:cNvSpPr/>
          <p:nvPr/>
        </p:nvSpPr>
        <p:spPr bwMode="auto">
          <a:xfrm rot="10800000">
            <a:off x="8148960" y="4554470"/>
            <a:ext cx="28763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流程图: 可选过程 6"/>
          <p:cNvSpPr/>
          <p:nvPr/>
        </p:nvSpPr>
        <p:spPr bwMode="auto">
          <a:xfrm>
            <a:off x="4363780" y="4374153"/>
            <a:ext cx="1500781"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机器人</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eaLnBrk="1" hangingPunct="1">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截图审核</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右箭头 9"/>
          <p:cNvSpPr/>
          <p:nvPr/>
        </p:nvSpPr>
        <p:spPr bwMode="auto">
          <a:xfrm rot="10800000">
            <a:off x="5935713" y="4554468"/>
            <a:ext cx="28890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流程图: 可选过程 8"/>
          <p:cNvSpPr/>
          <p:nvPr/>
        </p:nvSpPr>
        <p:spPr bwMode="auto">
          <a:xfrm>
            <a:off x="2196887" y="5413558"/>
            <a:ext cx="5557057" cy="677549"/>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关注公众号</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加个人微信好友</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直接在群内</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领取活动奖励</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1" name="流程图: 可选过程 10"/>
          <p:cNvSpPr/>
          <p:nvPr/>
        </p:nvSpPr>
        <p:spPr bwMode="auto">
          <a:xfrm>
            <a:off x="8534047" y="4374154"/>
            <a:ext cx="1927577"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机器人发话术</a:t>
            </a:r>
            <a:endParaRPr lang="en-US" alt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defRPr/>
            </a:pP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（欢迎语</a:t>
            </a:r>
            <a:r>
              <a:rPr lang="en-US" alt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任务说明）</a:t>
            </a:r>
            <a:endPar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右箭头 15"/>
          <p:cNvSpPr/>
          <p:nvPr/>
        </p:nvSpPr>
        <p:spPr bwMode="auto">
          <a:xfrm>
            <a:off x="8393002" y="3050863"/>
            <a:ext cx="28763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直角上箭头 16"/>
          <p:cNvSpPr/>
          <p:nvPr/>
        </p:nvSpPr>
        <p:spPr>
          <a:xfrm rot="10800000">
            <a:off x="2603520" y="4622375"/>
            <a:ext cx="1637631" cy="788103"/>
          </a:xfrm>
          <a:prstGeom prst="bentUpArrow">
            <a:avLst>
              <a:gd name="adj1" fmla="val 14084"/>
              <a:gd name="adj2" fmla="val 12151"/>
              <a:gd name="adj3" fmla="val 1814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43" name="直接连接符 42"/>
          <p:cNvCxnSpPr/>
          <p:nvPr/>
        </p:nvCxnSpPr>
        <p:spPr>
          <a:xfrm>
            <a:off x="3910144" y="2082733"/>
            <a:ext cx="0" cy="1958008"/>
          </a:xfrm>
          <a:prstGeom prst="line">
            <a:avLst/>
          </a:prstGeom>
          <a:ln w="12700">
            <a:solidFill>
              <a:srgbClr val="FE3845"/>
            </a:solidFill>
            <a:prstDash val="dash"/>
          </a:ln>
        </p:spPr>
        <p:style>
          <a:lnRef idx="1">
            <a:schemeClr val="accent1"/>
          </a:lnRef>
          <a:fillRef idx="0">
            <a:schemeClr val="accent1"/>
          </a:fillRef>
          <a:effectRef idx="0">
            <a:schemeClr val="accent1"/>
          </a:effectRef>
          <a:fontRef idx="minor">
            <a:schemeClr val="tx1"/>
          </a:fontRef>
        </p:style>
      </p:cxnSp>
      <p:sp>
        <p:nvSpPr>
          <p:cNvPr id="44" name="右箭头 15"/>
          <p:cNvSpPr/>
          <p:nvPr/>
        </p:nvSpPr>
        <p:spPr bwMode="auto">
          <a:xfrm>
            <a:off x="3979388" y="2163552"/>
            <a:ext cx="4232779" cy="236919"/>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45" name="直接连接符 44"/>
          <p:cNvCxnSpPr/>
          <p:nvPr/>
        </p:nvCxnSpPr>
        <p:spPr>
          <a:xfrm>
            <a:off x="8276473" y="2082733"/>
            <a:ext cx="0" cy="1958008"/>
          </a:xfrm>
          <a:prstGeom prst="line">
            <a:avLst/>
          </a:prstGeom>
          <a:ln w="12700">
            <a:solidFill>
              <a:srgbClr val="FE3845"/>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000994" y="2558776"/>
            <a:ext cx="4171645" cy="373140"/>
            <a:chOff x="3008489" y="2722606"/>
            <a:chExt cx="4171645" cy="373140"/>
          </a:xfrm>
        </p:grpSpPr>
        <p:sp>
          <p:nvSpPr>
            <p:cNvPr id="42" name="流程图: 可选过程 41"/>
            <p:cNvSpPr/>
            <p:nvPr/>
          </p:nvSpPr>
          <p:spPr bwMode="auto">
            <a:xfrm>
              <a:off x="3008489" y="2722606"/>
              <a:ext cx="1617572" cy="373140"/>
            </a:xfrm>
            <a:prstGeom prst="flowChartAlternateProcess">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活动介绍页面</a:t>
              </a:r>
              <a:endPar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7" name="右箭头 14"/>
            <p:cNvSpPr/>
            <p:nvPr/>
          </p:nvSpPr>
          <p:spPr bwMode="auto">
            <a:xfrm>
              <a:off x="4871482" y="2828666"/>
              <a:ext cx="2308652" cy="168373"/>
            </a:xfrm>
            <a:prstGeom prst="rightArrow">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3" name="组合 12"/>
          <p:cNvGrpSpPr/>
          <p:nvPr/>
        </p:nvGrpSpPr>
        <p:grpSpPr>
          <a:xfrm>
            <a:off x="4026673" y="3049144"/>
            <a:ext cx="4125521" cy="373140"/>
            <a:chOff x="3034168" y="3212974"/>
            <a:chExt cx="4125521" cy="373140"/>
          </a:xfrm>
        </p:grpSpPr>
        <p:sp>
          <p:nvSpPr>
            <p:cNvPr id="48" name="流程图: 可选过程 47"/>
            <p:cNvSpPr/>
            <p:nvPr/>
          </p:nvSpPr>
          <p:spPr bwMode="auto">
            <a:xfrm>
              <a:off x="3034168" y="3212974"/>
              <a:ext cx="1591891" cy="373140"/>
            </a:xfrm>
            <a:prstGeom prst="flowChartAlternateProcess">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分组扫码</a:t>
              </a:r>
              <a:r>
                <a:rPr lang="en-US" altLang="zh-CN"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页面</a:t>
              </a:r>
              <a:r>
                <a:rPr lang="en-US" altLang="zh-CN"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9" name="右箭头 14"/>
            <p:cNvSpPr/>
            <p:nvPr/>
          </p:nvSpPr>
          <p:spPr bwMode="auto">
            <a:xfrm>
              <a:off x="4851037" y="3292979"/>
              <a:ext cx="2308652" cy="168373"/>
            </a:xfrm>
            <a:prstGeom prst="rightArrow">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14" name="组合 13"/>
          <p:cNvGrpSpPr/>
          <p:nvPr/>
        </p:nvGrpSpPr>
        <p:grpSpPr>
          <a:xfrm>
            <a:off x="4000993" y="3479073"/>
            <a:ext cx="4147966" cy="584775"/>
            <a:chOff x="3008488" y="3642903"/>
            <a:chExt cx="4147966" cy="584775"/>
          </a:xfrm>
        </p:grpSpPr>
        <p:sp>
          <p:nvSpPr>
            <p:cNvPr id="15" name="流程图: 可选过程 14"/>
            <p:cNvSpPr/>
            <p:nvPr/>
          </p:nvSpPr>
          <p:spPr bwMode="auto">
            <a:xfrm>
              <a:off x="3008488" y="3700530"/>
              <a:ext cx="1617571" cy="373140"/>
            </a:xfrm>
            <a:prstGeom prst="flowChartAlternateProcess">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活动介绍页面</a:t>
              </a:r>
              <a:endPar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8" name="流程图: 可选过程 37"/>
            <p:cNvSpPr/>
            <p:nvPr/>
          </p:nvSpPr>
          <p:spPr bwMode="auto">
            <a:xfrm>
              <a:off x="5341977" y="3700530"/>
              <a:ext cx="1419463" cy="373140"/>
            </a:xfrm>
            <a:prstGeom prst="flowChartAlternateProcess">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分组扫码</a:t>
              </a:r>
              <a:endParaRPr lang="zh-CN" altLang="en-US" sz="1335" noProof="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 name="右箭头 14"/>
            <p:cNvSpPr/>
            <p:nvPr/>
          </p:nvSpPr>
          <p:spPr bwMode="auto">
            <a:xfrm>
              <a:off x="6918555" y="3788383"/>
              <a:ext cx="237899" cy="168373"/>
            </a:xfrm>
            <a:prstGeom prst="rightArrow">
              <a:avLst/>
            </a:prstGeom>
            <a:noFill/>
            <a:ln w="12700">
              <a:solidFill>
                <a:srgbClr val="FF0000"/>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文本框 15"/>
            <p:cNvSpPr txBox="1"/>
            <p:nvPr/>
          </p:nvSpPr>
          <p:spPr>
            <a:xfrm>
              <a:off x="4754199" y="3642903"/>
              <a:ext cx="460427" cy="584775"/>
            </a:xfrm>
            <a:prstGeom prst="rect">
              <a:avLst/>
            </a:prstGeom>
            <a:noFill/>
          </p:spPr>
          <p:txBody>
            <a:bodyPr wrap="square" rtlCol="0">
              <a:spAutoFit/>
            </a:bodyPr>
            <a:p>
              <a:r>
                <a:rPr lang="zh-CN" altLang="en-US" sz="3200"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3200"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7" name="文本框 16"/>
          <p:cNvSpPr txBox="1"/>
          <p:nvPr/>
        </p:nvSpPr>
        <p:spPr>
          <a:xfrm>
            <a:off x="5619115" y="1877060"/>
            <a:ext cx="716280" cy="252730"/>
          </a:xfrm>
          <a:prstGeom prst="rect">
            <a:avLst/>
          </a:prstGeom>
          <a:noFill/>
        </p:spPr>
        <p:txBody>
          <a:bodyPr wrap="none">
            <a:spAutoFit/>
          </a:bodyPr>
          <a:p>
            <a:pPr fontAlgn="auto">
              <a:spcBef>
                <a:spcPts val="0"/>
              </a:spcBef>
              <a:spcAft>
                <a:spcPts val="0"/>
              </a:spcAft>
            </a:pPr>
            <a:r>
              <a:rPr lang="zh-CN" altLang="en-US" sz="1050" dirty="0">
                <a:solidFill>
                  <a:schemeClr val="tx1">
                    <a:lumMod val="65000"/>
                    <a:lumOff val="35000"/>
                  </a:schemeClr>
                </a:solidFill>
                <a:latin typeface="+mn-lt"/>
                <a:ea typeface="+mn-ea"/>
                <a:cs typeface="阿里巴巴普惠体" panose="00020600040101010101" pitchFamily="18" charset="-122"/>
              </a:rPr>
              <a:t>直接入群</a:t>
            </a:r>
            <a:endParaRPr lang="zh-CN" altLang="en-US" sz="1050" dirty="0">
              <a:solidFill>
                <a:schemeClr val="tx1">
                  <a:lumMod val="65000"/>
                  <a:lumOff val="35000"/>
                </a:schemeClr>
              </a:solidFill>
              <a:latin typeface="+mn-lt"/>
              <a:ea typeface="+mn-ea"/>
              <a:cs typeface="阿里巴巴普惠体" panose="00020600040101010101" pitchFamily="18"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1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838201" y="129751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5" name="矩形 1"/>
          <p:cNvSpPr>
            <a:spLocks noChangeArrowheads="1"/>
          </p:cNvSpPr>
          <p:nvPr/>
        </p:nvSpPr>
        <p:spPr bwMode="auto">
          <a:xfrm>
            <a:off x="853017" y="1947333"/>
            <a:ext cx="1132840" cy="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buFont typeface="阿里巴巴普惠体" panose="00020600040101010101" pitchFamily="18" charset="-122"/>
              <a:buNone/>
            </a:pPr>
            <a:r>
              <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rPr>
              <a:t>案例三：</a:t>
            </a:r>
            <a:endParaRPr lang="zh-CN" altLang="en-US" sz="1865">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sp>
        <p:nvSpPr>
          <p:cNvPr id="18" name="流程图: 可选过程 17"/>
          <p:cNvSpPr/>
          <p:nvPr/>
        </p:nvSpPr>
        <p:spPr bwMode="auto">
          <a:xfrm>
            <a:off x="2353504" y="2709654"/>
            <a:ext cx="1323677"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活动海报</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其他形式</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右箭头 18"/>
          <p:cNvSpPr/>
          <p:nvPr/>
        </p:nvSpPr>
        <p:spPr bwMode="auto">
          <a:xfrm>
            <a:off x="3779303" y="2889971"/>
            <a:ext cx="28763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9" name="流程图: 可选过程 28"/>
          <p:cNvSpPr/>
          <p:nvPr/>
        </p:nvSpPr>
        <p:spPr bwMode="auto">
          <a:xfrm>
            <a:off x="4169053" y="2709654"/>
            <a:ext cx="1713088"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关注公众号</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右箭头 29"/>
          <p:cNvSpPr/>
          <p:nvPr/>
        </p:nvSpPr>
        <p:spPr bwMode="auto">
          <a:xfrm>
            <a:off x="5984261" y="2889971"/>
            <a:ext cx="28890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1" name="右箭头 30"/>
          <p:cNvSpPr/>
          <p:nvPr/>
        </p:nvSpPr>
        <p:spPr bwMode="auto">
          <a:xfrm>
            <a:off x="7982863" y="2889971"/>
            <a:ext cx="28763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流程图: 可选过程 31"/>
          <p:cNvSpPr/>
          <p:nvPr/>
        </p:nvSpPr>
        <p:spPr bwMode="auto">
          <a:xfrm>
            <a:off x="6375282" y="2709654"/>
            <a:ext cx="1505460"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公众号弹出入群二维码</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3" name="右箭头 32"/>
          <p:cNvSpPr/>
          <p:nvPr/>
        </p:nvSpPr>
        <p:spPr bwMode="auto">
          <a:xfrm rot="5400000">
            <a:off x="8963011" y="3859470"/>
            <a:ext cx="622221" cy="21588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4" name="流程图: 可选过程 33"/>
          <p:cNvSpPr/>
          <p:nvPr/>
        </p:nvSpPr>
        <p:spPr bwMode="auto">
          <a:xfrm>
            <a:off x="6369960" y="4632189"/>
            <a:ext cx="1510783"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领取任务</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右箭头 34"/>
          <p:cNvSpPr/>
          <p:nvPr/>
        </p:nvSpPr>
        <p:spPr bwMode="auto">
          <a:xfrm rot="10800000">
            <a:off x="7982863" y="4813142"/>
            <a:ext cx="28763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6" name="流程图: 可选过程 35"/>
          <p:cNvSpPr/>
          <p:nvPr/>
        </p:nvSpPr>
        <p:spPr bwMode="auto">
          <a:xfrm>
            <a:off x="4169053" y="4632187"/>
            <a:ext cx="1709792"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机器人</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截图审核</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7" name="右箭头 36"/>
          <p:cNvSpPr/>
          <p:nvPr/>
        </p:nvSpPr>
        <p:spPr bwMode="auto">
          <a:xfrm rot="10800000">
            <a:off x="5980965" y="4812506"/>
            <a:ext cx="28890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流程图: 可选过程 19"/>
          <p:cNvSpPr/>
          <p:nvPr/>
        </p:nvSpPr>
        <p:spPr bwMode="auto">
          <a:xfrm>
            <a:off x="2350136" y="4632186"/>
            <a:ext cx="1369095"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在群内</a:t>
            </a:r>
            <a:r>
              <a:rPr lang="en-US" altLang="zh-CN"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领取活动奖励</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9" name="流程图: 可选过程 38"/>
          <p:cNvSpPr/>
          <p:nvPr/>
        </p:nvSpPr>
        <p:spPr bwMode="auto">
          <a:xfrm>
            <a:off x="8370584" y="4632189"/>
            <a:ext cx="1953196"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a:defRPr/>
            </a:pP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机器人发话术</a:t>
            </a:r>
            <a:endParaRPr lang="en-US" alt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defRPr/>
            </a:pP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（欢迎语</a:t>
            </a:r>
            <a:r>
              <a:rPr lang="en-US" altLang="zh-CN"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任务说明）</a:t>
            </a:r>
            <a:endParaRPr lang="zh-CN" altLang="en-US" sz="14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流程图: 可选过程 20"/>
          <p:cNvSpPr/>
          <p:nvPr/>
        </p:nvSpPr>
        <p:spPr bwMode="auto">
          <a:xfrm>
            <a:off x="8372613" y="2726130"/>
            <a:ext cx="1951005" cy="576507"/>
          </a:xfrm>
          <a:prstGeom prst="flowChartAlternateProcess">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r>
              <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rPr>
              <a:t>识别二维码进群</a:t>
            </a:r>
            <a:endParaRPr lang="zh-CN" altLang="en-US" sz="16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右箭头 21"/>
          <p:cNvSpPr/>
          <p:nvPr/>
        </p:nvSpPr>
        <p:spPr bwMode="auto">
          <a:xfrm rot="10800000">
            <a:off x="3778032" y="4812507"/>
            <a:ext cx="288901" cy="215873"/>
          </a:xfrm>
          <a:prstGeom prst="right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sz="1800" noProof="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ransition spd="slow">
    <p:push/>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占位符 6"/>
          <p:cNvSpPr>
            <a:spLocks noGrp="1"/>
          </p:cNvSpPr>
          <p:nvPr>
            <p:ph type="body" sz="quarter" idx="10"/>
          </p:nvPr>
        </p:nvSpPr>
        <p:spPr>
          <a:xfrm>
            <a:off x="4081780" y="1639570"/>
            <a:ext cx="5948680" cy="3332480"/>
          </a:xfrm>
        </p:spPr>
        <p:txBody>
          <a:bodyPr/>
          <a:p>
            <a:pPr marL="0" indent="0">
              <a:buNone/>
            </a:pPr>
            <a:r>
              <a:rPr lang="zh-CN" altLang="en-US"/>
              <a:t>请阐述一个给用户送资源的裂变流程，主要是给公众号吸粉、群拉用户。</a:t>
            </a:r>
            <a:endParaRPr lang="zh-CN" altLang="en-US"/>
          </a:p>
        </p:txBody>
      </p:sp>
      <p:sp>
        <p:nvSpPr>
          <p:cNvPr id="8" name="标题 7"/>
          <p:cNvSpPr>
            <a:spLocks noGrp="1"/>
          </p:cNvSpPr>
          <p:nvPr>
            <p:ph type="title"/>
          </p:nvPr>
        </p:nvSpPr>
        <p:spPr/>
        <p:txBody>
          <a:bodyPr/>
          <a:p>
            <a:r>
              <a:rPr lang="zh-CN" altLang="en-US"/>
              <a:t>思考</a:t>
            </a:r>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sz="quarter" idx="10"/>
          </p:nvPr>
        </p:nvSpPr>
        <p:spPr>
          <a:xfrm>
            <a:off x="4118610" y="1379220"/>
            <a:ext cx="6529070" cy="3895725"/>
          </a:xfrm>
        </p:spPr>
        <p:txBody>
          <a:bodyPr/>
          <a:p>
            <a:pPr marL="0" indent="0">
              <a:buFont typeface="+mj-lt"/>
              <a:buNone/>
            </a:pPr>
            <a:r>
              <a:rPr lang="zh-CN" altLang="en-US"/>
              <a:t>我是做理财公司的，请为我想一套用户裂变参与流程，目的是</a:t>
            </a:r>
            <a:r>
              <a:rPr lang="zh-CN" altLang="en-US">
                <a:highlight>
                  <a:srgbClr val="FFFF00"/>
                </a:highlight>
              </a:rPr>
              <a:t>个人吸粉</a:t>
            </a:r>
            <a:r>
              <a:rPr lang="zh-CN" altLang="en-US"/>
              <a:t>与</a:t>
            </a:r>
            <a:r>
              <a:rPr lang="zh-CN" altLang="en-US">
                <a:highlight>
                  <a:srgbClr val="FFFF00"/>
                </a:highlight>
              </a:rPr>
              <a:t>社群吸粉</a:t>
            </a:r>
            <a:r>
              <a:rPr lang="zh-CN" altLang="en-US"/>
              <a:t>。</a:t>
            </a:r>
            <a:endParaRPr lang="zh-CN" altLang="en-US"/>
          </a:p>
        </p:txBody>
      </p:sp>
      <p:sp>
        <p:nvSpPr>
          <p:cNvPr id="6" name="标题 5"/>
          <p:cNvSpPr>
            <a:spLocks noGrp="1"/>
          </p:cNvSpPr>
          <p:nvPr>
            <p:ph type="title"/>
          </p:nvPr>
        </p:nvSpPr>
        <p:spPr/>
        <p:txBody>
          <a:bodyPr/>
          <a:p>
            <a:r>
              <a:rPr lang="zh-CN" altLang="en-US"/>
              <a:t>思考</a:t>
            </a:r>
            <a:endParaRPr lang="zh-CN" alt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240040" y="2356579"/>
            <a:ext cx="6437095" cy="2076450"/>
          </a:xfrm>
          <a:prstGeom prst="rect">
            <a:avLst/>
          </a:prstGeom>
          <a:noFill/>
        </p:spPr>
        <p:txBody>
          <a:bodyPr wrap="square">
            <a:spAutoFit/>
          </a:bodyPr>
          <a:lstStyle/>
          <a:p>
            <a:pPr>
              <a:lnSpc>
                <a:spcPct val="150000"/>
              </a:lnSpc>
              <a:defRPr/>
            </a:pP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设计用户参与流程图，可以帮助我们检查用户参与路径的便捷性，提升用户体验，同时有助于我们进行工作任务拆解，</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但具体流程图应该怎么设计呢？</a:t>
            </a:r>
            <a:endPar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制作流程图工具：</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rPr>
              <a:t>process on / wps  </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rPr>
              <a:t>xmd</a:t>
            </a:r>
            <a:endPar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p:cNvSpPr>
            <a:spLocks noGrp="1"/>
          </p:cNvSpPr>
          <p:nvPr>
            <p:ph type="title"/>
          </p:nvPr>
        </p:nvSpPr>
        <p:spPr/>
        <p:txBody>
          <a:bodyPr/>
          <a:lstStyle/>
          <a:p>
            <a:r>
              <a:rPr lang="zh-CN" altLang="en-US" dirty="0"/>
              <a:t>活动规则</a:t>
            </a:r>
            <a:endParaRPr lang="zh-CN" altLang="en-US" dirty="0"/>
          </a:p>
        </p:txBody>
      </p:sp>
      <p:sp>
        <p:nvSpPr>
          <p:cNvPr id="10" name="TextBox 9"/>
          <p:cNvSpPr txBox="1">
            <a:spLocks noChangeArrowheads="1"/>
          </p:cNvSpPr>
          <p:nvPr/>
        </p:nvSpPr>
        <p:spPr bwMode="auto">
          <a:xfrm>
            <a:off x="5263516" y="169883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4" name="组合 3"/>
          <p:cNvGrpSpPr/>
          <p:nvPr/>
        </p:nvGrpSpPr>
        <p:grpSpPr>
          <a:xfrm>
            <a:off x="5281930" y="4745355"/>
            <a:ext cx="4751070" cy="1002665"/>
            <a:chOff x="8318" y="7473"/>
            <a:chExt cx="7482" cy="1579"/>
          </a:xfrm>
        </p:grpSpPr>
        <p:pic>
          <p:nvPicPr>
            <p:cNvPr id="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318" y="7542"/>
              <a:ext cx="1863" cy="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94" y="7473"/>
              <a:ext cx="1580" cy="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88" y="7536"/>
              <a:ext cx="1913" cy="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活动规则</a:t>
            </a:r>
            <a:endParaRPr lang="zh-CN" altLang="en-US" dirty="0"/>
          </a:p>
        </p:txBody>
      </p:sp>
      <p:sp>
        <p:nvSpPr>
          <p:cNvPr id="10" name="TextBox 9"/>
          <p:cNvSpPr txBox="1">
            <a:spLocks noChangeArrowheads="1"/>
          </p:cNvSpPr>
          <p:nvPr/>
        </p:nvSpPr>
        <p:spPr bwMode="auto">
          <a:xfrm>
            <a:off x="4998086" y="1456268"/>
            <a:ext cx="4686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buFont typeface="阿里巴巴普惠体" panose="00020600040101010101" pitchFamily="18" charset="-122"/>
              <a:buNone/>
            </a:pPr>
            <a:r>
              <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用户参与流程图</a:t>
            </a:r>
            <a:endParaRPr lang="zh-CN" altLang="en-US" sz="2000"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占位符 8"/>
          <p:cNvSpPr>
            <a:spLocks noGrp="1"/>
          </p:cNvSpPr>
          <p:nvPr>
            <p:ph type="body" sz="quarter" idx="10"/>
          </p:nvPr>
        </p:nvSpPr>
        <p:spPr>
          <a:xfrm>
            <a:off x="4987925" y="1957705"/>
            <a:ext cx="6508750" cy="3808095"/>
          </a:xfrm>
        </p:spPr>
        <p:txBody>
          <a:bodyPr anchor="t"/>
          <a:lstStyle/>
          <a:p>
            <a:pPr marL="0" indent="0">
              <a:buNone/>
            </a:pPr>
            <a:r>
              <a:rPr lang="zh-CN" altLang="en-US" sz="1400" dirty="0"/>
              <a:t>用户参与路径设计原则是</a:t>
            </a:r>
            <a:r>
              <a:rPr lang="zh-CN" altLang="en-US" sz="1400" dirty="0">
                <a:solidFill>
                  <a:srgbClr val="FF0000"/>
                </a:solidFill>
              </a:rPr>
              <a:t>“</a:t>
            </a:r>
            <a:r>
              <a:rPr lang="zh-CN" altLang="en-US" sz="1400" dirty="0">
                <a:solidFill>
                  <a:srgbClr val="FF0000"/>
                </a:solidFill>
                <a:sym typeface="+mn-ea"/>
              </a:rPr>
              <a:t>简单</a:t>
            </a:r>
            <a:r>
              <a:rPr lang="zh-CN" altLang="en-US" sz="1400" dirty="0">
                <a:solidFill>
                  <a:srgbClr val="FF0000"/>
                </a:solidFill>
              </a:rPr>
              <a:t>”</a:t>
            </a:r>
            <a:r>
              <a:rPr lang="zh-CN" altLang="en-US" sz="1400" dirty="0"/>
              <a:t>，要求尽量减少环节，降低用户的操作成本。</a:t>
            </a:r>
            <a:endParaRPr lang="en-US" altLang="zh-CN" sz="1400" dirty="0"/>
          </a:p>
          <a:p>
            <a:pPr marL="0" indent="0">
              <a:buNone/>
            </a:pPr>
            <a:r>
              <a:rPr lang="zh-CN" altLang="en-US" sz="1400" dirty="0"/>
              <a:t>当前社群裂变最常见的（用户参与路径）玩法为：</a:t>
            </a:r>
            <a:endParaRPr lang="zh-CN" altLang="en-US" sz="1400" dirty="0"/>
          </a:p>
          <a:p>
            <a:pPr marL="0" indent="0">
              <a:buNone/>
            </a:pPr>
            <a:r>
              <a:rPr lang="zh-CN" altLang="en-US" sz="1400" dirty="0"/>
              <a:t>        第</a:t>
            </a:r>
            <a:r>
              <a:rPr lang="en-US" altLang="zh-CN" sz="1400" dirty="0"/>
              <a:t>1</a:t>
            </a:r>
            <a:r>
              <a:rPr lang="zh-CN" altLang="en-US" sz="1400" dirty="0"/>
              <a:t>步：在公众号</a:t>
            </a:r>
            <a:r>
              <a:rPr lang="en-US" altLang="zh-CN" sz="1400" dirty="0"/>
              <a:t>/</a:t>
            </a:r>
            <a:r>
              <a:rPr lang="zh-CN" altLang="en-US" sz="1400" dirty="0"/>
              <a:t>朋友圈</a:t>
            </a:r>
            <a:r>
              <a:rPr lang="en-US" altLang="zh-CN" sz="1400" dirty="0"/>
              <a:t>/</a:t>
            </a:r>
            <a:r>
              <a:rPr lang="zh-CN" altLang="en-US" sz="1400" dirty="0"/>
              <a:t>微信群等渠道看见裂变海报，引起兴趣</a:t>
            </a:r>
            <a:endParaRPr lang="zh-CN" altLang="en-US" sz="1400" dirty="0"/>
          </a:p>
          <a:p>
            <a:pPr marL="0" indent="0">
              <a:buNone/>
            </a:pPr>
            <a:r>
              <a:rPr lang="zh-CN" altLang="en-US" sz="1400" dirty="0"/>
              <a:t>        第</a:t>
            </a:r>
            <a:r>
              <a:rPr lang="en-US" altLang="zh-CN" sz="1400" dirty="0"/>
              <a:t>2</a:t>
            </a:r>
            <a:r>
              <a:rPr lang="zh-CN" altLang="en-US" sz="1400" dirty="0"/>
              <a:t>步：扫码入群</a:t>
            </a:r>
            <a:endParaRPr lang="zh-CN" altLang="en-US" sz="1400" dirty="0"/>
          </a:p>
          <a:p>
            <a:pPr marL="0" indent="0">
              <a:buNone/>
            </a:pPr>
            <a:r>
              <a:rPr lang="zh-CN" altLang="en-US" sz="1400" dirty="0"/>
              <a:t>        第</a:t>
            </a:r>
            <a:r>
              <a:rPr lang="en-US" altLang="zh-CN" sz="1400" dirty="0"/>
              <a:t>3</a:t>
            </a:r>
            <a:r>
              <a:rPr lang="zh-CN" altLang="en-US" sz="1400" dirty="0"/>
              <a:t>步：收到欢迎语和转发任务</a:t>
            </a:r>
            <a:endParaRPr lang="zh-CN" altLang="en-US" sz="1400" dirty="0"/>
          </a:p>
          <a:p>
            <a:pPr marL="0" indent="0">
              <a:buNone/>
            </a:pPr>
            <a:r>
              <a:rPr lang="zh-CN" altLang="en-US" sz="1400" dirty="0"/>
              <a:t>        第</a:t>
            </a:r>
            <a:r>
              <a:rPr lang="en-US" altLang="zh-CN" sz="1400" dirty="0"/>
              <a:t>4</a:t>
            </a:r>
            <a:r>
              <a:rPr lang="zh-CN" altLang="en-US" sz="1400" dirty="0"/>
              <a:t>步：完成转发任务</a:t>
            </a:r>
            <a:endParaRPr lang="zh-CN" altLang="en-US" sz="1400" dirty="0"/>
          </a:p>
          <a:p>
            <a:pPr marL="0" indent="0">
              <a:buNone/>
            </a:pPr>
            <a:r>
              <a:rPr lang="zh-CN" altLang="en-US" sz="1400" dirty="0"/>
              <a:t>        第</a:t>
            </a:r>
            <a:r>
              <a:rPr lang="en-US" altLang="zh-CN" sz="1400" dirty="0"/>
              <a:t>5</a:t>
            </a:r>
            <a:r>
              <a:rPr lang="zh-CN" altLang="en-US" sz="1400" dirty="0"/>
              <a:t>步：截图回复到群里</a:t>
            </a:r>
            <a:endParaRPr lang="zh-CN" altLang="en-US" sz="1400" dirty="0"/>
          </a:p>
          <a:p>
            <a:pPr marL="0" indent="0">
              <a:buNone/>
            </a:pPr>
            <a:r>
              <a:rPr lang="zh-CN" altLang="en-US" sz="1400" dirty="0"/>
              <a:t>        第</a:t>
            </a:r>
            <a:r>
              <a:rPr lang="en-US" altLang="zh-CN" sz="1400" dirty="0"/>
              <a:t>6</a:t>
            </a:r>
            <a:r>
              <a:rPr lang="zh-CN" altLang="en-US" sz="1400" dirty="0"/>
              <a:t>步：收到审核消息（领取</a:t>
            </a:r>
            <a:r>
              <a:rPr lang="zh-CN" altLang="en-US" sz="1400" dirty="0"/>
              <a:t>奖励）</a:t>
            </a:r>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wipe(left)">
                                      <p:cBhvr>
                                        <p:cTn id="7" dur="100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wipe(left)">
                                      <p:cBhvr>
                                        <p:cTn id="12" dur="1000"/>
                                        <p:tgtEl>
                                          <p:spTgt spid="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wipe(left)">
                                      <p:cBhvr>
                                        <p:cTn id="17" dur="100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wipe(left)">
                                      <p:cBhvr>
                                        <p:cTn id="22" dur="10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wipe(left)">
                                      <p:cBhvr>
                                        <p:cTn id="27" dur="1000"/>
                                        <p:tgtEl>
                                          <p:spTgt spid="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wipe(left)">
                                      <p:cBhvr>
                                        <p:cTn id="32" dur="10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t>练习</a:t>
            </a:r>
            <a:endParaRPr lang="zh-CN" altLang="en-US"/>
          </a:p>
        </p:txBody>
      </p:sp>
      <p:sp>
        <p:nvSpPr>
          <p:cNvPr id="6" name="文本占位符 4"/>
          <p:cNvSpPr>
            <a:spLocks noGrp="1"/>
          </p:cNvSpPr>
          <p:nvPr/>
        </p:nvSpPr>
        <p:spPr>
          <a:xfrm>
            <a:off x="2047240" y="1669415"/>
            <a:ext cx="9261475" cy="42195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90204" pitchFamily="34" charset="0"/>
              <a:buNone/>
              <a:defRPr sz="1600" kern="1200">
                <a:solidFill>
                  <a:schemeClr val="tx1">
                    <a:lumMod val="85000"/>
                    <a:lumOff val="15000"/>
                  </a:schemeClr>
                </a:solidFill>
                <a:latin typeface="阿里巴巴普惠体" panose="00020600040101010101" pitchFamily="18" charset="-122"/>
                <a:ea typeface="阿里巴巴普惠体 B"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endParaRPr lang="zh-CN" altLang="en-US" sz="1800" dirty="0">
              <a:ea typeface="阿里巴巴普惠体" panose="00020600040101010101" pitchFamily="18" charset="-122"/>
            </a:endParaRPr>
          </a:p>
          <a:p>
            <a:r>
              <a:rPr lang="zh-CN" altLang="en-US" sz="1800" b="1" dirty="0">
                <a:ea typeface="阿里巴巴普惠体" panose="00020600040101010101" pitchFamily="18" charset="-122"/>
              </a:rPr>
              <a:t>——要求：</a:t>
            </a:r>
            <a:endParaRPr lang="zh-CN" altLang="en-US" sz="1800" b="1" dirty="0">
              <a:ea typeface="阿里巴巴普惠体" panose="00020600040101010101" pitchFamily="18" charset="-122"/>
            </a:endParaRPr>
          </a:p>
          <a:p>
            <a:pPr marL="285750" indent="-285750">
              <a:buFont typeface="Arial" panose="020B0604020202090204" pitchFamily="34" charset="0"/>
              <a:buChar char="•"/>
            </a:pPr>
            <a:r>
              <a:rPr lang="zh-CN" altLang="en-US" sz="1800" dirty="0">
                <a:ea typeface="阿里巴巴普惠体" panose="00020600040101010101" pitchFamily="18" charset="-122"/>
              </a:rPr>
              <a:t>根据个人确定的社群裂变活动，为活动撰写用户参与路径。</a:t>
            </a:r>
            <a:endParaRPr lang="zh-CN" altLang="en-US" sz="1800" dirty="0">
              <a:ea typeface="阿里巴巴普惠体" panose="00020600040101010101" pitchFamily="18" charset="-122"/>
            </a:endParaRPr>
          </a:p>
          <a:p>
            <a:pPr marL="285750" indent="-285750">
              <a:buFont typeface="Arial" panose="020B0604020202090204" pitchFamily="34" charset="0"/>
              <a:buChar char="•"/>
            </a:pPr>
            <a:r>
              <a:rPr lang="zh-CN" altLang="en-US" sz="1800" dirty="0">
                <a:ea typeface="阿里巴巴普惠体" panose="00020600040101010101" pitchFamily="18" charset="-122"/>
                <a:sym typeface="+mn-ea"/>
              </a:rPr>
              <a:t>完善参与流程详细说明与活动奖品</a:t>
            </a:r>
            <a:endParaRPr lang="zh-CN" altLang="en-US" sz="1800" dirty="0">
              <a:ea typeface="阿里巴巴普惠体" panose="00020600040101010101" pitchFamily="18" charset="-122"/>
              <a:sym typeface="+mn-ea"/>
            </a:endParaRPr>
          </a:p>
          <a:p>
            <a:pPr marL="285750" indent="-285750">
              <a:buFont typeface="Arial" panose="020B0604020202090204" pitchFamily="34" charset="0"/>
              <a:buChar char="•"/>
            </a:pPr>
            <a:r>
              <a:rPr lang="zh-CN" altLang="en-US" sz="1800" dirty="0">
                <a:ea typeface="阿里巴巴普惠体" panose="00020600040101010101" pitchFamily="18" charset="-122"/>
                <a:sym typeface="+mn-ea"/>
              </a:rPr>
              <a:t>文字的形式介绍用户的参与方式</a:t>
            </a:r>
            <a:endParaRPr lang="zh-CN" altLang="en-US" sz="1800" dirty="0">
              <a:ea typeface="阿里巴巴普惠体" panose="00020600040101010101" pitchFamily="18" charset="-122"/>
              <a:sym typeface="+mn-ea"/>
            </a:endParaRPr>
          </a:p>
          <a:p>
            <a:endParaRPr lang="zh-CN" altLang="en-US" sz="1800" dirty="0">
              <a:ea typeface="阿里巴巴普惠体" panose="00020600040101010101" pitchFamily="18" charset="-122"/>
            </a:endParaRPr>
          </a:p>
          <a:p>
            <a:r>
              <a:rPr lang="zh-CN" altLang="en-US" sz="1800" dirty="0">
                <a:ea typeface="阿里巴巴普惠体" panose="00020600040101010101" pitchFamily="18" charset="-122"/>
              </a:rPr>
              <a:t>时间：</a:t>
            </a:r>
            <a:r>
              <a:rPr lang="en-US" altLang="zh-CN" sz="1800" dirty="0">
                <a:ea typeface="阿里巴巴普惠体" panose="00020600040101010101" pitchFamily="18" charset="-122"/>
              </a:rPr>
              <a:t>30</a:t>
            </a:r>
            <a:r>
              <a:rPr lang="zh-CN" altLang="en-US" sz="1800" dirty="0">
                <a:ea typeface="阿里巴巴普惠体" panose="00020600040101010101" pitchFamily="18" charset="-122"/>
              </a:rPr>
              <a:t>分钟</a:t>
            </a:r>
            <a:endParaRPr lang="zh-CN" altLang="en-US" sz="1800" dirty="0">
              <a:ea typeface="阿里巴巴普惠体" panose="00020600040101010101" pitchFamily="18" charset="-122"/>
            </a:endParaRPr>
          </a:p>
          <a:p>
            <a:r>
              <a:rPr lang="zh-CN" altLang="en-US" sz="1800" dirty="0">
                <a:solidFill>
                  <a:schemeClr val="tx1"/>
                </a:solidFill>
                <a:ea typeface="阿里巴巴普惠体" panose="00020600040101010101" pitchFamily="18" charset="-122"/>
                <a:sym typeface="+mn-ea"/>
              </a:rPr>
              <a:t>提交方式：提交到在线表格中</a:t>
            </a:r>
            <a:endParaRPr lang="zh-CN" altLang="en-US" sz="1800" dirty="0">
              <a:solidFill>
                <a:schemeClr val="tx1"/>
              </a:solidFill>
              <a:ea typeface="阿里巴巴普惠体" panose="00020600040101010101" pitchFamily="18" charset="-122"/>
              <a:sym typeface="+mn-ea"/>
            </a:endParaRPr>
          </a:p>
          <a:p>
            <a:endParaRPr lang="en-US" altLang="zh-CN" sz="1800" dirty="0">
              <a:solidFill>
                <a:schemeClr val="tx1"/>
              </a:solidFill>
              <a:ea typeface="阿里巴巴普惠体" panose="00020600040101010101" pitchFamily="18"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sz="2800" dirty="0">
                <a:latin typeface="阿里巴巴普惠体" panose="00020600040101010101" pitchFamily="18" charset="-122"/>
              </a:rPr>
              <a:t>活动规则</a:t>
            </a:r>
            <a:endParaRPr kumimoji="1" lang="zh-CN" altLang="en-US" sz="2800" dirty="0">
              <a:latin typeface="阿里巴巴普惠体" panose="00020600040101010101" pitchFamily="18" charset="-122"/>
            </a:endParaRPr>
          </a:p>
        </p:txBody>
      </p:sp>
      <p:sp>
        <p:nvSpPr>
          <p:cNvPr id="3" name="文本占位符 2"/>
          <p:cNvSpPr>
            <a:spLocks noGrp="1"/>
          </p:cNvSpPr>
          <p:nvPr>
            <p:ph type="body" idx="10"/>
          </p:nvPr>
        </p:nvSpPr>
        <p:spPr/>
        <p:txBody>
          <a:bodyPr/>
          <a:lstStyle/>
          <a:p>
            <a:pPr marL="342900" indent="-342900">
              <a:buFont typeface="+mj-lt"/>
              <a:buAutoNum type="arabicPeriod"/>
            </a:pPr>
            <a:r>
              <a:rPr kumimoji="1" lang="zh-CN" altLang="en-US" dirty="0">
                <a:solidFill>
                  <a:schemeClr val="tx1"/>
                </a:solidFill>
              </a:rPr>
              <a:t>用户参与流程图</a:t>
            </a:r>
            <a:endParaRPr kumimoji="1" lang="zh-CN" altLang="en-US" dirty="0">
              <a:solidFill>
                <a:schemeClr val="tx1"/>
              </a:solidFill>
            </a:endParaRPr>
          </a:p>
          <a:p>
            <a:pPr marL="342900" indent="-342900">
              <a:buFont typeface="+mj-lt"/>
              <a:buAutoNum type="arabicPeriod"/>
            </a:pPr>
            <a:r>
              <a:rPr kumimoji="1" lang="zh-CN" altLang="en-US" b="1" dirty="0">
                <a:solidFill>
                  <a:srgbClr val="0067E1"/>
                </a:solidFill>
              </a:rPr>
              <a:t>制作裂变海报及物料</a:t>
            </a:r>
            <a:endParaRPr kumimoji="1" lang="zh-CN" altLang="en-US" b="1" dirty="0">
              <a:solidFill>
                <a:srgbClr val="0067E1"/>
              </a:solidFill>
            </a:endParaRPr>
          </a:p>
          <a:p>
            <a:pPr marL="342900" indent="-342900" algn="l">
              <a:buClrTx/>
              <a:buSzTx/>
              <a:buFont typeface="+mj-lt"/>
              <a:buAutoNum type="arabicPeriod"/>
            </a:pPr>
            <a:r>
              <a:rPr kumimoji="1" lang="zh-CN" altLang="en-US" dirty="0">
                <a:solidFill>
                  <a:schemeClr val="tx1"/>
                </a:solidFill>
              </a:rPr>
              <a:t>裂变活动运营话术文案</a:t>
            </a:r>
            <a:endParaRPr kumimoji="1" lang="zh-CN" altLang="en-US" b="1" dirty="0">
              <a:solidFill>
                <a:srgbClr val="0067E1"/>
              </a:solidFill>
            </a:endParaRPr>
          </a:p>
        </p:txBody>
      </p:sp>
      <p:sp>
        <p:nvSpPr>
          <p:cNvPr id="5" name="文本占位符 4"/>
          <p:cNvSpPr>
            <a:spLocks noGrp="1"/>
          </p:cNvSpPr>
          <p:nvPr>
            <p:ph type="body" sz="quarter" idx="11"/>
          </p:nvPr>
        </p:nvSpPr>
        <p:spPr/>
        <p:txBody>
          <a:bodyPr/>
          <a:lstStyle/>
          <a:p>
            <a:r>
              <a:rPr lang="en-US" altLang="zh-CN" dirty="0"/>
              <a:t>06</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866959" y="539115"/>
            <a:ext cx="6298881" cy="4777329"/>
          </a:xfrm>
        </p:spPr>
        <p:txBody>
          <a:bodyPr/>
          <a:lstStyle/>
          <a:p>
            <a:r>
              <a:rPr lang="zh-CN" altLang="en-US" dirty="0"/>
              <a:t>按照裂变海报结构</a:t>
            </a:r>
            <a:r>
              <a:rPr lang="en-US" altLang="zh-CN" dirty="0"/>
              <a:t>6</a:t>
            </a:r>
            <a:r>
              <a:rPr lang="zh-CN" altLang="en-US" dirty="0"/>
              <a:t>大要素要求设计裂变海报</a:t>
            </a:r>
            <a:endParaRPr lang="zh-CN" altLang="en-US" dirty="0"/>
          </a:p>
          <a:p>
            <a:r>
              <a:rPr lang="zh-CN" altLang="en-US" dirty="0"/>
              <a:t>利用恐惧心理、获得心理和求快心理撰写裂变海报文案，击打用户痛点</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grpSp>
        <p:nvGrpSpPr>
          <p:cNvPr id="9" name="组合 8"/>
          <p:cNvGrpSpPr/>
          <p:nvPr/>
        </p:nvGrpSpPr>
        <p:grpSpPr>
          <a:xfrm>
            <a:off x="5091373" y="2312987"/>
            <a:ext cx="2337438" cy="4155443"/>
            <a:chOff x="4590730" y="1548302"/>
            <a:chExt cx="2711960" cy="482126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90730" y="1548302"/>
              <a:ext cx="2711960" cy="4821260"/>
            </a:xfrm>
            <a:prstGeom prst="rect">
              <a:avLst/>
            </a:prstGeom>
          </p:spPr>
        </p:pic>
        <p:sp>
          <p:nvSpPr>
            <p:cNvPr id="11" name="矩形: 圆角 10"/>
            <p:cNvSpPr/>
            <p:nvPr/>
          </p:nvSpPr>
          <p:spPr>
            <a:xfrm>
              <a:off x="6319935" y="5406114"/>
              <a:ext cx="873967" cy="873967"/>
            </a:xfrm>
            <a:prstGeom prst="roundRect">
              <a:avLst/>
            </a:prstGeom>
            <a:solidFill>
              <a:srgbClr val="0F1F5A"/>
            </a:solidFill>
            <a:ln>
              <a:solidFill>
                <a:srgbClr val="0F1F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grpSp>
      <p:pic>
        <p:nvPicPr>
          <p:cNvPr id="19" name="图片 18" descr="文本&#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354" y="2311949"/>
            <a:ext cx="2337437" cy="4156255"/>
          </a:xfrm>
          <a:prstGeom prst="rect">
            <a:avLst/>
          </a:prstGeom>
        </p:spPr>
      </p:pic>
      <p:pic>
        <p:nvPicPr>
          <p:cNvPr id="20" name="图片 19" descr="日历&#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8393" y="2311948"/>
            <a:ext cx="2337437" cy="4157521"/>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优秀的裂变海报物料</a:t>
            </a:r>
            <a:r>
              <a:rPr lang="en-US" altLang="zh-CN"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基础</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要素</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grpSp>
        <p:nvGrpSpPr>
          <p:cNvPr id="4" name="组合 3"/>
          <p:cNvGrpSpPr/>
          <p:nvPr/>
        </p:nvGrpSpPr>
        <p:grpSpPr>
          <a:xfrm>
            <a:off x="4941342" y="2309033"/>
            <a:ext cx="2317151" cy="4119377"/>
            <a:chOff x="4590730" y="1548302"/>
            <a:chExt cx="2711960" cy="482126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90730" y="1548302"/>
              <a:ext cx="2711960" cy="4821260"/>
            </a:xfrm>
            <a:prstGeom prst="rect">
              <a:avLst/>
            </a:prstGeom>
          </p:spPr>
        </p:pic>
        <p:sp>
          <p:nvSpPr>
            <p:cNvPr id="6" name="矩形: 圆角 5"/>
            <p:cNvSpPr/>
            <p:nvPr/>
          </p:nvSpPr>
          <p:spPr>
            <a:xfrm>
              <a:off x="6319935" y="5406114"/>
              <a:ext cx="873967" cy="873967"/>
            </a:xfrm>
            <a:prstGeom prst="roundRect">
              <a:avLst/>
            </a:prstGeom>
            <a:solidFill>
              <a:srgbClr val="0F1F5A"/>
            </a:solidFill>
            <a:ln>
              <a:solidFill>
                <a:srgbClr val="0F1F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grpSp>
      <p:sp>
        <p:nvSpPr>
          <p:cNvPr id="7" name="矩形: 圆角 6"/>
          <p:cNvSpPr/>
          <p:nvPr/>
        </p:nvSpPr>
        <p:spPr>
          <a:xfrm>
            <a:off x="5017397" y="2634127"/>
            <a:ext cx="2177232" cy="730577"/>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8" name="矩形: 圆角 50"/>
          <p:cNvSpPr/>
          <p:nvPr/>
        </p:nvSpPr>
        <p:spPr bwMode="auto">
          <a:xfrm flipH="1">
            <a:off x="1854995" y="2752246"/>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海报主标题</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9" name="矩形: 圆角 8"/>
          <p:cNvSpPr/>
          <p:nvPr/>
        </p:nvSpPr>
        <p:spPr>
          <a:xfrm>
            <a:off x="5023221" y="3379384"/>
            <a:ext cx="736080" cy="2018772"/>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10" name="矩形: 圆角 53"/>
          <p:cNvSpPr/>
          <p:nvPr/>
        </p:nvSpPr>
        <p:spPr bwMode="auto">
          <a:xfrm>
            <a:off x="1854995" y="4108473"/>
            <a:ext cx="2143406"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海报大纲</a:t>
            </a:r>
            <a:endParaRPr lang="en-US" altLang="zh-CN"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1" name="矩形: 圆角 10"/>
          <p:cNvSpPr/>
          <p:nvPr/>
        </p:nvSpPr>
        <p:spPr>
          <a:xfrm>
            <a:off x="5287016" y="2378357"/>
            <a:ext cx="1649986" cy="241089"/>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12" name="矩形: 圆角 11"/>
          <p:cNvSpPr/>
          <p:nvPr/>
        </p:nvSpPr>
        <p:spPr>
          <a:xfrm>
            <a:off x="5830335" y="3408878"/>
            <a:ext cx="1377507" cy="2045852"/>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13" name="矩形: 圆角 51"/>
          <p:cNvSpPr/>
          <p:nvPr/>
        </p:nvSpPr>
        <p:spPr bwMode="auto">
          <a:xfrm flipH="1">
            <a:off x="8489290" y="3957848"/>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信任背书</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矩形: 圆角 14"/>
          <p:cNvSpPr/>
          <p:nvPr/>
        </p:nvSpPr>
        <p:spPr>
          <a:xfrm>
            <a:off x="4943994" y="5605222"/>
            <a:ext cx="1377507" cy="398056"/>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16" name="矩形: 圆角 54"/>
          <p:cNvSpPr/>
          <p:nvPr/>
        </p:nvSpPr>
        <p:spPr bwMode="auto">
          <a:xfrm>
            <a:off x="1838401" y="5563718"/>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紧迫感</a:t>
            </a:r>
            <a:endParaRPr lang="en-US" altLang="zh-CN"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9" name="矩形: 圆角 49"/>
          <p:cNvSpPr/>
          <p:nvPr/>
        </p:nvSpPr>
        <p:spPr bwMode="auto">
          <a:xfrm>
            <a:off x="8489290" y="2258772"/>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用户身份</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20" name="直接箭头连接符 19"/>
          <p:cNvCxnSpPr>
            <a:stCxn id="8" idx="1"/>
          </p:cNvCxnSpPr>
          <p:nvPr/>
        </p:nvCxnSpPr>
        <p:spPr>
          <a:xfrm flipV="1">
            <a:off x="4014995" y="2954284"/>
            <a:ext cx="1008226" cy="19299"/>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0" idx="3"/>
          </p:cNvCxnSpPr>
          <p:nvPr/>
        </p:nvCxnSpPr>
        <p:spPr>
          <a:xfrm flipV="1">
            <a:off x="3998401" y="4329464"/>
            <a:ext cx="1032209" cy="346"/>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6" idx="3"/>
            <a:endCxn id="15" idx="1"/>
          </p:cNvCxnSpPr>
          <p:nvPr/>
        </p:nvCxnSpPr>
        <p:spPr>
          <a:xfrm>
            <a:off x="3998401" y="5785055"/>
            <a:ext cx="945593" cy="19195"/>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6112010" y="2378357"/>
            <a:ext cx="2687753" cy="2033972"/>
            <a:chOff x="6112010" y="2378357"/>
            <a:chExt cx="2687753" cy="2033972"/>
          </a:xfrm>
        </p:grpSpPr>
        <p:cxnSp>
          <p:nvCxnSpPr>
            <p:cNvPr id="26" name="连接符: 肘形 25"/>
            <p:cNvCxnSpPr>
              <a:stCxn id="13" idx="3"/>
              <a:endCxn id="11" idx="0"/>
            </p:cNvCxnSpPr>
            <p:nvPr/>
          </p:nvCxnSpPr>
          <p:spPr>
            <a:xfrm rot="10800000">
              <a:off x="6112010" y="2378357"/>
              <a:ext cx="2377281" cy="1800828"/>
            </a:xfrm>
            <a:prstGeom prst="bentConnector4">
              <a:avLst>
                <a:gd name="adj1" fmla="val 32648"/>
                <a:gd name="adj2" fmla="val 121157"/>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p:cNvCxnSpPr/>
            <p:nvPr/>
          </p:nvCxnSpPr>
          <p:spPr>
            <a:xfrm rot="10800000" flipV="1">
              <a:off x="7169421" y="4189027"/>
              <a:ext cx="1630342" cy="223302"/>
            </a:xfrm>
            <a:prstGeom prst="bentConnector3">
              <a:avLst>
                <a:gd name="adj1" fmla="val 66825"/>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矩形: 圆角 27"/>
          <p:cNvSpPr/>
          <p:nvPr/>
        </p:nvSpPr>
        <p:spPr>
          <a:xfrm>
            <a:off x="4791484" y="2176136"/>
            <a:ext cx="2609032" cy="4447834"/>
          </a:xfrm>
          <a:prstGeom prst="roundRect">
            <a:avLst>
              <a:gd name="adj" fmla="val 5479"/>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cxnSp>
        <p:nvCxnSpPr>
          <p:cNvPr id="29" name="直接箭头连接符 28"/>
          <p:cNvCxnSpPr>
            <a:stCxn id="19" idx="1"/>
          </p:cNvCxnSpPr>
          <p:nvPr/>
        </p:nvCxnSpPr>
        <p:spPr>
          <a:xfrm flipH="1">
            <a:off x="7400516" y="2480109"/>
            <a:ext cx="1088774" cy="0"/>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296783" y="5764529"/>
            <a:ext cx="4337049" cy="476250"/>
            <a:chOff x="6092102" y="4793946"/>
            <a:chExt cx="2832126" cy="311089"/>
          </a:xfrm>
        </p:grpSpPr>
        <p:sp>
          <p:nvSpPr>
            <p:cNvPr id="14" name="矩形: 圆角 48"/>
            <p:cNvSpPr/>
            <p:nvPr/>
          </p:nvSpPr>
          <p:spPr bwMode="auto">
            <a:xfrm>
              <a:off x="7538435" y="4793946"/>
              <a:ext cx="1385793" cy="311089"/>
            </a:xfrm>
            <a:prstGeom prst="roundRect">
              <a:avLst/>
            </a:prstGeom>
            <a:solidFill>
              <a:srgbClr val="0067E1"/>
            </a:solidFill>
            <a:ln>
              <a:noFill/>
            </a:ln>
            <a:effectLst/>
          </p:spPr>
          <p:txBody>
            <a:bodyPr wrap="square" rtlCol="0">
              <a:noAutofit/>
            </a:bodyPr>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短期利益</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18" name="直接箭头连接符 17"/>
            <p:cNvCxnSpPr/>
            <p:nvPr/>
          </p:nvCxnSpPr>
          <p:spPr>
            <a:xfrm flipH="1">
              <a:off x="6092102" y="4988219"/>
              <a:ext cx="1446333" cy="0"/>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10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22" presetClass="entr" presetSubtype="8"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10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par>
                          <p:cTn id="35" fill="hold">
                            <p:stCondLst>
                              <p:cond delay="0"/>
                            </p:stCondLst>
                            <p:childTnLst>
                              <p:par>
                                <p:cTn id="36" presetID="22" presetClass="entr" presetSubtype="8" fill="hold"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10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par>
                          <p:cTn id="49" fill="hold">
                            <p:stCondLst>
                              <p:cond delay="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10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par>
                          <p:cTn id="61" fill="hold">
                            <p:stCondLst>
                              <p:cond delay="0"/>
                            </p:stCondLst>
                            <p:childTnLst>
                              <p:par>
                                <p:cTn id="62" presetID="22" presetClass="entr" presetSubtype="2" fill="hold"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right)">
                                      <p:cBhvr>
                                        <p:cTn id="64" dur="10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wipe(right)">
                                      <p:cBhvr>
                                        <p:cTn id="6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5" grpId="0" bldLvl="0" animBg="1"/>
      <p:bldP spid="16" grpId="0" bldLvl="0" animBg="1"/>
      <p:bldP spid="19" grpId="0" bldLvl="0" animBg="1"/>
      <p:bldP spid="28"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en-US" altLang="zh-CN"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基础要素</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pic>
        <p:nvPicPr>
          <p:cNvPr id="30" name="图片 1" descr="三联周刊裂变海报"/>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60875" y="2563955"/>
            <a:ext cx="2052320" cy="365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30" descr="文本&#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b="50968"/>
          <a:stretch>
            <a:fillRect/>
          </a:stretch>
        </p:blipFill>
        <p:spPr>
          <a:xfrm>
            <a:off x="2257364" y="2565460"/>
            <a:ext cx="1961356" cy="1709996"/>
          </a:xfrm>
          <a:prstGeom prst="rect">
            <a:avLst/>
          </a:prstGeom>
        </p:spPr>
      </p:pic>
      <p:grpSp>
        <p:nvGrpSpPr>
          <p:cNvPr id="32" name="组合 31"/>
          <p:cNvGrpSpPr/>
          <p:nvPr/>
        </p:nvGrpSpPr>
        <p:grpSpPr>
          <a:xfrm>
            <a:off x="2257364" y="4526143"/>
            <a:ext cx="1961357" cy="1691684"/>
            <a:chOff x="4243876" y="1844675"/>
            <a:chExt cx="1961357" cy="1691684"/>
          </a:xfrm>
        </p:grpSpPr>
        <p:pic>
          <p:nvPicPr>
            <p:cNvPr id="33" name="图片 6" descr="思维导图"/>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4248" b="17231"/>
            <a:stretch>
              <a:fillRect/>
            </a:stretch>
          </p:blipFill>
          <p:spPr bwMode="auto">
            <a:xfrm>
              <a:off x="4243876" y="1844675"/>
              <a:ext cx="1961357" cy="169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矩形 33"/>
            <p:cNvSpPr/>
            <p:nvPr/>
          </p:nvSpPr>
          <p:spPr>
            <a:xfrm>
              <a:off x="4460240" y="1989535"/>
              <a:ext cx="1168400" cy="341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35" name="矩形 34"/>
            <p:cNvSpPr/>
            <p:nvPr/>
          </p:nvSpPr>
          <p:spPr>
            <a:xfrm>
              <a:off x="4460240" y="2288201"/>
              <a:ext cx="457200" cy="187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grpSp>
      <p:grpSp>
        <p:nvGrpSpPr>
          <p:cNvPr id="36" name="组合 35"/>
          <p:cNvGrpSpPr/>
          <p:nvPr/>
        </p:nvGrpSpPr>
        <p:grpSpPr>
          <a:xfrm>
            <a:off x="716359" y="3008589"/>
            <a:ext cx="3392450" cy="357545"/>
            <a:chOff x="827484" y="3071454"/>
            <a:chExt cx="3392450" cy="357545"/>
          </a:xfrm>
        </p:grpSpPr>
        <p:sp>
          <p:nvSpPr>
            <p:cNvPr id="37" name="矩形: 圆角 36"/>
            <p:cNvSpPr/>
            <p:nvPr/>
          </p:nvSpPr>
          <p:spPr>
            <a:xfrm>
              <a:off x="2493591" y="3100936"/>
              <a:ext cx="1726343" cy="328063"/>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cxnSp>
          <p:nvCxnSpPr>
            <p:cNvPr id="38" name="直接箭头连接符 37"/>
            <p:cNvCxnSpPr/>
            <p:nvPr/>
          </p:nvCxnSpPr>
          <p:spPr>
            <a:xfrm flipV="1">
              <a:off x="1567342" y="3251461"/>
              <a:ext cx="926249" cy="1"/>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sp>
          <p:nvSpPr>
            <p:cNvPr id="39" name="矩形: 圆角 50"/>
            <p:cNvSpPr/>
            <p:nvPr/>
          </p:nvSpPr>
          <p:spPr bwMode="auto">
            <a:xfrm flipH="1">
              <a:off x="827484" y="3071454"/>
              <a:ext cx="1202981" cy="357545"/>
            </a:xfrm>
            <a:prstGeom prst="roundRect">
              <a:avLst/>
            </a:prstGeom>
            <a:solidFill>
              <a:srgbClr val="0067E1"/>
            </a:solidFill>
            <a:ln>
              <a:noFill/>
            </a:ln>
            <a:effectLst/>
          </p:spPr>
          <p:txBody>
            <a:bodyPr wrap="square" rtlCol="0">
              <a:spAutoFit/>
            </a:bodyPr>
            <a:lstStyle/>
            <a:p>
              <a:pPr algn="ctr"/>
              <a:r>
                <a:rPr lang="zh-CN" alt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海报主标题</a:t>
              </a:r>
              <a:endParaRPr 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nvGrpSpPr>
          <p:cNvPr id="40" name="组合 39"/>
          <p:cNvGrpSpPr/>
          <p:nvPr/>
        </p:nvGrpSpPr>
        <p:grpSpPr>
          <a:xfrm>
            <a:off x="710137" y="5237841"/>
            <a:ext cx="3398674" cy="517191"/>
            <a:chOff x="821262" y="5300706"/>
            <a:chExt cx="3398674" cy="517191"/>
          </a:xfrm>
        </p:grpSpPr>
        <p:cxnSp>
          <p:nvCxnSpPr>
            <p:cNvPr id="41" name="直接箭头连接符 40"/>
            <p:cNvCxnSpPr/>
            <p:nvPr/>
          </p:nvCxnSpPr>
          <p:spPr>
            <a:xfrm flipV="1">
              <a:off x="1934829" y="5555566"/>
              <a:ext cx="554550" cy="2243"/>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圆角 41"/>
            <p:cNvSpPr/>
            <p:nvPr/>
          </p:nvSpPr>
          <p:spPr>
            <a:xfrm>
              <a:off x="2489380" y="5300706"/>
              <a:ext cx="1730556" cy="517191"/>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sp>
          <p:nvSpPr>
            <p:cNvPr id="43" name="矩形: 圆角 53"/>
            <p:cNvSpPr/>
            <p:nvPr/>
          </p:nvSpPr>
          <p:spPr bwMode="auto">
            <a:xfrm>
              <a:off x="821262" y="5371826"/>
              <a:ext cx="1202981" cy="357545"/>
            </a:xfrm>
            <a:prstGeom prst="roundRect">
              <a:avLst/>
            </a:prstGeom>
            <a:solidFill>
              <a:srgbClr val="0067E1"/>
            </a:solidFill>
            <a:ln>
              <a:noFill/>
            </a:ln>
            <a:effectLst/>
          </p:spPr>
          <p:txBody>
            <a:bodyPr wrap="square" rtlCol="0">
              <a:spAutoFit/>
            </a:bodyPr>
            <a:lstStyle/>
            <a:p>
              <a:pPr algn="ctr"/>
              <a:r>
                <a:rPr lang="zh-CN" alt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海报大纲</a:t>
              </a:r>
              <a:endParaRPr lang="en-US" altLang="zh-CN"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nvGrpSpPr>
          <p:cNvPr id="44" name="组合 43"/>
          <p:cNvGrpSpPr/>
          <p:nvPr/>
        </p:nvGrpSpPr>
        <p:grpSpPr>
          <a:xfrm>
            <a:off x="4576537" y="3924667"/>
            <a:ext cx="3694338" cy="2253996"/>
            <a:chOff x="4687662" y="3987532"/>
            <a:chExt cx="3694338" cy="2253996"/>
          </a:xfrm>
        </p:grpSpPr>
        <p:sp>
          <p:nvSpPr>
            <p:cNvPr id="45" name="矩形: 圆角 44"/>
            <p:cNvSpPr/>
            <p:nvPr/>
          </p:nvSpPr>
          <p:spPr>
            <a:xfrm>
              <a:off x="4687662" y="3987532"/>
              <a:ext cx="1743618" cy="221088"/>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sp>
          <p:nvSpPr>
            <p:cNvPr id="46" name="矩形: 圆角 45"/>
            <p:cNvSpPr/>
            <p:nvPr/>
          </p:nvSpPr>
          <p:spPr>
            <a:xfrm>
              <a:off x="4906275" y="6020440"/>
              <a:ext cx="1101794" cy="221088"/>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cxnSp>
          <p:nvCxnSpPr>
            <p:cNvPr id="47" name="连接符: 肘形 46"/>
            <p:cNvCxnSpPr/>
            <p:nvPr/>
          </p:nvCxnSpPr>
          <p:spPr>
            <a:xfrm rot="10800000" flipV="1">
              <a:off x="6008075" y="5152917"/>
              <a:ext cx="1603424" cy="979347"/>
            </a:xfrm>
            <a:prstGeom prst="bentConnector3">
              <a:avLst>
                <a:gd name="adj1" fmla="val 36694"/>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连接符: 肘形 47"/>
            <p:cNvCxnSpPr>
              <a:endCxn id="45" idx="3"/>
            </p:cNvCxnSpPr>
            <p:nvPr/>
          </p:nvCxnSpPr>
          <p:spPr>
            <a:xfrm rot="10800000">
              <a:off x="6431281" y="4098077"/>
              <a:ext cx="1180223" cy="1075165"/>
            </a:xfrm>
            <a:prstGeom prst="bentConnector3">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圆角 49"/>
            <p:cNvSpPr/>
            <p:nvPr/>
          </p:nvSpPr>
          <p:spPr bwMode="auto">
            <a:xfrm>
              <a:off x="7296539" y="4974144"/>
              <a:ext cx="1085461" cy="357545"/>
            </a:xfrm>
            <a:prstGeom prst="roundRect">
              <a:avLst/>
            </a:prstGeom>
            <a:solidFill>
              <a:srgbClr val="0067E1"/>
            </a:solidFill>
            <a:ln>
              <a:noFill/>
            </a:ln>
            <a:effectLst/>
          </p:spPr>
          <p:txBody>
            <a:bodyPr wrap="square" rtlCol="0">
              <a:spAutoFit/>
            </a:bodyPr>
            <a:lstStyle/>
            <a:p>
              <a:pPr algn="ctr"/>
              <a:r>
                <a:rPr lang="zh-CN" alt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用户身份</a:t>
              </a:r>
              <a:endParaRPr 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nvGrpSpPr>
          <p:cNvPr id="50" name="组合 49"/>
          <p:cNvGrpSpPr/>
          <p:nvPr/>
        </p:nvGrpSpPr>
        <p:grpSpPr>
          <a:xfrm>
            <a:off x="4487496" y="2617290"/>
            <a:ext cx="3783379" cy="2383676"/>
            <a:chOff x="4598621" y="2680155"/>
            <a:chExt cx="3783379" cy="2383676"/>
          </a:xfrm>
        </p:grpSpPr>
        <p:sp>
          <p:nvSpPr>
            <p:cNvPr id="51" name="矩形: 圆角 50"/>
            <p:cNvSpPr/>
            <p:nvPr/>
          </p:nvSpPr>
          <p:spPr>
            <a:xfrm>
              <a:off x="4598621" y="2680155"/>
              <a:ext cx="2025699" cy="2383676"/>
            </a:xfrm>
            <a:prstGeom prst="roundRect">
              <a:avLst>
                <a:gd name="adj" fmla="val 0"/>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cxnSp>
          <p:nvCxnSpPr>
            <p:cNvPr id="52" name="直接箭头连接符 51"/>
            <p:cNvCxnSpPr>
              <a:stCxn id="53" idx="3"/>
            </p:cNvCxnSpPr>
            <p:nvPr/>
          </p:nvCxnSpPr>
          <p:spPr>
            <a:xfrm flipH="1" flipV="1">
              <a:off x="6572900" y="3659792"/>
              <a:ext cx="723639" cy="1"/>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圆角 51"/>
            <p:cNvSpPr/>
            <p:nvPr/>
          </p:nvSpPr>
          <p:spPr bwMode="auto">
            <a:xfrm flipH="1">
              <a:off x="7296539" y="3481020"/>
              <a:ext cx="1085461" cy="357545"/>
            </a:xfrm>
            <a:prstGeom prst="roundRect">
              <a:avLst/>
            </a:prstGeom>
            <a:solidFill>
              <a:srgbClr val="0067E1"/>
            </a:solidFill>
            <a:ln>
              <a:noFill/>
            </a:ln>
            <a:effectLst/>
          </p:spPr>
          <p:txBody>
            <a:bodyPr wrap="square" rtlCol="0">
              <a:spAutoFit/>
            </a:bodyPr>
            <a:lstStyle/>
            <a:p>
              <a:pPr algn="ctr"/>
              <a:r>
                <a:rPr lang="zh-CN" alt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信任背书</a:t>
              </a:r>
              <a:endParaRPr 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pic>
        <p:nvPicPr>
          <p:cNvPr id="9" name="图片 8" descr="图片包含 图形用户界面&#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b="5650"/>
          <a:stretch>
            <a:fillRect/>
          </a:stretch>
        </p:blipFill>
        <p:spPr>
          <a:xfrm>
            <a:off x="8572500" y="2565400"/>
            <a:ext cx="2157095" cy="3612515"/>
          </a:xfrm>
          <a:prstGeom prst="rect">
            <a:avLst/>
          </a:prstGeom>
        </p:spPr>
      </p:pic>
      <p:grpSp>
        <p:nvGrpSpPr>
          <p:cNvPr id="11" name="组合 10"/>
          <p:cNvGrpSpPr/>
          <p:nvPr/>
        </p:nvGrpSpPr>
        <p:grpSpPr>
          <a:xfrm>
            <a:off x="8855075" y="5157470"/>
            <a:ext cx="3124835" cy="328295"/>
            <a:chOff x="5467272" y="5354157"/>
            <a:chExt cx="3274549" cy="401849"/>
          </a:xfrm>
        </p:grpSpPr>
        <p:sp>
          <p:nvSpPr>
            <p:cNvPr id="12" name="矩形: 圆角 11"/>
            <p:cNvSpPr/>
            <p:nvPr/>
          </p:nvSpPr>
          <p:spPr>
            <a:xfrm>
              <a:off x="5467272" y="5414784"/>
              <a:ext cx="1223448" cy="328009"/>
            </a:xfrm>
            <a:prstGeom prst="roundRect">
              <a:avLst/>
            </a:pr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ea typeface="阿里巴巴普惠体" panose="00020600040101010101" pitchFamily="18" charset="-122"/>
                <a:cs typeface="阿里巴巴普惠体" panose="00020600040101010101" pitchFamily="18" charset="-122"/>
              </a:endParaRPr>
            </a:p>
          </p:txBody>
        </p:sp>
        <p:sp>
          <p:nvSpPr>
            <p:cNvPr id="13" name="矩形: 圆角 48"/>
            <p:cNvSpPr/>
            <p:nvPr/>
          </p:nvSpPr>
          <p:spPr bwMode="auto">
            <a:xfrm>
              <a:off x="7649861" y="5354157"/>
              <a:ext cx="1091960" cy="401849"/>
            </a:xfrm>
            <a:prstGeom prst="roundRect">
              <a:avLst/>
            </a:prstGeom>
            <a:solidFill>
              <a:srgbClr val="0067E1"/>
            </a:solidFill>
            <a:ln>
              <a:noFill/>
            </a:ln>
            <a:effectLst/>
          </p:spPr>
          <p:txBody>
            <a:bodyPr wrap="square" rtlCol="0">
              <a:noAutofit/>
            </a:bodyPr>
            <a:p>
              <a:pPr algn="ctr"/>
              <a:r>
                <a:rPr lang="zh-CN" alt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短期利益</a:t>
              </a:r>
              <a:endParaRPr lang="en-US" sz="15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14" name="直接箭头连接符 13"/>
            <p:cNvCxnSpPr/>
            <p:nvPr/>
          </p:nvCxnSpPr>
          <p:spPr>
            <a:xfrm flipH="1">
              <a:off x="6691477" y="5578838"/>
              <a:ext cx="957544" cy="0"/>
            </a:xfrm>
            <a:prstGeom prst="straightConnector1">
              <a:avLst/>
            </a:prstGeom>
            <a:ln w="28575">
              <a:solidFill>
                <a:srgbClr val="0067E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10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10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right)">
                                      <p:cBhvr>
                                        <p:cTn id="17" dur="10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right)">
                                      <p:cBhvr>
                                        <p:cTn id="22" dur="10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en-US" altLang="zh-CN"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基础</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六要素</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9" name="弧形 18"/>
          <p:cNvSpPr/>
          <p:nvPr/>
        </p:nvSpPr>
        <p:spPr>
          <a:xfrm>
            <a:off x="4472738" y="2888683"/>
            <a:ext cx="1371452" cy="3108624"/>
          </a:xfrm>
          <a:prstGeom prst="arc">
            <a:avLst>
              <a:gd name="adj1" fmla="val 962184"/>
              <a:gd name="adj2" fmla="val 5432290"/>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0" name="弧形 11"/>
          <p:cNvSpPr/>
          <p:nvPr/>
        </p:nvSpPr>
        <p:spPr>
          <a:xfrm flipH="1">
            <a:off x="6399503" y="2888683"/>
            <a:ext cx="1371452" cy="3108624"/>
          </a:xfrm>
          <a:prstGeom prst="arc">
            <a:avLst>
              <a:gd name="adj1" fmla="val 16200000"/>
              <a:gd name="adj2" fmla="val 20450314"/>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2" name="弧形 12"/>
          <p:cNvSpPr/>
          <p:nvPr/>
        </p:nvSpPr>
        <p:spPr>
          <a:xfrm>
            <a:off x="4473427" y="2888683"/>
            <a:ext cx="1371452" cy="3108624"/>
          </a:xfrm>
          <a:prstGeom prst="arc">
            <a:avLst>
              <a:gd name="adj1" fmla="val 16200000"/>
              <a:gd name="adj2" fmla="val 20517103"/>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矩形: 圆角 48"/>
          <p:cNvSpPr/>
          <p:nvPr/>
        </p:nvSpPr>
        <p:spPr bwMode="auto">
          <a:xfrm>
            <a:off x="7079389" y="2654888"/>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短期利益</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4" name="矩形: 圆角 49"/>
          <p:cNvSpPr/>
          <p:nvPr/>
        </p:nvSpPr>
        <p:spPr bwMode="auto">
          <a:xfrm>
            <a:off x="7079389" y="5754333"/>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用户身份</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5" name="矩形: 圆角 50"/>
          <p:cNvSpPr/>
          <p:nvPr/>
        </p:nvSpPr>
        <p:spPr bwMode="auto">
          <a:xfrm flipH="1">
            <a:off x="3012163" y="2654888"/>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海报主标题</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6" name="矩形: 圆角 51"/>
          <p:cNvSpPr/>
          <p:nvPr/>
        </p:nvSpPr>
        <p:spPr bwMode="auto">
          <a:xfrm flipH="1">
            <a:off x="3012163" y="5754333"/>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信任背书</a:t>
            </a:r>
            <a:endParaRPr 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7" name="弧形 17"/>
          <p:cNvSpPr/>
          <p:nvPr/>
        </p:nvSpPr>
        <p:spPr>
          <a:xfrm flipH="1">
            <a:off x="6403138" y="2888683"/>
            <a:ext cx="1371452" cy="3108624"/>
          </a:xfrm>
          <a:prstGeom prst="arc">
            <a:avLst>
              <a:gd name="adj1" fmla="val 1151936"/>
              <a:gd name="adj2" fmla="val 5432290"/>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 name="矩形: 圆角 53"/>
          <p:cNvSpPr/>
          <p:nvPr/>
        </p:nvSpPr>
        <p:spPr bwMode="auto">
          <a:xfrm>
            <a:off x="2049851" y="4204177"/>
            <a:ext cx="2143406"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海报大纲</a:t>
            </a:r>
            <a:endParaRPr lang="en-US" altLang="zh-CN"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 name="矩形: 圆角 54"/>
          <p:cNvSpPr/>
          <p:nvPr/>
        </p:nvSpPr>
        <p:spPr bwMode="auto">
          <a:xfrm>
            <a:off x="8069740" y="4219158"/>
            <a:ext cx="2160000" cy="442674"/>
          </a:xfrm>
          <a:prstGeom prst="roundRect">
            <a:avLst/>
          </a:prstGeom>
          <a:solidFill>
            <a:srgbClr val="0067E1"/>
          </a:solidFill>
          <a:ln>
            <a:noFill/>
          </a:ln>
          <a:effectLst/>
        </p:spPr>
        <p:txBody>
          <a:bodyPr wrap="square" rtlCol="0">
            <a:spAutoFit/>
          </a:bodyPr>
          <a:lstStyle/>
          <a:p>
            <a:pPr algn="ctr"/>
            <a:r>
              <a:rPr lang="zh-CN" altLang="en-US"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紧迫感</a:t>
            </a:r>
            <a:endParaRPr lang="en-US" altLang="zh-CN" sz="2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31" name="直接连接符 21"/>
          <p:cNvCxnSpPr>
            <a:stCxn id="28" idx="3"/>
          </p:cNvCxnSpPr>
          <p:nvPr/>
        </p:nvCxnSpPr>
        <p:spPr>
          <a:xfrm>
            <a:off x="4193257" y="4425514"/>
            <a:ext cx="1147456" cy="12937"/>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22"/>
          <p:cNvCxnSpPr>
            <a:endCxn id="29" idx="1"/>
          </p:cNvCxnSpPr>
          <p:nvPr/>
        </p:nvCxnSpPr>
        <p:spPr>
          <a:xfrm>
            <a:off x="6902291" y="4438451"/>
            <a:ext cx="1167449" cy="2044"/>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9449785" y="2394364"/>
            <a:ext cx="2351532" cy="853888"/>
          </a:xfrm>
          <a:prstGeom prst="rect">
            <a:avLst/>
          </a:prstGeom>
        </p:spPr>
        <p:txBody>
          <a:bodyPr wrap="square">
            <a:spAutoFit/>
            <a:scene3d>
              <a:camera prst="orthographicFront"/>
              <a:lightRig rig="threePt" dir="t"/>
            </a:scene3d>
            <a:sp3d contourW="12700"/>
          </a:bodyPr>
          <a:lstStyle/>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进群即送</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交流机会</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285750" indent="-285750">
              <a:lnSpc>
                <a:spcPct val="120000"/>
              </a:lnSpc>
              <a:buFont typeface="阿里巴巴普惠体" panose="00020600040101010101" pitchFamily="18" charset="-122"/>
              <a:buChar char="•"/>
            </a:pPr>
            <a:r>
              <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1V1</a:t>
            </a: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服务</a:t>
            </a:r>
            <a:endPar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4" name="矩形 33"/>
          <p:cNvSpPr/>
          <p:nvPr/>
        </p:nvSpPr>
        <p:spPr>
          <a:xfrm>
            <a:off x="9449785" y="5660966"/>
            <a:ext cx="2351532" cy="595356"/>
          </a:xfrm>
          <a:prstGeom prst="rect">
            <a:avLst/>
          </a:prstGeom>
        </p:spPr>
        <p:txBody>
          <a:bodyPr wrap="square">
            <a:spAutoFit/>
            <a:scene3d>
              <a:camera prst="orthographicFront"/>
              <a:lightRig rig="threePt" dir="t"/>
            </a:scene3d>
            <a:sp3d contourW="12700"/>
          </a:bodyPr>
          <a:lstStyle/>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社交币，塑造用户形象</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积极正面、热爱学习等</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5" name="矩形 34"/>
          <p:cNvSpPr/>
          <p:nvPr/>
        </p:nvSpPr>
        <p:spPr>
          <a:xfrm>
            <a:off x="1242885" y="2394364"/>
            <a:ext cx="1765054" cy="954107"/>
          </a:xfrm>
          <a:prstGeom prst="rect">
            <a:avLst/>
          </a:prstGeom>
        </p:spPr>
        <p:txBody>
          <a:bodyPr wrap="square">
            <a:spAutoFit/>
            <a:scene3d>
              <a:camera prst="orthographicFront"/>
              <a:lightRig rig="threePt" dir="t"/>
            </a:scene3d>
            <a:sp3d contourW="12700"/>
          </a:bodyPr>
          <a:lstStyle/>
          <a:p>
            <a:pPr marL="342900" indent="-342900">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抓住用户痛点</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342900" indent="-342900">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文案短平快</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342900" indent="-342900">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一眼看懂</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342900" indent="-342900">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一定要够大</a:t>
            </a:r>
            <a:endPar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6" name="矩形 35"/>
          <p:cNvSpPr/>
          <p:nvPr/>
        </p:nvSpPr>
        <p:spPr>
          <a:xfrm>
            <a:off x="805700" y="5674755"/>
            <a:ext cx="2351532" cy="595356"/>
          </a:xfrm>
          <a:prstGeom prst="rect">
            <a:avLst/>
          </a:prstGeom>
        </p:spPr>
        <p:txBody>
          <a:bodyPr wrap="square">
            <a:spAutoFit/>
            <a:scene3d>
              <a:camera prst="orthographicFront"/>
              <a:lightRig rig="threePt" dir="t"/>
            </a:scene3d>
            <a:sp3d contourW="12700"/>
          </a:bodyPr>
          <a:lstStyle/>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知名度高，信任感强</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头衔、名企、大</a:t>
            </a:r>
            <a:r>
              <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V</a:t>
            </a: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等</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9" name="矩形 38"/>
          <p:cNvSpPr/>
          <p:nvPr/>
        </p:nvSpPr>
        <p:spPr>
          <a:xfrm>
            <a:off x="10524890" y="3967429"/>
            <a:ext cx="1276427" cy="853888"/>
          </a:xfrm>
          <a:prstGeom prst="rect">
            <a:avLst/>
          </a:prstGeom>
        </p:spPr>
        <p:txBody>
          <a:bodyPr wrap="square">
            <a:spAutoFit/>
            <a:scene3d>
              <a:camera prst="orthographicFront"/>
              <a:lightRig rig="threePt" dir="t"/>
            </a:scene3d>
            <a:sp3d contourW="12700"/>
          </a:bodyPr>
          <a:lstStyle/>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限时限量</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免费名额</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a:p>
            <a:pPr marL="285750" indent="-285750">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先到先得</a:t>
            </a:r>
            <a:endPar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0" name="矩形 39"/>
          <p:cNvSpPr/>
          <p:nvPr/>
        </p:nvSpPr>
        <p:spPr>
          <a:xfrm>
            <a:off x="733656" y="4113688"/>
            <a:ext cx="1212131" cy="587469"/>
          </a:xfrm>
          <a:prstGeom prst="rect">
            <a:avLst/>
          </a:prstGeom>
        </p:spPr>
        <p:txBody>
          <a:bodyPr wrap="square">
            <a:spAutoFit/>
            <a:scene3d>
              <a:camera prst="orthographicFront"/>
              <a:lightRig rig="threePt" dir="t"/>
            </a:scene3d>
            <a:sp3d contourW="12700"/>
          </a:bodyPr>
          <a:lstStyle/>
          <a:p>
            <a:pPr marL="285750" indent="-285750" algn="r">
              <a:lnSpc>
                <a:spcPct val="120000"/>
              </a:lnSpc>
              <a:buFont typeface="阿里巴巴普惠体" panose="00020600040101010101" pitchFamily="18" charset="-122"/>
              <a:buChar char="•"/>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罗列给用户的价值</a:t>
            </a:r>
            <a:endParaRPr lang="en-US" altLang="zh-CN"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矩形: 圆角 3"/>
          <p:cNvSpPr/>
          <p:nvPr/>
        </p:nvSpPr>
        <p:spPr>
          <a:xfrm>
            <a:off x="5150840" y="4036868"/>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2000" b="1" dirty="0">
                <a:solidFill>
                  <a:schemeClr val="bg1"/>
                </a:solidFill>
                <a:ea typeface="阿里巴巴普惠体" panose="00020600040101010101" pitchFamily="18" charset="-122"/>
                <a:cs typeface="阿里巴巴普惠体" panose="00020600040101010101" pitchFamily="18" charset="-122"/>
              </a:rPr>
              <a:t>裂变海报结构</a:t>
            </a:r>
            <a:endParaRPr kumimoji="1" lang="en-US" altLang="zh-CN" sz="2000" b="1" dirty="0">
              <a:solidFill>
                <a:schemeClr val="bg1"/>
              </a:solidFill>
              <a:ea typeface="阿里巴巴普惠体" panose="00020600040101010101" pitchFamily="18" charset="-122"/>
              <a:cs typeface="阿里巴巴普惠体" panose="00020600040101010101" pitchFamily="18" charset="-122"/>
            </a:endParaRPr>
          </a:p>
          <a:p>
            <a:pPr marL="225425" indent="-225425" algn="ctr" fontAlgn="base">
              <a:spcBef>
                <a:spcPct val="0"/>
              </a:spcBef>
              <a:spcAft>
                <a:spcPct val="0"/>
              </a:spcAft>
            </a:pPr>
            <a:r>
              <a:rPr kumimoji="1" lang="zh-CN" altLang="en-US" sz="2000" b="1" dirty="0">
                <a:solidFill>
                  <a:schemeClr val="bg1"/>
                </a:solidFill>
                <a:ea typeface="阿里巴巴普惠体" panose="00020600040101010101" pitchFamily="18" charset="-122"/>
                <a:cs typeface="阿里巴巴普惠体" panose="00020600040101010101" pitchFamily="18" charset="-122"/>
              </a:rPr>
              <a:t>六大要素</a:t>
            </a:r>
            <a:endParaRPr kumimoji="1" lang="zh-CN" altLang="en-US" sz="2000" b="1" dirty="0">
              <a:solidFill>
                <a:schemeClr val="bg1"/>
              </a:solidFill>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right)">
                                      <p:cBhvr>
                                        <p:cTn id="7" dur="10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right)">
                                      <p:cBhvr>
                                        <p:cTn id="12" dur="10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right)">
                                      <p:cBhvr>
                                        <p:cTn id="17" dur="10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10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left)">
                                      <p:cBhvr>
                                        <p:cTn id="27" dur="10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9" grpId="0"/>
      <p:bldP spid="4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4400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制作裂变海报及物料——案例（</a:t>
            </a:r>
            <a:r>
              <a:rPr lang="en-US" altLang="zh-CN"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1</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pic>
        <p:nvPicPr>
          <p:cNvPr id="4" name="图片 3"/>
          <p:cNvPicPr>
            <a:picLocks noChangeAspect="1"/>
          </p:cNvPicPr>
          <p:nvPr/>
        </p:nvPicPr>
        <p:blipFill>
          <a:blip r:embed="rId1"/>
          <a:stretch>
            <a:fillRect/>
          </a:stretch>
        </p:blipFill>
        <p:spPr>
          <a:xfrm>
            <a:off x="1115346" y="2488120"/>
            <a:ext cx="3336920" cy="2829839"/>
          </a:xfrm>
          <a:prstGeom prst="rect">
            <a:avLst/>
          </a:prstGeom>
          <a:ln>
            <a:solidFill>
              <a:schemeClr val="accent1"/>
            </a:solidFill>
          </a:ln>
        </p:spPr>
      </p:pic>
      <p:pic>
        <p:nvPicPr>
          <p:cNvPr id="5" name="图片 4"/>
          <p:cNvPicPr>
            <a:picLocks noChangeAspect="1"/>
          </p:cNvPicPr>
          <p:nvPr/>
        </p:nvPicPr>
        <p:blipFill>
          <a:blip r:embed="rId2"/>
          <a:stretch>
            <a:fillRect/>
          </a:stretch>
        </p:blipFill>
        <p:spPr>
          <a:xfrm>
            <a:off x="4902042" y="2488121"/>
            <a:ext cx="2870949" cy="2829838"/>
          </a:xfrm>
          <a:prstGeom prst="rect">
            <a:avLst/>
          </a:prstGeom>
          <a:ln>
            <a:solidFill>
              <a:schemeClr val="accent1"/>
            </a:solidFill>
          </a:ln>
        </p:spPr>
      </p:pic>
      <p:pic>
        <p:nvPicPr>
          <p:cNvPr id="9" name="图片 8"/>
          <p:cNvPicPr>
            <a:picLocks noChangeAspect="1"/>
          </p:cNvPicPr>
          <p:nvPr/>
        </p:nvPicPr>
        <p:blipFill>
          <a:blip r:embed="rId3"/>
          <a:stretch>
            <a:fillRect/>
          </a:stretch>
        </p:blipFill>
        <p:spPr>
          <a:xfrm>
            <a:off x="8222767" y="2488121"/>
            <a:ext cx="3218670" cy="2829838"/>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a:sym typeface="+mn-ea"/>
              </a:rPr>
              <a:t>社群裂变活动策划全流程</a:t>
            </a:r>
            <a:endParaRPr lang="zh-CN" altLang="en-US"/>
          </a:p>
        </p:txBody>
      </p:sp>
      <p:sp>
        <p:nvSpPr>
          <p:cNvPr id="17" name="文本框 16"/>
          <p:cNvSpPr txBox="1"/>
          <p:nvPr>
            <p:custDataLst>
              <p:tags r:id="rId1"/>
            </p:custDataLst>
          </p:nvPr>
        </p:nvSpPr>
        <p:spPr>
          <a:xfrm>
            <a:off x="991553" y="1032828"/>
            <a:ext cx="6093618" cy="398780"/>
          </a:xfrm>
          <a:prstGeom prst="rect">
            <a:avLst/>
          </a:prstGeom>
          <a:noFill/>
        </p:spPr>
        <p:txBody>
          <a:bodyPr wrap="square">
            <a:spAutoFit/>
          </a:bodyPr>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——案例</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a:t>
            </a:r>
            <a:r>
              <a:rPr lang="en-US" altLang="zh-CN"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2</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endParaRPr>
          </a:p>
        </p:txBody>
      </p:sp>
      <p:pic>
        <p:nvPicPr>
          <p:cNvPr id="7" name="图片 6"/>
          <p:cNvPicPr>
            <a:picLocks noChangeAspect="1"/>
          </p:cNvPicPr>
          <p:nvPr>
            <p:custDataLst>
              <p:tags r:id="rId2"/>
            </p:custDataLst>
          </p:nvPr>
        </p:nvPicPr>
        <p:blipFill>
          <a:blip r:embed="rId3"/>
          <a:stretch>
            <a:fillRect/>
          </a:stretch>
        </p:blipFill>
        <p:spPr>
          <a:xfrm>
            <a:off x="7633335" y="1795145"/>
            <a:ext cx="2666365" cy="4778375"/>
          </a:xfrm>
          <a:prstGeom prst="rect">
            <a:avLst/>
          </a:prstGeom>
        </p:spPr>
      </p:pic>
      <p:pic>
        <p:nvPicPr>
          <p:cNvPr id="8" name="图片 7"/>
          <p:cNvPicPr>
            <a:picLocks noChangeAspect="1"/>
          </p:cNvPicPr>
          <p:nvPr>
            <p:custDataLst>
              <p:tags r:id="rId4"/>
            </p:custDataLst>
          </p:nvPr>
        </p:nvPicPr>
        <p:blipFill>
          <a:blip r:embed="rId5"/>
          <a:stretch>
            <a:fillRect/>
          </a:stretch>
        </p:blipFill>
        <p:spPr>
          <a:xfrm>
            <a:off x="1710055" y="1780540"/>
            <a:ext cx="3821430" cy="4792980"/>
          </a:xfrm>
          <a:prstGeom prst="rect">
            <a:avLst/>
          </a:prstGeom>
          <a:ln>
            <a:solidFill>
              <a:schemeClr val="bg1">
                <a:lumMod val="85000"/>
              </a:schemeClr>
            </a:solidFill>
          </a:ln>
        </p:spPr>
      </p:pic>
      <p:sp>
        <p:nvSpPr>
          <p:cNvPr id="2" name="右箭头 1"/>
          <p:cNvSpPr/>
          <p:nvPr/>
        </p:nvSpPr>
        <p:spPr>
          <a:xfrm>
            <a:off x="6015990" y="3843655"/>
            <a:ext cx="1132205" cy="819150"/>
          </a:xfrm>
          <a:prstGeom prst="rightArrow">
            <a:avLst/>
          </a:prstGeom>
          <a:solidFill>
            <a:srgbClr val="0067E1">
              <a:alpha val="80000"/>
            </a:srgbClr>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446717"/>
            <a:ext cx="5760539" cy="4710244"/>
          </a:xfrm>
        </p:spPr>
        <p:txBody>
          <a:bodyPr/>
          <a:lstStyle/>
          <a:p>
            <a:r>
              <a:rPr lang="en-US" altLang="zh-CN" dirty="0"/>
              <a:t>1</a:t>
            </a:r>
            <a:r>
              <a:rPr lang="zh-CN" altLang="en-US" dirty="0"/>
              <a:t>小时从英语菜鸟到高手？</a:t>
            </a:r>
            <a:r>
              <a:rPr lang="en-US" altLang="zh-CN" dirty="0"/>
              <a:t>1</a:t>
            </a:r>
            <a:r>
              <a:rPr lang="zh-CN" altLang="en-US" dirty="0"/>
              <a:t>小时牢记</a:t>
            </a:r>
            <a:r>
              <a:rPr lang="en-US" altLang="zh-CN" dirty="0"/>
              <a:t>100</a:t>
            </a:r>
            <a:r>
              <a:rPr lang="zh-CN" altLang="en-US" dirty="0"/>
              <a:t>个英语单词？哪个主标题更具有说服性？</a:t>
            </a:r>
            <a:endParaRPr lang="zh-CN" altLang="en-US" dirty="0"/>
          </a:p>
          <a:p>
            <a:r>
              <a:rPr lang="zh-CN" altLang="en-US" dirty="0"/>
              <a:t>主标题为“ </a:t>
            </a:r>
            <a:r>
              <a:rPr lang="en-US" altLang="zh-CN" dirty="0"/>
              <a:t>10</a:t>
            </a:r>
            <a:r>
              <a:rPr lang="zh-CN" altLang="en-US" dirty="0"/>
              <a:t>天提升孩子超强记忆力”，是运用了用户哪种心理？</a:t>
            </a:r>
            <a:endParaRPr lang="zh-CN" altLang="en-US"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5" name="文本框 4"/>
          <p:cNvSpPr txBox="1"/>
          <p:nvPr/>
        </p:nvSpPr>
        <p:spPr>
          <a:xfrm>
            <a:off x="5126038" y="2069148"/>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制作裂变海报及物料——文案的</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思路</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6" name="文本框 5"/>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——文案的思路</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7" name="弧形 11"/>
          <p:cNvSpPr/>
          <p:nvPr/>
        </p:nvSpPr>
        <p:spPr>
          <a:xfrm flipH="1">
            <a:off x="2162103" y="2900715"/>
            <a:ext cx="1371452" cy="3108624"/>
          </a:xfrm>
          <a:prstGeom prst="arc">
            <a:avLst>
              <a:gd name="adj1" fmla="val 16200000"/>
              <a:gd name="adj2" fmla="val 20450314"/>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矩形: 圆角 48"/>
          <p:cNvSpPr/>
          <p:nvPr/>
        </p:nvSpPr>
        <p:spPr bwMode="auto">
          <a:xfrm>
            <a:off x="2841989" y="266692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恐惧心理</a:t>
            </a:r>
            <a:endParaRPr 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9" name="矩形: 圆角 49"/>
          <p:cNvSpPr/>
          <p:nvPr/>
        </p:nvSpPr>
        <p:spPr bwMode="auto">
          <a:xfrm>
            <a:off x="2841989" y="5766365"/>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求快心理</a:t>
            </a:r>
            <a:endParaRPr 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弧形 17"/>
          <p:cNvSpPr/>
          <p:nvPr/>
        </p:nvSpPr>
        <p:spPr>
          <a:xfrm flipH="1">
            <a:off x="2165738" y="2900715"/>
            <a:ext cx="1371452" cy="3108624"/>
          </a:xfrm>
          <a:prstGeom prst="arc">
            <a:avLst>
              <a:gd name="adj1" fmla="val 1151936"/>
              <a:gd name="adj2" fmla="val 5432290"/>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1" name="矩形: 圆角 54"/>
          <p:cNvSpPr/>
          <p:nvPr/>
        </p:nvSpPr>
        <p:spPr bwMode="auto">
          <a:xfrm>
            <a:off x="3832340" y="423119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获得心理</a:t>
            </a:r>
            <a:endParaRPr lang="en-US" altLang="zh-CN"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13" name="直接连接符 22"/>
          <p:cNvCxnSpPr/>
          <p:nvPr/>
        </p:nvCxnSpPr>
        <p:spPr>
          <a:xfrm flipH="1">
            <a:off x="2030320" y="4418475"/>
            <a:ext cx="1802020" cy="0"/>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矩形: 圆角 13"/>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裂变海报文案</a:t>
            </a:r>
            <a:endParaRPr kumimoji="1" lang="en-US" altLang="zh-CN" sz="1600" b="1" dirty="0">
              <a:solidFill>
                <a:schemeClr val="bg1"/>
              </a:solidFill>
              <a:ea typeface="阿里巴巴普惠体" panose="00020600040101010101" pitchFamily="18" charset="-122"/>
              <a:cs typeface="阿里巴巴普惠体" panose="00020600040101010101" pitchFamily="18" charset="-122"/>
            </a:endParaRPr>
          </a:p>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撰写的</a:t>
            </a:r>
            <a:r>
              <a:rPr kumimoji="1" lang="en-US" altLang="zh-CN" sz="1600" b="1" dirty="0">
                <a:solidFill>
                  <a:schemeClr val="bg1"/>
                </a:solidFill>
                <a:ea typeface="阿里巴巴普惠体" panose="00020600040101010101" pitchFamily="18" charset="-122"/>
                <a:cs typeface="阿里巴巴普惠体" panose="00020600040101010101" pitchFamily="18" charset="-122"/>
              </a:rPr>
              <a:t>3</a:t>
            </a:r>
            <a:r>
              <a:rPr kumimoji="1" lang="zh-CN" altLang="en-US" sz="1600" b="1" dirty="0">
                <a:solidFill>
                  <a:schemeClr val="bg1"/>
                </a:solidFill>
                <a:ea typeface="阿里巴巴普惠体" panose="00020600040101010101" pitchFamily="18" charset="-122"/>
                <a:cs typeface="阿里巴巴普惠体" panose="00020600040101010101" pitchFamily="18" charset="-122"/>
              </a:rPr>
              <a:t>种思路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6" name="文本框 5"/>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——文案的思路</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4" name="TextBox 15"/>
          <p:cNvSpPr txBox="1">
            <a:spLocks noChangeArrowheads="1"/>
          </p:cNvSpPr>
          <p:nvPr/>
        </p:nvSpPr>
        <p:spPr bwMode="auto">
          <a:xfrm>
            <a:off x="5751095" y="2544454"/>
            <a:ext cx="5883442" cy="102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lnSpc>
                <a:spcPct val="150000"/>
              </a:lnSpc>
              <a:buFont typeface="阿里巴巴普惠体" panose="00020600040101010101" pitchFamily="18" charset="-122"/>
              <a:buNone/>
            </a:pP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有书公众号凭借一个裂变项目，在一年内涨粉近</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1000</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。那有书的裂变海报文案写的是啥呢？大标题很简单，就只有一句话——你有多久没有读完一本书了？</a:t>
            </a:r>
            <a:endPar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15"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792665" y="3772030"/>
            <a:ext cx="2847092" cy="284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74309" y="3772030"/>
            <a:ext cx="2847092" cy="2848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弧形 11"/>
          <p:cNvSpPr/>
          <p:nvPr/>
        </p:nvSpPr>
        <p:spPr>
          <a:xfrm flipH="1">
            <a:off x="2162103" y="2900715"/>
            <a:ext cx="1371452" cy="3108624"/>
          </a:xfrm>
          <a:prstGeom prst="arc">
            <a:avLst>
              <a:gd name="adj1" fmla="val 16200000"/>
              <a:gd name="adj2" fmla="val 20450314"/>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8" name="矩形: 圆角 48"/>
          <p:cNvSpPr/>
          <p:nvPr/>
        </p:nvSpPr>
        <p:spPr bwMode="auto">
          <a:xfrm>
            <a:off x="2841989" y="266692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恐惧心理</a:t>
            </a:r>
            <a:endParaRPr 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9" name="矩形: 圆角 49"/>
          <p:cNvSpPr/>
          <p:nvPr/>
        </p:nvSpPr>
        <p:spPr bwMode="auto">
          <a:xfrm>
            <a:off x="2841989" y="5766365"/>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求快心理</a:t>
            </a:r>
            <a:endParaRPr 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0" name="弧形 17"/>
          <p:cNvSpPr/>
          <p:nvPr/>
        </p:nvSpPr>
        <p:spPr>
          <a:xfrm flipH="1">
            <a:off x="2165738" y="2900715"/>
            <a:ext cx="1371452" cy="3108624"/>
          </a:xfrm>
          <a:prstGeom prst="arc">
            <a:avLst>
              <a:gd name="adj1" fmla="val 1151936"/>
              <a:gd name="adj2" fmla="val 5432290"/>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2" name="矩形: 圆角 54"/>
          <p:cNvSpPr/>
          <p:nvPr/>
        </p:nvSpPr>
        <p:spPr bwMode="auto">
          <a:xfrm>
            <a:off x="3832340" y="423119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获得心理</a:t>
            </a:r>
            <a:endParaRPr lang="en-US" altLang="zh-CN"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24" name="直接连接符 22"/>
          <p:cNvCxnSpPr>
            <a:endCxn id="22" idx="1"/>
          </p:cNvCxnSpPr>
          <p:nvPr/>
        </p:nvCxnSpPr>
        <p:spPr>
          <a:xfrm flipV="1">
            <a:off x="2664891" y="4418476"/>
            <a:ext cx="1167449" cy="32007"/>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裂变海报文案</a:t>
            </a:r>
            <a:endParaRPr kumimoji="1" lang="en-US" altLang="zh-CN" sz="1600" b="1" dirty="0">
              <a:solidFill>
                <a:schemeClr val="bg1"/>
              </a:solidFill>
              <a:ea typeface="阿里巴巴普惠体" panose="00020600040101010101" pitchFamily="18" charset="-122"/>
              <a:cs typeface="阿里巴巴普惠体" panose="00020600040101010101" pitchFamily="18" charset="-122"/>
            </a:endParaRPr>
          </a:p>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撰写的</a:t>
            </a:r>
            <a:r>
              <a:rPr kumimoji="1" lang="en-US" altLang="zh-CN" sz="1600" b="1" dirty="0">
                <a:solidFill>
                  <a:schemeClr val="bg1"/>
                </a:solidFill>
                <a:ea typeface="阿里巴巴普惠体" panose="00020600040101010101" pitchFamily="18" charset="-122"/>
                <a:cs typeface="阿里巴巴普惠体" panose="00020600040101010101" pitchFamily="18" charset="-122"/>
              </a:rPr>
              <a:t>3</a:t>
            </a:r>
            <a:r>
              <a:rPr kumimoji="1" lang="zh-CN" altLang="en-US" sz="1600" b="1" dirty="0">
                <a:solidFill>
                  <a:schemeClr val="bg1"/>
                </a:solidFill>
                <a:ea typeface="阿里巴巴普惠体" panose="00020600040101010101" pitchFamily="18" charset="-122"/>
                <a:cs typeface="阿里巴巴普惠体" panose="00020600040101010101" pitchFamily="18" charset="-122"/>
              </a:rPr>
              <a:t>种思路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6" name="文本框 5"/>
          <p:cNvSpPr txBox="1"/>
          <p:nvPr/>
        </p:nvSpPr>
        <p:spPr>
          <a:xfrm>
            <a:off x="1103313" y="150971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——文案的思路</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4" name="弧形 11"/>
          <p:cNvSpPr/>
          <p:nvPr/>
        </p:nvSpPr>
        <p:spPr>
          <a:xfrm flipH="1">
            <a:off x="2162103" y="2900715"/>
            <a:ext cx="1371452" cy="3108624"/>
          </a:xfrm>
          <a:prstGeom prst="arc">
            <a:avLst>
              <a:gd name="adj1" fmla="val 16200000"/>
              <a:gd name="adj2" fmla="val 20450314"/>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矩形: 圆角 48"/>
          <p:cNvSpPr/>
          <p:nvPr/>
        </p:nvSpPr>
        <p:spPr bwMode="auto">
          <a:xfrm>
            <a:off x="2841989" y="266692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恐惧心理</a:t>
            </a:r>
            <a:endParaRPr 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6" name="矩形: 圆角 49"/>
          <p:cNvSpPr/>
          <p:nvPr/>
        </p:nvSpPr>
        <p:spPr bwMode="auto">
          <a:xfrm>
            <a:off x="2841989" y="5766365"/>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求快心理</a:t>
            </a:r>
            <a:endParaRPr 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7" name="弧形 17"/>
          <p:cNvSpPr/>
          <p:nvPr/>
        </p:nvSpPr>
        <p:spPr>
          <a:xfrm flipH="1">
            <a:off x="2165738" y="2900715"/>
            <a:ext cx="1371452" cy="3108624"/>
          </a:xfrm>
          <a:prstGeom prst="arc">
            <a:avLst>
              <a:gd name="adj1" fmla="val 1151936"/>
              <a:gd name="adj2" fmla="val 5432290"/>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8" name="矩形: 圆角 54"/>
          <p:cNvSpPr/>
          <p:nvPr/>
        </p:nvSpPr>
        <p:spPr bwMode="auto">
          <a:xfrm>
            <a:off x="3832340" y="423119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获得心理</a:t>
            </a:r>
            <a:endParaRPr lang="en-US" altLang="zh-CN"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20" name="直接连接符 22"/>
          <p:cNvCxnSpPr>
            <a:endCxn id="18" idx="1"/>
          </p:cNvCxnSpPr>
          <p:nvPr/>
        </p:nvCxnSpPr>
        <p:spPr>
          <a:xfrm flipV="1">
            <a:off x="2664891" y="4418476"/>
            <a:ext cx="1167449" cy="32007"/>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TextBox 15"/>
          <p:cNvSpPr txBox="1">
            <a:spLocks noChangeArrowheads="1"/>
          </p:cNvSpPr>
          <p:nvPr/>
        </p:nvSpPr>
        <p:spPr bwMode="auto">
          <a:xfrm>
            <a:off x="5739063" y="2544454"/>
            <a:ext cx="5883442" cy="102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lnSpc>
                <a:spcPct val="150000"/>
              </a:lnSpc>
              <a:buFont typeface="阿里巴巴普惠体" panose="00020600040101010101" pitchFamily="18" charset="-122"/>
              <a:buNone/>
            </a:pP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获得心理就是用户参活动之后，他能获得哪些实实在在的利益、福利、好处或者成长等。</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通常从</a:t>
            </a:r>
            <a:r>
              <a:rPr lang="zh-CN" altLang="zh-CN"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生理获得、心理获得、财富获得</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三个角度满足用户。</a:t>
            </a: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所以，要告诉用户</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买了你的</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产品</a:t>
            </a: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，他们能干什么，或是能变成啥样。</a:t>
            </a:r>
            <a:endPar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23" name="图片 3" descr="微信图片_2019051619232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989451" y="3703057"/>
            <a:ext cx="1640409" cy="29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23"/>
          <p:cNvGrpSpPr/>
          <p:nvPr/>
        </p:nvGrpSpPr>
        <p:grpSpPr>
          <a:xfrm>
            <a:off x="5849496" y="3703057"/>
            <a:ext cx="1804006" cy="2920914"/>
            <a:chOff x="3705075" y="2415116"/>
            <a:chExt cx="2429597" cy="3933826"/>
          </a:xfrm>
        </p:grpSpPr>
        <p:pic>
          <p:nvPicPr>
            <p:cNvPr id="25" name="图片 5" descr="微信图片_20190516192323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075" y="2415116"/>
              <a:ext cx="2429597" cy="393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图片 25"/>
            <p:cNvPicPr>
              <a:picLocks noChangeAspect="1"/>
            </p:cNvPicPr>
            <p:nvPr/>
          </p:nvPicPr>
          <p:blipFill>
            <a:blip r:embed="rId3"/>
            <a:stretch>
              <a:fillRect/>
            </a:stretch>
          </p:blipFill>
          <p:spPr>
            <a:xfrm>
              <a:off x="4425950" y="2763837"/>
              <a:ext cx="1030287" cy="106363"/>
            </a:xfrm>
            <a:prstGeom prst="rect">
              <a:avLst/>
            </a:prstGeom>
          </p:spPr>
        </p:pic>
      </p:grpSp>
      <p:pic>
        <p:nvPicPr>
          <p:cNvPr id="3" name="图片 2" descr="图片包含 游戏机, 女人, 标志&#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65809" y="3703057"/>
            <a:ext cx="1632715" cy="2920912"/>
          </a:xfrm>
          <a:prstGeom prst="rect">
            <a:avLst/>
          </a:prstGeom>
        </p:spPr>
      </p:pic>
      <p:sp>
        <p:nvSpPr>
          <p:cNvPr id="27" name="矩形: 圆角 26"/>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裂变海报文案</a:t>
            </a:r>
            <a:endParaRPr kumimoji="1" lang="en-US" altLang="zh-CN" sz="1600" b="1" dirty="0">
              <a:solidFill>
                <a:schemeClr val="bg1"/>
              </a:solidFill>
              <a:ea typeface="阿里巴巴普惠体" panose="00020600040101010101" pitchFamily="18" charset="-122"/>
              <a:cs typeface="阿里巴巴普惠体" panose="00020600040101010101" pitchFamily="18" charset="-122"/>
            </a:endParaRPr>
          </a:p>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撰写的</a:t>
            </a:r>
            <a:r>
              <a:rPr kumimoji="1" lang="en-US" altLang="zh-CN" sz="1600" b="1" dirty="0">
                <a:solidFill>
                  <a:schemeClr val="bg1"/>
                </a:solidFill>
                <a:ea typeface="阿里巴巴普惠体" panose="00020600040101010101" pitchFamily="18" charset="-122"/>
                <a:cs typeface="阿里巴巴普惠体" panose="00020600040101010101" pitchFamily="18" charset="-122"/>
              </a:rPr>
              <a:t>3</a:t>
            </a:r>
            <a:r>
              <a:rPr kumimoji="1" lang="zh-CN" altLang="en-US" sz="1600" b="1" dirty="0">
                <a:solidFill>
                  <a:schemeClr val="bg1"/>
                </a:solidFill>
                <a:ea typeface="阿里巴巴普惠体" panose="00020600040101010101" pitchFamily="18" charset="-122"/>
                <a:cs typeface="阿里巴巴普惠体" panose="00020600040101010101" pitchFamily="18" charset="-122"/>
              </a:rPr>
              <a:t>种思路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6" name="文本框 5"/>
          <p:cNvSpPr txBox="1"/>
          <p:nvPr/>
        </p:nvSpPr>
        <p:spPr>
          <a:xfrm>
            <a:off x="1103313" y="1508443"/>
            <a:ext cx="6093618" cy="398780"/>
          </a:xfrm>
          <a:prstGeom prst="rect">
            <a:avLst/>
          </a:prstGeom>
          <a:noFill/>
        </p:spPr>
        <p:txBody>
          <a:bodyPr wrap="square">
            <a:spAutoFit/>
          </a:bodyPr>
          <a:lstStyle/>
          <a:p>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rPr>
              <a:t>制作裂变海报及物料</a:t>
            </a:r>
            <a:r>
              <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sym typeface="+mn-ea"/>
              </a:rPr>
              <a:t>——文案的思路</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4" name="弧形 11"/>
          <p:cNvSpPr/>
          <p:nvPr/>
        </p:nvSpPr>
        <p:spPr>
          <a:xfrm flipH="1">
            <a:off x="2162103" y="2900715"/>
            <a:ext cx="1371452" cy="3108624"/>
          </a:xfrm>
          <a:prstGeom prst="arc">
            <a:avLst>
              <a:gd name="adj1" fmla="val 16200000"/>
              <a:gd name="adj2" fmla="val 20450314"/>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矩形: 圆角 48"/>
          <p:cNvSpPr/>
          <p:nvPr/>
        </p:nvSpPr>
        <p:spPr bwMode="auto">
          <a:xfrm>
            <a:off x="2841989" y="266692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恐惧心理</a:t>
            </a:r>
            <a:endParaRPr 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6" name="矩形: 圆角 49"/>
          <p:cNvSpPr/>
          <p:nvPr/>
        </p:nvSpPr>
        <p:spPr bwMode="auto">
          <a:xfrm>
            <a:off x="2841989" y="5766365"/>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求快心理</a:t>
            </a:r>
            <a:endParaRPr lang="en-US" sz="16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7" name="弧形 17"/>
          <p:cNvSpPr/>
          <p:nvPr/>
        </p:nvSpPr>
        <p:spPr>
          <a:xfrm flipH="1">
            <a:off x="2165738" y="2900715"/>
            <a:ext cx="1371452" cy="3108624"/>
          </a:xfrm>
          <a:prstGeom prst="arc">
            <a:avLst>
              <a:gd name="adj1" fmla="val 1151936"/>
              <a:gd name="adj2" fmla="val 5432290"/>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65">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8" name="矩形: 圆角 54"/>
          <p:cNvSpPr/>
          <p:nvPr/>
        </p:nvSpPr>
        <p:spPr bwMode="auto">
          <a:xfrm>
            <a:off x="3832340" y="4231190"/>
            <a:ext cx="1433080" cy="374571"/>
          </a:xfrm>
          <a:prstGeom prst="roundRect">
            <a:avLst/>
          </a:prstGeom>
          <a:solidFill>
            <a:srgbClr val="0067E1"/>
          </a:solidFill>
          <a:ln>
            <a:noFill/>
          </a:ln>
          <a:effectLst/>
        </p:spPr>
        <p:txBody>
          <a:bodyPr wrap="square" rtlCol="0">
            <a:spAutoFit/>
          </a:bodyPr>
          <a:lstStyle/>
          <a:p>
            <a:pPr algn="ctr"/>
            <a:r>
              <a:rPr lang="zh-CN" altLang="en-US"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获得心理</a:t>
            </a:r>
            <a:endParaRPr lang="en-US" altLang="zh-CN" sz="160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cxnSp>
        <p:nvCxnSpPr>
          <p:cNvPr id="20" name="直接连接符 22"/>
          <p:cNvCxnSpPr>
            <a:endCxn id="18" idx="1"/>
          </p:cNvCxnSpPr>
          <p:nvPr/>
        </p:nvCxnSpPr>
        <p:spPr>
          <a:xfrm flipV="1">
            <a:off x="2664891" y="4418476"/>
            <a:ext cx="1167449" cy="32007"/>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TextBox 15"/>
          <p:cNvSpPr txBox="1">
            <a:spLocks noChangeArrowheads="1"/>
          </p:cNvSpPr>
          <p:nvPr/>
        </p:nvSpPr>
        <p:spPr bwMode="auto">
          <a:xfrm>
            <a:off x="5739063" y="2544454"/>
            <a:ext cx="5883442" cy="135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50000"/>
              </a:lnSpc>
            </a:pP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这是一个信息爆炸的时代，每个人都在努力寻找成功的捷径。求快心理的海报文案需要包含两个重点</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pPr>
            <a:r>
              <a:rPr lang="zh-CN" altLang="zh-CN"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一个就是我们洞察了用户求快的焦虑诉求</a:t>
            </a:r>
            <a:r>
              <a:rPr lang="zh-CN" altLang="en-US"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pPr>
            <a:r>
              <a:rPr lang="zh-CN" altLang="zh-CN"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一个就是</a:t>
            </a:r>
            <a:r>
              <a:rPr lang="zh-CN" altLang="en-US"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内容</a:t>
            </a:r>
            <a:r>
              <a:rPr lang="zh-CN" altLang="zh-CN" sz="1400" b="1" dirty="0">
                <a:solidFill>
                  <a:srgbClr val="377CE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符合实用性和即时性的利益点</a:t>
            </a:r>
            <a:r>
              <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23" name="图片 22" descr="2834C43F-A148-42D6-93B2-1AB8182E4DF3-44025-00001E64532EB001_tmp"/>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131252" y="4066669"/>
            <a:ext cx="1491253" cy="265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2" descr="85710525828300855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51801" y="4078350"/>
            <a:ext cx="1497742" cy="266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3" descr="7917135184800620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9579" y="4078350"/>
            <a:ext cx="1501637" cy="2671016"/>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26" name="矩形: 圆角 25"/>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裂变海报文案</a:t>
            </a:r>
            <a:endParaRPr kumimoji="1" lang="en-US" altLang="zh-CN" sz="1600" b="1" dirty="0">
              <a:solidFill>
                <a:schemeClr val="bg1"/>
              </a:solidFill>
              <a:ea typeface="阿里巴巴普惠体" panose="00020600040101010101" pitchFamily="18" charset="-122"/>
              <a:cs typeface="阿里巴巴普惠体" panose="00020600040101010101" pitchFamily="18" charset="-122"/>
            </a:endParaRPr>
          </a:p>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撰写的</a:t>
            </a:r>
            <a:r>
              <a:rPr kumimoji="1" lang="en-US" altLang="zh-CN" sz="1600" b="1" dirty="0">
                <a:solidFill>
                  <a:schemeClr val="bg1"/>
                </a:solidFill>
                <a:ea typeface="阿里巴巴普惠体" panose="00020600040101010101" pitchFamily="18" charset="-122"/>
                <a:cs typeface="阿里巴巴普惠体" panose="00020600040101010101" pitchFamily="18" charset="-122"/>
              </a:rPr>
              <a:t>3</a:t>
            </a:r>
            <a:r>
              <a:rPr kumimoji="1" lang="zh-CN" altLang="en-US" sz="1600" b="1" dirty="0">
                <a:solidFill>
                  <a:schemeClr val="bg1"/>
                </a:solidFill>
                <a:ea typeface="阿里巴巴普惠体" panose="00020600040101010101" pitchFamily="18" charset="-122"/>
                <a:cs typeface="阿里巴巴普惠体" panose="00020600040101010101" pitchFamily="18" charset="-122"/>
              </a:rPr>
              <a:t>种思路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p:txBody>
          <a:bodyPr/>
          <a:p>
            <a:r>
              <a:rPr lang="zh-CN" altLang="en-US"/>
              <a:t>思考</a:t>
            </a:r>
            <a:endParaRPr lang="zh-CN" altLang="en-US"/>
          </a:p>
        </p:txBody>
      </p:sp>
      <p:pic>
        <p:nvPicPr>
          <p:cNvPr id="9" name="图片 8"/>
          <p:cNvPicPr>
            <a:picLocks noChangeAspect="1"/>
          </p:cNvPicPr>
          <p:nvPr/>
        </p:nvPicPr>
        <p:blipFill>
          <a:blip r:embed="rId1"/>
          <a:stretch>
            <a:fillRect/>
          </a:stretch>
        </p:blipFill>
        <p:spPr>
          <a:xfrm>
            <a:off x="5318125" y="2119630"/>
            <a:ext cx="4551680" cy="2809240"/>
          </a:xfrm>
          <a:prstGeom prst="rect">
            <a:avLst/>
          </a:prstGeom>
          <a:ln>
            <a:solidFill>
              <a:schemeClr val="bg1">
                <a:lumMod val="85000"/>
              </a:schemeClr>
            </a:solid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0"/>
          </p:nvPr>
        </p:nvSpPr>
        <p:spPr>
          <a:xfrm>
            <a:off x="5126355" y="1426210"/>
            <a:ext cx="5760720" cy="3944620"/>
          </a:xfrm>
        </p:spPr>
        <p:txBody>
          <a:bodyPr/>
          <a:p>
            <a:r>
              <a:rPr lang="zh-CN" altLang="en-US"/>
              <a:t>我们公司是做健身器材的，想通过社群裂变变现，请问海报可以怎么设计？</a:t>
            </a:r>
            <a:endParaRPr lang="zh-CN" altLang="en-US"/>
          </a:p>
        </p:txBody>
      </p:sp>
      <p:sp>
        <p:nvSpPr>
          <p:cNvPr id="5" name="标题 4"/>
          <p:cNvSpPr>
            <a:spLocks noGrp="1"/>
          </p:cNvSpPr>
          <p:nvPr>
            <p:ph type="title"/>
          </p:nvPr>
        </p:nvSpPr>
        <p:spPr/>
        <p:txBody>
          <a:bodyPr/>
          <a:p>
            <a:r>
              <a:rPr lang="zh-CN" altLang="en-US"/>
              <a:t>思考</a:t>
            </a: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2" name="文本占位符 1"/>
          <p:cNvSpPr>
            <a:spLocks noGrp="1"/>
          </p:cNvSpPr>
          <p:nvPr>
            <p:ph type="body" sz="quarter" idx="10"/>
          </p:nvPr>
        </p:nvSpPr>
        <p:spPr>
          <a:xfrm>
            <a:off x="2195450" y="1046641"/>
            <a:ext cx="9214231" cy="517191"/>
          </a:xfrm>
        </p:spPr>
        <p:txBody>
          <a:bodyPr/>
          <a:lstStyle/>
          <a:p>
            <a:r>
              <a:rPr lang="zh-CN" altLang="en-US" dirty="0"/>
              <a:t>撰写完海报文案，设计裂变海报</a:t>
            </a:r>
            <a:endParaRPr lang="en-US" altLang="zh-CN" dirty="0"/>
          </a:p>
        </p:txBody>
      </p:sp>
      <p:sp>
        <p:nvSpPr>
          <p:cNvPr id="3" name="文本占位符 2"/>
          <p:cNvSpPr>
            <a:spLocks noGrp="1"/>
          </p:cNvSpPr>
          <p:nvPr>
            <p:ph type="body" sz="quarter" idx="11"/>
          </p:nvPr>
        </p:nvSpPr>
        <p:spPr>
          <a:xfrm>
            <a:off x="2195830" y="2039620"/>
            <a:ext cx="8595360" cy="2921000"/>
          </a:xfrm>
        </p:spPr>
        <p:txBody>
          <a:bodyPr/>
          <a:lstStyle/>
          <a:p>
            <a:r>
              <a:rPr lang="zh-CN" altLang="en-US" b="1" dirty="0">
                <a:sym typeface="+mn-ea"/>
              </a:rPr>
              <a:t>——要求：</a:t>
            </a:r>
            <a:endParaRPr lang="zh-CN" altLang="en-US" b="1" dirty="0">
              <a:sym typeface="+mn-ea"/>
            </a:endParaRPr>
          </a:p>
          <a:p>
            <a:r>
              <a:rPr lang="zh-CN" altLang="en-US" dirty="0">
                <a:sym typeface="+mn-ea"/>
              </a:rPr>
              <a:t>利用第三方平台设计海报：可画、图怪兽、创客贴、凡科</a:t>
            </a:r>
            <a:r>
              <a:rPr lang="zh-CN" altLang="en-US" dirty="0">
                <a:sym typeface="+mn-ea"/>
              </a:rPr>
              <a:t>作图</a:t>
            </a:r>
            <a:endParaRPr lang="zh-CN" altLang="en-US" dirty="0">
              <a:sym typeface="+mn-ea"/>
            </a:endParaRPr>
          </a:p>
          <a:p>
            <a:r>
              <a:rPr lang="zh-CN" altLang="en-US" dirty="0">
                <a:sym typeface="+mn-ea"/>
              </a:rPr>
              <a:t>平台：https://www.canva.cn/</a:t>
            </a:r>
            <a:endParaRPr lang="zh-CN" altLang="en-US" dirty="0">
              <a:sym typeface="+mn-ea"/>
            </a:endParaRPr>
          </a:p>
          <a:p>
            <a:endParaRPr lang="zh-CN" altLang="en-US" dirty="0">
              <a:sym typeface="+mn-ea"/>
            </a:endParaRPr>
          </a:p>
          <a:p>
            <a:r>
              <a:rPr lang="zh-CN" altLang="en-US" dirty="0">
                <a:sym typeface="+mn-ea"/>
              </a:rPr>
              <a:t>时间：</a:t>
            </a:r>
            <a:r>
              <a:rPr lang="en-US" altLang="zh-CN" dirty="0">
                <a:sym typeface="+mn-ea"/>
              </a:rPr>
              <a:t>30</a:t>
            </a:r>
            <a:r>
              <a:rPr lang="zh-CN" altLang="en-US" dirty="0">
                <a:sym typeface="+mn-ea"/>
              </a:rPr>
              <a:t>分钟</a:t>
            </a:r>
            <a:endParaRPr lang="zh-CN" altLang="en-US" dirty="0"/>
          </a:p>
          <a:p>
            <a:r>
              <a:rPr lang="zh-CN" altLang="en-US" dirty="0">
                <a:sym typeface="+mn-ea"/>
              </a:rPr>
              <a:t>提交方式：</a:t>
            </a:r>
            <a:r>
              <a:rPr lang="zh-CN" altLang="en-US" dirty="0">
                <a:solidFill>
                  <a:schemeClr val="tx1"/>
                </a:solidFill>
                <a:sym typeface="+mn-ea"/>
              </a:rPr>
              <a:t>添加到</a:t>
            </a:r>
            <a:r>
              <a:rPr lang="zh-CN" altLang="en-US" dirty="0">
                <a:solidFill>
                  <a:schemeClr val="tx1"/>
                </a:solidFill>
                <a:sym typeface="+mn-ea"/>
              </a:rPr>
              <a:t>在线</a:t>
            </a:r>
            <a:r>
              <a:rPr lang="en-US" altLang="zh-CN" dirty="0">
                <a:solidFill>
                  <a:schemeClr val="tx1"/>
                </a:solidFill>
                <a:sym typeface="+mn-ea"/>
              </a:rPr>
              <a:t>Excel</a:t>
            </a:r>
            <a:r>
              <a:rPr lang="zh-CN" altLang="en-US" dirty="0">
                <a:solidFill>
                  <a:schemeClr val="tx1"/>
                </a:solidFill>
                <a:sym typeface="+mn-ea"/>
              </a:rPr>
              <a:t>表格中</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sz="2800" dirty="0">
                <a:latin typeface="阿里巴巴普惠体" panose="00020600040101010101" pitchFamily="18" charset="-122"/>
              </a:rPr>
              <a:t>活动规则</a:t>
            </a:r>
            <a:endParaRPr kumimoji="1" lang="zh-CN" altLang="en-US" sz="2800" dirty="0">
              <a:latin typeface="阿里巴巴普惠体" panose="00020600040101010101" pitchFamily="18" charset="-122"/>
            </a:endParaRPr>
          </a:p>
        </p:txBody>
      </p:sp>
      <p:sp>
        <p:nvSpPr>
          <p:cNvPr id="3" name="文本占位符 2"/>
          <p:cNvSpPr>
            <a:spLocks noGrp="1"/>
          </p:cNvSpPr>
          <p:nvPr>
            <p:ph type="body" idx="10"/>
          </p:nvPr>
        </p:nvSpPr>
        <p:spPr/>
        <p:txBody>
          <a:bodyPr/>
          <a:lstStyle/>
          <a:p>
            <a:pPr marL="342900" indent="-342900">
              <a:buFont typeface="+mj-lt"/>
              <a:buAutoNum type="arabicPeriod"/>
            </a:pPr>
            <a:r>
              <a:rPr kumimoji="1" lang="zh-CN" altLang="en-US" dirty="0">
                <a:solidFill>
                  <a:schemeClr val="tx1"/>
                </a:solidFill>
              </a:rPr>
              <a:t>用户参与流程图</a:t>
            </a:r>
            <a:endParaRPr kumimoji="1" lang="zh-CN" altLang="en-US" dirty="0">
              <a:solidFill>
                <a:schemeClr val="tx1"/>
              </a:solidFill>
            </a:endParaRPr>
          </a:p>
          <a:p>
            <a:pPr marL="342900" indent="-342900" algn="l">
              <a:buClrTx/>
              <a:buSzTx/>
              <a:buFont typeface="+mj-lt"/>
              <a:buAutoNum type="arabicPeriod"/>
            </a:pPr>
            <a:r>
              <a:rPr kumimoji="1" lang="zh-CN" altLang="en-US" dirty="0">
                <a:solidFill>
                  <a:schemeClr val="tx1"/>
                </a:solidFill>
              </a:rPr>
              <a:t>制作裂变海报及物料</a:t>
            </a:r>
            <a:endParaRPr kumimoji="1" lang="zh-CN" altLang="en-US" dirty="0">
              <a:solidFill>
                <a:schemeClr val="tx1"/>
              </a:solidFill>
            </a:endParaRPr>
          </a:p>
          <a:p>
            <a:pPr marL="342900" indent="-342900" algn="l">
              <a:buClrTx/>
              <a:buSzTx/>
              <a:buFont typeface="+mj-lt"/>
              <a:buAutoNum type="arabicPeriod"/>
            </a:pPr>
            <a:r>
              <a:rPr kumimoji="1" lang="zh-CN" altLang="en-US" b="1" dirty="0">
                <a:solidFill>
                  <a:srgbClr val="0067E1"/>
                </a:solidFill>
              </a:rPr>
              <a:t>裂变活动运营话术文案</a:t>
            </a:r>
            <a:endParaRPr kumimoji="1" lang="zh-CN" altLang="en-US" b="1" dirty="0">
              <a:solidFill>
                <a:srgbClr val="0067E1"/>
              </a:solidFill>
            </a:endParaRPr>
          </a:p>
        </p:txBody>
      </p:sp>
      <p:sp>
        <p:nvSpPr>
          <p:cNvPr id="5" name="文本占位符 4"/>
          <p:cNvSpPr>
            <a:spLocks noGrp="1"/>
          </p:cNvSpPr>
          <p:nvPr>
            <p:ph type="body" sz="quarter" idx="11"/>
          </p:nvPr>
        </p:nvSpPr>
        <p:spPr/>
        <p:txBody>
          <a:bodyPr/>
          <a:lstStyle/>
          <a:p>
            <a:r>
              <a:rPr lang="en-US" altLang="zh-CN" dirty="0"/>
              <a:t>06</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0"/>
          </p:nvPr>
        </p:nvSpPr>
        <p:spPr>
          <a:xfrm>
            <a:off x="5126355" y="1436370"/>
            <a:ext cx="5760720" cy="3790315"/>
          </a:xfrm>
        </p:spPr>
        <p:txBody>
          <a:bodyPr/>
          <a:p>
            <a:r>
              <a:rPr lang="zh-CN" altLang="en-US"/>
              <a:t>海报做完了，怎么引导用户分享、转发、做任务？</a:t>
            </a:r>
            <a:endParaRPr lang="zh-CN" altLang="en-US"/>
          </a:p>
        </p:txBody>
      </p:sp>
      <p:sp>
        <p:nvSpPr>
          <p:cNvPr id="5" name="标题 4"/>
          <p:cNvSpPr>
            <a:spLocks noGrp="1"/>
          </p:cNvSpPr>
          <p:nvPr>
            <p:ph type="title"/>
          </p:nvPr>
        </p:nvSpPr>
        <p:spPr/>
        <p:txBody>
          <a:bodyPr/>
          <a:p>
            <a:r>
              <a:rPr lang="zh-CN" altLang="en-US"/>
              <a:t>思考</a:t>
            </a: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052830" y="1111250"/>
            <a:ext cx="3302000" cy="398780"/>
          </a:xfrm>
          <a:prstGeom prst="rect">
            <a:avLst/>
          </a:prstGeom>
          <a:noFill/>
        </p:spPr>
        <p:txBody>
          <a:bodyPr wrap="square">
            <a:spAutoFit/>
          </a:bodyPr>
          <a:lstStyle/>
          <a:p>
            <a:pPr indent="0" algn="l">
              <a:buClrTx/>
              <a:buSzTx/>
              <a:buFont typeface="+mj-lt"/>
              <a:buNone/>
            </a:pPr>
            <a:r>
              <a:rPr kumimoji="1" lang="zh-CN" altLang="en-US" sz="2000" b="1" dirty="0">
                <a:solidFill>
                  <a:schemeClr val="tx1"/>
                </a:solidFill>
                <a:sym typeface="+mn-ea"/>
              </a:rPr>
              <a:t>裂变活动运营话术文案</a:t>
            </a:r>
            <a:endParaRPr kumimoji="1" lang="zh-CN" altLang="en-US" sz="2000" b="1" dirty="0">
              <a:solidFill>
                <a:schemeClr val="tx1"/>
              </a:solidFill>
              <a:ea typeface="阿里巴巴普惠体" panose="00020600040101010101" pitchFamily="18" charset="-122"/>
              <a:cs typeface="阿里巴巴普惠体" panose="00020600040101010101" pitchFamily="18" charset="-122"/>
              <a:sym typeface="+mn-ea"/>
            </a:endParaRPr>
          </a:p>
        </p:txBody>
      </p:sp>
      <p:sp>
        <p:nvSpPr>
          <p:cNvPr id="11" name="矩形: 圆角 10"/>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裂变活动运营话术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pic>
        <p:nvPicPr>
          <p:cNvPr id="13" name="图片 12"/>
          <p:cNvPicPr>
            <a:picLocks noChangeAspect="1"/>
          </p:cNvPicPr>
          <p:nvPr/>
        </p:nvPicPr>
        <p:blipFill>
          <a:blip r:embed="rId1"/>
          <a:stretch>
            <a:fillRect/>
          </a:stretch>
        </p:blipFill>
        <p:spPr>
          <a:xfrm>
            <a:off x="3288665" y="2071370"/>
            <a:ext cx="2592070" cy="4552315"/>
          </a:xfrm>
          <a:prstGeom prst="rect">
            <a:avLst/>
          </a:prstGeom>
          <a:ln>
            <a:solidFill>
              <a:schemeClr val="bg1">
                <a:lumMod val="85000"/>
              </a:schemeClr>
            </a:solidFill>
          </a:ln>
        </p:spPr>
      </p:pic>
      <p:pic>
        <p:nvPicPr>
          <p:cNvPr id="14" name="图片 13"/>
          <p:cNvPicPr>
            <a:picLocks noChangeAspect="1"/>
          </p:cNvPicPr>
          <p:nvPr/>
        </p:nvPicPr>
        <p:blipFill>
          <a:blip r:embed="rId2"/>
          <a:stretch>
            <a:fillRect/>
          </a:stretch>
        </p:blipFill>
        <p:spPr>
          <a:xfrm>
            <a:off x="6126480" y="2071370"/>
            <a:ext cx="2599055" cy="4551680"/>
          </a:xfrm>
          <a:prstGeom prst="rect">
            <a:avLst/>
          </a:prstGeom>
          <a:ln>
            <a:solidFill>
              <a:schemeClr val="bg1">
                <a:lumMod val="85000"/>
              </a:schemeClr>
            </a:solidFill>
          </a:ln>
        </p:spPr>
      </p:pic>
      <p:pic>
        <p:nvPicPr>
          <p:cNvPr id="15" name="图片 14"/>
          <p:cNvPicPr>
            <a:picLocks noChangeAspect="1"/>
          </p:cNvPicPr>
          <p:nvPr/>
        </p:nvPicPr>
        <p:blipFill>
          <a:blip r:embed="rId3"/>
          <a:stretch>
            <a:fillRect/>
          </a:stretch>
        </p:blipFill>
        <p:spPr>
          <a:xfrm>
            <a:off x="8971280" y="2070735"/>
            <a:ext cx="2592070" cy="4542790"/>
          </a:xfrm>
          <a:prstGeom prst="rect">
            <a:avLst/>
          </a:prstGeom>
          <a:ln>
            <a:solidFill>
              <a:schemeClr val="bg1">
                <a:lumMod val="85000"/>
              </a:schemeClr>
            </a:solidFill>
          </a:ln>
        </p:spPr>
      </p:pic>
      <p:sp>
        <p:nvSpPr>
          <p:cNvPr id="2" name="文本框 1"/>
          <p:cNvSpPr txBox="1"/>
          <p:nvPr/>
        </p:nvSpPr>
        <p:spPr>
          <a:xfrm>
            <a:off x="4069715" y="1695450"/>
            <a:ext cx="1323975" cy="306705"/>
          </a:xfrm>
          <a:prstGeom prst="rect">
            <a:avLst/>
          </a:prstGeom>
          <a:noFill/>
        </p:spPr>
        <p:txBody>
          <a:bodyPr wrap="square">
            <a:spAutoFit/>
          </a:bodyPr>
          <a:p>
            <a:pPr fontAlgn="auto">
              <a:spcBef>
                <a:spcPts val="0"/>
              </a:spcBef>
              <a:spcAft>
                <a:spcPts val="0"/>
              </a:spcAft>
            </a:pPr>
            <a:r>
              <a:rPr lang="zh-CN" altLang="en-US" sz="1400" dirty="0">
                <a:solidFill>
                  <a:schemeClr val="tx1">
                    <a:lumMod val="65000"/>
                    <a:lumOff val="35000"/>
                  </a:schemeClr>
                </a:solidFill>
                <a:latin typeface="+mn-lt"/>
                <a:ea typeface="+mn-ea"/>
              </a:rPr>
              <a:t>入群欢迎话术</a:t>
            </a:r>
            <a:endParaRPr lang="zh-CN" altLang="en-US" sz="1400" dirty="0">
              <a:solidFill>
                <a:schemeClr val="tx1">
                  <a:lumMod val="65000"/>
                  <a:lumOff val="35000"/>
                </a:schemeClr>
              </a:solidFill>
              <a:latin typeface="+mn-lt"/>
              <a:ea typeface="+mn-ea"/>
            </a:endParaRPr>
          </a:p>
        </p:txBody>
      </p:sp>
      <p:sp>
        <p:nvSpPr>
          <p:cNvPr id="3" name="文本框 2"/>
          <p:cNvSpPr txBox="1"/>
          <p:nvPr/>
        </p:nvSpPr>
        <p:spPr>
          <a:xfrm>
            <a:off x="6758305" y="1695450"/>
            <a:ext cx="1323975" cy="306705"/>
          </a:xfrm>
          <a:prstGeom prst="rect">
            <a:avLst/>
          </a:prstGeom>
          <a:noFill/>
        </p:spPr>
        <p:txBody>
          <a:bodyPr wrap="square">
            <a:spAutoFit/>
          </a:bodyPr>
          <a:p>
            <a:pPr fontAlgn="auto">
              <a:spcBef>
                <a:spcPts val="0"/>
              </a:spcBef>
              <a:spcAft>
                <a:spcPts val="0"/>
              </a:spcAft>
            </a:pPr>
            <a:r>
              <a:rPr lang="zh-CN" altLang="en-US" sz="1400" dirty="0">
                <a:solidFill>
                  <a:schemeClr val="tx1">
                    <a:lumMod val="65000"/>
                    <a:lumOff val="35000"/>
                  </a:schemeClr>
                </a:solidFill>
                <a:latin typeface="+mn-lt"/>
                <a:ea typeface="+mn-ea"/>
              </a:rPr>
              <a:t>完成任务</a:t>
            </a:r>
            <a:r>
              <a:rPr lang="zh-CN" altLang="en-US" sz="1400" dirty="0">
                <a:solidFill>
                  <a:schemeClr val="tx1">
                    <a:lumMod val="65000"/>
                    <a:lumOff val="35000"/>
                  </a:schemeClr>
                </a:solidFill>
                <a:latin typeface="+mn-lt"/>
                <a:ea typeface="+mn-ea"/>
              </a:rPr>
              <a:t>话术</a:t>
            </a:r>
            <a:endParaRPr lang="zh-CN" altLang="en-US" sz="1400" dirty="0">
              <a:solidFill>
                <a:schemeClr val="tx1">
                  <a:lumMod val="65000"/>
                  <a:lumOff val="35000"/>
                </a:schemeClr>
              </a:solidFill>
              <a:latin typeface="+mn-lt"/>
              <a:ea typeface="+mn-ea"/>
            </a:endParaRPr>
          </a:p>
        </p:txBody>
      </p:sp>
      <p:sp>
        <p:nvSpPr>
          <p:cNvPr id="4" name="文本框 3"/>
          <p:cNvSpPr txBox="1"/>
          <p:nvPr/>
        </p:nvSpPr>
        <p:spPr>
          <a:xfrm>
            <a:off x="9481820" y="1695450"/>
            <a:ext cx="1445260" cy="306705"/>
          </a:xfrm>
          <a:prstGeom prst="rect">
            <a:avLst/>
          </a:prstGeom>
          <a:noFill/>
        </p:spPr>
        <p:txBody>
          <a:bodyPr wrap="square">
            <a:spAutoFit/>
          </a:bodyPr>
          <a:p>
            <a:pPr fontAlgn="auto">
              <a:spcBef>
                <a:spcPts val="0"/>
              </a:spcBef>
              <a:spcAft>
                <a:spcPts val="0"/>
              </a:spcAft>
            </a:pPr>
            <a:r>
              <a:rPr lang="zh-CN" altLang="en-US" sz="1400" dirty="0">
                <a:solidFill>
                  <a:schemeClr val="tx1">
                    <a:lumMod val="65000"/>
                    <a:lumOff val="35000"/>
                  </a:schemeClr>
                </a:solidFill>
                <a:latin typeface="+mn-lt"/>
                <a:ea typeface="+mn-ea"/>
              </a:rPr>
              <a:t>未完成任务</a:t>
            </a:r>
            <a:r>
              <a:rPr lang="zh-CN" altLang="en-US" sz="1400" dirty="0">
                <a:solidFill>
                  <a:schemeClr val="tx1">
                    <a:lumMod val="65000"/>
                    <a:lumOff val="35000"/>
                  </a:schemeClr>
                </a:solidFill>
                <a:latin typeface="+mn-lt"/>
                <a:ea typeface="+mn-ea"/>
              </a:rPr>
              <a:t>话术</a:t>
            </a:r>
            <a:endParaRPr lang="zh-CN" altLang="en-US" sz="1400" dirty="0">
              <a:solidFill>
                <a:schemeClr val="tx1">
                  <a:lumMod val="65000"/>
                  <a:lumOff val="35000"/>
                </a:schemeClr>
              </a:solidFill>
              <a:latin typeface="+mn-lt"/>
              <a:ea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pPr indent="0" algn="l">
              <a:buClrTx/>
              <a:buSzTx/>
              <a:buFont typeface="+mj-lt"/>
              <a:buNone/>
            </a:pPr>
            <a:r>
              <a:rPr kumimoji="1" lang="zh-CN" altLang="en-US" sz="2000" b="1" dirty="0">
                <a:sym typeface="+mn-ea"/>
              </a:rPr>
              <a:t>裂变活动运营话术文案</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1" name="矩形: 圆角 10"/>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裂变活动运营话术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pic>
        <p:nvPicPr>
          <p:cNvPr id="13" name="图片 12"/>
          <p:cNvPicPr>
            <a:picLocks noChangeAspect="1"/>
          </p:cNvPicPr>
          <p:nvPr/>
        </p:nvPicPr>
        <p:blipFill>
          <a:blip r:embed="rId1"/>
          <a:stretch>
            <a:fillRect/>
          </a:stretch>
        </p:blipFill>
        <p:spPr>
          <a:xfrm>
            <a:off x="3288893" y="2241046"/>
            <a:ext cx="2496038" cy="4382924"/>
          </a:xfrm>
          <a:prstGeom prst="rect">
            <a:avLst/>
          </a:prstGeom>
          <a:ln>
            <a:solidFill>
              <a:schemeClr val="bg1">
                <a:lumMod val="85000"/>
              </a:schemeClr>
            </a:solidFill>
          </a:ln>
        </p:spPr>
      </p:pic>
      <p:sp>
        <p:nvSpPr>
          <p:cNvPr id="8" name="矩形: 圆角 7"/>
          <p:cNvSpPr/>
          <p:nvPr/>
        </p:nvSpPr>
        <p:spPr>
          <a:xfrm>
            <a:off x="3679190" y="3072765"/>
            <a:ext cx="1945005" cy="400050"/>
          </a:xfrm>
          <a:prstGeom prst="roundRect">
            <a:avLst>
              <a:gd name="adj" fmla="val 757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sp>
        <p:nvSpPr>
          <p:cNvPr id="9" name="矩形: 圆角 8"/>
          <p:cNvSpPr/>
          <p:nvPr/>
        </p:nvSpPr>
        <p:spPr>
          <a:xfrm>
            <a:off x="3679190" y="3627755"/>
            <a:ext cx="1945005" cy="86804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sp>
        <p:nvSpPr>
          <p:cNvPr id="10" name="矩形: 圆角 9"/>
          <p:cNvSpPr/>
          <p:nvPr/>
        </p:nvSpPr>
        <p:spPr>
          <a:xfrm>
            <a:off x="3679190" y="4632960"/>
            <a:ext cx="1945005" cy="86804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sp>
        <p:nvSpPr>
          <p:cNvPr id="12" name="矩形: 圆角 11"/>
          <p:cNvSpPr/>
          <p:nvPr/>
        </p:nvSpPr>
        <p:spPr>
          <a:xfrm>
            <a:off x="3679190" y="5638165"/>
            <a:ext cx="1945005" cy="7473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grpSp>
        <p:nvGrpSpPr>
          <p:cNvPr id="4" name="组合 3"/>
          <p:cNvGrpSpPr/>
          <p:nvPr/>
        </p:nvGrpSpPr>
        <p:grpSpPr>
          <a:xfrm>
            <a:off x="5784930" y="3108575"/>
            <a:ext cx="4895164" cy="307777"/>
            <a:chOff x="5784930" y="3108575"/>
            <a:chExt cx="4895164" cy="307777"/>
          </a:xfrm>
        </p:grpSpPr>
        <p:cxnSp>
          <p:nvCxnSpPr>
            <p:cNvPr id="16" name="直接连接符 22"/>
            <p:cNvCxnSpPr/>
            <p:nvPr/>
          </p:nvCxnSpPr>
          <p:spPr>
            <a:xfrm flipV="1">
              <a:off x="5784930" y="3262464"/>
              <a:ext cx="1042829" cy="1"/>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827757" y="3108575"/>
              <a:ext cx="3852337"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一句话介绍本群</a:t>
              </a:r>
              <a:r>
                <a:rPr lang="en-US" altLang="zh-CN"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本次活动目的，简单，忌冗长</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5" name="组合 4"/>
          <p:cNvGrpSpPr/>
          <p:nvPr/>
        </p:nvGrpSpPr>
        <p:grpSpPr>
          <a:xfrm>
            <a:off x="5784930" y="3922987"/>
            <a:ext cx="2843320" cy="307777"/>
            <a:chOff x="5784930" y="3922987"/>
            <a:chExt cx="2843320" cy="307777"/>
          </a:xfrm>
        </p:grpSpPr>
        <p:cxnSp>
          <p:nvCxnSpPr>
            <p:cNvPr id="18" name="直接连接符 22"/>
            <p:cNvCxnSpPr/>
            <p:nvPr/>
          </p:nvCxnSpPr>
          <p:spPr>
            <a:xfrm flipV="1">
              <a:off x="5784930" y="4076876"/>
              <a:ext cx="1042829" cy="1"/>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827757" y="3922987"/>
              <a:ext cx="1800493"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任务说明，简单直接</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6" name="组合 5"/>
          <p:cNvGrpSpPr/>
          <p:nvPr/>
        </p:nvGrpSpPr>
        <p:grpSpPr>
          <a:xfrm>
            <a:off x="5784929" y="4891286"/>
            <a:ext cx="3381930" cy="307777"/>
            <a:chOff x="5784929" y="4891286"/>
            <a:chExt cx="3381930" cy="307777"/>
          </a:xfrm>
        </p:grpSpPr>
        <p:cxnSp>
          <p:nvCxnSpPr>
            <p:cNvPr id="19" name="直接连接符 22"/>
            <p:cNvCxnSpPr/>
            <p:nvPr/>
          </p:nvCxnSpPr>
          <p:spPr>
            <a:xfrm flipV="1">
              <a:off x="5784929" y="5066916"/>
              <a:ext cx="1042829" cy="1"/>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827757" y="4891286"/>
              <a:ext cx="2339102"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注意事项，也可以加上群规</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grpSp>
        <p:nvGrpSpPr>
          <p:cNvPr id="7" name="组合 6"/>
          <p:cNvGrpSpPr/>
          <p:nvPr/>
        </p:nvGrpSpPr>
        <p:grpSpPr>
          <a:xfrm>
            <a:off x="5784928" y="5661510"/>
            <a:ext cx="5177294" cy="700576"/>
            <a:chOff x="5784928" y="5661510"/>
            <a:chExt cx="5177294" cy="700576"/>
          </a:xfrm>
        </p:grpSpPr>
        <p:cxnSp>
          <p:nvCxnSpPr>
            <p:cNvPr id="20" name="直接连接符 22"/>
            <p:cNvCxnSpPr/>
            <p:nvPr/>
          </p:nvCxnSpPr>
          <p:spPr>
            <a:xfrm flipV="1">
              <a:off x="5784928" y="6011798"/>
              <a:ext cx="1042829" cy="1"/>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827757" y="5661510"/>
              <a:ext cx="4134465" cy="700576"/>
            </a:xfrm>
            <a:prstGeom prst="rect">
              <a:avLst/>
            </a:prstGeom>
            <a:noFill/>
          </p:spPr>
          <p:txBody>
            <a:bodyPr wrap="none" rtlCol="0">
              <a:spAutoFit/>
            </a:bodyPr>
            <a:lstStyle/>
            <a:p>
              <a:pPr fontAlgn="auto">
                <a:lnSpc>
                  <a:spcPct val="150000"/>
                </a:lnSpc>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要求参与者分享的文案，一句话提炼核心利益点，</a:t>
              </a:r>
              <a:endParaRPr lang="en-US" altLang="zh-CN"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fontAlgn="auto">
                <a:lnSpc>
                  <a:spcPct val="150000"/>
                </a:lnSpc>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适合朋友圈发布，忌冗长</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26" presetClass="emph" presetSubtype="0" fill="hold" grpId="1" nodeType="withEffect">
                                  <p:stCondLst>
                                    <p:cond delay="0"/>
                                  </p:stCondLst>
                                  <p:childTnLst>
                                    <p:animEffect transition="out" filter="fade">
                                      <p:cBhvr>
                                        <p:cTn id="8" dur="500" tmFilter="0, 0; .2, .5; .8, .5; 1, 0"/>
                                        <p:tgtEl>
                                          <p:spTgt spid="8"/>
                                        </p:tgtEl>
                                      </p:cBhvr>
                                    </p:animEffect>
                                    <p:animScale>
                                      <p:cBhvr>
                                        <p:cTn id="9" dur="250" autoRev="1" fill="hold"/>
                                        <p:tgtEl>
                                          <p:spTgt spid="8"/>
                                        </p:tgtEl>
                                      </p:cBhvr>
                                      <p:by x="105000" y="105000"/>
                                    </p:animScale>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1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26" presetClass="emph" presetSubtype="0" fill="hold" grpId="1" nodeType="withEffect">
                                  <p:stCondLst>
                                    <p:cond delay="0"/>
                                  </p:stCondLst>
                                  <p:childTnLst>
                                    <p:animEffect transition="out" filter="fade">
                                      <p:cBhvr>
                                        <p:cTn id="20" dur="500" tmFilter="0, 0; .2, .5; .8, .5; 1, 0"/>
                                        <p:tgtEl>
                                          <p:spTgt spid="9"/>
                                        </p:tgtEl>
                                      </p:cBhvr>
                                    </p:animEffect>
                                    <p:animScale>
                                      <p:cBhvr>
                                        <p:cTn id="21" dur="250" autoRev="1" fill="hold"/>
                                        <p:tgtEl>
                                          <p:spTgt spid="9"/>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10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26" presetClass="emph" presetSubtype="0" fill="hold" grpId="1" nodeType="withEffect">
                                  <p:stCondLst>
                                    <p:cond delay="0"/>
                                  </p:stCondLst>
                                  <p:childTnLst>
                                    <p:animEffect transition="out" filter="fade">
                                      <p:cBhvr>
                                        <p:cTn id="32" dur="500" tmFilter="0, 0; .2, .5; .8, .5; 1, 0"/>
                                        <p:tgtEl>
                                          <p:spTgt spid="10"/>
                                        </p:tgtEl>
                                      </p:cBhvr>
                                    </p:animEffect>
                                    <p:animScale>
                                      <p:cBhvr>
                                        <p:cTn id="33" dur="250" autoRev="1" fill="hold"/>
                                        <p:tgtEl>
                                          <p:spTgt spid="10"/>
                                        </p:tgtEl>
                                      </p:cBhvr>
                                      <p:by x="105000" y="105000"/>
                                    </p:animScale>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26" presetClass="emph" presetSubtype="0" fill="hold" grpId="1" nodeType="withEffect">
                                  <p:stCondLst>
                                    <p:cond delay="0"/>
                                  </p:stCondLst>
                                  <p:childTnLst>
                                    <p:animEffect transition="out" filter="fade">
                                      <p:cBhvr>
                                        <p:cTn id="44" dur="500" tmFilter="0, 0; .2, .5; .8, .5; 1, 0"/>
                                        <p:tgtEl>
                                          <p:spTgt spid="12"/>
                                        </p:tgtEl>
                                      </p:cBhvr>
                                    </p:animEffect>
                                    <p:animScale>
                                      <p:cBhvr>
                                        <p:cTn id="45" dur="250" autoRev="1" fill="hold"/>
                                        <p:tgtEl>
                                          <p:spTgt spid="12"/>
                                        </p:tgtEl>
                                      </p:cBhvr>
                                      <p:by x="105000" y="105000"/>
                                    </p:animScale>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bldLvl="0" animBg="1"/>
      <p:bldP spid="9" grpId="0" bldLvl="0" animBg="1"/>
      <p:bldP spid="9" grpId="1" bldLvl="0" animBg="1"/>
      <p:bldP spid="10" grpId="0" bldLvl="0" animBg="1"/>
      <p:bldP spid="10" grpId="1" bldLvl="0" animBg="1"/>
      <p:bldP spid="12" grpId="0" bldLvl="0" animBg="1"/>
      <p:bldP spid="12" grpId="1"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pPr indent="0" algn="l">
              <a:buClrTx/>
              <a:buSzTx/>
              <a:buFont typeface="+mj-lt"/>
              <a:buNone/>
            </a:pPr>
            <a:r>
              <a:rPr kumimoji="1" lang="zh-CN" altLang="en-US" sz="2000" b="1" dirty="0">
                <a:sym typeface="+mn-ea"/>
              </a:rPr>
              <a:t>裂变活动运营话术文案</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1" name="矩形: 圆角 10"/>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裂变活动运营话术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pic>
        <p:nvPicPr>
          <p:cNvPr id="8" name="图片 7"/>
          <p:cNvPicPr>
            <a:picLocks noChangeAspect="1"/>
          </p:cNvPicPr>
          <p:nvPr/>
        </p:nvPicPr>
        <p:blipFill>
          <a:blip r:embed="rId1"/>
          <a:stretch>
            <a:fillRect/>
          </a:stretch>
        </p:blipFill>
        <p:spPr>
          <a:xfrm>
            <a:off x="3288893" y="2241046"/>
            <a:ext cx="2503467" cy="4382924"/>
          </a:xfrm>
          <a:prstGeom prst="rect">
            <a:avLst/>
          </a:prstGeom>
          <a:ln>
            <a:solidFill>
              <a:schemeClr val="bg1">
                <a:lumMod val="85000"/>
              </a:schemeClr>
            </a:solidFill>
          </a:ln>
        </p:spPr>
      </p:pic>
      <p:sp>
        <p:nvSpPr>
          <p:cNvPr id="9" name="矩形: 圆角 8"/>
          <p:cNvSpPr/>
          <p:nvPr/>
        </p:nvSpPr>
        <p:spPr>
          <a:xfrm>
            <a:off x="3686810" y="4191000"/>
            <a:ext cx="2021205" cy="115760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grpSp>
        <p:nvGrpSpPr>
          <p:cNvPr id="2" name="组合 1"/>
          <p:cNvGrpSpPr/>
          <p:nvPr/>
        </p:nvGrpSpPr>
        <p:grpSpPr>
          <a:xfrm>
            <a:off x="5792360" y="4562437"/>
            <a:ext cx="5177294" cy="377411"/>
            <a:chOff x="5792360" y="4562437"/>
            <a:chExt cx="5177294" cy="377411"/>
          </a:xfrm>
        </p:grpSpPr>
        <p:cxnSp>
          <p:nvCxnSpPr>
            <p:cNvPr id="10" name="直接连接符 22"/>
            <p:cNvCxnSpPr/>
            <p:nvPr/>
          </p:nvCxnSpPr>
          <p:spPr>
            <a:xfrm flipV="1">
              <a:off x="5792360" y="4769539"/>
              <a:ext cx="1042829" cy="1"/>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835189" y="4562437"/>
              <a:ext cx="4134465" cy="377411"/>
            </a:xfrm>
            <a:prstGeom prst="rect">
              <a:avLst/>
            </a:prstGeom>
            <a:noFill/>
          </p:spPr>
          <p:txBody>
            <a:bodyPr wrap="none" rtlCol="0">
              <a:spAutoFit/>
            </a:bodyPr>
            <a:lstStyle/>
            <a:p>
              <a:pPr fontAlgn="auto">
                <a:lnSpc>
                  <a:spcPct val="150000"/>
                </a:lnSpc>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告知参与者已经完成任务，并说明奖品的领取方式</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6" presetClass="emph" presetSubtype="0" fill="hold" grpId="1" nodeType="withEffect">
                                  <p:stCondLst>
                                    <p:cond delay="0"/>
                                  </p:stCondLst>
                                  <p:childTnLst>
                                    <p:animEffect transition="out" filter="fade">
                                      <p:cBhvr>
                                        <p:cTn id="8" dur="500" tmFilter="0, 0; .2, .5; .8, .5; 1, 0"/>
                                        <p:tgtEl>
                                          <p:spTgt spid="9"/>
                                        </p:tgtEl>
                                      </p:cBhvr>
                                    </p:animEffect>
                                    <p:animScale>
                                      <p:cBhvr>
                                        <p:cTn id="9" dur="250" autoRev="1" fill="hold"/>
                                        <p:tgtEl>
                                          <p:spTgt spid="9"/>
                                        </p:tgtEl>
                                      </p:cBhvr>
                                      <p:by x="105000" y="105000"/>
                                    </p:animScale>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9" grpId="1"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1103313" y="1509713"/>
            <a:ext cx="6093618" cy="398780"/>
          </a:xfrm>
          <a:prstGeom prst="rect">
            <a:avLst/>
          </a:prstGeom>
          <a:noFill/>
        </p:spPr>
        <p:txBody>
          <a:bodyPr wrap="square">
            <a:spAutoFit/>
          </a:bodyPr>
          <a:lstStyle/>
          <a:p>
            <a:pPr indent="0" algn="l">
              <a:buClrTx/>
              <a:buSzTx/>
              <a:buFont typeface="+mj-lt"/>
              <a:buNone/>
            </a:pPr>
            <a:r>
              <a:rPr kumimoji="1" lang="zh-CN" altLang="en-US" sz="2000" b="1" dirty="0">
                <a:sym typeface="+mn-ea"/>
              </a:rPr>
              <a:t>裂变活动运营话术文案</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11" name="矩形: 圆角 10"/>
          <p:cNvSpPr/>
          <p:nvPr/>
        </p:nvSpPr>
        <p:spPr>
          <a:xfrm>
            <a:off x="1103313" y="3999745"/>
            <a:ext cx="1945661" cy="837459"/>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indent="-225425" algn="ctr" fontAlgn="base">
              <a:spcBef>
                <a:spcPct val="0"/>
              </a:spcBef>
              <a:spcAft>
                <a:spcPct val="0"/>
              </a:spcAft>
            </a:pPr>
            <a:r>
              <a:rPr kumimoji="1" lang="zh-CN" altLang="en-US" sz="1600" b="1" dirty="0">
                <a:solidFill>
                  <a:schemeClr val="bg1"/>
                </a:solidFill>
                <a:ea typeface="阿里巴巴普惠体" panose="00020600040101010101" pitchFamily="18" charset="-122"/>
                <a:cs typeface="阿里巴巴普惠体" panose="00020600040101010101" pitchFamily="18" charset="-122"/>
              </a:rPr>
              <a:t>裂变活动运营话术</a:t>
            </a:r>
            <a:endParaRPr kumimoji="1" lang="zh-CN" altLang="en-US" sz="1600" b="1" dirty="0">
              <a:solidFill>
                <a:schemeClr val="bg1"/>
              </a:solidFill>
              <a:ea typeface="阿里巴巴普惠体" panose="00020600040101010101" pitchFamily="18" charset="-122"/>
              <a:cs typeface="阿里巴巴普惠体" panose="00020600040101010101" pitchFamily="18" charset="-122"/>
            </a:endParaRPr>
          </a:p>
        </p:txBody>
      </p:sp>
      <p:pic>
        <p:nvPicPr>
          <p:cNvPr id="8" name="图片 7"/>
          <p:cNvPicPr>
            <a:picLocks noChangeAspect="1"/>
          </p:cNvPicPr>
          <p:nvPr/>
        </p:nvPicPr>
        <p:blipFill>
          <a:blip r:embed="rId1"/>
          <a:stretch>
            <a:fillRect/>
          </a:stretch>
        </p:blipFill>
        <p:spPr>
          <a:xfrm>
            <a:off x="3288893" y="2241046"/>
            <a:ext cx="2503467" cy="4386673"/>
          </a:xfrm>
          <a:prstGeom prst="rect">
            <a:avLst/>
          </a:prstGeom>
          <a:ln>
            <a:solidFill>
              <a:schemeClr val="bg1">
                <a:lumMod val="85000"/>
              </a:schemeClr>
            </a:solidFill>
          </a:ln>
        </p:spPr>
      </p:pic>
      <p:sp>
        <p:nvSpPr>
          <p:cNvPr id="9" name="矩形: 圆角 8"/>
          <p:cNvSpPr/>
          <p:nvPr/>
        </p:nvSpPr>
        <p:spPr>
          <a:xfrm>
            <a:off x="3686810" y="3124200"/>
            <a:ext cx="1945640" cy="103632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阿里巴巴普惠体" panose="00020600040101010101" pitchFamily="18" charset="-122"/>
              <a:cs typeface="阿里巴巴普惠体" panose="00020600040101010101" pitchFamily="18" charset="-122"/>
            </a:endParaRPr>
          </a:p>
        </p:txBody>
      </p:sp>
      <p:grpSp>
        <p:nvGrpSpPr>
          <p:cNvPr id="2" name="组合 1"/>
          <p:cNvGrpSpPr/>
          <p:nvPr/>
        </p:nvGrpSpPr>
        <p:grpSpPr>
          <a:xfrm>
            <a:off x="5842002" y="3419098"/>
            <a:ext cx="4100076" cy="377411"/>
            <a:chOff x="5842002" y="3419098"/>
            <a:chExt cx="4100076" cy="377411"/>
          </a:xfrm>
        </p:grpSpPr>
        <p:cxnSp>
          <p:nvCxnSpPr>
            <p:cNvPr id="10" name="直接连接符 22"/>
            <p:cNvCxnSpPr/>
            <p:nvPr/>
          </p:nvCxnSpPr>
          <p:spPr>
            <a:xfrm flipV="1">
              <a:off x="5842002" y="3642255"/>
              <a:ext cx="1042829" cy="1"/>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884831" y="3419098"/>
              <a:ext cx="3057247" cy="377411"/>
            </a:xfrm>
            <a:prstGeom prst="rect">
              <a:avLst/>
            </a:prstGeom>
            <a:noFill/>
          </p:spPr>
          <p:txBody>
            <a:bodyPr wrap="none" rtlCol="0">
              <a:spAutoFit/>
            </a:bodyPr>
            <a:lstStyle/>
            <a:p>
              <a:pPr fontAlgn="auto">
                <a:lnSpc>
                  <a:spcPct val="150000"/>
                </a:lnSpc>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未完成任务提醒，给浑水摸鱼者压力</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6" presetClass="emph" presetSubtype="0" fill="hold" grpId="1" nodeType="withEffect">
                                  <p:stCondLst>
                                    <p:cond delay="0"/>
                                  </p:stCondLst>
                                  <p:childTnLst>
                                    <p:animEffect transition="out" filter="fade">
                                      <p:cBhvr>
                                        <p:cTn id="8" dur="500" tmFilter="0, 0; .2, .5; .8, .5; 1, 0"/>
                                        <p:tgtEl>
                                          <p:spTgt spid="9"/>
                                        </p:tgtEl>
                                      </p:cBhvr>
                                    </p:animEffect>
                                    <p:animScale>
                                      <p:cBhvr>
                                        <p:cTn id="9" dur="250" autoRev="1" fill="hold"/>
                                        <p:tgtEl>
                                          <p:spTgt spid="9"/>
                                        </p:tgtEl>
                                      </p:cBhvr>
                                      <p:by x="105000" y="105000"/>
                                    </p:animScale>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9" grpId="1"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6826250" y="2668270"/>
            <a:ext cx="1478280" cy="3651250"/>
            <a:chOff x="6826440" y="2668316"/>
            <a:chExt cx="1287572" cy="3651255"/>
          </a:xfrm>
        </p:grpSpPr>
        <p:grpSp>
          <p:nvGrpSpPr>
            <p:cNvPr id="6" name="组合 5"/>
            <p:cNvGrpSpPr/>
            <p:nvPr/>
          </p:nvGrpSpPr>
          <p:grpSpPr>
            <a:xfrm>
              <a:off x="6826440" y="2668316"/>
              <a:ext cx="1287572" cy="3651255"/>
              <a:chOff x="6826440" y="2668316"/>
              <a:chExt cx="1287572" cy="3651255"/>
            </a:xfrm>
          </p:grpSpPr>
          <p:pic>
            <p:nvPicPr>
              <p:cNvPr id="12" name="图片 11"/>
              <p:cNvPicPr>
                <a:picLocks noChangeAspect="1"/>
              </p:cNvPicPr>
              <p:nvPr/>
            </p:nvPicPr>
            <p:blipFill>
              <a:blip r:embed="rId1"/>
              <a:stretch>
                <a:fillRect/>
              </a:stretch>
            </p:blipFill>
            <p:spPr>
              <a:xfrm>
                <a:off x="6826440" y="2668316"/>
                <a:ext cx="1287572" cy="3651255"/>
              </a:xfrm>
              <a:prstGeom prst="rect">
                <a:avLst/>
              </a:prstGeom>
              <a:ln>
                <a:solidFill>
                  <a:schemeClr val="bg1">
                    <a:lumMod val="85000"/>
                  </a:schemeClr>
                </a:solidFill>
              </a:ln>
            </p:spPr>
          </p:pic>
          <p:sp>
            <p:nvSpPr>
              <p:cNvPr id="2" name="矩形 1"/>
              <p:cNvSpPr/>
              <p:nvPr/>
            </p:nvSpPr>
            <p:spPr>
              <a:xfrm>
                <a:off x="7060557" y="2801073"/>
                <a:ext cx="335666" cy="17362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grpSp>
        <p:sp>
          <p:nvSpPr>
            <p:cNvPr id="23" name="矩形 22"/>
            <p:cNvSpPr/>
            <p:nvPr/>
          </p:nvSpPr>
          <p:spPr>
            <a:xfrm>
              <a:off x="7060557" y="4792816"/>
              <a:ext cx="486137" cy="427366"/>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grpSp>
      <p:grpSp>
        <p:nvGrpSpPr>
          <p:cNvPr id="17" name="组合 16"/>
          <p:cNvGrpSpPr/>
          <p:nvPr/>
        </p:nvGrpSpPr>
        <p:grpSpPr>
          <a:xfrm>
            <a:off x="4823634" y="2668316"/>
            <a:ext cx="1770840" cy="3651255"/>
            <a:chOff x="4823634" y="2668316"/>
            <a:chExt cx="1770840" cy="3651255"/>
          </a:xfrm>
        </p:grpSpPr>
        <p:pic>
          <p:nvPicPr>
            <p:cNvPr id="11" name="图片 10"/>
            <p:cNvPicPr>
              <a:picLocks noChangeAspect="1"/>
            </p:cNvPicPr>
            <p:nvPr/>
          </p:nvPicPr>
          <p:blipFill>
            <a:blip r:embed="rId2"/>
            <a:stretch>
              <a:fillRect/>
            </a:stretch>
          </p:blipFill>
          <p:spPr>
            <a:xfrm>
              <a:off x="4823634" y="2668316"/>
              <a:ext cx="1770840" cy="3651255"/>
            </a:xfrm>
            <a:prstGeom prst="rect">
              <a:avLst/>
            </a:prstGeom>
            <a:ln>
              <a:solidFill>
                <a:schemeClr val="bg1">
                  <a:lumMod val="85000"/>
                </a:schemeClr>
              </a:solidFill>
            </a:ln>
          </p:spPr>
        </p:pic>
        <p:sp>
          <p:nvSpPr>
            <p:cNvPr id="7" name="矩形 6"/>
            <p:cNvSpPr/>
            <p:nvPr/>
          </p:nvSpPr>
          <p:spPr>
            <a:xfrm>
              <a:off x="5153956" y="3955274"/>
              <a:ext cx="1110196" cy="107733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gr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8" name="文本占位符 3"/>
          <p:cNvSpPr txBox="1"/>
          <p:nvPr/>
        </p:nvSpPr>
        <p:spPr>
          <a:xfrm>
            <a:off x="1152927" y="2065828"/>
            <a:ext cx="3193786"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9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r>
              <a:rPr kumimoji="1" lang="zh-CN" altLang="en-US" sz="1600" dirty="0">
                <a:solidFill>
                  <a:srgbClr val="0067E1"/>
                </a:solidFill>
              </a:rPr>
              <a:t>裂变活动运营话术</a:t>
            </a:r>
            <a:r>
              <a:rPr kumimoji="1" lang="en-US" altLang="zh-CN" sz="1600" dirty="0">
                <a:solidFill>
                  <a:srgbClr val="0067E1"/>
                </a:solidFill>
              </a:rPr>
              <a:t>-</a:t>
            </a:r>
            <a:r>
              <a:rPr kumimoji="1" lang="zh-CN" altLang="en-US" sz="1600" dirty="0">
                <a:solidFill>
                  <a:srgbClr val="0067E1"/>
                </a:solidFill>
              </a:rPr>
              <a:t>案例</a:t>
            </a:r>
            <a:endParaRPr kumimoji="1" lang="zh-CN" altLang="en-US" sz="1600" dirty="0">
              <a:solidFill>
                <a:srgbClr val="0067E1"/>
              </a:solidFill>
            </a:endParaRPr>
          </a:p>
        </p:txBody>
      </p:sp>
      <p:pic>
        <p:nvPicPr>
          <p:cNvPr id="10" name="图片 9"/>
          <p:cNvPicPr>
            <a:picLocks noChangeAspect="1"/>
          </p:cNvPicPr>
          <p:nvPr/>
        </p:nvPicPr>
        <p:blipFill>
          <a:blip r:embed="rId3"/>
          <a:stretch>
            <a:fillRect/>
          </a:stretch>
        </p:blipFill>
        <p:spPr>
          <a:xfrm>
            <a:off x="1553375" y="2668316"/>
            <a:ext cx="3033263" cy="3651255"/>
          </a:xfrm>
          <a:prstGeom prst="rect">
            <a:avLst/>
          </a:prstGeom>
          <a:ln>
            <a:solidFill>
              <a:schemeClr val="bg1">
                <a:lumMod val="85000"/>
              </a:schemeClr>
            </a:solidFill>
          </a:ln>
        </p:spPr>
      </p:pic>
      <p:pic>
        <p:nvPicPr>
          <p:cNvPr id="13" name="图片 12"/>
          <p:cNvPicPr>
            <a:picLocks noChangeAspect="1"/>
          </p:cNvPicPr>
          <p:nvPr/>
        </p:nvPicPr>
        <p:blipFill>
          <a:blip r:embed="rId4"/>
          <a:stretch>
            <a:fillRect/>
          </a:stretch>
        </p:blipFill>
        <p:spPr>
          <a:xfrm>
            <a:off x="8527588" y="2668316"/>
            <a:ext cx="2331293" cy="3651255"/>
          </a:xfrm>
          <a:prstGeom prst="rect">
            <a:avLst/>
          </a:prstGeom>
          <a:ln>
            <a:solidFill>
              <a:schemeClr val="bg1">
                <a:lumMod val="85000"/>
              </a:schemeClr>
            </a:solidFill>
          </a:ln>
        </p:spPr>
      </p:pic>
      <p:sp>
        <p:nvSpPr>
          <p:cNvPr id="14" name="矩形: 圆角 13"/>
          <p:cNvSpPr/>
          <p:nvPr/>
        </p:nvSpPr>
        <p:spPr>
          <a:xfrm>
            <a:off x="7030307" y="3071936"/>
            <a:ext cx="1130011" cy="463743"/>
          </a:xfrm>
          <a:prstGeom prst="roundRect">
            <a:avLst>
              <a:gd name="adj" fmla="val 757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15" name="矩形: 圆角 14"/>
          <p:cNvSpPr/>
          <p:nvPr/>
        </p:nvSpPr>
        <p:spPr>
          <a:xfrm>
            <a:off x="7037300" y="3602441"/>
            <a:ext cx="1130011" cy="71962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16" name="文本框 15"/>
          <p:cNvSpPr txBox="1"/>
          <p:nvPr/>
        </p:nvSpPr>
        <p:spPr>
          <a:xfrm>
            <a:off x="2430316" y="6416815"/>
            <a:ext cx="1418978"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朋友圈裂变海报</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文本框 17"/>
          <p:cNvSpPr txBox="1"/>
          <p:nvPr/>
        </p:nvSpPr>
        <p:spPr>
          <a:xfrm>
            <a:off x="5087730" y="6416815"/>
            <a:ext cx="1242648"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进群宝群活码</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文本框 23"/>
          <p:cNvSpPr txBox="1"/>
          <p:nvPr/>
        </p:nvSpPr>
        <p:spPr>
          <a:xfrm>
            <a:off x="6902548" y="6416814"/>
            <a:ext cx="1066318"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进群后文案</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文本框 24"/>
          <p:cNvSpPr txBox="1"/>
          <p:nvPr/>
        </p:nvSpPr>
        <p:spPr>
          <a:xfrm>
            <a:off x="8912747" y="6416814"/>
            <a:ext cx="1418978"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完成任务后话术</a:t>
            </a:r>
            <a:endPar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文本框 19"/>
          <p:cNvSpPr txBox="1"/>
          <p:nvPr/>
        </p:nvSpPr>
        <p:spPr>
          <a:xfrm>
            <a:off x="1103313" y="1509713"/>
            <a:ext cx="3625098" cy="398780"/>
          </a:xfrm>
          <a:prstGeom prst="rect">
            <a:avLst/>
          </a:prstGeom>
          <a:noFill/>
        </p:spPr>
        <p:txBody>
          <a:bodyPr wrap="square">
            <a:spAutoFit/>
          </a:bodyPr>
          <a:lstStyle/>
          <a:p>
            <a:pPr indent="0" algn="l">
              <a:buClrTx/>
              <a:buSzTx/>
              <a:buFont typeface="+mj-lt"/>
              <a:buNone/>
            </a:pPr>
            <a:r>
              <a:rPr kumimoji="1" lang="zh-CN" altLang="en-US" sz="2000" b="1" dirty="0">
                <a:sym typeface="+mn-ea"/>
              </a:rPr>
              <a:t>裂变活动运营话术文案</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
        <p:nvSpPr>
          <p:cNvPr id="26" name="矩形: 圆角 25"/>
          <p:cNvSpPr/>
          <p:nvPr/>
        </p:nvSpPr>
        <p:spPr>
          <a:xfrm>
            <a:off x="7037300" y="4366095"/>
            <a:ext cx="1130011" cy="26686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27" name="矩形: 圆角 26"/>
          <p:cNvSpPr/>
          <p:nvPr/>
        </p:nvSpPr>
        <p:spPr>
          <a:xfrm>
            <a:off x="8914362" y="5629664"/>
            <a:ext cx="1610079" cy="64360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
        <p:nvSpPr>
          <p:cNvPr id="28" name="矩形: 圆角 27"/>
          <p:cNvSpPr/>
          <p:nvPr/>
        </p:nvSpPr>
        <p:spPr>
          <a:xfrm>
            <a:off x="1956852" y="3678457"/>
            <a:ext cx="2536460" cy="64360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26" presetClass="emph" presetSubtype="0" fill="hold" grpId="1" nodeType="withEffect">
                                  <p:stCondLst>
                                    <p:cond delay="0"/>
                                  </p:stCondLst>
                                  <p:childTnLst>
                                    <p:animEffect transition="out" filter="fade">
                                      <p:cBhvr>
                                        <p:cTn id="8" dur="500" tmFilter="0, 0; .2, .5; .8, .5; 1, 0"/>
                                        <p:tgtEl>
                                          <p:spTgt spid="28"/>
                                        </p:tgtEl>
                                      </p:cBhvr>
                                    </p:animEffect>
                                    <p:animScale>
                                      <p:cBhvr>
                                        <p:cTn id="9" dur="250" autoRev="1" fill="hold"/>
                                        <p:tgtEl>
                                          <p:spTgt spid="28"/>
                                        </p:tgtEl>
                                      </p:cBhvr>
                                      <p:by x="105000" y="105000"/>
                                    </p:animScale>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par>
                                <p:cTn id="14" presetID="26" presetClass="emph" presetSubtype="0" fill="hold" grpId="1" nodeType="withEffect">
                                  <p:stCondLst>
                                    <p:cond delay="0"/>
                                  </p:stCondLst>
                                  <p:childTnLst>
                                    <p:animEffect transition="out" filter="fade">
                                      <p:cBhvr>
                                        <p:cTn id="15" dur="500" tmFilter="0, 0; .2, .5; .8, .5; 1, 0"/>
                                        <p:tgtEl>
                                          <p:spTgt spid="14"/>
                                        </p:tgtEl>
                                      </p:cBhvr>
                                    </p:animEffect>
                                    <p:animScale>
                                      <p:cBhvr>
                                        <p:cTn id="16" dur="250" autoRev="1" fill="hold"/>
                                        <p:tgtEl>
                                          <p:spTgt spid="14"/>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26" presetClass="emph" presetSubtype="0" fill="hold" grpId="1" nodeType="withEffect">
                                  <p:stCondLst>
                                    <p:cond delay="0"/>
                                  </p:stCondLst>
                                  <p:childTnLst>
                                    <p:animEffect transition="out" filter="fade">
                                      <p:cBhvr>
                                        <p:cTn id="22" dur="500" tmFilter="0, 0; .2, .5; .8, .5; 1, 0"/>
                                        <p:tgtEl>
                                          <p:spTgt spid="15"/>
                                        </p:tgtEl>
                                      </p:cBhvr>
                                    </p:animEffect>
                                    <p:animScale>
                                      <p:cBhvr>
                                        <p:cTn id="23" dur="250" autoRev="1" fill="hold"/>
                                        <p:tgtEl>
                                          <p:spTgt spid="15"/>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26" presetClass="emph" presetSubtype="0" fill="hold" grpId="1" nodeType="withEffect">
                                  <p:stCondLst>
                                    <p:cond delay="0"/>
                                  </p:stCondLst>
                                  <p:childTnLst>
                                    <p:animEffect transition="out" filter="fade">
                                      <p:cBhvr>
                                        <p:cTn id="29" dur="500" tmFilter="0, 0; .2, .5; .8, .5; 1, 0"/>
                                        <p:tgtEl>
                                          <p:spTgt spid="26"/>
                                        </p:tgtEl>
                                      </p:cBhvr>
                                    </p:animEffect>
                                    <p:animScale>
                                      <p:cBhvr>
                                        <p:cTn id="30" dur="250" autoRev="1" fill="hold"/>
                                        <p:tgtEl>
                                          <p:spTgt spid="26"/>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26" presetClass="emph" presetSubtype="0" fill="hold" grpId="1" nodeType="withEffect">
                                  <p:stCondLst>
                                    <p:cond delay="0"/>
                                  </p:stCondLst>
                                  <p:childTnLst>
                                    <p:animEffect transition="out" filter="fade">
                                      <p:cBhvr>
                                        <p:cTn id="36" dur="500" tmFilter="0, 0; .2, .5; .8, .5; 1, 0"/>
                                        <p:tgtEl>
                                          <p:spTgt spid="27"/>
                                        </p:tgtEl>
                                      </p:cBhvr>
                                    </p:animEffect>
                                    <p:animScale>
                                      <p:cBhvr>
                                        <p:cTn id="37" dur="250" autoRev="1" fill="hold"/>
                                        <p:tgtEl>
                                          <p:spTgt spid="2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4" grpId="1" bldLvl="0" animBg="1"/>
      <p:bldP spid="15" grpId="0" bldLvl="0" animBg="1"/>
      <p:bldP spid="15" grpId="1" bldLvl="0" animBg="1"/>
      <p:bldP spid="26" grpId="0" bldLvl="0" animBg="1"/>
      <p:bldP spid="26" grpId="1" bldLvl="0" animBg="1"/>
      <p:bldP spid="27" grpId="0" bldLvl="0" animBg="1"/>
      <p:bldP spid="27" grpId="1" bldLvl="0" animBg="1"/>
      <p:bldP spid="28" grpId="0" bldLvl="0" animBg="1"/>
      <p:bldP spid="28" grpId="1" bldLvl="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0"/>
          </p:nvPr>
        </p:nvSpPr>
        <p:spPr>
          <a:xfrm>
            <a:off x="5126355" y="1436370"/>
            <a:ext cx="5760720" cy="3944620"/>
          </a:xfrm>
        </p:spPr>
        <p:txBody>
          <a:bodyPr/>
          <a:p>
            <a:r>
              <a:rPr lang="zh-CN" altLang="en-US"/>
              <a:t>如果我制作完了海报，用户做任务时，可不可以不分享文案，只要求</a:t>
            </a:r>
            <a:r>
              <a:rPr lang="zh-CN" altLang="en-US"/>
              <a:t>用户分享海报（到群、到朋友圈）就可以</a:t>
            </a:r>
            <a:r>
              <a:rPr lang="zh-CN" altLang="en-US"/>
              <a:t>？</a:t>
            </a:r>
            <a:endParaRPr lang="zh-CN" altLang="en-US"/>
          </a:p>
        </p:txBody>
      </p:sp>
      <p:sp>
        <p:nvSpPr>
          <p:cNvPr id="5" name="标题 4"/>
          <p:cNvSpPr>
            <a:spLocks noGrp="1"/>
          </p:cNvSpPr>
          <p:nvPr>
            <p:ph type="title"/>
          </p:nvPr>
        </p:nvSpPr>
        <p:spPr/>
        <p:txBody>
          <a:bodyPr/>
          <a:p>
            <a:r>
              <a:rPr lang="zh-CN" altLang="en-US"/>
              <a:t>思考</a:t>
            </a:r>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0"/>
          </p:nvPr>
        </p:nvSpPr>
        <p:spPr>
          <a:xfrm>
            <a:off x="5126355" y="1436370"/>
            <a:ext cx="5760720" cy="3944620"/>
          </a:xfrm>
        </p:spPr>
        <p:txBody>
          <a:bodyPr/>
          <a:p>
            <a:pPr marL="0" indent="0">
              <a:buNone/>
            </a:pPr>
            <a:r>
              <a:rPr lang="en-US" altLang="zh-CN"/>
              <a:t>2. </a:t>
            </a:r>
            <a:r>
              <a:rPr lang="zh-CN" altLang="en-US"/>
              <a:t>进群欢迎话术，当用户频繁</a:t>
            </a:r>
            <a:r>
              <a:rPr lang="zh-CN" altLang="en-US"/>
              <a:t>进来，为了防止微信检测认为我们是在诱导用户，那么进群话术要怎么做？</a:t>
            </a:r>
            <a:endParaRPr lang="zh-CN" altLang="en-US"/>
          </a:p>
        </p:txBody>
      </p:sp>
      <p:sp>
        <p:nvSpPr>
          <p:cNvPr id="5" name="标题 4"/>
          <p:cNvSpPr>
            <a:spLocks noGrp="1"/>
          </p:cNvSpPr>
          <p:nvPr>
            <p:ph type="title"/>
          </p:nvPr>
        </p:nvSpPr>
        <p:spPr/>
        <p:txBody>
          <a:bodyPr/>
          <a:p>
            <a:r>
              <a:rPr lang="zh-CN" altLang="en-US"/>
              <a:t>思考</a:t>
            </a:r>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931229" y="2454364"/>
            <a:ext cx="6531428" cy="2928260"/>
          </a:xfrm>
        </p:spPr>
        <p:txBody>
          <a:bodyPr anchor="t"/>
          <a:lstStyle/>
          <a:p>
            <a:pPr marL="0" indent="0">
              <a:lnSpc>
                <a:spcPct val="180000"/>
              </a:lnSpc>
              <a:buFont typeface="+mj-lt"/>
              <a:buNone/>
            </a:pPr>
            <a:r>
              <a:rPr lang="en-US" altLang="zh-CN" sz="1600" dirty="0"/>
              <a:t>1. </a:t>
            </a:r>
            <a:r>
              <a:rPr lang="zh-CN" altLang="en-US" sz="1600" dirty="0"/>
              <a:t>裂变海报设计要遵循</a:t>
            </a:r>
            <a:r>
              <a:rPr lang="zh-CN" altLang="en-US" sz="1600" dirty="0">
                <a:solidFill>
                  <a:schemeClr val="tx1">
                    <a:lumMod val="95000"/>
                    <a:lumOff val="5000"/>
                  </a:schemeClr>
                </a:solidFill>
              </a:rPr>
              <a:t>结构</a:t>
            </a:r>
            <a:r>
              <a:rPr lang="en-US" altLang="zh-CN" sz="1600" dirty="0">
                <a:solidFill>
                  <a:schemeClr val="tx1">
                    <a:lumMod val="95000"/>
                    <a:lumOff val="5000"/>
                  </a:schemeClr>
                </a:solidFill>
              </a:rPr>
              <a:t>6</a:t>
            </a:r>
            <a:r>
              <a:rPr lang="zh-CN" altLang="en-US" sz="1600" dirty="0">
                <a:solidFill>
                  <a:schemeClr val="tx1">
                    <a:lumMod val="95000"/>
                    <a:lumOff val="5000"/>
                  </a:schemeClr>
                </a:solidFill>
              </a:rPr>
              <a:t>要素</a:t>
            </a:r>
            <a:r>
              <a:rPr lang="zh-CN" altLang="en-US" sz="1600" dirty="0"/>
              <a:t>：</a:t>
            </a:r>
            <a:r>
              <a:rPr lang="zh-CN" altLang="en-US" sz="1600" dirty="0">
                <a:solidFill>
                  <a:srgbClr val="FF0000"/>
                </a:solidFill>
                <a:sym typeface="+mn-ea"/>
              </a:rPr>
              <a:t>主标题、大纲、信任背书、紧迫感</a:t>
            </a:r>
            <a:endParaRPr lang="en-US" altLang="zh-CN" sz="1600" dirty="0">
              <a:solidFill>
                <a:srgbClr val="FF0000"/>
              </a:solidFill>
              <a:ea typeface="阿里巴巴普惠体" panose="00020600040101010101" pitchFamily="18" charset="-122"/>
            </a:endParaRPr>
          </a:p>
          <a:p>
            <a:pPr marL="0" indent="0">
              <a:lnSpc>
                <a:spcPct val="180000"/>
              </a:lnSpc>
              <a:buFont typeface="+mj-lt"/>
              <a:buNone/>
            </a:pPr>
            <a:r>
              <a:rPr lang="zh-CN" altLang="en-US" sz="1600" dirty="0">
                <a:solidFill>
                  <a:srgbClr val="FF0000"/>
                </a:solidFill>
                <a:sym typeface="+mn-ea"/>
              </a:rPr>
              <a:t>、用户身份和短期利益</a:t>
            </a:r>
            <a:r>
              <a:rPr lang="zh-CN" altLang="en-US" sz="1600" dirty="0"/>
              <a:t>。</a:t>
            </a:r>
            <a:endParaRPr lang="en-US" altLang="zh-CN" sz="1600" dirty="0"/>
          </a:p>
          <a:p>
            <a:pPr marL="0" indent="0">
              <a:lnSpc>
                <a:spcPct val="180000"/>
              </a:lnSpc>
              <a:buNone/>
            </a:pPr>
            <a:r>
              <a:rPr lang="en-US" altLang="zh-CN" sz="1600" dirty="0"/>
              <a:t>2. </a:t>
            </a:r>
            <a:r>
              <a:rPr lang="zh-CN" altLang="en-US" sz="1600" dirty="0"/>
              <a:t>在裂变海报设计中，可以结合</a:t>
            </a:r>
            <a:r>
              <a:rPr lang="zh-CN" altLang="en-US" sz="1600" dirty="0">
                <a:solidFill>
                  <a:srgbClr val="FF0000"/>
                </a:solidFill>
                <a:sym typeface="+mn-ea"/>
              </a:rPr>
              <a:t>产品</a:t>
            </a:r>
            <a:r>
              <a:rPr lang="en-US" altLang="zh-CN" sz="1600" dirty="0">
                <a:solidFill>
                  <a:srgbClr val="FF0000"/>
                </a:solidFill>
                <a:sym typeface="+mn-ea"/>
              </a:rPr>
              <a:t>/</a:t>
            </a:r>
            <a:r>
              <a:rPr lang="zh-CN" altLang="en-US" sz="1600" dirty="0">
                <a:solidFill>
                  <a:srgbClr val="FF0000"/>
                </a:solidFill>
                <a:sym typeface="+mn-ea"/>
              </a:rPr>
              <a:t>业务特性</a:t>
            </a:r>
            <a:r>
              <a:rPr lang="zh-CN" altLang="en-US" sz="1600" dirty="0"/>
              <a:t>增加或减少设计要素。</a:t>
            </a:r>
            <a:endParaRPr lang="en-US" altLang="zh-CN" sz="1600" dirty="0"/>
          </a:p>
          <a:p>
            <a:pPr marL="0" indent="0">
              <a:lnSpc>
                <a:spcPct val="180000"/>
              </a:lnSpc>
              <a:buFont typeface="+mj-lt"/>
              <a:buNone/>
            </a:pPr>
            <a:r>
              <a:rPr lang="en-US" altLang="zh-CN" sz="1600" dirty="0"/>
              <a:t>3. </a:t>
            </a:r>
            <a:r>
              <a:rPr lang="zh-CN" altLang="en-US" sz="1600" dirty="0"/>
              <a:t>裂变活动运营话术文案：通常包括</a:t>
            </a:r>
            <a:r>
              <a:rPr lang="zh-CN" altLang="en-US" sz="1600" dirty="0">
                <a:solidFill>
                  <a:srgbClr val="FF0000"/>
                </a:solidFill>
                <a:sym typeface="+mn-ea"/>
              </a:rPr>
              <a:t>活动信息（用一句话描述），参与</a:t>
            </a:r>
            <a:endParaRPr lang="en-US" altLang="zh-CN" sz="1600" dirty="0">
              <a:solidFill>
                <a:srgbClr val="FF0000"/>
              </a:solidFill>
              <a:ea typeface="阿里巴巴普惠体" panose="00020600040101010101" pitchFamily="18" charset="-122"/>
            </a:endParaRPr>
          </a:p>
          <a:p>
            <a:pPr marL="0" indent="0">
              <a:lnSpc>
                <a:spcPct val="180000"/>
              </a:lnSpc>
              <a:buFont typeface="+mj-lt"/>
              <a:buNone/>
            </a:pPr>
            <a:r>
              <a:rPr lang="zh-CN" altLang="en-US" sz="1600" dirty="0">
                <a:solidFill>
                  <a:srgbClr val="FF0000"/>
                </a:solidFill>
                <a:sym typeface="+mn-ea"/>
              </a:rPr>
              <a:t>方式说明，注意事项描述</a:t>
            </a:r>
            <a:r>
              <a:rPr lang="zh-CN" altLang="en-US" sz="1600" dirty="0"/>
              <a:t>。</a:t>
            </a:r>
            <a:endParaRPr lang="en-US" altLang="zh-CN" sz="1600" dirty="0"/>
          </a:p>
        </p:txBody>
      </p:sp>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17" name="文本框 16"/>
          <p:cNvSpPr txBox="1"/>
          <p:nvPr/>
        </p:nvSpPr>
        <p:spPr>
          <a:xfrm>
            <a:off x="4931410" y="1967230"/>
            <a:ext cx="4551045" cy="398780"/>
          </a:xfrm>
          <a:prstGeom prst="rect">
            <a:avLst/>
          </a:prstGeom>
          <a:noFill/>
        </p:spPr>
        <p:txBody>
          <a:bodyPr wrap="square">
            <a:spAutoFit/>
          </a:bodyPr>
          <a:lstStyle/>
          <a:p>
            <a:pPr indent="0" algn="l">
              <a:buClrTx/>
              <a:buSzTx/>
              <a:buFont typeface="+mj-lt"/>
              <a:buNone/>
            </a:pPr>
            <a:r>
              <a:rPr kumimoji="1" lang="zh-CN" altLang="en-US" sz="2000" b="1" dirty="0">
                <a:sym typeface="+mn-ea"/>
              </a:rPr>
              <a:t>制作裂变海报及物料</a:t>
            </a:r>
            <a:r>
              <a:rPr kumimoji="1" lang="en-US" altLang="zh-CN" sz="2000" b="1" dirty="0">
                <a:sym typeface="+mn-ea"/>
              </a:rPr>
              <a:t>+</a:t>
            </a:r>
            <a:r>
              <a:rPr kumimoji="1" lang="zh-CN" altLang="en-US" sz="2000" b="1" dirty="0">
                <a:sym typeface="+mn-ea"/>
              </a:rPr>
              <a:t>话术文案</a:t>
            </a:r>
            <a:endParaRPr lang="zh-CN" altLang="en-US" sz="2000" b="1" dirty="0">
              <a:solidFill>
                <a:schemeClr val="tx1">
                  <a:lumMod val="75000"/>
                  <a:lumOff val="25000"/>
                </a:schemeClr>
              </a:solidFill>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prstGeom prst="rect">
            <a:avLst/>
          </a:prstGeom>
        </p:spPr>
        <p:txBody>
          <a:bodyPr vert="horz" wrap="square" lIns="91423" tIns="45712" rIns="91423" bIns="45712" numCol="1" anchor="ctr" anchorCtr="0" compatLnSpc="1"/>
          <a:lstStyle/>
          <a:p>
            <a:r>
              <a:rPr lang="zh-CN" altLang="en-US" b="1" dirty="0"/>
              <a:t>社群裂变活动策划全流程</a:t>
            </a:r>
            <a:endParaRPr lang="zh-CN" altLang="en-US" b="1" dirty="0"/>
          </a:p>
        </p:txBody>
      </p:sp>
      <p:sp>
        <p:nvSpPr>
          <p:cNvPr id="2" name="文本占位符 1"/>
          <p:cNvSpPr>
            <a:spLocks noGrp="1"/>
          </p:cNvSpPr>
          <p:nvPr>
            <p:ph type="body" sz="quarter" idx="10"/>
          </p:nvPr>
        </p:nvSpPr>
        <p:spPr>
          <a:xfrm>
            <a:off x="2195450" y="1056801"/>
            <a:ext cx="9214231" cy="517191"/>
          </a:xfrm>
        </p:spPr>
        <p:txBody>
          <a:bodyPr/>
          <a:lstStyle/>
          <a:p>
            <a:r>
              <a:rPr lang="zh-CN" altLang="en-US" dirty="0"/>
              <a:t>设计完裂变海报，撰写入群话术文案</a:t>
            </a:r>
            <a:endParaRPr lang="en-US" altLang="zh-CN" dirty="0"/>
          </a:p>
        </p:txBody>
      </p:sp>
      <p:sp>
        <p:nvSpPr>
          <p:cNvPr id="3" name="文本占位符 2"/>
          <p:cNvSpPr>
            <a:spLocks noGrp="1"/>
          </p:cNvSpPr>
          <p:nvPr>
            <p:ph type="body" sz="quarter" idx="11"/>
          </p:nvPr>
        </p:nvSpPr>
        <p:spPr>
          <a:xfrm>
            <a:off x="2266315" y="2098040"/>
            <a:ext cx="6341110" cy="2921000"/>
          </a:xfrm>
        </p:spPr>
        <p:txBody>
          <a:bodyPr/>
          <a:lstStyle/>
          <a:p>
            <a:r>
              <a:rPr lang="zh-CN" altLang="en-US" b="1" dirty="0">
                <a:sym typeface="+mn-ea"/>
              </a:rPr>
              <a:t>——要求：</a:t>
            </a:r>
            <a:endParaRPr lang="zh-CN" altLang="en-US" b="1" dirty="0">
              <a:sym typeface="+mn-ea"/>
            </a:endParaRPr>
          </a:p>
          <a:p>
            <a:r>
              <a:rPr lang="zh-CN" altLang="en-US" dirty="0">
                <a:sym typeface="+mn-ea"/>
              </a:rPr>
              <a:t>为用户进群撰写裂变话术</a:t>
            </a:r>
            <a:endParaRPr lang="zh-CN" altLang="en-US" dirty="0">
              <a:sym typeface="+mn-ea"/>
            </a:endParaRPr>
          </a:p>
          <a:p>
            <a:endParaRPr lang="zh-CN" altLang="en-US" dirty="0">
              <a:sym typeface="+mn-ea"/>
            </a:endParaRPr>
          </a:p>
          <a:p>
            <a:r>
              <a:rPr lang="zh-CN" altLang="en-US" dirty="0">
                <a:sym typeface="+mn-ea"/>
              </a:rPr>
              <a:t>时间：</a:t>
            </a:r>
            <a:r>
              <a:rPr lang="en-US" altLang="zh-CN" dirty="0">
                <a:sym typeface="+mn-ea"/>
              </a:rPr>
              <a:t>20</a:t>
            </a:r>
            <a:r>
              <a:rPr lang="zh-CN" altLang="en-US" dirty="0">
                <a:sym typeface="+mn-ea"/>
              </a:rPr>
              <a:t>分钟</a:t>
            </a:r>
            <a:endParaRPr lang="zh-CN" altLang="en-US" dirty="0"/>
          </a:p>
          <a:p>
            <a:r>
              <a:rPr lang="zh-CN" altLang="en-US" dirty="0">
                <a:sym typeface="+mn-ea"/>
              </a:rPr>
              <a:t>提交方式：</a:t>
            </a:r>
            <a:r>
              <a:rPr lang="zh-CN" altLang="en-US" dirty="0">
                <a:solidFill>
                  <a:schemeClr val="tx1"/>
                </a:solidFill>
                <a:sym typeface="+mn-ea"/>
              </a:rPr>
              <a:t> 每位同学</a:t>
            </a:r>
            <a:r>
              <a:rPr lang="zh-CN" altLang="en-US" dirty="0">
                <a:solidFill>
                  <a:schemeClr val="tx1"/>
                </a:solidFill>
                <a:sym typeface="+mn-ea"/>
              </a:rPr>
              <a:t>在之前的在线</a:t>
            </a:r>
            <a:r>
              <a:rPr lang="en-US" altLang="zh-CN" dirty="0">
                <a:solidFill>
                  <a:schemeClr val="tx1"/>
                </a:solidFill>
                <a:sym typeface="+mn-ea"/>
              </a:rPr>
              <a:t>Excel</a:t>
            </a:r>
            <a:r>
              <a:rPr lang="zh-CN" altLang="en-US" dirty="0">
                <a:solidFill>
                  <a:schemeClr val="tx1"/>
                </a:solidFill>
                <a:sym typeface="+mn-ea"/>
              </a:rPr>
              <a:t>表格中加入练习内容</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kumimoji="1" lang="zh-CN" altLang="en-US" sz="2800" dirty="0">
                <a:latin typeface="阿里巴巴普惠体" panose="00020600040101010101" pitchFamily="18" charset="-122"/>
              </a:rPr>
              <a:t>活动渠道</a:t>
            </a:r>
            <a:endParaRPr kumimoji="1" lang="zh-CN" altLang="en-US" sz="2800" dirty="0">
              <a:latin typeface="阿里巴巴普惠体" panose="00020600040101010101" pitchFamily="18" charset="-122"/>
            </a:endParaRPr>
          </a:p>
        </p:txBody>
      </p:sp>
      <p:sp>
        <p:nvSpPr>
          <p:cNvPr id="3" name="文本占位符 2"/>
          <p:cNvSpPr>
            <a:spLocks noGrp="1"/>
          </p:cNvSpPr>
          <p:nvPr>
            <p:ph type="body" idx="10"/>
          </p:nvPr>
        </p:nvSpPr>
        <p:spPr>
          <a:xfrm>
            <a:off x="5273040" y="3068955"/>
            <a:ext cx="5466080" cy="1238885"/>
          </a:xfrm>
        </p:spPr>
        <p:txBody>
          <a:bodyPr/>
          <a:lstStyle/>
          <a:p>
            <a:r>
              <a:rPr kumimoji="1" lang="zh-CN" altLang="en-US" dirty="0"/>
              <a:t>启动期寻找种子用户的底层逻辑</a:t>
            </a:r>
            <a:endParaRPr kumimoji="1" lang="zh-CN" altLang="en-US" dirty="0"/>
          </a:p>
          <a:p>
            <a:pPr marL="0" indent="0">
              <a:buNone/>
            </a:pPr>
            <a:endParaRPr kumimoji="1" lang="zh-CN" altLang="en-US" dirty="0"/>
          </a:p>
        </p:txBody>
      </p:sp>
      <p:sp>
        <p:nvSpPr>
          <p:cNvPr id="4" name="文本占位符 3"/>
          <p:cNvSpPr>
            <a:spLocks noGrp="1"/>
          </p:cNvSpPr>
          <p:nvPr>
            <p:ph type="body" sz="quarter" idx="11"/>
          </p:nvPr>
        </p:nvSpPr>
        <p:spPr/>
        <p:txBody>
          <a:bodyPr/>
          <a:p>
            <a:r>
              <a:rPr lang="en-US" altLang="zh-CN"/>
              <a:t>07</a:t>
            </a:r>
            <a:endParaRPr lang="en-US"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type="body" sz="quarter" idx="10"/>
          </p:nvPr>
        </p:nvSpPr>
        <p:spPr/>
        <p:txBody>
          <a:bodyPr/>
          <a:lstStyle/>
          <a:p>
            <a:pPr marL="0" indent="0">
              <a:buNone/>
            </a:pPr>
            <a:r>
              <a:rPr lang="en-US" altLang="zh-CN" dirty="0"/>
              <a:t>1. </a:t>
            </a:r>
            <a:r>
              <a:rPr lang="zh-CN" altLang="en-US" dirty="0"/>
              <a:t>理解启动期寻找种子用户的底层逻辑</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837880" y="1301464"/>
            <a:ext cx="8771021" cy="517190"/>
          </a:xfrm>
          <a:prstGeom prst="rect">
            <a:avLst/>
          </a:prstGeom>
        </p:spPr>
        <p:txBody>
          <a:bodyPr lIns="68567" tIns="34284" rIns="68567" bIns="34284" anchor="ctr"/>
          <a:lstStyle/>
          <a:p>
            <a:pPr algn="l"/>
            <a:r>
              <a:rPr lang="zh-CN" altLang="en-US" sz="1800" b="0" dirty="0">
                <a:solidFill>
                  <a:schemeClr val="tx1">
                    <a:lumMod val="85000"/>
                    <a:lumOff val="15000"/>
                  </a:schemeClr>
                </a:solidFill>
              </a:rPr>
              <a:t>种子用户寻找的底层逻辑：</a:t>
            </a:r>
            <a:endParaRPr lang="zh-CN" altLang="en-US" sz="1800" b="0" dirty="0">
              <a:solidFill>
                <a:schemeClr val="tx1">
                  <a:lumMod val="85000"/>
                  <a:lumOff val="15000"/>
                </a:schemeClr>
              </a:solidFill>
            </a:endParaRPr>
          </a:p>
        </p:txBody>
      </p:sp>
      <p:sp>
        <p:nvSpPr>
          <p:cNvPr id="4" name="MH_Text_1"/>
          <p:cNvSpPr/>
          <p:nvPr>
            <p:custDataLst>
              <p:tags r:id="rId1"/>
            </p:custDataLst>
          </p:nvPr>
        </p:nvSpPr>
        <p:spPr>
          <a:xfrm>
            <a:off x="3972526" y="2828252"/>
            <a:ext cx="1203722" cy="992981"/>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noFill/>
          <a:ln>
            <a:solidFill>
              <a:srgbClr val="979797"/>
            </a:solidFill>
          </a:ln>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spcCol="1270" anchor="ctr">
            <a:normAutofit/>
          </a:bodyPr>
          <a:lstStyle/>
          <a:p>
            <a:pPr marL="0" lvl="1" algn="ctr">
              <a:defRPr/>
            </a:pPr>
            <a:r>
              <a:rPr lang="zh-CN" altLang="en-US" sz="1500" b="1" dirty="0">
                <a:solidFill>
                  <a:schemeClr val="tx1">
                    <a:lumMod val="75000"/>
                    <a:lumOff val="25000"/>
                  </a:schemeClr>
                </a:solidFill>
                <a:ea typeface="阿里巴巴普惠体 R" panose="00020600040101010101" charset="-122"/>
              </a:rPr>
              <a:t>他们是谁</a:t>
            </a:r>
            <a:endParaRPr lang="zh-CN" altLang="en-US" sz="675" b="1" dirty="0">
              <a:solidFill>
                <a:schemeClr val="tx1">
                  <a:lumMod val="75000"/>
                  <a:lumOff val="25000"/>
                </a:schemeClr>
              </a:solidFill>
              <a:ea typeface="阿里巴巴普惠体 R" panose="00020600040101010101" charset="-122"/>
            </a:endParaRPr>
          </a:p>
        </p:txBody>
      </p:sp>
      <p:sp>
        <p:nvSpPr>
          <p:cNvPr id="5" name="MH_Other_1"/>
          <p:cNvSpPr/>
          <p:nvPr>
            <p:custDataLst>
              <p:tags r:id="rId2"/>
            </p:custDataLst>
          </p:nvPr>
        </p:nvSpPr>
        <p:spPr>
          <a:xfrm>
            <a:off x="4663088" y="3116384"/>
            <a:ext cx="1251347" cy="1251347"/>
          </a:xfrm>
          <a:prstGeom prst="leftCircularArrow">
            <a:avLst>
              <a:gd name="adj1" fmla="val 2550"/>
              <a:gd name="adj2" fmla="val 309429"/>
              <a:gd name="adj3" fmla="val 2084940"/>
              <a:gd name="adj4" fmla="val 9024489"/>
              <a:gd name="adj5" fmla="val 2975"/>
            </a:avLst>
          </a:prstGeom>
          <a:gradFill flip="none" rotWithShape="1">
            <a:gsLst>
              <a:gs pos="0">
                <a:srgbClr val="BEBEBE"/>
              </a:gs>
              <a:gs pos="50000">
                <a:srgbClr val="DCDCDC"/>
              </a:gs>
              <a:gs pos="100000">
                <a:srgbClr val="F3F3F3"/>
              </a:gs>
            </a:gsLst>
            <a:lin ang="10800000" scaled="1"/>
            <a:tileRect/>
          </a:gradFill>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sz="1400" dirty="0">
              <a:ea typeface="阿里巴巴普惠体 R" panose="00020600040101010101" charset="-122"/>
            </a:endParaRPr>
          </a:p>
        </p:txBody>
      </p:sp>
      <p:sp>
        <p:nvSpPr>
          <p:cNvPr id="6" name="MH_Text_2"/>
          <p:cNvSpPr/>
          <p:nvPr>
            <p:custDataLst>
              <p:tags r:id="rId3"/>
            </p:custDataLst>
          </p:nvPr>
        </p:nvSpPr>
        <p:spPr>
          <a:xfrm>
            <a:off x="5460807" y="2828252"/>
            <a:ext cx="1203722" cy="992981"/>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noFill/>
          <a:ln>
            <a:solidFill>
              <a:srgbClr val="979797"/>
            </a:solidFill>
          </a:ln>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spcCol="1270" anchor="ctr">
            <a:normAutofit/>
          </a:bodyPr>
          <a:lstStyle/>
          <a:p>
            <a:pPr marL="0" lvl="1" algn="ctr">
              <a:defRPr/>
            </a:pPr>
            <a:r>
              <a:rPr lang="zh-CN" altLang="zh-CN" sz="1500" b="1" dirty="0">
                <a:solidFill>
                  <a:schemeClr val="tx1">
                    <a:lumMod val="75000"/>
                    <a:lumOff val="25000"/>
                  </a:schemeClr>
                </a:solidFill>
                <a:ea typeface="阿里巴巴普惠体 R" panose="00020600040101010101" charset="-122"/>
              </a:rPr>
              <a:t>他们在哪里</a:t>
            </a:r>
            <a:endParaRPr lang="zh-CN" altLang="zh-CN" sz="1500" b="1" dirty="0">
              <a:solidFill>
                <a:schemeClr val="tx1">
                  <a:lumMod val="75000"/>
                  <a:lumOff val="25000"/>
                </a:schemeClr>
              </a:solidFill>
              <a:ea typeface="阿里巴巴普惠体 R" panose="00020600040101010101" charset="-122"/>
            </a:endParaRPr>
          </a:p>
        </p:txBody>
      </p:sp>
      <p:sp>
        <p:nvSpPr>
          <p:cNvPr id="8" name="MH_Other_2"/>
          <p:cNvSpPr/>
          <p:nvPr>
            <p:custDataLst>
              <p:tags r:id="rId4"/>
            </p:custDataLst>
          </p:nvPr>
        </p:nvSpPr>
        <p:spPr>
          <a:xfrm>
            <a:off x="6141843" y="2242463"/>
            <a:ext cx="1404938" cy="1404938"/>
          </a:xfrm>
          <a:prstGeom prst="circularArrow">
            <a:avLst>
              <a:gd name="adj1" fmla="val 2271"/>
              <a:gd name="adj2" fmla="val 273786"/>
              <a:gd name="adj3" fmla="val 19550703"/>
              <a:gd name="adj4" fmla="val 12575511"/>
              <a:gd name="adj5" fmla="val 2650"/>
            </a:avLst>
          </a:prstGeom>
          <a:gradFill flip="none" rotWithShape="1">
            <a:gsLst>
              <a:gs pos="0">
                <a:srgbClr val="BEBEBE"/>
              </a:gs>
              <a:gs pos="50000">
                <a:srgbClr val="DCDCDC"/>
              </a:gs>
              <a:gs pos="100000">
                <a:srgbClr val="F3F3F3"/>
              </a:gs>
            </a:gsLst>
            <a:lin ang="10800000" scaled="1"/>
            <a:tileRect/>
          </a:gradFill>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sz="1400" dirty="0">
              <a:ea typeface="阿里巴巴普惠体 R" panose="00020600040101010101" charset="-122"/>
            </a:endParaRPr>
          </a:p>
        </p:txBody>
      </p:sp>
      <p:sp>
        <p:nvSpPr>
          <p:cNvPr id="9" name="MH_Text_3"/>
          <p:cNvSpPr/>
          <p:nvPr>
            <p:custDataLst>
              <p:tags r:id="rId5"/>
            </p:custDataLst>
          </p:nvPr>
        </p:nvSpPr>
        <p:spPr>
          <a:xfrm>
            <a:off x="6950278" y="2828252"/>
            <a:ext cx="1203722" cy="992981"/>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noFill/>
          <a:ln w="38100">
            <a:solidFill>
              <a:schemeClr val="accent1">
                <a:lumMod val="60000"/>
                <a:lumOff val="40000"/>
              </a:schemeClr>
            </a:solidFill>
          </a:ln>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spcCol="1270" anchor="ctr">
            <a:normAutofit/>
          </a:bodyPr>
          <a:lstStyle/>
          <a:p>
            <a:pPr marL="0" lvl="1" algn="ctr">
              <a:defRPr/>
            </a:pPr>
            <a:r>
              <a:rPr lang="zh-CN" altLang="en-US" sz="1500" b="1" dirty="0">
                <a:solidFill>
                  <a:schemeClr val="tx1">
                    <a:lumMod val="75000"/>
                    <a:lumOff val="25000"/>
                  </a:schemeClr>
                </a:solidFill>
                <a:ea typeface="阿里巴巴普惠体 R" panose="00020600040101010101" charset="-122"/>
              </a:rPr>
              <a:t>吸引他们</a:t>
            </a:r>
            <a:endParaRPr lang="zh-CN" altLang="en-US" sz="1500" b="1" dirty="0">
              <a:solidFill>
                <a:schemeClr val="tx1">
                  <a:lumMod val="75000"/>
                  <a:lumOff val="25000"/>
                </a:schemeClr>
              </a:solidFill>
              <a:ea typeface="阿里巴巴普惠体 R" panose="00020600040101010101" charset="-122"/>
            </a:endParaRPr>
          </a:p>
        </p:txBody>
      </p:sp>
      <p:sp>
        <p:nvSpPr>
          <p:cNvPr id="10" name="MH_SubTitle_1"/>
          <p:cNvSpPr/>
          <p:nvPr>
            <p:custDataLst>
              <p:tags r:id="rId6"/>
            </p:custDataLst>
          </p:nvPr>
        </p:nvSpPr>
        <p:spPr>
          <a:xfrm>
            <a:off x="4305901" y="3647402"/>
            <a:ext cx="937022" cy="359569"/>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solidFill>
            <a:schemeClr val="accent1">
              <a:lumMod val="60000"/>
              <a:lumOff val="40000"/>
            </a:schemeClr>
          </a:solidFill>
          <a:ln w="12700">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spcCol="1270" anchor="ctr">
            <a:normAutofit/>
          </a:bodyPr>
          <a:lstStyle/>
          <a:p>
            <a:pPr algn="ctr" defTabSz="800100">
              <a:lnSpc>
                <a:spcPct val="90000"/>
              </a:lnSpc>
              <a:spcAft>
                <a:spcPct val="35000"/>
              </a:spcAft>
              <a:defRPr/>
            </a:pPr>
            <a:r>
              <a:rPr lang="zh-CN" altLang="en-US" sz="1500" b="1" dirty="0">
                <a:solidFill>
                  <a:schemeClr val="bg1"/>
                </a:solidFill>
                <a:ea typeface="阿里巴巴普惠体 R" panose="00020600040101010101" charset="-122"/>
              </a:rPr>
              <a:t>第一步</a:t>
            </a:r>
            <a:endParaRPr lang="zh-CN" altLang="en-US" sz="1500" b="1" dirty="0">
              <a:solidFill>
                <a:schemeClr val="bg1"/>
              </a:solidFill>
              <a:ea typeface="阿里巴巴普惠体 R" panose="00020600040101010101" charset="-122"/>
            </a:endParaRPr>
          </a:p>
        </p:txBody>
      </p:sp>
      <p:sp>
        <p:nvSpPr>
          <p:cNvPr id="11" name="MH_SubTitle_2"/>
          <p:cNvSpPr/>
          <p:nvPr>
            <p:custDataLst>
              <p:tags r:id="rId7"/>
            </p:custDataLst>
          </p:nvPr>
        </p:nvSpPr>
        <p:spPr>
          <a:xfrm>
            <a:off x="5795371" y="2648468"/>
            <a:ext cx="937022" cy="359569"/>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solidFill>
            <a:schemeClr val="accent1">
              <a:lumMod val="60000"/>
              <a:lumOff val="40000"/>
            </a:schemeClr>
          </a:solidFill>
          <a:ln w="12700">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spcCol="1270" anchor="ctr">
            <a:normAutofit/>
          </a:bodyPr>
          <a:lstStyle/>
          <a:p>
            <a:pPr algn="ctr" defTabSz="800100">
              <a:lnSpc>
                <a:spcPct val="90000"/>
              </a:lnSpc>
              <a:spcAft>
                <a:spcPct val="35000"/>
              </a:spcAft>
              <a:defRPr/>
            </a:pPr>
            <a:r>
              <a:rPr lang="zh-CN" altLang="en-US" sz="1500" b="1" dirty="0">
                <a:solidFill>
                  <a:schemeClr val="bg1"/>
                </a:solidFill>
                <a:ea typeface="阿里巴巴普惠体 R" panose="00020600040101010101" charset="-122"/>
              </a:rPr>
              <a:t>第二步</a:t>
            </a:r>
            <a:endParaRPr lang="zh-CN" altLang="en-US" sz="1500" b="1" dirty="0">
              <a:solidFill>
                <a:schemeClr val="bg1"/>
              </a:solidFill>
              <a:ea typeface="阿里巴巴普惠体 R" panose="00020600040101010101" charset="-122"/>
            </a:endParaRPr>
          </a:p>
        </p:txBody>
      </p:sp>
      <p:sp>
        <p:nvSpPr>
          <p:cNvPr id="12" name="MH_SubTitle_3"/>
          <p:cNvSpPr/>
          <p:nvPr>
            <p:custDataLst>
              <p:tags r:id="rId8"/>
            </p:custDataLst>
          </p:nvPr>
        </p:nvSpPr>
        <p:spPr>
          <a:xfrm>
            <a:off x="7284844" y="3641449"/>
            <a:ext cx="935831" cy="35837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solidFill>
            <a:schemeClr val="accent1"/>
          </a:solidFill>
          <a:ln w="12700">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spcCol="1270" anchor="ctr">
            <a:normAutofit/>
          </a:bodyPr>
          <a:lstStyle/>
          <a:p>
            <a:pPr algn="ctr" defTabSz="800100">
              <a:lnSpc>
                <a:spcPct val="90000"/>
              </a:lnSpc>
              <a:spcAft>
                <a:spcPct val="35000"/>
              </a:spcAft>
              <a:defRPr/>
            </a:pPr>
            <a:r>
              <a:rPr lang="zh-CN" altLang="en-US" sz="1500" b="1" dirty="0">
                <a:solidFill>
                  <a:schemeClr val="bg1"/>
                </a:solidFill>
                <a:ea typeface="阿里巴巴普惠体 R" panose="00020600040101010101" charset="-122"/>
              </a:rPr>
              <a:t>第三步</a:t>
            </a:r>
            <a:endParaRPr lang="zh-CN" altLang="en-US" sz="1500" b="1" dirty="0">
              <a:solidFill>
                <a:schemeClr val="bg1"/>
              </a:solidFill>
              <a:ea typeface="阿里巴巴普惠体 R" panose="00020600040101010101" charset="-122"/>
            </a:endParaRPr>
          </a:p>
        </p:txBody>
      </p:sp>
      <p:sp>
        <p:nvSpPr>
          <p:cNvPr id="3" name="标题 15"/>
          <p:cNvSpPr>
            <a:spLocks noGrp="1"/>
          </p:cNvSpPr>
          <p:nvPr/>
        </p:nvSpPr>
        <p:spPr>
          <a:xfrm>
            <a:off x="710880" y="234029"/>
            <a:ext cx="8771021" cy="517190"/>
          </a:xfrm>
          <a:prstGeom prst="rect">
            <a:avLst/>
          </a:prstGeom>
        </p:spPr>
        <p:txBody>
          <a:bodyPr lIns="68567" tIns="34284" rIns="68567" bIns="34284"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algn="l"/>
            <a:r>
              <a:rPr lang="zh-CN" altLang="en-US" b="1" dirty="0">
                <a:solidFill>
                  <a:schemeClr val="tx1">
                    <a:lumMod val="85000"/>
                    <a:lumOff val="15000"/>
                  </a:schemeClr>
                </a:solidFill>
              </a:rPr>
              <a:t>启动期种子用户的寻找</a:t>
            </a:r>
            <a:endParaRPr lang="zh-CN" altLang="en-US" b="1" dirty="0">
              <a:solidFill>
                <a:schemeClr val="tx1">
                  <a:lumMod val="85000"/>
                  <a:lumOff val="15000"/>
                </a:schemeClr>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prstGeom prst="rect">
            <a:avLst/>
          </a:prstGeom>
        </p:spPr>
        <p:txBody>
          <a:bodyPr lIns="68567" tIns="34284" rIns="68567" bIns="34284" anchor="ctr"/>
          <a:lstStyle/>
          <a:p>
            <a:pPr algn="l"/>
            <a:r>
              <a:rPr lang="zh-CN" altLang="en-US" b="1" dirty="0">
                <a:solidFill>
                  <a:schemeClr val="tx1">
                    <a:lumMod val="85000"/>
                    <a:lumOff val="15000"/>
                  </a:schemeClr>
                </a:solidFill>
              </a:rPr>
              <a:t>启动期种子用户的寻找</a:t>
            </a:r>
            <a:endParaRPr lang="zh-CN" altLang="en-US" b="1" dirty="0">
              <a:solidFill>
                <a:schemeClr val="tx1">
                  <a:lumMod val="85000"/>
                  <a:lumOff val="15000"/>
                </a:schemeClr>
              </a:solidFill>
            </a:endParaRPr>
          </a:p>
        </p:txBody>
      </p:sp>
      <p:sp>
        <p:nvSpPr>
          <p:cNvPr id="2" name="圆角矩形 9"/>
          <p:cNvSpPr/>
          <p:nvPr/>
        </p:nvSpPr>
        <p:spPr>
          <a:xfrm>
            <a:off x="2475733" y="2131105"/>
            <a:ext cx="1100477" cy="681990"/>
          </a:xfrm>
          <a:prstGeom prst="roundRect">
            <a:avLst/>
          </a:prstGeom>
          <a:solidFill>
            <a:srgbClr val="26C0A5"/>
          </a:solidFill>
          <a:ln>
            <a:noFill/>
          </a:ln>
        </p:spPr>
        <p:style>
          <a:lnRef idx="2">
            <a:schemeClr val="accent1">
              <a:shade val="50000"/>
            </a:schemeClr>
          </a:lnRef>
          <a:fillRef idx="1">
            <a:schemeClr val="accent1"/>
          </a:fillRef>
          <a:effectRef idx="0">
            <a:schemeClr val="accent1"/>
          </a:effectRef>
          <a:fontRef idx="minor">
            <a:schemeClr val="lt1"/>
          </a:fontRef>
        </p:style>
        <p:txBody>
          <a:bodyPr bIns="107950" rtlCol="0" anchor="ctr"/>
          <a:p>
            <a:pPr algn="ctr">
              <a:lnSpc>
                <a:spcPct val="150000"/>
              </a:lnSpc>
            </a:pPr>
            <a:r>
              <a:rPr lang="zh-CN" altLang="en-US" sz="1600" b="1" dirty="0">
                <a:latin typeface="微软雅黑" panose="020B0503020204020204" pitchFamily="34" charset="-122"/>
                <a:ea typeface="阿里巴巴普惠体 R" panose="00020600040101010101" charset="-122"/>
              </a:rPr>
              <a:t>老客户</a:t>
            </a:r>
            <a:endParaRPr lang="zh-CN" altLang="en-US" sz="1600" b="1" dirty="0">
              <a:latin typeface="微软雅黑" panose="020B0503020204020204" pitchFamily="34" charset="-122"/>
              <a:ea typeface="阿里巴巴普惠体 R" panose="00020600040101010101" charset="-122"/>
            </a:endParaRPr>
          </a:p>
        </p:txBody>
      </p:sp>
      <p:sp>
        <p:nvSpPr>
          <p:cNvPr id="7" name="圆角矩形 10"/>
          <p:cNvSpPr/>
          <p:nvPr/>
        </p:nvSpPr>
        <p:spPr>
          <a:xfrm>
            <a:off x="3977341" y="4530555"/>
            <a:ext cx="3628390" cy="681990"/>
          </a:xfrm>
          <a:prstGeom prst="roundRect">
            <a:avLst/>
          </a:prstGeom>
          <a:solidFill>
            <a:srgbClr val="26C0A5"/>
          </a:solidFill>
          <a:ln>
            <a:noFill/>
          </a:ln>
        </p:spPr>
        <p:style>
          <a:lnRef idx="2">
            <a:schemeClr val="accent1">
              <a:shade val="50000"/>
            </a:schemeClr>
          </a:lnRef>
          <a:fillRef idx="1">
            <a:schemeClr val="accent1"/>
          </a:fillRef>
          <a:effectRef idx="0">
            <a:schemeClr val="accent1"/>
          </a:effectRef>
          <a:fontRef idx="minor">
            <a:schemeClr val="lt1"/>
          </a:fontRef>
        </p:style>
        <p:txBody>
          <a:bodyPr bIns="107950" rtlCol="0" anchor="ctr"/>
          <a:p>
            <a:pPr algn="ctr">
              <a:lnSpc>
                <a:spcPct val="150000"/>
              </a:lnSpc>
            </a:pPr>
            <a:r>
              <a:rPr lang="zh-CN" sz="1600" b="1" dirty="0">
                <a:latin typeface="微软雅黑" panose="020B0503020204020204" pitchFamily="34" charset="-122"/>
                <a:ea typeface="阿里巴巴普惠体 R" panose="00020600040101010101" charset="-122"/>
              </a:rPr>
              <a:t>陌生用户，</a:t>
            </a:r>
            <a:r>
              <a:rPr sz="1600" b="1" dirty="0" err="1">
                <a:latin typeface="微软雅黑" panose="020B0503020204020204" pitchFamily="34" charset="-122"/>
                <a:ea typeface="阿里巴巴普惠体 R" panose="00020600040101010101" charset="-122"/>
              </a:rPr>
              <a:t>吸引加入</a:t>
            </a:r>
            <a:endParaRPr lang="zh-CN" altLang="en-US" sz="1600" b="1" dirty="0">
              <a:latin typeface="微软雅黑" panose="020B0503020204020204" pitchFamily="34" charset="-122"/>
              <a:ea typeface="阿里巴巴普惠体 R" panose="00020600040101010101" charset="-122"/>
            </a:endParaRPr>
          </a:p>
        </p:txBody>
      </p:sp>
      <p:cxnSp>
        <p:nvCxnSpPr>
          <p:cNvPr id="20" name="直接连接符 19"/>
          <p:cNvCxnSpPr/>
          <p:nvPr/>
        </p:nvCxnSpPr>
        <p:spPr>
          <a:xfrm flipV="1">
            <a:off x="5791537" y="2813095"/>
            <a:ext cx="3211574" cy="1718157"/>
          </a:xfrm>
          <a:prstGeom prst="line">
            <a:avLst/>
          </a:prstGeom>
          <a:ln w="19050">
            <a:solidFill>
              <a:srgbClr val="FF5B5B"/>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2" idx="2"/>
          </p:cNvCxnSpPr>
          <p:nvPr/>
        </p:nvCxnSpPr>
        <p:spPr>
          <a:xfrm flipH="1" flipV="1">
            <a:off x="3026607" y="2813095"/>
            <a:ext cx="2765566" cy="1718158"/>
          </a:xfrm>
          <a:prstGeom prst="line">
            <a:avLst/>
          </a:prstGeom>
          <a:ln w="19050">
            <a:solidFill>
              <a:srgbClr val="FF5B5B"/>
            </a:solidFill>
          </a:ln>
        </p:spPr>
        <p:style>
          <a:lnRef idx="1">
            <a:schemeClr val="accent1"/>
          </a:lnRef>
          <a:fillRef idx="0">
            <a:schemeClr val="accent1"/>
          </a:fillRef>
          <a:effectRef idx="0">
            <a:schemeClr val="accent1"/>
          </a:effectRef>
          <a:fontRef idx="minor">
            <a:schemeClr val="tx1"/>
          </a:fontRef>
        </p:style>
      </p:cxnSp>
      <p:sp>
        <p:nvSpPr>
          <p:cNvPr id="24" name="圆角矩形 9"/>
          <p:cNvSpPr/>
          <p:nvPr/>
        </p:nvSpPr>
        <p:spPr>
          <a:xfrm>
            <a:off x="4803326" y="2131105"/>
            <a:ext cx="1976423" cy="681990"/>
          </a:xfrm>
          <a:prstGeom prst="roundRect">
            <a:avLst/>
          </a:prstGeom>
          <a:solidFill>
            <a:srgbClr val="26C0A5"/>
          </a:solidFill>
          <a:ln>
            <a:noFill/>
          </a:ln>
        </p:spPr>
        <p:style>
          <a:lnRef idx="2">
            <a:schemeClr val="accent1">
              <a:shade val="50000"/>
            </a:schemeClr>
          </a:lnRef>
          <a:fillRef idx="1">
            <a:schemeClr val="accent1"/>
          </a:fillRef>
          <a:effectRef idx="0">
            <a:schemeClr val="accent1"/>
          </a:effectRef>
          <a:fontRef idx="minor">
            <a:schemeClr val="lt1"/>
          </a:fontRef>
        </p:style>
        <p:txBody>
          <a:bodyPr bIns="107950" rtlCol="0" anchor="ctr"/>
          <a:p>
            <a:pPr algn="ctr">
              <a:lnSpc>
                <a:spcPct val="150000"/>
              </a:lnSpc>
            </a:pPr>
            <a:r>
              <a:rPr lang="zh-CN" altLang="en-US" sz="1600" b="1" dirty="0">
                <a:latin typeface="微软雅黑" panose="020B0503020204020204" pitchFamily="34" charset="-122"/>
                <a:ea typeface="阿里巴巴普惠体 R" panose="00020600040101010101" charset="-122"/>
              </a:rPr>
              <a:t>明星</a:t>
            </a:r>
            <a:r>
              <a:rPr lang="en-US" sz="1600" b="1" dirty="0">
                <a:latin typeface="微软雅黑" panose="020B0503020204020204" pitchFamily="34" charset="-122"/>
                <a:ea typeface="阿里巴巴普惠体 R" panose="00020600040101010101" charset="-122"/>
              </a:rPr>
              <a:t>/</a:t>
            </a:r>
            <a:r>
              <a:rPr sz="1600" b="1" dirty="0" err="1">
                <a:latin typeface="微软雅黑" panose="020B0503020204020204" pitchFamily="34" charset="-122"/>
                <a:ea typeface="阿里巴巴普惠体 R" panose="00020600040101010101" charset="-122"/>
              </a:rPr>
              <a:t>达人</a:t>
            </a:r>
            <a:r>
              <a:rPr lang="en-US" sz="1600" b="1" dirty="0">
                <a:latin typeface="微软雅黑" panose="020B0503020204020204" pitchFamily="34" charset="-122"/>
                <a:ea typeface="阿里巴巴普惠体 R" panose="00020600040101010101" charset="-122"/>
              </a:rPr>
              <a:t>/</a:t>
            </a:r>
            <a:r>
              <a:rPr lang="zh-CN" altLang="en-US" sz="1600" b="1" dirty="0">
                <a:latin typeface="微软雅黑" panose="020B0503020204020204" pitchFamily="34" charset="-122"/>
                <a:ea typeface="阿里巴巴普惠体 R" panose="00020600040101010101" charset="-122"/>
              </a:rPr>
              <a:t>大咖</a:t>
            </a:r>
            <a:endParaRPr lang="zh-CN" altLang="en-US" sz="1600" b="1" dirty="0">
              <a:latin typeface="微软雅黑" panose="020B0503020204020204" pitchFamily="34" charset="-122"/>
              <a:ea typeface="阿里巴巴普惠体 R" panose="00020600040101010101" charset="-122"/>
            </a:endParaRPr>
          </a:p>
        </p:txBody>
      </p:sp>
      <p:sp>
        <p:nvSpPr>
          <p:cNvPr id="28" name="圆角矩形 9"/>
          <p:cNvSpPr/>
          <p:nvPr/>
        </p:nvSpPr>
        <p:spPr>
          <a:xfrm>
            <a:off x="8006865" y="2131105"/>
            <a:ext cx="1838053" cy="681990"/>
          </a:xfrm>
          <a:prstGeom prst="roundRect">
            <a:avLst/>
          </a:prstGeom>
          <a:solidFill>
            <a:srgbClr val="26C0A5"/>
          </a:solidFill>
          <a:ln>
            <a:noFill/>
          </a:ln>
        </p:spPr>
        <p:style>
          <a:lnRef idx="2">
            <a:schemeClr val="accent1">
              <a:shade val="50000"/>
            </a:schemeClr>
          </a:lnRef>
          <a:fillRef idx="1">
            <a:schemeClr val="accent1"/>
          </a:fillRef>
          <a:effectRef idx="0">
            <a:schemeClr val="accent1"/>
          </a:effectRef>
          <a:fontRef idx="minor">
            <a:schemeClr val="lt1"/>
          </a:fontRef>
        </p:style>
        <p:txBody>
          <a:bodyPr bIns="107950" rtlCol="0" anchor="ctr"/>
          <a:p>
            <a:pPr algn="ctr">
              <a:lnSpc>
                <a:spcPct val="150000"/>
              </a:lnSpc>
            </a:pPr>
            <a:r>
              <a:rPr lang="zh-CN" altLang="en-US" sz="1600" b="1" dirty="0">
                <a:latin typeface="微软雅黑" panose="020B0503020204020204" pitchFamily="34" charset="-122"/>
                <a:ea typeface="阿里巴巴普惠体 R" panose="00020600040101010101" charset="-122"/>
              </a:rPr>
              <a:t>熟人</a:t>
            </a:r>
            <a:r>
              <a:rPr lang="en-US" altLang="zh-CN" sz="1600" b="1" dirty="0">
                <a:latin typeface="微软雅黑" panose="020B0503020204020204" pitchFamily="34" charset="-122"/>
                <a:ea typeface="阿里巴巴普惠体 R" panose="00020600040101010101" charset="-122"/>
              </a:rPr>
              <a:t>/</a:t>
            </a:r>
            <a:r>
              <a:rPr lang="zh-CN" altLang="en-US" sz="1600" b="1" dirty="0">
                <a:latin typeface="微软雅黑" panose="020B0503020204020204" pitchFamily="34" charset="-122"/>
                <a:ea typeface="阿里巴巴普惠体 R" panose="00020600040101010101" charset="-122"/>
              </a:rPr>
              <a:t>朋友</a:t>
            </a:r>
            <a:r>
              <a:rPr lang="en-US" altLang="zh-CN" sz="1600" b="1" dirty="0">
                <a:latin typeface="微软雅黑" panose="020B0503020204020204" pitchFamily="34" charset="-122"/>
                <a:ea typeface="阿里巴巴普惠体 R" panose="00020600040101010101" charset="-122"/>
              </a:rPr>
              <a:t>/</a:t>
            </a:r>
            <a:r>
              <a:rPr lang="zh-CN" altLang="en-US" sz="1600" b="1" dirty="0">
                <a:latin typeface="微软雅黑" panose="020B0503020204020204" pitchFamily="34" charset="-122"/>
                <a:ea typeface="阿里巴巴普惠体 R" panose="00020600040101010101" charset="-122"/>
              </a:rPr>
              <a:t>同事</a:t>
            </a:r>
            <a:endParaRPr lang="zh-CN" altLang="en-US" sz="1600" b="1" dirty="0">
              <a:latin typeface="微软雅黑" panose="020B0503020204020204" pitchFamily="34" charset="-122"/>
              <a:ea typeface="阿里巴巴普惠体 R" panose="00020600040101010101" charset="-122"/>
            </a:endParaRPr>
          </a:p>
        </p:txBody>
      </p:sp>
      <p:cxnSp>
        <p:nvCxnSpPr>
          <p:cNvPr id="34" name="直接连接符 33"/>
          <p:cNvCxnSpPr/>
          <p:nvPr/>
        </p:nvCxnSpPr>
        <p:spPr>
          <a:xfrm>
            <a:off x="5791537" y="2813095"/>
            <a:ext cx="0" cy="1718157"/>
          </a:xfrm>
          <a:prstGeom prst="line">
            <a:avLst/>
          </a:prstGeom>
          <a:ln w="19050">
            <a:solidFill>
              <a:srgbClr val="FF5B5B"/>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80415" y="1235710"/>
            <a:ext cx="2418080" cy="337185"/>
          </a:xfrm>
          <a:prstGeom prst="rect">
            <a:avLst/>
          </a:prstGeom>
          <a:noFill/>
        </p:spPr>
        <p:txBody>
          <a:bodyPr wrap="none" anchor="t">
            <a:spAutoFit/>
          </a:bodyPr>
          <a:p>
            <a:pPr fontAlgn="auto">
              <a:spcBef>
                <a:spcPts val="0"/>
              </a:spcBef>
              <a:spcAft>
                <a:spcPts val="0"/>
              </a:spcAft>
            </a:pPr>
            <a:r>
              <a:rPr lang="zh-CN" altLang="en-US" sz="1600" b="1" dirty="0">
                <a:latin typeface="阿里巴巴普惠体" panose="00020600040101010101" pitchFamily="18" charset="-122"/>
                <a:ea typeface="阿里巴巴普惠体" panose="00020600040101010101" pitchFamily="18" charset="-122"/>
                <a:sym typeface="+mn-ea"/>
              </a:rPr>
              <a:t>裂变种子用户主要有三类</a:t>
            </a:r>
            <a:endParaRPr lang="zh-CN" altLang="en-US" sz="1600" b="1" dirty="0">
              <a:solidFill>
                <a:schemeClr val="tx1">
                  <a:lumMod val="65000"/>
                  <a:lumOff val="35000"/>
                </a:schemeClr>
              </a:solidFill>
              <a:latin typeface="阿里巴巴普惠体" panose="00020600040101010101" pitchFamily="18" charset="-122"/>
              <a:ea typeface="阿里巴巴普惠体" panose="00020600040101010101" pitchFamily="18"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250"/>
                                        <p:tgtEl>
                                          <p:spTgt spid="20"/>
                                        </p:tgtEl>
                                      </p:cBhvr>
                                    </p:animEffect>
                                  </p:childTnLst>
                                </p:cTn>
                              </p:par>
                              <p:par>
                                <p:cTn id="8" presetID="22" presetClass="entr" presetSubtype="1"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up)">
                                      <p:cBhvr>
                                        <p:cTn id="10" dur="1250"/>
                                        <p:tgtEl>
                                          <p:spTgt spid="34"/>
                                        </p:tgtEl>
                                      </p:cBhvr>
                                    </p:animEffect>
                                  </p:childTnLst>
                                </p:cTn>
                              </p:par>
                              <p:par>
                                <p:cTn id="11" presetID="22" presetClass="entr" presetSubtype="1"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up)">
                                      <p:cBhvr>
                                        <p:cTn id="13" dur="1250"/>
                                        <p:tgtEl>
                                          <p:spTgt spid="2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0"/>
          </p:nvPr>
        </p:nvSpPr>
        <p:spPr>
          <a:xfrm>
            <a:off x="4862830" y="1561465"/>
            <a:ext cx="6481445" cy="4916805"/>
          </a:xfrm>
        </p:spPr>
        <p:txBody>
          <a:bodyPr/>
          <a:p>
            <a:pPr marL="0" indent="0">
              <a:lnSpc>
                <a:spcPct val="160000"/>
              </a:lnSpc>
              <a:buNone/>
            </a:pPr>
            <a:r>
              <a:rPr lang="zh-CN" altLang="en-US" sz="1600" b="1"/>
              <a:t>我手上有一批影视号剪辑/美食号拍摄起号的项目视频，想通过社群为个人号吸粉还要为社群拉新，怎么做比较好呢？</a:t>
            </a:r>
            <a:endParaRPr lang="zh-CN" altLang="en-US" sz="1600" b="1"/>
          </a:p>
          <a:p>
            <a:pPr>
              <a:lnSpc>
                <a:spcPct val="160000"/>
              </a:lnSpc>
              <a:buFont typeface="+mj-lt"/>
            </a:pPr>
            <a:r>
              <a:rPr lang="zh-CN" altLang="en-US" sz="1600"/>
              <a:t>先建立一个影视号的粉丝群</a:t>
            </a:r>
            <a:r>
              <a:rPr lang="en-US" altLang="zh-CN" sz="1600"/>
              <a:t>---</a:t>
            </a:r>
            <a:endParaRPr lang="zh-CN" altLang="en-US" sz="1600"/>
          </a:p>
          <a:p>
            <a:pPr>
              <a:lnSpc>
                <a:spcPct val="160000"/>
              </a:lnSpc>
              <a:buFont typeface="+mj-lt"/>
            </a:pPr>
            <a:r>
              <a:rPr lang="zh-CN" altLang="en-US" sz="1600"/>
              <a:t>在策划一套影视剪辑与美食拍摄的课程，并制作宣传海报，海报上放群的二维码</a:t>
            </a:r>
            <a:r>
              <a:rPr lang="en-US" altLang="zh-CN" sz="1600"/>
              <a:t>---</a:t>
            </a:r>
            <a:endParaRPr lang="zh-CN" altLang="en-US" sz="1600"/>
          </a:p>
          <a:p>
            <a:pPr>
              <a:lnSpc>
                <a:spcPct val="160000"/>
              </a:lnSpc>
              <a:buFont typeface="+mj-lt"/>
            </a:pPr>
            <a:r>
              <a:rPr lang="zh-CN" altLang="en-US" sz="1600"/>
              <a:t>找种子用户，利用个人朋友资源推广海报，或者找朋友让他们推广海报到朋友圈</a:t>
            </a:r>
            <a:r>
              <a:rPr lang="en-US" altLang="zh-CN" sz="1600"/>
              <a:t>---</a:t>
            </a:r>
            <a:endParaRPr lang="zh-CN" altLang="en-US" sz="1600"/>
          </a:p>
          <a:p>
            <a:pPr>
              <a:lnSpc>
                <a:spcPct val="160000"/>
              </a:lnSpc>
              <a:buFont typeface="+mj-lt"/>
            </a:pPr>
            <a:r>
              <a:rPr lang="zh-CN" altLang="en-US" sz="1600"/>
              <a:t>朋友圈的人看到海报扫码进群</a:t>
            </a:r>
            <a:r>
              <a:rPr lang="en-US" altLang="zh-CN" sz="1600"/>
              <a:t>---</a:t>
            </a:r>
            <a:endParaRPr lang="zh-CN" altLang="en-US" sz="1600"/>
          </a:p>
          <a:p>
            <a:pPr>
              <a:lnSpc>
                <a:spcPct val="160000"/>
              </a:lnSpc>
              <a:buFont typeface="+mj-lt"/>
            </a:pPr>
            <a:r>
              <a:rPr lang="zh-CN" altLang="en-US" sz="1600"/>
              <a:t>进群，要求进群的成员，转发海报到他的朋友圈，或者转发到他自己的200人以上一个群。并截图发到群里，添加管理员微信</a:t>
            </a:r>
            <a:r>
              <a:rPr lang="en-US" altLang="zh-CN" sz="1600"/>
              <a:t>---</a:t>
            </a:r>
            <a:endParaRPr lang="zh-CN" altLang="en-US" sz="1600"/>
          </a:p>
          <a:p>
            <a:pPr>
              <a:lnSpc>
                <a:spcPct val="160000"/>
              </a:lnSpc>
              <a:buFont typeface="+mj-lt"/>
            </a:pPr>
            <a:r>
              <a:rPr lang="zh-CN" altLang="en-US" sz="1600"/>
              <a:t>管理员私信用户，发布听课链接。</a:t>
            </a:r>
            <a:endParaRPr lang="zh-CN" altLang="en-US" sz="1600"/>
          </a:p>
          <a:p>
            <a:pPr marL="0" indent="0">
              <a:lnSpc>
                <a:spcPct val="160000"/>
              </a:lnSpc>
              <a:buNone/>
            </a:pPr>
            <a:endParaRPr lang="zh-CN" altLang="en-US" sz="1600"/>
          </a:p>
        </p:txBody>
      </p:sp>
      <p:sp>
        <p:nvSpPr>
          <p:cNvPr id="5" name="标题 4"/>
          <p:cNvSpPr>
            <a:spLocks noGrp="1"/>
          </p:cNvSpPr>
          <p:nvPr>
            <p:ph type="title"/>
          </p:nvPr>
        </p:nvSpPr>
        <p:spPr/>
        <p:txBody>
          <a:bodyPr/>
          <a:p>
            <a:r>
              <a:rPr lang="zh-CN" altLang="en-US"/>
              <a:t>思考</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5086985" y="1290320"/>
            <a:ext cx="5760720" cy="2501900"/>
          </a:xfrm>
        </p:spPr>
        <p:txBody>
          <a:bodyPr/>
          <a:lstStyle/>
          <a:p>
            <a:pPr marL="0" indent="0">
              <a:lnSpc>
                <a:spcPct val="160000"/>
              </a:lnSpc>
              <a:buNone/>
            </a:pPr>
            <a:r>
              <a:rPr lang="zh-CN" altLang="en-US" b="1" dirty="0"/>
              <a:t>请简述启动期寻找种子用户的底层逻辑</a:t>
            </a:r>
            <a:endParaRPr lang="en-US" altLang="zh-CN" b="1" dirty="0"/>
          </a:p>
          <a:p>
            <a:pPr>
              <a:lnSpc>
                <a:spcPct val="160000"/>
              </a:lnSpc>
              <a:buFont typeface="+mj-lt"/>
            </a:pPr>
            <a:r>
              <a:rPr lang="zh-CN" altLang="en-US" sz="1600" dirty="0"/>
              <a:t>他们是谁，即精准的用户画像；</a:t>
            </a:r>
            <a:endParaRPr lang="zh-CN" altLang="en-US" sz="1600" dirty="0"/>
          </a:p>
          <a:p>
            <a:pPr>
              <a:lnSpc>
                <a:spcPct val="160000"/>
              </a:lnSpc>
              <a:buFont typeface="+mj-lt"/>
            </a:pPr>
            <a:r>
              <a:rPr lang="zh-CN" altLang="en-US" sz="1600" dirty="0"/>
              <a:t>他们在哪儿，即用户集中活跃的线上/线下渠道；</a:t>
            </a:r>
            <a:endParaRPr lang="zh-CN" altLang="en-US" sz="1600" dirty="0"/>
          </a:p>
          <a:p>
            <a:pPr>
              <a:lnSpc>
                <a:spcPct val="160000"/>
              </a:lnSpc>
              <a:buFont typeface="+mj-lt"/>
            </a:pPr>
            <a:r>
              <a:rPr lang="zh-CN" altLang="en-US" sz="1600" dirty="0"/>
              <a:t>吸引他们，即在特定渠道用特定的方式吸引用户。</a:t>
            </a:r>
            <a:endParaRPr lang="zh-CN" altLang="en-US" sz="1600" dirty="0"/>
          </a:p>
          <a:p>
            <a:pPr marL="0" indent="0">
              <a:lnSpc>
                <a:spcPct val="160000"/>
              </a:lnSpc>
              <a:buNone/>
            </a:pPr>
            <a:endParaRPr lang="zh-CN" altLang="en-US" dirty="0"/>
          </a:p>
        </p:txBody>
      </p:sp>
      <p:sp>
        <p:nvSpPr>
          <p:cNvPr id="3" name="标题 2"/>
          <p:cNvSpPr>
            <a:spLocks noGrp="1"/>
          </p:cNvSpPr>
          <p:nvPr>
            <p:ph type="title"/>
          </p:nvPr>
        </p:nvSpPr>
        <p:spPr/>
        <p:txBody>
          <a:bodyPr/>
          <a:lstStyle/>
          <a:p>
            <a:r>
              <a:rPr lang="zh-CN" altLang="en-US" b="1" dirty="0">
                <a:solidFill>
                  <a:schemeClr val="tx1">
                    <a:lumMod val="85000"/>
                    <a:lumOff val="15000"/>
                  </a:schemeClr>
                </a:solidFill>
              </a:rPr>
              <a:t>启动期种子用户的寻找</a:t>
            </a:r>
            <a:endParaRPr lang="zh-CN" altLang="en-US" dirty="0"/>
          </a:p>
        </p:txBody>
      </p:sp>
      <p:sp>
        <p:nvSpPr>
          <p:cNvPr id="2" name="文本占位符 1"/>
          <p:cNvSpPr>
            <a:spLocks noGrp="1"/>
          </p:cNvSpPr>
          <p:nvPr/>
        </p:nvSpPr>
        <p:spPr>
          <a:xfrm>
            <a:off x="5107305" y="3500755"/>
            <a:ext cx="5846445" cy="2646045"/>
          </a:xfrm>
          <a:prstGeom prst="rect">
            <a:avLst/>
          </a:prstGeom>
        </p:spPr>
        <p:txBody>
          <a:bodyPr anchor="t"/>
          <a:lstStyle>
            <a:lvl1pPr marL="342900" marR="0" indent="-342900" algn="l" defTabSz="914400" rtl="0" eaLnBrk="0" fontAlgn="base" latinLnBrk="0" hangingPunct="0">
              <a:lnSpc>
                <a:spcPct val="150000"/>
              </a:lnSpc>
              <a:spcBef>
                <a:spcPct val="20000"/>
              </a:spcBef>
              <a:spcAft>
                <a:spcPct val="0"/>
              </a:spcAft>
              <a:buClrTx/>
              <a:buSzTx/>
              <a:buFont typeface="+mj-lt"/>
              <a:buAutoNum type="arabicPeriod"/>
              <a:defRPr sz="1400" kern="1200">
                <a:solidFill>
                  <a:schemeClr val="tx1"/>
                </a:solidFill>
                <a:latin typeface="阿里巴巴普惠体" panose="00020600040101010101" pitchFamily="18" charset="-122"/>
                <a:ea typeface="阿里巴巴普惠体 R" panose="00020600040101010101"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200" indent="0" algn="l" rtl="0" eaLnBrk="0" fontAlgn="base" hangingPunct="0">
              <a:spcBef>
                <a:spcPct val="20000"/>
              </a:spcBef>
              <a:spcAft>
                <a:spcPct val="0"/>
              </a:spcAft>
              <a:buFont typeface="Arial" panose="020B0604020202090204" pitchFamily="34" charset="0"/>
              <a:buNone/>
              <a:defRPr sz="1865" b="1" kern="1200">
                <a:solidFill>
                  <a:schemeClr val="tx1"/>
                </a:solidFill>
                <a:latin typeface="黑体" panose="02010609060101010101" pitchFamily="49" charset="-122"/>
                <a:ea typeface="黑体" panose="02010609060101010101" pitchFamily="49" charset="-122"/>
                <a:cs typeface="+mn-cs"/>
              </a:defRPr>
            </a:lvl3pPr>
            <a:lvl4pPr marL="1828800" indent="0" algn="l" rtl="0" eaLnBrk="0" fontAlgn="base" hangingPunct="0">
              <a:spcBef>
                <a:spcPct val="20000"/>
              </a:spcBef>
              <a:spcAft>
                <a:spcPct val="0"/>
              </a:spcAft>
              <a:buFont typeface="Arial" panose="020B060402020209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a:lstStyle>
          <a:p>
            <a:pPr marL="0" indent="0">
              <a:buFont typeface="+mj-lt"/>
              <a:buNone/>
            </a:pPr>
            <a:r>
              <a:rPr lang="zh-CN" altLang="en-US" sz="1600" b="1" dirty="0"/>
              <a:t>裂变种子用户主要有三类：</a:t>
            </a:r>
            <a:endParaRPr lang="zh-CN" altLang="en-US" sz="1600" b="1" dirty="0"/>
          </a:p>
          <a:p>
            <a:pPr marL="0" indent="0">
              <a:buFont typeface="+mj-lt"/>
              <a:buNone/>
            </a:pPr>
            <a:r>
              <a:rPr lang="zh-CN" altLang="en-US" sz="1600" dirty="0">
                <a:solidFill>
                  <a:srgbClr val="FF0000"/>
                </a:solidFill>
                <a:sym typeface="+mn-ea"/>
              </a:rPr>
              <a:t>老客户</a:t>
            </a:r>
            <a:r>
              <a:rPr lang="en-US" altLang="zh-CN" sz="1600" dirty="0">
                <a:solidFill>
                  <a:srgbClr val="FF0000"/>
                </a:solidFill>
                <a:sym typeface="+mn-ea"/>
              </a:rPr>
              <a:t>+</a:t>
            </a:r>
            <a:r>
              <a:rPr lang="zh-CN" altLang="en-US" sz="1600" dirty="0">
                <a:solidFill>
                  <a:srgbClr val="FF0000"/>
                </a:solidFill>
                <a:sym typeface="+mn-ea"/>
              </a:rPr>
              <a:t>明星</a:t>
            </a:r>
            <a:r>
              <a:rPr lang="en-US" altLang="zh-CN" sz="1600" dirty="0">
                <a:solidFill>
                  <a:srgbClr val="FF0000"/>
                </a:solidFill>
                <a:sym typeface="+mn-ea"/>
              </a:rPr>
              <a:t>/</a:t>
            </a:r>
            <a:r>
              <a:rPr lang="zh-CN" altLang="en-US" sz="1600" dirty="0">
                <a:solidFill>
                  <a:srgbClr val="FF0000"/>
                </a:solidFill>
                <a:sym typeface="+mn-ea"/>
              </a:rPr>
              <a:t>达人</a:t>
            </a:r>
            <a:r>
              <a:rPr lang="en-US" altLang="zh-CN" sz="1600" dirty="0">
                <a:solidFill>
                  <a:srgbClr val="FF0000"/>
                </a:solidFill>
                <a:sym typeface="+mn-ea"/>
              </a:rPr>
              <a:t>/</a:t>
            </a:r>
            <a:r>
              <a:rPr lang="zh-CN" altLang="en-US" sz="1600" dirty="0">
                <a:solidFill>
                  <a:srgbClr val="FF0000"/>
                </a:solidFill>
                <a:sym typeface="+mn-ea"/>
              </a:rPr>
              <a:t>大咖</a:t>
            </a:r>
            <a:r>
              <a:rPr lang="en-US" altLang="zh-CN" sz="1600" dirty="0">
                <a:solidFill>
                  <a:srgbClr val="FF0000"/>
                </a:solidFill>
                <a:sym typeface="+mn-ea"/>
              </a:rPr>
              <a:t>+</a:t>
            </a:r>
            <a:r>
              <a:rPr lang="zh-CN" altLang="en-US" sz="1600" dirty="0">
                <a:solidFill>
                  <a:srgbClr val="FF0000"/>
                </a:solidFill>
                <a:sym typeface="+mn-ea"/>
              </a:rPr>
              <a:t>熟人</a:t>
            </a:r>
            <a:r>
              <a:rPr lang="en-US" altLang="zh-CN" sz="1600" dirty="0">
                <a:solidFill>
                  <a:srgbClr val="FF0000"/>
                </a:solidFill>
                <a:sym typeface="+mn-ea"/>
              </a:rPr>
              <a:t>/</a:t>
            </a:r>
            <a:r>
              <a:rPr lang="zh-CN" altLang="en-US" sz="1600" dirty="0">
                <a:solidFill>
                  <a:srgbClr val="FF0000"/>
                </a:solidFill>
                <a:sym typeface="+mn-ea"/>
              </a:rPr>
              <a:t>朋友</a:t>
            </a:r>
            <a:r>
              <a:rPr lang="en-US" altLang="zh-CN" sz="1600" dirty="0">
                <a:solidFill>
                  <a:srgbClr val="FF0000"/>
                </a:solidFill>
                <a:sym typeface="+mn-ea"/>
              </a:rPr>
              <a:t>/</a:t>
            </a:r>
            <a:r>
              <a:rPr lang="zh-CN" altLang="en-US" sz="1600" dirty="0">
                <a:solidFill>
                  <a:srgbClr val="FF0000"/>
                </a:solidFill>
                <a:sym typeface="+mn-ea"/>
              </a:rPr>
              <a:t>同事，</a:t>
            </a:r>
            <a:endParaRPr lang="zh-CN" altLang="en-US" sz="1600" dirty="0">
              <a:solidFill>
                <a:srgbClr val="FF0000"/>
              </a:solidFill>
              <a:sym typeface="+mn-ea"/>
            </a:endParaRPr>
          </a:p>
          <a:p>
            <a:pPr marL="0" indent="0">
              <a:buFont typeface="+mj-lt"/>
              <a:buNone/>
            </a:pPr>
            <a:r>
              <a:rPr lang="zh-CN" altLang="en-US" sz="1600" dirty="0"/>
              <a:t>其中企业</a:t>
            </a:r>
            <a:r>
              <a:rPr lang="zh-CN" altLang="en-US" sz="1600" dirty="0">
                <a:solidFill>
                  <a:srgbClr val="FF0000"/>
                </a:solidFill>
              </a:rPr>
              <a:t>老客户</a:t>
            </a:r>
            <a:r>
              <a:rPr lang="zh-CN" altLang="en-US" sz="1600" dirty="0"/>
              <a:t>是最精准的种子用户群体。</a:t>
            </a:r>
            <a:endParaRPr lang="en-US" altLang="zh-CN" sz="1600" dirty="0"/>
          </a:p>
          <a:p>
            <a:pPr marL="0" indent="0">
              <a:buNone/>
            </a:pPr>
            <a:endParaRPr lang="en-US" altLang="zh-CN" sz="1600" dirty="0"/>
          </a:p>
          <a:p>
            <a:pPr marL="0" indent="0">
              <a:buFont typeface="+mj-lt"/>
              <a:buNone/>
            </a:pPr>
            <a:r>
              <a:rPr lang="zh-CN" altLang="en-US" sz="1600" dirty="0"/>
              <a:t>如果没有老客户或老客户很少，亦没有流量池，通常需要</a:t>
            </a:r>
            <a:r>
              <a:rPr lang="zh-CN" altLang="en-US" sz="1600" dirty="0">
                <a:solidFill>
                  <a:srgbClr val="FF0000"/>
                </a:solidFill>
                <a:sym typeface="+mn-ea"/>
              </a:rPr>
              <a:t>付费</a:t>
            </a:r>
            <a:endParaRPr lang="en-US" altLang="zh-CN" sz="1600" dirty="0">
              <a:solidFill>
                <a:srgbClr val="FF0000"/>
              </a:solidFill>
            </a:endParaRPr>
          </a:p>
          <a:p>
            <a:pPr marL="0" indent="0">
              <a:buFont typeface="+mj-lt"/>
              <a:buNone/>
            </a:pPr>
            <a:r>
              <a:rPr lang="zh-CN" altLang="en-US" sz="1600" dirty="0">
                <a:solidFill>
                  <a:srgbClr val="FF0000"/>
                </a:solidFill>
                <a:sym typeface="+mn-ea"/>
              </a:rPr>
              <a:t>购买</a:t>
            </a:r>
            <a:r>
              <a:rPr lang="zh-CN" altLang="en-US" sz="1600" dirty="0"/>
              <a:t>种子用户流量，但成本较高，同时有较高风险。</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1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1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1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 calcmode="lin" valueType="num">
                                      <p:cBhvr additive="base">
                                        <p:cTn id="2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
                                            <p:txEl>
                                              <p:pRg st="1" end="1"/>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 calcmode="lin" valueType="num">
                                      <p:cBhvr additive="base">
                                        <p:cTn id="26"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 calcmode="lin" valueType="num">
                                      <p:cBhvr additive="base">
                                        <p:cTn id="32"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4" end="4"/>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
                                            <p:txEl>
                                              <p:pRg st="5" end="5"/>
                                            </p:txEl>
                                          </p:spTgt>
                                        </p:tgtEl>
                                        <p:attrNameLst>
                                          <p:attrName>style.visibility</p:attrName>
                                        </p:attrNameLst>
                                      </p:cBhvr>
                                      <p:to>
                                        <p:strVal val="visible"/>
                                      </p:to>
                                    </p:set>
                                    <p:anim calcmode="lin" valueType="num">
                                      <p:cBhvr additive="base">
                                        <p:cTn id="36"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t>练习</a:t>
            </a:r>
            <a:endParaRPr lang="zh-CN" altLang="en-US"/>
          </a:p>
        </p:txBody>
      </p:sp>
      <p:sp>
        <p:nvSpPr>
          <p:cNvPr id="4" name="文本占位符 3"/>
          <p:cNvSpPr>
            <a:spLocks noGrp="1"/>
          </p:cNvSpPr>
          <p:nvPr>
            <p:ph type="body" sz="quarter" idx="11"/>
          </p:nvPr>
        </p:nvSpPr>
        <p:spPr>
          <a:xfrm>
            <a:off x="2032635" y="1986915"/>
            <a:ext cx="9037955" cy="3756660"/>
          </a:xfrm>
        </p:spPr>
        <p:txBody>
          <a:bodyPr/>
          <a:lstStyle/>
          <a:p>
            <a:r>
              <a:rPr lang="zh-CN" altLang="en-US" b="1" dirty="0">
                <a:ea typeface="阿里巴巴普惠体" panose="00020600040101010101" pitchFamily="18" charset="-122"/>
                <a:sym typeface="+mn-ea"/>
              </a:rPr>
              <a:t>——要求：</a:t>
            </a:r>
            <a:endParaRPr lang="zh-CN" altLang="en-US" b="1" dirty="0">
              <a:ea typeface="阿里巴巴普惠体" panose="00020600040101010101" pitchFamily="18" charset="-122"/>
              <a:sym typeface="+mn-ea"/>
            </a:endParaRPr>
          </a:p>
          <a:p>
            <a:r>
              <a:rPr lang="zh-CN" altLang="en-US" dirty="0">
                <a:ea typeface="阿里巴巴普惠体" panose="00020600040101010101" pitchFamily="18" charset="-122"/>
                <a:sym typeface="+mn-ea"/>
              </a:rPr>
              <a:t>为群撰写推广</a:t>
            </a:r>
            <a:r>
              <a:rPr lang="zh-CN" altLang="en-US" dirty="0">
                <a:ea typeface="阿里巴巴普惠体" panose="00020600040101010101" pitchFamily="18" charset="-122"/>
                <a:sym typeface="+mn-ea"/>
              </a:rPr>
              <a:t>执行计划表（甘特</a:t>
            </a:r>
            <a:r>
              <a:rPr lang="zh-CN" altLang="en-US" dirty="0">
                <a:ea typeface="阿里巴巴普惠体" panose="00020600040101010101" pitchFamily="18" charset="-122"/>
                <a:sym typeface="+mn-ea"/>
              </a:rPr>
              <a:t>图）</a:t>
            </a:r>
            <a:endParaRPr lang="zh-CN" altLang="en-US" dirty="0">
              <a:ea typeface="阿里巴巴普惠体" panose="00020600040101010101" pitchFamily="18" charset="-122"/>
              <a:sym typeface="+mn-ea"/>
            </a:endParaRPr>
          </a:p>
          <a:p>
            <a:endParaRPr lang="zh-CN" altLang="en-US" dirty="0">
              <a:ea typeface="阿里巴巴普惠体" panose="00020600040101010101" pitchFamily="18" charset="-122"/>
              <a:sym typeface="+mn-ea"/>
            </a:endParaRPr>
          </a:p>
          <a:p>
            <a:r>
              <a:rPr lang="zh-CN" altLang="en-US" dirty="0">
                <a:ea typeface="阿里巴巴普惠体" panose="00020600040101010101" pitchFamily="18" charset="-122"/>
                <a:sym typeface="+mn-ea"/>
              </a:rPr>
              <a:t>时间：</a:t>
            </a:r>
            <a:r>
              <a:rPr lang="en-US" altLang="zh-CN" dirty="0">
                <a:ea typeface="阿里巴巴普惠体" panose="00020600040101010101" pitchFamily="18" charset="-122"/>
                <a:sym typeface="+mn-ea"/>
              </a:rPr>
              <a:t>30</a:t>
            </a:r>
            <a:r>
              <a:rPr lang="zh-CN" altLang="en-US" dirty="0">
                <a:ea typeface="阿里巴巴普惠体" panose="00020600040101010101" pitchFamily="18" charset="-122"/>
                <a:sym typeface="+mn-ea"/>
              </a:rPr>
              <a:t>分钟</a:t>
            </a:r>
            <a:endParaRPr lang="zh-CN" altLang="en-US" dirty="0">
              <a:ea typeface="阿里巴巴普惠体" panose="00020600040101010101" pitchFamily="18" charset="-122"/>
            </a:endParaRPr>
          </a:p>
          <a:p>
            <a:r>
              <a:rPr lang="zh-CN" altLang="en-US" dirty="0">
                <a:ea typeface="阿里巴巴普惠体" panose="00020600040101010101" pitchFamily="18" charset="-122"/>
                <a:sym typeface="+mn-ea"/>
              </a:rPr>
              <a:t>提交方式：</a:t>
            </a:r>
            <a:r>
              <a:rPr lang="zh-CN" altLang="en-US" dirty="0">
                <a:solidFill>
                  <a:schemeClr val="tx1"/>
                </a:solidFill>
                <a:ea typeface="阿里巴巴普惠体" panose="00020600040101010101" pitchFamily="18" charset="-122"/>
                <a:sym typeface="+mn-ea"/>
              </a:rPr>
              <a:t> 每位同学</a:t>
            </a:r>
            <a:r>
              <a:rPr lang="zh-CN" altLang="en-US" dirty="0">
                <a:solidFill>
                  <a:schemeClr val="tx1"/>
                </a:solidFill>
                <a:ea typeface="阿里巴巴普惠体" panose="00020600040101010101" pitchFamily="18" charset="-122"/>
                <a:sym typeface="+mn-ea"/>
              </a:rPr>
              <a:t>在之前的在线</a:t>
            </a:r>
            <a:r>
              <a:rPr lang="en-US" altLang="zh-CN" dirty="0">
                <a:solidFill>
                  <a:schemeClr val="tx1"/>
                </a:solidFill>
                <a:ea typeface="阿里巴巴普惠体" panose="00020600040101010101" pitchFamily="18" charset="-122"/>
                <a:sym typeface="+mn-ea"/>
              </a:rPr>
              <a:t>Excel</a:t>
            </a:r>
            <a:r>
              <a:rPr lang="zh-CN" altLang="en-US" dirty="0">
                <a:solidFill>
                  <a:schemeClr val="tx1"/>
                </a:solidFill>
                <a:ea typeface="阿里巴巴普惠体" panose="00020600040101010101" pitchFamily="18" charset="-122"/>
                <a:sym typeface="+mn-ea"/>
              </a:rPr>
              <a:t>表格中，添加推广方案</a:t>
            </a:r>
            <a:endParaRPr lang="zh-CN" altLang="en-US" dirty="0">
              <a:ea typeface="阿里巴巴普惠体" panose="00020600040101010101" pitchFamily="18" charset="-122"/>
            </a:endParaRPr>
          </a:p>
          <a:p>
            <a:endParaRPr lang="zh-CN" altLang="en-US" dirty="0">
              <a:ea typeface="阿里巴巴普惠体" panose="00020600040101010101" pitchFamily="18"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32400" y="2776378"/>
            <a:ext cx="6654800" cy="1325563"/>
          </a:xfrm>
        </p:spPr>
        <p:txBody>
          <a:bodyPr/>
          <a:lstStyle/>
          <a:p>
            <a:r>
              <a:rPr kumimoji="1" lang="zh-CN" altLang="en-US" sz="2800" dirty="0">
                <a:latin typeface="阿里巴巴普惠体" panose="00020600040101010101" pitchFamily="18" charset="-122"/>
              </a:rPr>
              <a:t>活动预算</a:t>
            </a:r>
            <a:endParaRPr kumimoji="1" lang="zh-CN" altLang="en-US" sz="2800" dirty="0">
              <a:latin typeface="阿里巴巴普惠体" panose="00020600040101010101" pitchFamily="18" charset="-122"/>
            </a:endParaRPr>
          </a:p>
        </p:txBody>
      </p:sp>
      <p:sp>
        <p:nvSpPr>
          <p:cNvPr id="3" name="文本占位符 2"/>
          <p:cNvSpPr>
            <a:spLocks noGrp="1"/>
          </p:cNvSpPr>
          <p:nvPr>
            <p:ph type="body" sz="quarter" idx="10"/>
          </p:nvPr>
        </p:nvSpPr>
        <p:spPr/>
        <p:txBody>
          <a:bodyPr/>
          <a:lstStyle/>
          <a:p>
            <a:r>
              <a:rPr kumimoji="1" lang="en-US" altLang="zh-CN" dirty="0"/>
              <a:t>08</a:t>
            </a:r>
            <a:endParaRPr kumimoji="1"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4541336" y="1970314"/>
            <a:ext cx="5630484" cy="2919382"/>
          </a:xfrm>
        </p:spPr>
        <p:txBody>
          <a:bodyPr/>
          <a:lstStyle/>
          <a:p>
            <a:pPr marL="285750" indent="-285750" eaLnBrk="0" hangingPunct="0">
              <a:lnSpc>
                <a:spcPct val="200000"/>
              </a:lnSpc>
              <a:buClr>
                <a:srgbClr val="262626"/>
              </a:buClr>
              <a:buFont typeface="Arial" panose="020B0604020202090204" pitchFamily="34" charset="0"/>
              <a:buChar char="•"/>
            </a:pPr>
            <a:r>
              <a:rPr lang="zh-CN" altLang="en-US" dirty="0">
                <a:solidFill>
                  <a:srgbClr val="262626"/>
                </a:solidFill>
                <a:sym typeface="+mn-ea"/>
              </a:rPr>
              <a:t> 学会制定活动预算</a:t>
            </a:r>
            <a:endParaRPr lang="en-US" altLang="zh-CN" dirty="0">
              <a:solidFill>
                <a:srgbClr val="262626"/>
              </a:solidFill>
              <a:sym typeface="+mn-ea"/>
            </a:endParaRPr>
          </a:p>
          <a:p>
            <a:pPr marL="285750" indent="-285750" eaLnBrk="0" hangingPunct="0">
              <a:lnSpc>
                <a:spcPct val="200000"/>
              </a:lnSpc>
              <a:buClr>
                <a:srgbClr val="262626"/>
              </a:buClr>
              <a:buFont typeface="Arial" panose="020B0604020202090204" pitchFamily="34" charset="0"/>
              <a:buChar char="•"/>
            </a:pPr>
            <a:r>
              <a:rPr lang="en-US" altLang="zh-CN" dirty="0">
                <a:solidFill>
                  <a:srgbClr val="262626"/>
                </a:solidFill>
                <a:sym typeface="+mn-ea"/>
              </a:rPr>
              <a:t> </a:t>
            </a:r>
            <a:r>
              <a:rPr lang="zh-CN" altLang="en-US" dirty="0">
                <a:solidFill>
                  <a:srgbClr val="262626"/>
                </a:solidFill>
                <a:sym typeface="+mn-ea"/>
              </a:rPr>
              <a:t>学会如何向领导申请预算</a:t>
            </a:r>
            <a:endParaRPr lang="zh-CN" altLang="en-US" dirty="0">
              <a:solidFill>
                <a:srgbClr val="262626"/>
              </a:solidFill>
            </a:endParaRPr>
          </a:p>
          <a:p>
            <a:pPr marL="285750" indent="-285750" algn="l" eaLnBrk="0" hangingPunct="0">
              <a:lnSpc>
                <a:spcPct val="200000"/>
              </a:lnSpc>
              <a:buClr>
                <a:srgbClr val="262626"/>
              </a:buClr>
              <a:buFont typeface="Arial" panose="020B0604020202090204" pitchFamily="34" charset="0"/>
              <a:buChar char="•"/>
            </a:pPr>
            <a:endParaRPr lang="zh-CN" altLang="en-US" dirty="0">
              <a:solidFill>
                <a:srgbClr val="262626"/>
              </a:solidFill>
              <a:sym typeface="+mn-ea"/>
            </a:endParaRPr>
          </a:p>
          <a:p>
            <a:pPr marL="285750" indent="-285750" algn="l" eaLnBrk="0" hangingPunct="0">
              <a:lnSpc>
                <a:spcPct val="200000"/>
              </a:lnSpc>
              <a:buClr>
                <a:srgbClr val="262626"/>
              </a:buClr>
              <a:buNone/>
            </a:pP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grpSp>
        <p:nvGrpSpPr>
          <p:cNvPr id="9" name="组合 8"/>
          <p:cNvGrpSpPr/>
          <p:nvPr/>
        </p:nvGrpSpPr>
        <p:grpSpPr>
          <a:xfrm>
            <a:off x="3032810" y="2078038"/>
            <a:ext cx="5546040" cy="2154555"/>
            <a:chOff x="5633" y="3363"/>
            <a:chExt cx="2909" cy="1130"/>
          </a:xfrm>
        </p:grpSpPr>
        <p:sp>
          <p:nvSpPr>
            <p:cNvPr id="4" name="椭圆 3"/>
            <p:cNvSpPr/>
            <p:nvPr/>
          </p:nvSpPr>
          <p:spPr>
            <a:xfrm>
              <a:off x="5760" y="3363"/>
              <a:ext cx="1133" cy="113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椭圆 5"/>
            <p:cNvSpPr/>
            <p:nvPr/>
          </p:nvSpPr>
          <p:spPr>
            <a:xfrm>
              <a:off x="7250" y="3363"/>
              <a:ext cx="1130" cy="1130"/>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TextBox 31"/>
            <p:cNvSpPr txBox="1"/>
            <p:nvPr/>
          </p:nvSpPr>
          <p:spPr>
            <a:xfrm>
              <a:off x="5633" y="3799"/>
              <a:ext cx="1455" cy="193"/>
            </a:xfrm>
            <a:prstGeom prst="rect">
              <a:avLst/>
            </a:prstGeom>
            <a:noFill/>
          </p:spPr>
          <p:txBody>
            <a:bodyPr>
              <a:spAutoFit/>
            </a:bodyPr>
            <a:lstStyle/>
            <a:p>
              <a:pPr marR="0" algn="ctr" defTabSz="914400" eaLnBrk="0" fontAlgn="auto" hangingPunct="0">
                <a:spcBef>
                  <a:spcPts val="0"/>
                </a:spcBef>
                <a:spcAft>
                  <a:spcPts val="0"/>
                </a:spcAft>
                <a:buClrTx/>
                <a:buSzTx/>
                <a:buFontTx/>
                <a:defRPr/>
              </a:pPr>
              <a:r>
                <a:rPr kumimoji="0" lang="zh-CN" altLang="en-US" kern="1200" cap="none" spc="0" normalizeH="0" baseline="0" noProof="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预算成本</a:t>
              </a:r>
              <a:endParaRPr kumimoji="0" lang="zh-CN" altLang="en-US" kern="1200" cap="none" spc="0" normalizeH="0" baseline="0" noProof="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TextBox 32"/>
            <p:cNvSpPr txBox="1"/>
            <p:nvPr/>
          </p:nvSpPr>
          <p:spPr>
            <a:xfrm>
              <a:off x="7087" y="3799"/>
              <a:ext cx="1455" cy="193"/>
            </a:xfrm>
            <a:prstGeom prst="rect">
              <a:avLst/>
            </a:prstGeom>
            <a:noFill/>
          </p:spPr>
          <p:txBody>
            <a:bodyPr>
              <a:spAutoFit/>
            </a:bodyPr>
            <a:lstStyle/>
            <a:p>
              <a:pPr marR="0" algn="ctr" defTabSz="914400" eaLnBrk="0" fontAlgn="auto" hangingPunct="0">
                <a:spcBef>
                  <a:spcPts val="0"/>
                </a:spcBef>
                <a:spcAft>
                  <a:spcPts val="0"/>
                </a:spcAft>
                <a:buClrTx/>
                <a:buSzTx/>
                <a:buFontTx/>
                <a:defRPr/>
              </a:pPr>
              <a:r>
                <a:rPr kumimoji="0" lang="zh-CN" altLang="en-US" kern="1200" cap="none" spc="0" normalizeH="0" baseline="0" noProof="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预算申请</a:t>
              </a:r>
              <a:endParaRPr kumimoji="0" lang="zh-CN" altLang="en-US" kern="1200" cap="none" spc="0" normalizeH="0" baseline="0" noProof="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0961"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预算成本</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963" name="文本框 1"/>
          <p:cNvSpPr txBox="1"/>
          <p:nvPr/>
        </p:nvSpPr>
        <p:spPr>
          <a:xfrm>
            <a:off x="1292225" y="1660525"/>
            <a:ext cx="2185988" cy="306705"/>
          </a:xfrm>
          <a:prstGeom prst="rect">
            <a:avLst/>
          </a:prstGeom>
          <a:noFill/>
          <a:ln w="9525">
            <a:noFill/>
          </a:ln>
        </p:spPr>
        <p:txBody>
          <a:bodyPr anchor="t">
            <a:spAutoFit/>
          </a:bodyPr>
          <a:lstStyle/>
          <a:p>
            <a:pPr eaLnBrk="0" hangingPunct="0">
              <a:buFont typeface="阿里巴巴普惠体" panose="00020600040101010101" pitchFamily="18" charset="-122"/>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）推广费用：</a:t>
            </a:r>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40964" name="图片 1"/>
          <p:cNvPicPr>
            <a:picLocks noChangeAspect="1"/>
          </p:cNvPicPr>
          <p:nvPr/>
        </p:nvPicPr>
        <p:blipFill>
          <a:blip r:embed="rId1"/>
          <a:stretch>
            <a:fillRect/>
          </a:stretch>
        </p:blipFill>
        <p:spPr>
          <a:xfrm>
            <a:off x="2292985" y="2118360"/>
            <a:ext cx="7941945" cy="3857625"/>
          </a:xfrm>
          <a:prstGeom prst="rect">
            <a:avLst/>
          </a:prstGeom>
          <a:noFill/>
          <a:ln w="9525">
            <a:noFill/>
          </a:ln>
        </p:spPr>
      </p:pic>
      <p:sp>
        <p:nvSpPr>
          <p:cNvPr id="3" name="文本框 2"/>
          <p:cNvSpPr txBox="1"/>
          <p:nvPr/>
        </p:nvSpPr>
        <p:spPr>
          <a:xfrm>
            <a:off x="2221865" y="6069330"/>
            <a:ext cx="3383280" cy="306705"/>
          </a:xfrm>
          <a:prstGeom prst="rect">
            <a:avLst/>
          </a:prstGeom>
          <a:noFill/>
        </p:spPr>
        <p:txBody>
          <a:bodyPr wrap="none">
            <a:spAutoFit/>
          </a:bodyPr>
          <a:lstStyle/>
          <a:p>
            <a:pPr marR="0" defTabSz="914400" eaLnBrk="0" fontAlgn="auto" hangingPunct="0">
              <a:spcBef>
                <a:spcPts val="0"/>
              </a:spcBef>
              <a:spcAft>
                <a:spcPts val="0"/>
              </a:spcAft>
              <a:buClrTx/>
              <a:buSzTx/>
              <a:buFontTx/>
              <a:defRPr/>
            </a:pPr>
            <a:r>
              <a:rPr kumimoji="0" lang="zh-CN" altLang="en-US" sz="1400" kern="1200" cap="none" spc="0" normalizeH="0" baseline="0" noProof="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备注：三方平台找报价，具体报价可私聊</a:t>
            </a:r>
            <a:endParaRPr kumimoji="0" lang="zh-CN" altLang="en-US" sz="1400" kern="1200" cap="none" spc="0" normalizeH="0" baseline="0" noProof="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0961"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预算成本</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1"/>
          <p:cNvSpPr txBox="1">
            <a:spLocks noChangeArrowheads="1"/>
          </p:cNvSpPr>
          <p:nvPr/>
        </p:nvSpPr>
        <p:spPr bwMode="auto">
          <a:xfrm>
            <a:off x="950595" y="1849120"/>
            <a:ext cx="4022725" cy="1168400"/>
          </a:xfrm>
          <a:prstGeom prst="rect">
            <a:avLst/>
          </a:prstGeom>
          <a:noFill/>
          <a:ln>
            <a:noFill/>
          </a:ln>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阿里巴巴普惠体" panose="00020600040101010101" pitchFamily="18" charset="-122"/>
              <a:buNone/>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）物料费用：</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marR="0" lvl="0" indent="0" algn="l" defTabSz="914400" rtl="0" eaLnBrk="0" fontAlgn="base" latinLnBrk="0" hangingPunct="0">
              <a:lnSpc>
                <a:spcPct val="100000"/>
              </a:lnSpc>
              <a:spcBef>
                <a:spcPct val="0"/>
              </a:spcBef>
              <a:spcAft>
                <a:spcPct val="0"/>
              </a:spcAft>
              <a:buClrTx/>
              <a:buSzTx/>
              <a:buFont typeface="阿里巴巴普惠体" panose="00020600040101010101" pitchFamily="18" charset="-122"/>
              <a:buNone/>
              <a:defRPr/>
            </a:pP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活动奖品</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虚拟激励（积分，红包，优惠券等）</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宣传物料（易拉宝、海报、</a:t>
            </a:r>
            <a:r>
              <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dm</a:t>
            </a: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宣传单等）</a:t>
            </a:r>
            <a:endPar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文本框 3"/>
          <p:cNvSpPr txBox="1"/>
          <p:nvPr/>
        </p:nvSpPr>
        <p:spPr>
          <a:xfrm>
            <a:off x="891540" y="3210878"/>
            <a:ext cx="2849880" cy="306705"/>
          </a:xfrm>
          <a:prstGeom prst="rect">
            <a:avLst/>
          </a:prstGeom>
          <a:noFill/>
        </p:spPr>
        <p:txBody>
          <a:bodyPr wrap="none">
            <a:spAutoFit/>
          </a:bodyPr>
          <a:lstStyle/>
          <a:p>
            <a:pPr marR="0" defTabSz="914400" eaLnBrk="0" fontAlgn="auto" hangingPunct="0">
              <a:spcBef>
                <a:spcPts val="0"/>
              </a:spcBef>
              <a:spcAft>
                <a:spcPts val="0"/>
              </a:spcAft>
              <a:buClrTx/>
              <a:buSzTx/>
              <a:buFontTx/>
              <a:defRPr/>
            </a:pPr>
            <a:r>
              <a:rPr kumimoji="0" lang="zh-CN" altLang="en-US" sz="1400" kern="1200" cap="none" spc="0" normalizeH="0" baseline="0" noProof="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备注：具体物料根据实际情况而定</a:t>
            </a:r>
            <a:endParaRPr kumimoji="0" lang="zh-CN" altLang="en-US" sz="1400" kern="1200" cap="none" spc="0" normalizeH="0" baseline="0" noProof="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0961"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预算成本</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文本框 3"/>
          <p:cNvSpPr txBox="1"/>
          <p:nvPr/>
        </p:nvSpPr>
        <p:spPr>
          <a:xfrm>
            <a:off x="1132840" y="3520758"/>
            <a:ext cx="2849880" cy="306705"/>
          </a:xfrm>
          <a:prstGeom prst="rect">
            <a:avLst/>
          </a:prstGeom>
          <a:noFill/>
        </p:spPr>
        <p:txBody>
          <a:bodyPr wrap="none">
            <a:spAutoFit/>
          </a:bodyPr>
          <a:lstStyle/>
          <a:p>
            <a:pPr marR="0" defTabSz="914400" eaLnBrk="0" fontAlgn="auto" hangingPunct="0">
              <a:spcBef>
                <a:spcPts val="0"/>
              </a:spcBef>
              <a:spcAft>
                <a:spcPts val="0"/>
              </a:spcAft>
              <a:buClrTx/>
              <a:buSzTx/>
              <a:buFontTx/>
              <a:defRPr/>
            </a:pPr>
            <a:r>
              <a:rPr kumimoji="0" lang="zh-CN" altLang="en-US" sz="1400" kern="1200" cap="none" spc="0" normalizeH="0" baseline="0" noProof="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备注：具体物料根据实际情况而定</a:t>
            </a:r>
            <a:endParaRPr kumimoji="0" lang="zh-CN" altLang="en-US" sz="1400" kern="1200" cap="none" spc="0" normalizeH="0" baseline="0" noProof="0" dirty="0">
              <a:solidFill>
                <a:schemeClr val="bg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文本框 1"/>
          <p:cNvSpPr txBox="1">
            <a:spLocks noChangeArrowheads="1"/>
          </p:cNvSpPr>
          <p:nvPr/>
        </p:nvSpPr>
        <p:spPr bwMode="auto">
          <a:xfrm>
            <a:off x="1132840" y="1731645"/>
            <a:ext cx="2907665" cy="1599565"/>
          </a:xfrm>
          <a:prstGeom prst="rect">
            <a:avLst/>
          </a:prstGeom>
          <a:noFill/>
          <a:ln>
            <a:noFill/>
          </a:ln>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阿里巴巴普惠体" panose="00020600040101010101" pitchFamily="18" charset="-122"/>
              <a:buNone/>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3</a:t>
            </a: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）其它费用：</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marR="0" lvl="0" indent="0" algn="l" defTabSz="914400" rtl="0" eaLnBrk="0" fontAlgn="base" latinLnBrk="0" hangingPunct="0">
              <a:lnSpc>
                <a:spcPct val="100000"/>
              </a:lnSpc>
              <a:spcBef>
                <a:spcPct val="0"/>
              </a:spcBef>
              <a:spcAft>
                <a:spcPct val="0"/>
              </a:spcAft>
              <a:buClrTx/>
              <a:buSzTx/>
              <a:buFont typeface="阿里巴巴普惠体" panose="00020600040101010101" pitchFamily="18" charset="-122"/>
              <a:buNone/>
              <a:defRPr/>
            </a:pP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人员费用（兼职，主持人等）</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场地费</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交通费</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住宿费</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100000"/>
              </a:lnSpc>
              <a:spcBef>
                <a:spcPct val="0"/>
              </a:spcBef>
              <a:spcAft>
                <a:spcPct val="0"/>
              </a:spcAft>
              <a:buClrTx/>
              <a:buSzTx/>
              <a:buFont typeface="阿里巴巴普惠体" panose="00020600040101010101" pitchFamily="18" charset="-122"/>
              <a:buChar char="•"/>
              <a:defRPr/>
            </a:pPr>
            <a:r>
              <a:rPr kumimoji="0" lang="zh-CN" altLang="en-US"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餐费</a:t>
            </a:r>
            <a:endParaRPr kumimoji="0" lang="en-US" altLang="zh-CN" sz="1400" b="0" i="0" u="none" strike="noStrike" kern="1200" cap="none" spc="0" normalizeH="0" baseline="0" noProof="0" dirty="0">
              <a:ln>
                <a:noFill/>
              </a:ln>
              <a:solidFill>
                <a:schemeClr val="tx1"/>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0961"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预算申请</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059" name="文本框 7"/>
          <p:cNvSpPr txBox="1"/>
          <p:nvPr/>
        </p:nvSpPr>
        <p:spPr>
          <a:xfrm>
            <a:off x="768668" y="1868488"/>
            <a:ext cx="1909497" cy="523220"/>
          </a:xfrm>
          <a:prstGeom prst="rect">
            <a:avLst/>
          </a:prstGeom>
          <a:noFill/>
          <a:ln w="9525">
            <a:noFill/>
          </a:ln>
        </p:spPr>
        <p:txBody>
          <a:bodyPr wrap="none" anchor="t">
            <a:spAutoFit/>
          </a:bodyPr>
          <a:lstStyle/>
          <a:p>
            <a:pPr marL="285750" indent="-285750">
              <a:buFont typeface="阿里巴巴普惠体" panose="00020600040101010101" pitchFamily="18" charset="-122"/>
              <a:buChar cha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合理计算获客成本</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buFont typeface="阿里巴巴普惠体" panose="00020600040101010101" pitchFamily="18" charset="-122"/>
              <a:buChar cha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合理计算</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ROI</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0961"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预算申请</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文本框 7"/>
          <p:cNvSpPr txBox="1"/>
          <p:nvPr/>
        </p:nvSpPr>
        <p:spPr>
          <a:xfrm>
            <a:off x="796925" y="1820863"/>
            <a:ext cx="6263640" cy="737235"/>
          </a:xfrm>
          <a:prstGeom prst="rect">
            <a:avLst/>
          </a:prstGeom>
          <a:noFill/>
        </p:spPr>
        <p:txBody>
          <a:bodyPr wrap="none">
            <a:spAutoFit/>
          </a:bodyPr>
          <a:lstStyle/>
          <a:p>
            <a:pPr marL="285750" marR="0" indent="-285750" defTabSz="914400" fontAlgn="auto">
              <a:spcBef>
                <a:spcPts val="0"/>
              </a:spcBef>
              <a:spcAft>
                <a:spcPts val="0"/>
              </a:spcAft>
              <a:buClrTx/>
              <a:buSzTx/>
              <a:buFont typeface="阿里巴巴普惠体" panose="00020600040101010101" pitchFamily="18" charset="-122"/>
              <a:buChar char="•"/>
              <a:defRPr/>
            </a:pP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）合理计算获客成本</a:t>
            </a: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defTabSz="914400" fontAlgn="auto">
              <a:spcBef>
                <a:spcPts val="0"/>
              </a:spcBef>
              <a:spcAft>
                <a:spcPts val="0"/>
              </a:spcAft>
              <a:buClrTx/>
              <a:buSzTx/>
              <a:buFontTx/>
              <a:defRPr/>
            </a:pP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defTabSz="914400" fontAlgn="auto">
              <a:spcBef>
                <a:spcPts val="0"/>
              </a:spcBef>
              <a:spcAft>
                <a:spcPts val="0"/>
              </a:spcAft>
              <a:buClrTx/>
              <a:buSzTx/>
              <a:buFontTx/>
              <a:defRPr/>
            </a:pP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例如：申请</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5000</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元活动预算，活动目标为公众号涨粉</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1000</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，获客成本为</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5</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元。</a:t>
            </a: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0" y="260064"/>
            <a:ext cx="8771021" cy="517190"/>
          </a:xfrm>
        </p:spPr>
        <p:txBody>
          <a:bodyPr vert="horz" rtlCol="0" anchor="ctr" anchorCtr="0">
            <a:normAutofit/>
          </a:bodyPr>
          <a:lstStyle/>
          <a:p>
            <a:pPr lvl="0" algn="l">
              <a:buClrTx/>
              <a:buSzTx/>
              <a:buFontTx/>
            </a:pPr>
            <a:r>
              <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lang="zh-CN" altLang="en-US"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40961" name="TextBox 9"/>
          <p:cNvSpPr txBox="1"/>
          <p:nvPr/>
        </p:nvSpPr>
        <p:spPr>
          <a:xfrm>
            <a:off x="628650" y="973138"/>
            <a:ext cx="3514725" cy="458908"/>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en-US" altLang="zh-CN"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预算申请</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文本框 2"/>
          <p:cNvSpPr txBox="1"/>
          <p:nvPr/>
        </p:nvSpPr>
        <p:spPr>
          <a:xfrm>
            <a:off x="823595" y="1820863"/>
            <a:ext cx="5317490" cy="953135"/>
          </a:xfrm>
          <a:prstGeom prst="rect">
            <a:avLst/>
          </a:prstGeom>
          <a:noFill/>
        </p:spPr>
        <p:txBody>
          <a:bodyPr wrap="none">
            <a:spAutoFit/>
          </a:bodyPr>
          <a:lstStyle/>
          <a:p>
            <a:pPr marL="285750" marR="0" indent="-285750" defTabSz="914400" fontAlgn="auto">
              <a:spcBef>
                <a:spcPts val="0"/>
              </a:spcBef>
              <a:spcAft>
                <a:spcPts val="0"/>
              </a:spcAft>
              <a:buClrTx/>
              <a:buSzTx/>
              <a:buFont typeface="阿里巴巴普惠体" panose="00020600040101010101" pitchFamily="18" charset="-122"/>
              <a:buChar char="•"/>
              <a:defRPr/>
            </a:pP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）合理计算</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ROI</a:t>
            </a: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defTabSz="914400" fontAlgn="auto">
              <a:spcBef>
                <a:spcPts val="0"/>
              </a:spcBef>
              <a:spcAft>
                <a:spcPts val="0"/>
              </a:spcAft>
              <a:buClrTx/>
              <a:buSzTx/>
              <a:defRPr/>
            </a:pP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ROI=</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收益</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成本）</a:t>
            </a: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defTabSz="914400" fontAlgn="auto">
              <a:spcBef>
                <a:spcPts val="0"/>
              </a:spcBef>
              <a:spcAft>
                <a:spcPts val="0"/>
              </a:spcAft>
              <a:buClrTx/>
              <a:buSzTx/>
              <a:buFontTx/>
              <a:defRPr/>
            </a:pP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R="0" defTabSz="914400" fontAlgn="auto">
              <a:spcBef>
                <a:spcPts val="0"/>
              </a:spcBef>
              <a:spcAft>
                <a:spcPts val="0"/>
              </a:spcAft>
              <a:buClrTx/>
              <a:buSzTx/>
              <a:buFontTx/>
              <a:defRPr/>
            </a:pP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例如：本场活动共计带来交易额</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5000</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元，花费</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1000</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元，</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ROI</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为</a:t>
            </a:r>
            <a:r>
              <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5</a:t>
            </a:r>
            <a:r>
              <a:rPr kumimoji="0" lang="zh-CN" altLang="en-US"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kumimoji="0" lang="en-US" altLang="zh-CN" sz="1400" kern="1200" cap="none" spc="0" normalizeH="0" baseline="0" noProof="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sz="quarter" idx="10"/>
          </p:nvPr>
        </p:nvSpPr>
        <p:spPr>
          <a:xfrm>
            <a:off x="5126355" y="1007745"/>
            <a:ext cx="6062345" cy="5519420"/>
          </a:xfrm>
        </p:spPr>
        <p:txBody>
          <a:bodyPr/>
          <a:p>
            <a:r>
              <a:rPr lang="zh-CN" altLang="en-US" dirty="0">
                <a:sym typeface="+mn-ea"/>
              </a:rPr>
              <a:t>究竟是应该根据活动目标申请预算，还是根据预算调整活动目标呢？</a:t>
            </a:r>
            <a:endParaRPr lang="zh-CN" altLang="en-US" dirty="0">
              <a:sym typeface="+mn-ea"/>
            </a:endParaRPr>
          </a:p>
          <a:p>
            <a:pPr marL="0" indent="0">
              <a:buNone/>
            </a:pPr>
            <a:r>
              <a:rPr lang="zh-CN" altLang="en-US" b="1" dirty="0">
                <a:sym typeface="+mn-ea"/>
              </a:rPr>
              <a:t>答：需要根据</a:t>
            </a:r>
            <a:r>
              <a:rPr lang="zh-CN" altLang="en-US" b="1" dirty="0">
                <a:sym typeface="+mn-ea"/>
              </a:rPr>
              <a:t>企业营销战略的不同进行具体分析。</a:t>
            </a:r>
            <a:endParaRPr lang="zh-CN" altLang="en-US" b="1" dirty="0">
              <a:sym typeface="+mn-ea"/>
            </a:endParaRPr>
          </a:p>
          <a:p>
            <a:pPr marL="0" indent="0">
              <a:buNone/>
            </a:pPr>
            <a:r>
              <a:rPr lang="zh-CN" altLang="en-US" b="1" dirty="0">
                <a:sym typeface="+mn-ea"/>
              </a:rPr>
              <a:t>举例：</a:t>
            </a:r>
            <a:r>
              <a:rPr lang="zh-CN" altLang="en-US" dirty="0">
                <a:sym typeface="+mn-ea"/>
              </a:rPr>
              <a:t>某个品牌的某款产品，需要拿下“双十一”期间，该产品所在品类订单量的第一名，为以后的营销活动增加宣传点。那么为了保证这个目的，所有的资源都会向这个目标倾斜，预算再高也在所不惜。</a:t>
            </a:r>
            <a:endParaRPr lang="zh-CN" altLang="en-US"/>
          </a:p>
        </p:txBody>
      </p:sp>
      <p:sp>
        <p:nvSpPr>
          <p:cNvPr id="6" name="标题 5"/>
          <p:cNvSpPr>
            <a:spLocks noGrp="1"/>
          </p:cNvSpPr>
          <p:nvPr>
            <p:ph type="title"/>
          </p:nvPr>
        </p:nvSpPr>
        <p:spPr/>
        <p:txBody>
          <a:bodyPr/>
          <a:p>
            <a:r>
              <a:rPr lang="zh-CN" altLang="en-US"/>
              <a:t>思考</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sz="quarter" idx="10"/>
          </p:nvPr>
        </p:nvSpPr>
        <p:spPr>
          <a:xfrm>
            <a:off x="5126355" y="1007745"/>
            <a:ext cx="6062345" cy="4442460"/>
          </a:xfrm>
        </p:spPr>
        <p:txBody>
          <a:bodyPr/>
          <a:p>
            <a:pPr>
              <a:buFont typeface="+mj-lt"/>
              <a:buAutoNum type="arabicPeriod" startAt="2"/>
            </a:pPr>
            <a:r>
              <a:rPr lang="zh-CN" altLang="en-US"/>
              <a:t>什么是ROI，ROI是怎么计算的？</a:t>
            </a:r>
            <a:endParaRPr lang="zh-CN" altLang="en-US"/>
          </a:p>
        </p:txBody>
      </p:sp>
      <p:sp>
        <p:nvSpPr>
          <p:cNvPr id="6" name="标题 5"/>
          <p:cNvSpPr>
            <a:spLocks noGrp="1"/>
          </p:cNvSpPr>
          <p:nvPr>
            <p:ph type="title"/>
          </p:nvPr>
        </p:nvSpPr>
        <p:spPr/>
        <p:txBody>
          <a:bodyPr/>
          <a:p>
            <a:r>
              <a:rPr lang="zh-CN" altLang="en-US"/>
              <a:t>思考</a:t>
            </a:r>
            <a:endParaRPr lang="zh-CN" altLang="en-US"/>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58150" y="260064"/>
            <a:ext cx="8771021" cy="517190"/>
          </a:xfrm>
        </p:spPr>
        <p:txBody>
          <a:bodyPr vert="horz" rtlCol="0" anchor="ctr" anchorCtr="0">
            <a:normAutofit/>
          </a:bodyPr>
          <a:lstStyle/>
          <a:p>
            <a:pPr lvl="0" algn="l">
              <a:buClrTx/>
              <a:buSzTx/>
              <a:buFontTx/>
            </a:pPr>
            <a:r>
              <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rPr>
              <a:t>活动预算</a:t>
            </a:r>
            <a:endParaRPr dirty="0">
              <a:solidFill>
                <a:schemeClr val="tx1">
                  <a:lumMod val="75000"/>
                  <a:lumOff val="25000"/>
                </a:schemeClr>
              </a:solidFill>
              <a:latin typeface="阿里巴巴普惠体" panose="00020600040101010101" pitchFamily="18" charset="-122"/>
              <a:cs typeface="阿里巴巴普惠体" panose="00020600040101010101" pitchFamily="18" charset="-122"/>
              <a:sym typeface="+mn-ea"/>
            </a:endParaRPr>
          </a:p>
        </p:txBody>
      </p:sp>
      <p:sp>
        <p:nvSpPr>
          <p:cNvPr id="5" name="TextBox 9"/>
          <p:cNvSpPr txBox="1"/>
          <p:nvPr/>
        </p:nvSpPr>
        <p:spPr>
          <a:xfrm>
            <a:off x="4853940" y="1431608"/>
            <a:ext cx="3514725" cy="506730"/>
          </a:xfrm>
          <a:prstGeom prst="rect">
            <a:avLst/>
          </a:prstGeom>
          <a:noFill/>
          <a:ln w="9525">
            <a:noFill/>
          </a:ln>
        </p:spPr>
        <p:txBody>
          <a:bodyPr anchor="t">
            <a:spAutoFit/>
          </a:bodyPr>
          <a:lstStyle/>
          <a:p>
            <a:pPr eaLnBrk="0" hangingPunct="0">
              <a:lnSpc>
                <a:spcPct val="150000"/>
              </a:lnSpc>
              <a:buFont typeface="阿里巴巴普惠体" panose="00020600040101010101" pitchFamily="18" charset="-122"/>
            </a:pP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预算成本，</a:t>
            </a:r>
            <a:r>
              <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和预算申请：</a:t>
            </a:r>
            <a:endParaRPr lang="zh-CN" altLang="en-US" b="1"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TextBox 9"/>
          <p:cNvSpPr txBox="1"/>
          <p:nvPr/>
        </p:nvSpPr>
        <p:spPr>
          <a:xfrm>
            <a:off x="4843660" y="2003528"/>
            <a:ext cx="6321280" cy="3080385"/>
          </a:xfrm>
          <a:prstGeom prst="rect">
            <a:avLst/>
          </a:prstGeom>
          <a:noFill/>
          <a:ln w="9525">
            <a:noFill/>
          </a:ln>
        </p:spPr>
        <p:txBody>
          <a:bodyPr wrap="square" anchor="t">
            <a:spAutoFit/>
          </a:bodyPr>
          <a:lstStyle/>
          <a:p>
            <a:pPr marL="342900" indent="-342900" eaLnBrk="0" hangingPunct="0">
              <a:lnSpc>
                <a:spcPct val="180000"/>
              </a:lnSpc>
              <a:buFont typeface="阿里巴巴普惠体" panose="00020600040101010101" pitchFamily="18" charset="-122"/>
              <a:buAutoNum type="arabicPeriod"/>
            </a:pP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预算成本通常包括</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推广费用</a:t>
            </a:r>
            <a:r>
              <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 </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物料费用</a:t>
            </a:r>
            <a:r>
              <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 </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其他费用</a:t>
            </a: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其中</a:t>
            </a: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一般推广费用占大头；</a:t>
            </a:r>
            <a:endPar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eaLnBrk="0" hangingPunct="0">
              <a:lnSpc>
                <a:spcPct val="180000"/>
              </a:lnSpc>
              <a:buFont typeface="阿里巴巴普惠体" panose="00020600040101010101" pitchFamily="18" charset="-122"/>
              <a:buAutoNum type="arabicPeriod"/>
            </a:pP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在申请预算时，通常需要考虑两点：</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合理计算获客成本、合理计算</a:t>
            </a:r>
            <a:r>
              <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ROI</a:t>
            </a:r>
            <a:r>
              <a:rPr lang="zh-CN" altLang="en-US"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en-US" altLang="zh-CN"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eaLnBrk="0" hangingPunct="0">
              <a:lnSpc>
                <a:spcPct val="180000"/>
              </a:lnSpc>
              <a:buFont typeface="阿里巴巴普惠体" panose="00020600040101010101" pitchFamily="18" charset="-122"/>
              <a:buAutoNum type="arabicPeriod"/>
            </a:pP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获客成本要控制在公司可以承受的范围内，</a:t>
            </a:r>
            <a:r>
              <a:rPr lang="en-US" altLang="zh-CN"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ROI</a:t>
            </a: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的最底线是不能小于</a:t>
            </a:r>
            <a:r>
              <a:rPr lang="en-US" altLang="zh-CN"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1</a:t>
            </a:r>
            <a:r>
              <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t>练习</a:t>
            </a:r>
            <a:endParaRPr lang="zh-CN" altLang="en-US"/>
          </a:p>
        </p:txBody>
      </p:sp>
      <p:sp>
        <p:nvSpPr>
          <p:cNvPr id="4" name="文本占位符 3"/>
          <p:cNvSpPr>
            <a:spLocks noGrp="1"/>
          </p:cNvSpPr>
          <p:nvPr>
            <p:ph type="body" sz="quarter" idx="11"/>
          </p:nvPr>
        </p:nvSpPr>
        <p:spPr>
          <a:xfrm>
            <a:off x="1993900" y="2021205"/>
            <a:ext cx="9385935" cy="3722370"/>
          </a:xfrm>
        </p:spPr>
        <p:txBody>
          <a:bodyPr/>
          <a:lstStyle/>
          <a:p>
            <a:r>
              <a:rPr lang="zh-CN" altLang="en-US" dirty="0">
                <a:ea typeface="阿里巴巴普惠体" panose="00020600040101010101" pitchFamily="18" charset="-122"/>
                <a:sym typeface="+mn-ea"/>
              </a:rPr>
              <a:t>——要求：</a:t>
            </a:r>
            <a:endParaRPr lang="zh-CN" altLang="en-US" dirty="0">
              <a:ea typeface="阿里巴巴普惠体" panose="00020600040101010101" pitchFamily="18" charset="-122"/>
              <a:sym typeface="+mn-ea"/>
            </a:endParaRPr>
          </a:p>
          <a:p>
            <a:r>
              <a:rPr lang="zh-CN" altLang="en-US" dirty="0">
                <a:ea typeface="阿里巴巴普惠体" panose="00020600040101010101" pitchFamily="18" charset="-122"/>
                <a:sym typeface="+mn-ea"/>
              </a:rPr>
              <a:t>为群撰写活动预算</a:t>
            </a:r>
            <a:endParaRPr lang="zh-CN" altLang="en-US" dirty="0">
              <a:ea typeface="阿里巴巴普惠体" panose="00020600040101010101" pitchFamily="18" charset="-122"/>
              <a:sym typeface="+mn-ea"/>
            </a:endParaRPr>
          </a:p>
          <a:p>
            <a:endParaRPr lang="zh-CN" altLang="en-US" dirty="0">
              <a:ea typeface="阿里巴巴普惠体" panose="00020600040101010101" pitchFamily="18" charset="-122"/>
              <a:sym typeface="+mn-ea"/>
            </a:endParaRPr>
          </a:p>
          <a:p>
            <a:r>
              <a:rPr lang="zh-CN" altLang="en-US" dirty="0">
                <a:ea typeface="阿里巴巴普惠体" panose="00020600040101010101" pitchFamily="18" charset="-122"/>
                <a:sym typeface="+mn-ea"/>
              </a:rPr>
              <a:t>时间：</a:t>
            </a:r>
            <a:r>
              <a:rPr lang="en-US" altLang="zh-CN" dirty="0">
                <a:ea typeface="阿里巴巴普惠体" panose="00020600040101010101" pitchFamily="18" charset="-122"/>
                <a:sym typeface="+mn-ea"/>
              </a:rPr>
              <a:t>30</a:t>
            </a:r>
            <a:r>
              <a:rPr lang="zh-CN" altLang="en-US" dirty="0">
                <a:ea typeface="阿里巴巴普惠体" panose="00020600040101010101" pitchFamily="18" charset="-122"/>
                <a:sym typeface="+mn-ea"/>
              </a:rPr>
              <a:t>分钟</a:t>
            </a:r>
            <a:endParaRPr lang="zh-CN" altLang="en-US" dirty="0">
              <a:ea typeface="阿里巴巴普惠体" panose="00020600040101010101" pitchFamily="18" charset="-122"/>
            </a:endParaRPr>
          </a:p>
          <a:p>
            <a:r>
              <a:rPr lang="zh-CN" altLang="en-US" dirty="0">
                <a:ea typeface="阿里巴巴普惠体" panose="00020600040101010101" pitchFamily="18" charset="-122"/>
                <a:sym typeface="+mn-ea"/>
              </a:rPr>
              <a:t>提交方式：</a:t>
            </a:r>
            <a:r>
              <a:rPr lang="zh-CN" altLang="en-US" dirty="0">
                <a:solidFill>
                  <a:schemeClr val="tx1"/>
                </a:solidFill>
                <a:ea typeface="阿里巴巴普惠体" panose="00020600040101010101" pitchFamily="18" charset="-122"/>
                <a:sym typeface="+mn-ea"/>
              </a:rPr>
              <a:t> 每位同学</a:t>
            </a:r>
            <a:r>
              <a:rPr lang="zh-CN" altLang="en-US" dirty="0">
                <a:solidFill>
                  <a:schemeClr val="tx1"/>
                </a:solidFill>
                <a:ea typeface="阿里巴巴普惠体" panose="00020600040101010101" pitchFamily="18" charset="-122"/>
                <a:sym typeface="+mn-ea"/>
              </a:rPr>
              <a:t>在之前的在线</a:t>
            </a:r>
            <a:r>
              <a:rPr lang="en-US" altLang="zh-CN" dirty="0">
                <a:solidFill>
                  <a:schemeClr val="tx1"/>
                </a:solidFill>
                <a:ea typeface="阿里巴巴普惠体" panose="00020600040101010101" pitchFamily="18" charset="-122"/>
                <a:sym typeface="+mn-ea"/>
              </a:rPr>
              <a:t>Excel</a:t>
            </a:r>
            <a:r>
              <a:rPr lang="zh-CN" altLang="en-US" dirty="0">
                <a:solidFill>
                  <a:schemeClr val="tx1"/>
                </a:solidFill>
                <a:ea typeface="阿里巴巴普惠体" panose="00020600040101010101" pitchFamily="18" charset="-122"/>
                <a:sym typeface="+mn-ea"/>
              </a:rPr>
              <a:t>表格中，填写活动预算</a:t>
            </a:r>
            <a:endParaRPr lang="zh-CN" altLang="en-US" dirty="0">
              <a:ea typeface="阿里巴巴普惠体" panose="00020600040101010101" pitchFamily="18" charset="-122"/>
            </a:endParaRPr>
          </a:p>
          <a:p>
            <a:endParaRPr lang="zh-CN" altLang="en-US" dirty="0">
              <a:ea typeface="阿里巴巴普惠体" panose="00020600040101010101" pitchFamily="18"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MH" val="20190618180556"/>
  <p:tag name="MH_LIBRARY" val="GRAPHIC"/>
  <p:tag name="MH_TYPE" val="Text"/>
  <p:tag name="MH_ORDER" val="1"/>
</p:tagLst>
</file>

<file path=ppt/tags/tag5.xml><?xml version="1.0" encoding="utf-8"?>
<p:tagLst xmlns:p="http://schemas.openxmlformats.org/presentationml/2006/main">
  <p:tag name="MH" val="20190618180556"/>
  <p:tag name="MH_LIBRARY" val="GRAPHIC"/>
  <p:tag name="MH_TYPE" val="Other"/>
  <p:tag name="MH_ORDER" val="1"/>
</p:tagLst>
</file>

<file path=ppt/tags/tag6.xml><?xml version="1.0" encoding="utf-8"?>
<p:tagLst xmlns:p="http://schemas.openxmlformats.org/presentationml/2006/main">
  <p:tag name="MH" val="20190618180556"/>
  <p:tag name="MH_LIBRARY" val="GRAPHIC"/>
  <p:tag name="MH_TYPE" val="Text"/>
  <p:tag name="MH_ORDER" val="2"/>
</p:tagLst>
</file>

<file path=ppt/tags/tag7.xml><?xml version="1.0" encoding="utf-8"?>
<p:tagLst xmlns:p="http://schemas.openxmlformats.org/presentationml/2006/main">
  <p:tag name="MH" val="20190618180556"/>
  <p:tag name="MH_LIBRARY" val="GRAPHIC"/>
  <p:tag name="MH_TYPE" val="Other"/>
  <p:tag name="MH_ORDER" val="2"/>
</p:tagLst>
</file>

<file path=ppt/tags/tag8.xml><?xml version="1.0" encoding="utf-8"?>
<p:tagLst xmlns:p="http://schemas.openxmlformats.org/presentationml/2006/main">
  <p:tag name="MH" val="20190618180556"/>
  <p:tag name="MH_LIBRARY" val="GRAPHIC"/>
  <p:tag name="MH_TYPE" val="Text"/>
  <p:tag name="MH_ORDER" val="3"/>
</p:tagLst>
</file>

<file path=ppt/tags/tag9.xml><?xml version="1.0" encoding="utf-8"?>
<p:tagLst xmlns:p="http://schemas.openxmlformats.org/presentationml/2006/main">
  <p:tag name="MH" val="20190618180556"/>
  <p:tag name="MH_LIBRARY" val="GRAPHIC"/>
  <p:tag name="MH_TYPE" val="SubTitle"/>
  <p:tag name="MH_ORDER" val="1"/>
</p:tagLst>
</file>

<file path=ppt/tags/tag10.xml><?xml version="1.0" encoding="utf-8"?>
<p:tagLst xmlns:p="http://schemas.openxmlformats.org/presentationml/2006/main">
  <p:tag name="MH" val="20190618180556"/>
  <p:tag name="MH_LIBRARY" val="GRAPHIC"/>
  <p:tag name="MH_TYPE" val="SubTitle"/>
  <p:tag name="MH_ORDER" val="2"/>
</p:tagLst>
</file>

<file path=ppt/tags/tag11.xml><?xml version="1.0" encoding="utf-8"?>
<p:tagLst xmlns:p="http://schemas.openxmlformats.org/presentationml/2006/main">
  <p:tag name="MH" val="20190618180556"/>
  <p:tag name="MH_LIBRARY" val="GRAPHIC"/>
  <p:tag name="MH_TYPE" val="SubTitle"/>
  <p:tag name="MH_ORDER" val="3"/>
</p:tagLst>
</file>

<file path=ppt/tags/tag13.xml><?xml version="1.0" encoding="utf-8"?>
<p:tagLst xmlns:p="http://schemas.openxmlformats.org/presentationml/2006/main">
  <p:tag name="COMMONDATA" val="eyJoZGlkIjoiOTA4M2Q2NTllNzY3YjVkNjA3ZGRmODA2Mzc4NDQ2MTEifQ=="/>
  <p:tag name="KSO_WPP_MARK_KEY" val="2982da59-b2b6-4e33-a20c-95c6cec1c99c"/>
  <p:tag name="commondata" val="eyJoZGlkIjoiOGRkYjQ1Y2EyN2Y2OTQxNmQ1NDg5MWZlNjZlMzEyNmMifQ=="/>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阿里巴巴普惠体"/>
        <a:ea typeface=""/>
        <a:cs typeface=""/>
        <a:font script="Jpan" typeface="游ゴシック"/>
        <a:font script="Hang" typeface="맑은 고딕"/>
        <a:font script="Hans" typeface="阿里巴巴普惠体"/>
        <a:font script="Hant" typeface="新細明體"/>
        <a:font script="Arab" typeface="阿里巴巴普惠体"/>
        <a:font script="Hebr" typeface="阿里巴巴普惠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阿里巴巴普惠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阿里巴巴普惠体"/>
        <a:ea typeface=""/>
        <a:cs typeface=""/>
        <a:font script="Jpan" typeface="游ゴシック"/>
        <a:font script="Hang" typeface="맑은 고딕"/>
        <a:font script="Hans" typeface="阿里巴巴普惠体"/>
        <a:font script="Hant" typeface="新細明體"/>
        <a:font script="Arab" typeface="阿里巴巴普惠体"/>
        <a:font script="Hebr" typeface="阿里巴巴普惠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阿里巴巴普惠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2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3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4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5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6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7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8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9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10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1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2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13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14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15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1_章节页版式（一级标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6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1_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2_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4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17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6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7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18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19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阿里巴巴普惠体"/>
        <a:ea typeface=""/>
        <a:cs typeface=""/>
        <a:font script="Jpan" typeface="游ゴシック"/>
        <a:font script="Hang" typeface="맑은 고딕"/>
        <a:font script="Hans" typeface="阿里巴巴普惠体"/>
        <a:font script="Hant" typeface="新細明體"/>
        <a:font script="Arab" typeface="阿里巴巴普惠体"/>
        <a:font script="Hebr" typeface="阿里巴巴普惠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阿里巴巴普惠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阿里巴巴普惠体"/>
        <a:ea typeface=""/>
        <a:cs typeface=""/>
        <a:font script="Jpan" typeface="游ゴシック"/>
        <a:font script="Hang" typeface="맑은 고딕"/>
        <a:font script="Hans" typeface="阿里巴巴普惠体"/>
        <a:font script="Hant" typeface="新細明體"/>
        <a:font script="Arab" typeface="阿里巴巴普惠体"/>
        <a:font script="Hebr" typeface="阿里巴巴普惠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阿里巴巴普惠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
    </extobj>
  </extobjs>
</s:customData>
</file>

<file path=customXml/itemProps1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8118</Words>
  <Application>WPS 演示</Application>
  <PresentationFormat>宽屏</PresentationFormat>
  <Paragraphs>1139</Paragraphs>
  <Slides>122</Slides>
  <Notes>65</Notes>
  <HiddenSlides>0</HiddenSlides>
  <MMClips>0</MMClips>
  <ScaleCrop>false</ScaleCrop>
  <HeadingPairs>
    <vt:vector size="6" baseType="variant">
      <vt:variant>
        <vt:lpstr>已用的字体</vt:lpstr>
      </vt:variant>
      <vt:variant>
        <vt:i4>25</vt:i4>
      </vt:variant>
      <vt:variant>
        <vt:lpstr>主题</vt:lpstr>
      </vt:variant>
      <vt:variant>
        <vt:i4>43</vt:i4>
      </vt:variant>
      <vt:variant>
        <vt:lpstr>幻灯片标题</vt:lpstr>
      </vt:variant>
      <vt:variant>
        <vt:i4>122</vt:i4>
      </vt:variant>
    </vt:vector>
  </HeadingPairs>
  <TitlesOfParts>
    <vt:vector size="190" baseType="lpstr">
      <vt:lpstr>Arial</vt:lpstr>
      <vt:lpstr>宋体</vt:lpstr>
      <vt:lpstr>Wingdings</vt:lpstr>
      <vt:lpstr>阿里巴巴普惠体</vt:lpstr>
      <vt:lpstr>Calibri</vt:lpstr>
      <vt:lpstr>Helvetica Neue</vt:lpstr>
      <vt:lpstr>黑体</vt:lpstr>
      <vt:lpstr>汉仪中黑KW</vt:lpstr>
      <vt:lpstr>汉仪书宋二KW</vt:lpstr>
      <vt:lpstr>苹方-简</vt:lpstr>
      <vt:lpstr>阿里巴巴普惠体 R</vt:lpstr>
      <vt:lpstr>阿里巴巴普惠体 M</vt:lpstr>
      <vt:lpstr>Segoe UI Light</vt:lpstr>
      <vt:lpstr>微软雅黑 Light</vt:lpstr>
      <vt:lpstr>阿里巴巴普惠体 B</vt:lpstr>
      <vt:lpstr>Segoe UI</vt:lpstr>
      <vt:lpstr>Verdana</vt:lpstr>
      <vt:lpstr>微软雅黑</vt:lpstr>
      <vt:lpstr>汉仪旗黑</vt:lpstr>
      <vt:lpstr>宋体</vt:lpstr>
      <vt:lpstr>Arial Unicode MS</vt:lpstr>
      <vt:lpstr>等线 Light</vt:lpstr>
      <vt:lpstr>汉仪中等线KW</vt:lpstr>
      <vt:lpstr>Calibri Light</vt:lpstr>
      <vt:lpstr>等线</vt:lpstr>
      <vt:lpstr>封面2</vt:lpstr>
      <vt:lpstr>目录</vt:lpstr>
      <vt:lpstr>学习目标</vt:lpstr>
      <vt:lpstr>章节页版式（一级+二级标题）</vt:lpstr>
      <vt:lpstr>章节页版式（一级标题）</vt:lpstr>
      <vt:lpstr>正文设计方案</vt:lpstr>
      <vt:lpstr>5_结束页设计方案</vt:lpstr>
      <vt:lpstr>1_学习目标</vt:lpstr>
      <vt:lpstr>8_学习目标</vt:lpstr>
      <vt:lpstr>9_学习目标</vt:lpstr>
      <vt:lpstr>10_学习目标</vt:lpstr>
      <vt:lpstr>12_学习目标</vt:lpstr>
      <vt:lpstr>13_学习目标</vt:lpstr>
      <vt:lpstr>14_学习目标</vt:lpstr>
      <vt:lpstr>15_学习目标</vt:lpstr>
      <vt:lpstr>1_正文设计方案</vt:lpstr>
      <vt:lpstr>2_正文设计方案</vt:lpstr>
      <vt:lpstr>3_正文设计方案</vt:lpstr>
      <vt:lpstr>4_正文设计方案</vt:lpstr>
      <vt:lpstr>5_正文设计方案</vt:lpstr>
      <vt:lpstr>6_正文设计方案</vt:lpstr>
      <vt:lpstr>7_正文设计方案</vt:lpstr>
      <vt:lpstr>8_正文设计方案</vt:lpstr>
      <vt:lpstr>9_正文设计方案</vt:lpstr>
      <vt:lpstr>10_正文设计方案</vt:lpstr>
      <vt:lpstr>11_正文设计方案</vt:lpstr>
      <vt:lpstr>12_正文设计方案</vt:lpstr>
      <vt:lpstr>2_学习目标</vt:lpstr>
      <vt:lpstr>13_正文设计方案</vt:lpstr>
      <vt:lpstr>14_正文设计方案</vt:lpstr>
      <vt:lpstr>15_正文设计方案</vt:lpstr>
      <vt:lpstr>1_章节页版式（一级标题）</vt:lpstr>
      <vt:lpstr>3_学习目标</vt:lpstr>
      <vt:lpstr>16_正文设计方案</vt:lpstr>
      <vt:lpstr>1_目录</vt:lpstr>
      <vt:lpstr>2_章节页版式（一级标题）</vt:lpstr>
      <vt:lpstr>4_学习目标</vt:lpstr>
      <vt:lpstr>17_正文设计方案</vt:lpstr>
      <vt:lpstr>5_学习目标</vt:lpstr>
      <vt:lpstr>6_学习目标</vt:lpstr>
      <vt:lpstr>7_学习目标</vt:lpstr>
      <vt:lpstr>18_正文设计方案</vt:lpstr>
      <vt:lpstr>19_正文设计方案</vt:lpstr>
      <vt:lpstr>社群裂变活动策划全流程 ——短期内实现规模化快速增长</vt:lpstr>
      <vt:lpstr>PowerPoint 演示文稿</vt:lpstr>
      <vt:lpstr>经典裂变活动案例「寻找锦鲤」创意拆解</vt:lpstr>
      <vt:lpstr>PowerPoint 演示文稿</vt:lpstr>
      <vt:lpstr>经典爆款裂变案例「寻找锦鲤」创意拆解</vt:lpstr>
      <vt:lpstr>经典爆款裂变案例「寻找锦鲤」创意拆解</vt:lpstr>
      <vt:lpstr>经典爆款裂变案例「寻找锦鲤」创意拆解</vt:lpstr>
      <vt:lpstr>经典爆款裂变案例「寻找锦鲤」创意拆解</vt:lpstr>
      <vt:lpstr>思考</vt:lpstr>
      <vt:lpstr>思考</vt:lpstr>
      <vt:lpstr>思考</vt:lpstr>
      <vt:lpstr>经典爆款裂变案例「寻找锦鲤」创意拆解</vt:lpstr>
      <vt:lpstr>活动背景</vt:lpstr>
      <vt:lpstr>PowerPoint 演示文稿</vt:lpstr>
      <vt:lpstr>思考</vt:lpstr>
      <vt:lpstr>活动背景</vt:lpstr>
      <vt:lpstr>活动背景</vt:lpstr>
      <vt:lpstr>活动背景</vt:lpstr>
      <vt:lpstr>活动背景</vt:lpstr>
      <vt:lpstr>活动背景</vt:lpstr>
      <vt:lpstr>思考</vt:lpstr>
      <vt:lpstr>活动背景</vt:lpstr>
      <vt:lpstr>活动目的</vt:lpstr>
      <vt:lpstr>PowerPoint 演示文稿</vt:lpstr>
      <vt:lpstr>思考</vt:lpstr>
      <vt:lpstr>活动目的</vt:lpstr>
      <vt:lpstr>活动目的</vt:lpstr>
      <vt:lpstr>活动目的</vt:lpstr>
      <vt:lpstr>活动目的</vt:lpstr>
      <vt:lpstr>活动目的</vt:lpstr>
      <vt:lpstr>活动目的</vt:lpstr>
      <vt:lpstr>活动目的</vt:lpstr>
      <vt:lpstr>思考</vt:lpstr>
      <vt:lpstr>活动目的</vt:lpstr>
      <vt:lpstr>练习</vt:lpstr>
      <vt:lpstr>活动目标</vt:lpstr>
      <vt:lpstr>PowerPoint 演示文稿</vt:lpstr>
      <vt:lpstr>思考</vt:lpstr>
      <vt:lpstr>活动目标</vt:lpstr>
      <vt:lpstr>活动目标</vt:lpstr>
      <vt:lpstr>活动目标</vt:lpstr>
      <vt:lpstr>活动目标</vt:lpstr>
      <vt:lpstr>活动目标</vt:lpstr>
      <vt:lpstr>活动主题</vt:lpstr>
      <vt:lpstr>PowerPoint 演示文稿</vt:lpstr>
      <vt:lpstr>场景再现</vt:lpstr>
      <vt:lpstr>场景再现</vt:lpstr>
      <vt:lpstr>思考</vt:lpstr>
      <vt:lpstr>活动主题</vt:lpstr>
      <vt:lpstr>活动主题</vt:lpstr>
      <vt:lpstr>活动主题</vt:lpstr>
      <vt:lpstr>活动主题</vt:lpstr>
      <vt:lpstr>活动主题</vt:lpstr>
      <vt:lpstr>活动主题</vt:lpstr>
      <vt:lpstr>活动主题</vt:lpstr>
      <vt:lpstr>活动主题</vt:lpstr>
      <vt:lpstr>思考</vt:lpstr>
      <vt:lpstr>活动主题</vt:lpstr>
      <vt:lpstr>练习</vt:lpstr>
      <vt:lpstr>活动规则</vt:lpstr>
      <vt:lpstr>PowerPoint 演示文稿</vt:lpstr>
      <vt:lpstr>活动规则</vt:lpstr>
      <vt:lpstr>活动规则</vt:lpstr>
      <vt:lpstr>活动规则</vt:lpstr>
      <vt:lpstr>活动规则</vt:lpstr>
      <vt:lpstr>活动规则</vt:lpstr>
      <vt:lpstr>活动规则</vt:lpstr>
      <vt:lpstr>活动规则</vt:lpstr>
      <vt:lpstr>活动规则</vt:lpstr>
      <vt:lpstr>思考</vt:lpstr>
      <vt:lpstr>思考</vt:lpstr>
      <vt:lpstr>活动规则</vt:lpstr>
      <vt:lpstr>活动规则</vt:lpstr>
      <vt:lpstr>练习</vt:lpstr>
      <vt:lpstr>活动规则</vt:lpstr>
      <vt:lpstr>PowerPoint 演示文稿</vt:lpstr>
      <vt:lpstr>社群裂变活动策划全流程</vt:lpstr>
      <vt:lpstr>社群裂变活动策划全流程</vt:lpstr>
      <vt:lpstr>社群裂变活动策划全流程</vt:lpstr>
      <vt:lpstr>社群裂变活动策划全流程</vt:lpstr>
      <vt:lpstr>社群裂变活动策划全流程</vt:lpstr>
      <vt:lpstr>社群裂变活动策划全流程</vt:lpstr>
      <vt:lpstr>社群裂变活动策划全流程</vt:lpstr>
      <vt:lpstr>社群裂变活动策划全流程</vt:lpstr>
      <vt:lpstr>社群裂变活动策划全流程</vt:lpstr>
      <vt:lpstr>社群裂变活动策划全流程</vt:lpstr>
      <vt:lpstr>社群裂变活动策划全流程</vt:lpstr>
      <vt:lpstr>思考</vt:lpstr>
      <vt:lpstr>思考</vt:lpstr>
      <vt:lpstr>社群裂变活动策划全流程</vt:lpstr>
      <vt:lpstr>活动规则</vt:lpstr>
      <vt:lpstr>思考</vt:lpstr>
      <vt:lpstr>社群裂变活动策划全流程</vt:lpstr>
      <vt:lpstr>社群裂变活动策划全流程</vt:lpstr>
      <vt:lpstr>社群裂变活动策划全流程</vt:lpstr>
      <vt:lpstr>社群裂变活动策划全流程</vt:lpstr>
      <vt:lpstr>社群裂变活动策划全流程</vt:lpstr>
      <vt:lpstr>思考</vt:lpstr>
      <vt:lpstr>思考</vt:lpstr>
      <vt:lpstr>社群裂变活动策划全流程</vt:lpstr>
      <vt:lpstr>社群裂变活动策划全流程</vt:lpstr>
      <vt:lpstr>活动渠道</vt:lpstr>
      <vt:lpstr>PowerPoint 演示文稿</vt:lpstr>
      <vt:lpstr>种子用户寻找的底层逻辑：</vt:lpstr>
      <vt:lpstr>启动期种子用户的寻找</vt:lpstr>
      <vt:lpstr>思考</vt:lpstr>
      <vt:lpstr>启动期种子用户的寻找</vt:lpstr>
      <vt:lpstr>练习</vt:lpstr>
      <vt:lpstr>活动预算</vt:lpstr>
      <vt:lpstr>PowerPoint 演示文稿</vt:lpstr>
      <vt:lpstr>活动预算</vt:lpstr>
      <vt:lpstr>活动预算</vt:lpstr>
      <vt:lpstr>活动预算</vt:lpstr>
      <vt:lpstr>活动预算</vt:lpstr>
      <vt:lpstr>活动预算</vt:lpstr>
      <vt:lpstr>活动预算</vt:lpstr>
      <vt:lpstr>活动预算</vt:lpstr>
      <vt:lpstr>思考</vt:lpstr>
      <vt:lpstr>思考</vt:lpstr>
      <vt:lpstr>活动预算</vt:lpstr>
      <vt:lpstr>练习</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Mr.liu</cp:lastModifiedBy>
  <cp:revision>852</cp:revision>
  <dcterms:created xsi:type="dcterms:W3CDTF">2024-11-06T09:17:19Z</dcterms:created>
  <dcterms:modified xsi:type="dcterms:W3CDTF">2024-11-06T09:17:19Z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2FBA3DB7156D49D38FE5BF7338882AF3</vt:lpwstr>
  </property>
</Properties>
</file>